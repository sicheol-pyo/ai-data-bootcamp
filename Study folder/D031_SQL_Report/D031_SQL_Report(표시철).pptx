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1" r:id="rId9"/>
    <p:sldId id="270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81" r:id="rId18"/>
    <p:sldId id="283" r:id="rId19"/>
    <p:sldId id="279" r:id="rId20"/>
    <p:sldId id="280" r:id="rId21"/>
    <p:sldId id="282" r:id="rId22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9" autoAdjust="0"/>
  </p:normalViewPr>
  <p:slideViewPr>
    <p:cSldViewPr snapToGrid="0">
      <p:cViewPr>
        <p:scale>
          <a:sx n="140" d="100"/>
          <a:sy n="140" d="100"/>
        </p:scale>
        <p:origin x="24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yostry\workspace\aiffel\ai-data-bootcamp\D031_SQL_Report\last_category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yostry\workspace\aiffel\ai-data-bootcamp\D031_SQL_Report\last_category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>
                <a:solidFill>
                  <a:schemeClr val="bg1">
                    <a:lumMod val="10000"/>
                  </a:schemeClr>
                </a:solidFill>
              </a:rPr>
              <a:t>Last</a:t>
            </a:r>
            <a:r>
              <a:rPr lang="en-US" altLang="ko-KR" baseline="0" dirty="0">
                <a:solidFill>
                  <a:schemeClr val="bg1">
                    <a:lumMod val="10000"/>
                  </a:schemeClr>
                </a:solidFill>
              </a:rPr>
              <a:t> category count</a:t>
            </a:r>
            <a:endParaRPr lang="en-US" altLang="ko-KR" dirty="0">
              <a:solidFill>
                <a:schemeClr val="bg1">
                  <a:lumMod val="1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last_category!$B$1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19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34B-4532-9DFF-C2D1F56C90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last_category!$A$2:$A$34</c:f>
              <c:strCache>
                <c:ptCount val="33"/>
                <c:pt idx="0">
                  <c:v>USBCables</c:v>
                </c:pt>
                <c:pt idx="1">
                  <c:v>Smartphones</c:v>
                </c:pt>
                <c:pt idx="2">
                  <c:v>SmartWatches</c:v>
                </c:pt>
                <c:pt idx="3">
                  <c:v>SmartTelevisions</c:v>
                </c:pt>
                <c:pt idx="4">
                  <c:v>In-Ear</c:v>
                </c:pt>
                <c:pt idx="5">
                  <c:v>RemoteControls</c:v>
                </c:pt>
                <c:pt idx="6">
                  <c:v>MixerGrinders</c:v>
                </c:pt>
                <c:pt idx="7">
                  <c:v>Mice</c:v>
                </c:pt>
                <c:pt idx="8">
                  <c:v>DryIrons</c:v>
                </c:pt>
                <c:pt idx="9">
                  <c:v>InstantWaterHeaters</c:v>
                </c:pt>
                <c:pt idx="10">
                  <c:v>LintShavers</c:v>
                </c:pt>
                <c:pt idx="11">
                  <c:v>HDMICables</c:v>
                </c:pt>
                <c:pt idx="12">
                  <c:v>ElectricHeaters</c:v>
                </c:pt>
                <c:pt idx="13">
                  <c:v>FanHeaters</c:v>
                </c:pt>
                <c:pt idx="14">
                  <c:v>HandBlenders</c:v>
                </c:pt>
                <c:pt idx="15">
                  <c:v>ElectricKettles</c:v>
                </c:pt>
                <c:pt idx="16">
                  <c:v>WallChargers</c:v>
                </c:pt>
                <c:pt idx="17">
                  <c:v>WirelessUSBAdapters</c:v>
                </c:pt>
                <c:pt idx="18">
                  <c:v>Lapdesks</c:v>
                </c:pt>
                <c:pt idx="19">
                  <c:v>LaundryBaskets</c:v>
                </c:pt>
                <c:pt idx="20">
                  <c:v>Kettle&amp;ToasterSets</c:v>
                </c:pt>
                <c:pt idx="21">
                  <c:v>SteamIrons</c:v>
                </c:pt>
                <c:pt idx="22">
                  <c:v>WaterFilters&amp;Purifiers</c:v>
                </c:pt>
                <c:pt idx="23">
                  <c:v>JuicerMixerGrinders</c:v>
                </c:pt>
                <c:pt idx="24">
                  <c:v>StorageWaterHeaters</c:v>
                </c:pt>
                <c:pt idx="25">
                  <c:v>ScreenProtectors</c:v>
                </c:pt>
                <c:pt idx="26">
                  <c:v>SandwichMakers</c:v>
                </c:pt>
                <c:pt idx="27">
                  <c:v>WaterPurifierAccessories</c:v>
                </c:pt>
                <c:pt idx="28">
                  <c:v>Stands</c:v>
                </c:pt>
                <c:pt idx="29">
                  <c:v>CeilingFans</c:v>
                </c:pt>
                <c:pt idx="30">
                  <c:v>GraphicTablets</c:v>
                </c:pt>
                <c:pt idx="31">
                  <c:v>EggBoilers</c:v>
                </c:pt>
                <c:pt idx="32">
                  <c:v>PowerBanks</c:v>
                </c:pt>
              </c:strCache>
            </c:strRef>
          </c:cat>
          <c:val>
            <c:numRef>
              <c:f>last_category!$B$2:$B$34</c:f>
              <c:numCache>
                <c:formatCode>General</c:formatCode>
                <c:ptCount val="33"/>
                <c:pt idx="0">
                  <c:v>161</c:v>
                </c:pt>
                <c:pt idx="1">
                  <c:v>68</c:v>
                </c:pt>
                <c:pt idx="2">
                  <c:v>62</c:v>
                </c:pt>
                <c:pt idx="3">
                  <c:v>60</c:v>
                </c:pt>
                <c:pt idx="4">
                  <c:v>51</c:v>
                </c:pt>
                <c:pt idx="5">
                  <c:v>49</c:v>
                </c:pt>
                <c:pt idx="6">
                  <c:v>27</c:v>
                </c:pt>
                <c:pt idx="7">
                  <c:v>24</c:v>
                </c:pt>
                <c:pt idx="8">
                  <c:v>24</c:v>
                </c:pt>
                <c:pt idx="9">
                  <c:v>23</c:v>
                </c:pt>
                <c:pt idx="10">
                  <c:v>22</c:v>
                </c:pt>
                <c:pt idx="11">
                  <c:v>21</c:v>
                </c:pt>
                <c:pt idx="12">
                  <c:v>20</c:v>
                </c:pt>
                <c:pt idx="13">
                  <c:v>20</c:v>
                </c:pt>
                <c:pt idx="14">
                  <c:v>19</c:v>
                </c:pt>
                <c:pt idx="15">
                  <c:v>19</c:v>
                </c:pt>
                <c:pt idx="16">
                  <c:v>15</c:v>
                </c:pt>
                <c:pt idx="17">
                  <c:v>14</c:v>
                </c:pt>
                <c:pt idx="18">
                  <c:v>14</c:v>
                </c:pt>
                <c:pt idx="19">
                  <c:v>13</c:v>
                </c:pt>
                <c:pt idx="20">
                  <c:v>13</c:v>
                </c:pt>
                <c:pt idx="21">
                  <c:v>12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11</c:v>
                </c:pt>
                <c:pt idx="27">
                  <c:v>11</c:v>
                </c:pt>
                <c:pt idx="28">
                  <c:v>11</c:v>
                </c:pt>
                <c:pt idx="29">
                  <c:v>11</c:v>
                </c:pt>
                <c:pt idx="30">
                  <c:v>11</c:v>
                </c:pt>
                <c:pt idx="31">
                  <c:v>11</c:v>
                </c:pt>
                <c:pt idx="3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4B-4532-9DFF-C2D1F56C90B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73427704"/>
        <c:axId val="673432744"/>
      </c:barChart>
      <c:catAx>
        <c:axId val="673427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3432744"/>
        <c:crosses val="autoZero"/>
        <c:auto val="1"/>
        <c:lblAlgn val="ctr"/>
        <c:lblOffset val="100"/>
        <c:noMultiLvlLbl val="0"/>
      </c:catAx>
      <c:valAx>
        <c:axId val="673432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3427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>
                <a:solidFill>
                  <a:schemeClr val="bg1">
                    <a:lumMod val="10000"/>
                  </a:schemeClr>
                </a:solidFill>
              </a:rPr>
              <a:t>Last</a:t>
            </a:r>
            <a:r>
              <a:rPr lang="en-US" altLang="ko-KR" baseline="0" dirty="0">
                <a:solidFill>
                  <a:schemeClr val="bg1">
                    <a:lumMod val="10000"/>
                  </a:schemeClr>
                </a:solidFill>
              </a:rPr>
              <a:t> category count</a:t>
            </a:r>
            <a:endParaRPr lang="en-US" altLang="ko-KR" dirty="0">
              <a:solidFill>
                <a:schemeClr val="bg1">
                  <a:lumMod val="1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last_category!$B$1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1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34D-4072-8F7C-EB0DD5FA1896}"/>
              </c:ext>
            </c:extLst>
          </c:dPt>
          <c:dLbls>
            <c:dLbl>
              <c:idx val="1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34D-4072-8F7C-EB0DD5FA18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last_category!$A$2:$A$34</c:f>
              <c:strCache>
                <c:ptCount val="33"/>
                <c:pt idx="0">
                  <c:v>USBCables</c:v>
                </c:pt>
                <c:pt idx="1">
                  <c:v>Smartphones</c:v>
                </c:pt>
                <c:pt idx="2">
                  <c:v>SmartWatches</c:v>
                </c:pt>
                <c:pt idx="3">
                  <c:v>SmartTelevisions</c:v>
                </c:pt>
                <c:pt idx="4">
                  <c:v>In-Ear</c:v>
                </c:pt>
                <c:pt idx="5">
                  <c:v>RemoteControls</c:v>
                </c:pt>
                <c:pt idx="6">
                  <c:v>MixerGrinders</c:v>
                </c:pt>
                <c:pt idx="7">
                  <c:v>Mice</c:v>
                </c:pt>
                <c:pt idx="8">
                  <c:v>DryIrons</c:v>
                </c:pt>
                <c:pt idx="9">
                  <c:v>InstantWaterHeaters</c:v>
                </c:pt>
                <c:pt idx="10">
                  <c:v>LintShavers</c:v>
                </c:pt>
                <c:pt idx="11">
                  <c:v>HDMICables</c:v>
                </c:pt>
                <c:pt idx="12">
                  <c:v>ElectricHeaters</c:v>
                </c:pt>
                <c:pt idx="13">
                  <c:v>FanHeaters</c:v>
                </c:pt>
                <c:pt idx="14">
                  <c:v>HandBlenders</c:v>
                </c:pt>
                <c:pt idx="15">
                  <c:v>ElectricKettles</c:v>
                </c:pt>
                <c:pt idx="16">
                  <c:v>WallChargers</c:v>
                </c:pt>
                <c:pt idx="17">
                  <c:v>WirelessUSBAdapters</c:v>
                </c:pt>
                <c:pt idx="18">
                  <c:v>Lapdesks</c:v>
                </c:pt>
                <c:pt idx="19">
                  <c:v>LaundryBaskets</c:v>
                </c:pt>
                <c:pt idx="20">
                  <c:v>Kettle&amp;ToasterSets</c:v>
                </c:pt>
                <c:pt idx="21">
                  <c:v>SteamIrons</c:v>
                </c:pt>
                <c:pt idx="22">
                  <c:v>WaterFilters&amp;Purifiers</c:v>
                </c:pt>
                <c:pt idx="23">
                  <c:v>JuicerMixerGrinders</c:v>
                </c:pt>
                <c:pt idx="24">
                  <c:v>StorageWaterHeaters</c:v>
                </c:pt>
                <c:pt idx="25">
                  <c:v>ScreenProtectors</c:v>
                </c:pt>
                <c:pt idx="26">
                  <c:v>SandwichMakers</c:v>
                </c:pt>
                <c:pt idx="27">
                  <c:v>WaterPurifierAccessories</c:v>
                </c:pt>
                <c:pt idx="28">
                  <c:v>Stands</c:v>
                </c:pt>
                <c:pt idx="29">
                  <c:v>CeilingFans</c:v>
                </c:pt>
                <c:pt idx="30">
                  <c:v>GraphicTablets</c:v>
                </c:pt>
                <c:pt idx="31">
                  <c:v>EggBoilers</c:v>
                </c:pt>
                <c:pt idx="32">
                  <c:v>PowerBanks</c:v>
                </c:pt>
              </c:strCache>
            </c:strRef>
          </c:cat>
          <c:val>
            <c:numRef>
              <c:f>last_category!$B$2:$B$34</c:f>
              <c:numCache>
                <c:formatCode>General</c:formatCode>
                <c:ptCount val="33"/>
                <c:pt idx="0">
                  <c:v>161</c:v>
                </c:pt>
                <c:pt idx="1">
                  <c:v>68</c:v>
                </c:pt>
                <c:pt idx="2">
                  <c:v>62</c:v>
                </c:pt>
                <c:pt idx="3">
                  <c:v>60</c:v>
                </c:pt>
                <c:pt idx="4">
                  <c:v>51</c:v>
                </c:pt>
                <c:pt idx="5">
                  <c:v>49</c:v>
                </c:pt>
                <c:pt idx="6">
                  <c:v>27</c:v>
                </c:pt>
                <c:pt idx="7">
                  <c:v>24</c:v>
                </c:pt>
                <c:pt idx="8">
                  <c:v>24</c:v>
                </c:pt>
                <c:pt idx="9">
                  <c:v>23</c:v>
                </c:pt>
                <c:pt idx="10">
                  <c:v>22</c:v>
                </c:pt>
                <c:pt idx="11">
                  <c:v>21</c:v>
                </c:pt>
                <c:pt idx="12">
                  <c:v>20</c:v>
                </c:pt>
                <c:pt idx="13">
                  <c:v>20</c:v>
                </c:pt>
                <c:pt idx="14">
                  <c:v>19</c:v>
                </c:pt>
                <c:pt idx="15">
                  <c:v>19</c:v>
                </c:pt>
                <c:pt idx="16">
                  <c:v>15</c:v>
                </c:pt>
                <c:pt idx="17">
                  <c:v>14</c:v>
                </c:pt>
                <c:pt idx="18">
                  <c:v>14</c:v>
                </c:pt>
                <c:pt idx="19">
                  <c:v>13</c:v>
                </c:pt>
                <c:pt idx="20">
                  <c:v>13</c:v>
                </c:pt>
                <c:pt idx="21">
                  <c:v>12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11</c:v>
                </c:pt>
                <c:pt idx="27">
                  <c:v>11</c:v>
                </c:pt>
                <c:pt idx="28">
                  <c:v>11</c:v>
                </c:pt>
                <c:pt idx="29">
                  <c:v>11</c:v>
                </c:pt>
                <c:pt idx="30">
                  <c:v>11</c:v>
                </c:pt>
                <c:pt idx="31">
                  <c:v>11</c:v>
                </c:pt>
                <c:pt idx="3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4D-4072-8F7C-EB0DD5FA189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73427704"/>
        <c:axId val="673432744"/>
      </c:barChart>
      <c:catAx>
        <c:axId val="673427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3432744"/>
        <c:crosses val="autoZero"/>
        <c:auto val="1"/>
        <c:lblAlgn val="ctr"/>
        <c:lblOffset val="100"/>
        <c:noMultiLvlLbl val="0"/>
      </c:catAx>
      <c:valAx>
        <c:axId val="673432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3427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848D07-2AC7-4984-8434-D7F402BE3D39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BC5A-7CEA-4E64-B90B-448B865CFD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354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897120"/>
            <a:ext cx="6651360" cy="156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3160" y="666360"/>
            <a:ext cx="6922800" cy="75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" name="Google Shape;129;p17"/>
          <p:cNvGrpSpPr/>
          <p:nvPr/>
        </p:nvGrpSpPr>
        <p:grpSpPr>
          <a:xfrm>
            <a:off x="0" y="0"/>
            <a:ext cx="9143640" cy="481320"/>
            <a:chOff x="0" y="0"/>
            <a:chExt cx="9143640" cy="481320"/>
          </a:xfrm>
        </p:grpSpPr>
        <p:sp>
          <p:nvSpPr>
            <p:cNvPr id="6" name="Google Shape;130;p17"/>
            <p:cNvSpPr/>
            <p:nvPr/>
          </p:nvSpPr>
          <p:spPr>
            <a:xfrm>
              <a:off x="0" y="321120"/>
              <a:ext cx="9143640" cy="1602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31;p17"/>
            <p:cNvSpPr/>
            <p:nvPr/>
          </p:nvSpPr>
          <p:spPr>
            <a:xfrm>
              <a:off x="0" y="160560"/>
              <a:ext cx="9143640" cy="1602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32;p17"/>
            <p:cNvSpPr/>
            <p:nvPr/>
          </p:nvSpPr>
          <p:spPr>
            <a:xfrm>
              <a:off x="0" y="0"/>
              <a:ext cx="9143640" cy="1602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" name="Google Shape;133;p17"/>
          <p:cNvSpPr/>
          <p:nvPr/>
        </p:nvSpPr>
        <p:spPr>
          <a:xfrm>
            <a:off x="713160" y="476424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" name="Google Shape;198;p22"/>
          <p:cNvGrpSpPr/>
          <p:nvPr/>
        </p:nvGrpSpPr>
        <p:grpSpPr>
          <a:xfrm>
            <a:off x="0" y="275040"/>
            <a:ext cx="9143640" cy="4868280"/>
            <a:chOff x="0" y="275040"/>
            <a:chExt cx="9143640" cy="4868280"/>
          </a:xfrm>
        </p:grpSpPr>
        <p:sp>
          <p:nvSpPr>
            <p:cNvPr id="13" name="Google Shape;199;p22"/>
            <p:cNvSpPr/>
            <p:nvPr/>
          </p:nvSpPr>
          <p:spPr>
            <a:xfrm>
              <a:off x="713160" y="275040"/>
              <a:ext cx="144972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4" name="Google Shape;200;p22"/>
            <p:cNvGrpSpPr/>
            <p:nvPr/>
          </p:nvGrpSpPr>
          <p:grpSpPr>
            <a:xfrm>
              <a:off x="0" y="4822560"/>
              <a:ext cx="9143640" cy="320760"/>
              <a:chOff x="0" y="4822560"/>
              <a:chExt cx="9143640" cy="320760"/>
            </a:xfrm>
          </p:grpSpPr>
          <p:sp>
            <p:nvSpPr>
              <p:cNvPr id="15" name="Google Shape;201;p22"/>
              <p:cNvSpPr/>
              <p:nvPr/>
            </p:nvSpPr>
            <p:spPr>
              <a:xfrm>
                <a:off x="0" y="4983120"/>
                <a:ext cx="9143640" cy="16020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280" bIns="8028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202;p22"/>
              <p:cNvSpPr/>
              <p:nvPr/>
            </p:nvSpPr>
            <p:spPr>
              <a:xfrm>
                <a:off x="0" y="4822560"/>
                <a:ext cx="9143640" cy="1602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280" bIns="8028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7" name="Google Shape;203;p22"/>
          <p:cNvGrpSpPr/>
          <p:nvPr/>
        </p:nvGrpSpPr>
        <p:grpSpPr>
          <a:xfrm>
            <a:off x="8431200" y="360"/>
            <a:ext cx="712800" cy="856800"/>
            <a:chOff x="8431200" y="360"/>
            <a:chExt cx="712800" cy="856800"/>
          </a:xfrm>
        </p:grpSpPr>
        <p:sp>
          <p:nvSpPr>
            <p:cNvPr id="18" name="Google Shape;204;p22"/>
            <p:cNvSpPr/>
            <p:nvPr/>
          </p:nvSpPr>
          <p:spPr>
            <a:xfrm rot="10800000" flipH="1">
              <a:off x="8787600" y="360"/>
              <a:ext cx="3564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05;p22"/>
            <p:cNvSpPr/>
            <p:nvPr/>
          </p:nvSpPr>
          <p:spPr>
            <a:xfrm rot="10800000" flipH="1">
              <a:off x="8431200" y="360"/>
              <a:ext cx="35640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253760" y="769320"/>
            <a:ext cx="368352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Google Shape;264;p29"/>
          <p:cNvSpPr/>
          <p:nvPr/>
        </p:nvSpPr>
        <p:spPr>
          <a:xfrm>
            <a:off x="4253760" y="3320280"/>
            <a:ext cx="3683520" cy="76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Raleway"/>
                <a:ea typeface="Raleway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  <a:hlinkClick r:id="rId3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karkavelrajaj/amazon-sales-datase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92;p35"/>
          <p:cNvGrpSpPr/>
          <p:nvPr/>
        </p:nvGrpSpPr>
        <p:grpSpPr>
          <a:xfrm>
            <a:off x="9043560" y="2520"/>
            <a:ext cx="100800" cy="5138640"/>
            <a:chOff x="9043560" y="2520"/>
            <a:chExt cx="100800" cy="5138640"/>
          </a:xfrm>
        </p:grpSpPr>
        <p:grpSp>
          <p:nvGrpSpPr>
            <p:cNvPr id="24" name="Google Shape;293;p35"/>
            <p:cNvGrpSpPr/>
            <p:nvPr/>
          </p:nvGrpSpPr>
          <p:grpSpPr>
            <a:xfrm>
              <a:off x="9043560" y="2520"/>
              <a:ext cx="100800" cy="5138640"/>
              <a:chOff x="9043560" y="2520"/>
              <a:chExt cx="100800" cy="5138640"/>
            </a:xfrm>
          </p:grpSpPr>
          <p:sp>
            <p:nvSpPr>
              <p:cNvPr id="25" name="Google Shape;294;p35"/>
              <p:cNvSpPr/>
              <p:nvPr/>
            </p:nvSpPr>
            <p:spPr>
              <a:xfrm>
                <a:off x="9043560" y="3467160"/>
                <a:ext cx="100080" cy="81648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" name="Google Shape;295;p35"/>
              <p:cNvSpPr/>
              <p:nvPr/>
            </p:nvSpPr>
            <p:spPr>
              <a:xfrm>
                <a:off x="9043560" y="4284360"/>
                <a:ext cx="100080" cy="8568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" name="Google Shape;296;p35"/>
              <p:cNvSpPr/>
              <p:nvPr/>
            </p:nvSpPr>
            <p:spPr>
              <a:xfrm>
                <a:off x="9043560" y="2649960"/>
                <a:ext cx="100080" cy="8164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" name="Google Shape;297;p35"/>
              <p:cNvSpPr/>
              <p:nvPr/>
            </p:nvSpPr>
            <p:spPr>
              <a:xfrm rot="10800000" flipH="1">
                <a:off x="9044280" y="860040"/>
                <a:ext cx="100080" cy="81648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" name="Google Shape;298;p35"/>
              <p:cNvSpPr/>
              <p:nvPr/>
            </p:nvSpPr>
            <p:spPr>
              <a:xfrm rot="10800000" flipH="1">
                <a:off x="9044280" y="2520"/>
                <a:ext cx="100080" cy="8568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" name="Google Shape;299;p35"/>
              <p:cNvSpPr/>
              <p:nvPr/>
            </p:nvSpPr>
            <p:spPr>
              <a:xfrm rot="10800000" flipH="1">
                <a:off x="9044280" y="1676880"/>
                <a:ext cx="100080" cy="8164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1" name="Google Shape;300;p35"/>
            <p:cNvSpPr/>
            <p:nvPr/>
          </p:nvSpPr>
          <p:spPr>
            <a:xfrm>
              <a:off x="9043560" y="2493720"/>
              <a:ext cx="10008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1800" b="0" u="none" strike="noStrik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2" name="Google Shape;303;p35"/>
          <p:cNvSpPr/>
          <p:nvPr/>
        </p:nvSpPr>
        <p:spPr>
          <a:xfrm>
            <a:off x="828720" y="771480"/>
            <a:ext cx="1447560" cy="4716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760" rIns="870823080" bIns="23760" anchor="ctr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714239" y="895320"/>
            <a:ext cx="7638264" cy="10023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spcAft>
                <a:spcPts val="1200"/>
              </a:spcAft>
              <a:tabLst>
                <a:tab pos="0" algn="l"/>
              </a:tabLst>
            </a:pPr>
            <a:r>
              <a:rPr lang="en-US" altLang="ko-KR" sz="24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SQL </a:t>
            </a:r>
            <a:r>
              <a:rPr lang="ko-KR" altLang="en-US" sz="24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분석</a:t>
            </a:r>
            <a:endParaRPr lang="en-US" altLang="ko-KR" sz="24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00000"/>
              </a:lnSpc>
              <a:spcAft>
                <a:spcPts val="1200"/>
              </a:spcAft>
              <a:tabLst>
                <a:tab pos="0" algn="l"/>
              </a:tabLst>
            </a:pPr>
            <a:r>
              <a:rPr lang="en-US" altLang="ko-KR" sz="24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4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과제</a:t>
            </a:r>
            <a:r>
              <a:rPr lang="en-US" altLang="ko-KR" sz="24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] Amazon </a:t>
            </a:r>
            <a:r>
              <a:rPr lang="ko-KR" altLang="en-US" sz="24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판매 데이터로 추천 시스템 설계하기</a:t>
            </a:r>
            <a:endParaRPr lang="en-US" sz="24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828720" y="3905280"/>
            <a:ext cx="606708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400" b="1" u="none" strike="noStrike" dirty="0">
                <a:solidFill>
                  <a:srgbClr val="000000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 </a:t>
            </a:r>
            <a:r>
              <a:rPr lang="ko-KR" altLang="en-US" sz="1400" b="1" u="none" strike="noStrike" dirty="0" err="1">
                <a:solidFill>
                  <a:srgbClr val="000000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인텔리전스</a:t>
            </a:r>
            <a:r>
              <a:rPr lang="ko-KR" altLang="en-US" sz="1400" b="1" u="none" strike="noStrike" dirty="0">
                <a:solidFill>
                  <a:srgbClr val="000000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u="none" strike="noStrike" dirty="0">
                <a:solidFill>
                  <a:srgbClr val="000000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b="1" u="none" strike="noStrike" dirty="0">
                <a:solidFill>
                  <a:srgbClr val="000000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 </a:t>
            </a:r>
            <a:r>
              <a:rPr lang="ko-KR" altLang="en-US" sz="1400" b="1" u="none" strike="noStrike" dirty="0" err="1">
                <a:solidFill>
                  <a:srgbClr val="000000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표시철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714239" y="1562039"/>
            <a:ext cx="7628431" cy="14367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이번 프로젝트는 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Amazon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데이터셋을 기반으로 고객 맞춤형 추천 시스템을 설계하고 구현하는 작업입니다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Amazon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은 전 세계적으로 가장 큰 전자상거래 플랫폼 중 하나로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방대한 고객 리뷰와 제품 데이터를 보유하고 있습니다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이번 프로젝트에서는 이러한 데이터를 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SQL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만을 사용하여 분석하고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고객의 구매 경험을 향상시킬 수 있는 추천 시스템의 기초를 설계하는 것이 목표입니다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679A-41C2-439A-CE49-3712FC882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CFECE461-8726-277E-E04F-CDB6DDE5D82E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학습 목표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6DDC731-7A27-9E65-1021-87FDACB6BAB6}"/>
              </a:ext>
            </a:extLst>
          </p:cNvPr>
          <p:cNvSpPr/>
          <p:nvPr/>
        </p:nvSpPr>
        <p:spPr>
          <a:xfrm>
            <a:off x="714239" y="1562039"/>
            <a:ext cx="7628431" cy="30935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이해 및 탐색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먼저 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Amazon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데이터셋을 분석하여 고객과 제품 간의 상호작용 데이터를 이해합니다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고객 리뷰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평점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제품 카테고리 등 다양한 데이터를 활용해 주요 인사이트를 도출합니다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200" b="0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 설계 및 구현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SQL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을 사용해 인기 제품 추천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고객 선호도를 기반으로 한 추천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유사 제품 추천 등 다양한 추천 셋을 </a:t>
            </a:r>
            <a:r>
              <a:rPr lang="ko-KR" altLang="en-US" sz="12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제안할겁니다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여러분은 동일한 데이터를 다양한 각도에서 분석해보면서 새로운 서비스에 활용할 수 있는 가능성을 분석적으로 보여주시면 됩니다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1830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72C2A-4F08-FAC1-E703-B293636FE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2AAF61F1-1BDA-8F90-DD0B-A784DD9E9091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 정보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51A1FF4-0BB0-DF47-3B38-A1F5FA606235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 링크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Amazon Sales Dataset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개요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행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열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1,465 × 16</a:t>
            </a:r>
          </a:p>
          <a:p>
            <a:pPr marL="171450" indent="-171450" defTabSz="914400">
              <a:lnSpc>
                <a:spcPct val="150000"/>
              </a:lnSpc>
              <a:buFontTx/>
              <a:buChar char="-"/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주요 컬럼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product_name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category,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discounted_price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actual_price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discount_percentage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rating,rating_count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about_product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user_id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user_name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review_id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review_title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review_content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img_link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product_link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 결과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B0B94JPY2N, B0BQRJ3C47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rating_count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이상치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B08L12N5H1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rating |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오기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일부 </a:t>
            </a:r>
            <a:r>
              <a:rPr lang="en-US" altLang="ko-KR" sz="1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img_link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달라 중복 확인됨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특이사항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category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값에 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‘|’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기준으로 최대 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개까지 분류가 나눠지는 것으로 확인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8614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D8709-2F97-CD03-E976-F6781F3B4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23BC4248-415F-E556-CDD5-E968350435EF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 정보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32296D3-96A9-6516-5E8D-5B93C8E83A91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처리 결정과 근거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(1)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discounted_price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actual_price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루피 기호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(₹)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삭제 및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type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discounted_price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actual_price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에 루피 기호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(₹)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인하여 계산식 설정이 불가함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결정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루피 기호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(₹)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삭제 및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TEXT Type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DECIMAL(10,2)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변경함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해당 데이터 기준 지표 및 분석을 위하여 변경함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루피 기호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(₹)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경우 데이터에 직접 수집하지 않고 컬럼명에 명시하는 방법으로 추후 수정하여 분석 및 리뷰에 용이하도록 조치가 필요함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(2)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discount_percentage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%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기호 삭제 및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type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%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기호로 인하여 계산식 설정이 불가함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결정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%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기호 삭제 및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TEXT Type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Int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변경함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해당 데이터 기준 지표 및 분석을 위하여 변경함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%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기호의 경우 데이터에 직접 수집하지 않고 컬럼명에 명시하는 방법으로 추후 수정하여 분석 및 리뷰에 용이하도록 조치가 필요함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(3)rating "|"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값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Null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B08L12N5H1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 '|'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오기 확인됨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결정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type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 및 분석을 위해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'|' Null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변경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해당 데이터 기준 지표 및 분석을 위하여 변경함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'|'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데이터의 수집 경위를 파악하고 추가적으로 이상 값이 수집될 수 있는지 점검 필요하며 추후 분석 시에도 해당 </a:t>
            </a:r>
            <a:r>
              <a:rPr lang="ko-KR" altLang="en-US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작업 필수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2401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F3107-E836-D5C7-C7C7-EA887967F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CAB2C9-6E1A-05E9-0E49-11EAE5D3252B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 정보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E19D18A-3C32-A39B-E0C7-C9A3CAD1D52A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처리 결정과 근거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(4)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rating_count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""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값 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Null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B0B94JPY2N, B0BQRJ3C47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rating_count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""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결측 확인됨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결정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""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경우 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SQL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상 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집계되지 않고 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Type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 시 에러가 발생하여 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변경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해당 데이터 기준 지표 및 분석을 위하여 변경함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""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데이터의 수집 경위를 파악하고 추가적으로 이상 값이 수집될 수 있는지 점검 필요하며 추후 분석 시에도 해당 </a:t>
            </a:r>
            <a:r>
              <a:rPr lang="ko-KR" altLang="en-US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작업 필수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9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(5)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중복 행 처리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기준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img_link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값이 달라 중복된 행이 생성된 것으로 확인됨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결정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기준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img_link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가 달라 중복으로 확인된 행은 삭제 처리함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img_link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경우 지표 및 분석에 활용되지 않으며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값 부풀림이 예상되어 중복 행 삭제함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다른 컬럼과 동일하게 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와 같이 하나의 행에 데이터가 수집되어 있지 않아 전체적인 데이터 형식의 통일이 필요함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9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(6) </a:t>
            </a:r>
            <a:r>
              <a:rPr lang="en-US" altLang="ko-KR" sz="9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last_category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column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category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값에 ‘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|’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기준으로 최대 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개까지 분류가 </a:t>
            </a:r>
            <a:r>
              <a:rPr lang="ko-KR" altLang="en-US" sz="9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나눠짐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결정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제품을 유추할 수 있는 가장 마지막 분류 값만 </a:t>
            </a:r>
            <a:r>
              <a:rPr lang="en-US" altLang="ko-KR" sz="9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last_category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생성함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대분류 기준으로 보았을 때 분석 시 정확하게 어떤 제품군인지 알 수 없어 파악하기 용이한 마지막 분류로 생성함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9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시 해당 </a:t>
            </a:r>
            <a:r>
              <a:rPr lang="ko-KR" altLang="en-US" sz="9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작업이 필수 작업에 해당하여 추후 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상에서부터 각 분류마다 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column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나눠질 수 있는지 점검 필요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9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5058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C883C-DF22-40C4-22D7-92D69E95B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07ED6BA8-7471-6094-ABF4-92712B245E6C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 정보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D74625C-4DD0-433A-048C-5E288645A810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처리 후 검증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B0B94JPY2N, B0BQRJ3C47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rating_count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2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건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B08L12N5H1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 1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건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중복 행 삭제하여 전체 행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1,465 -&gt; 1,351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수정됨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후속 권고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category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경우 대분류부터 시작하여 세부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개 분류까지 나눠지는데 추후 정확한 데이터 관리 및 분석을 위해 컬럼 분리 필요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rating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'|'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데이터의 수집 경위를 파악하고 추가적으로 이상 값이 수집될 수 있는지 점검 필요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rating_count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""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데이터의 수집 경위를 파악하고 추가적으로 이상 값이 수집될 수 있는지 점검 필요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product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관련 테이블만 수집되어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customer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테이블을 추가 수집하여 성별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나이 등에 대한 정보로 연령별 또는 성별에 따른 구매 분석도 진행 필요함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3490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219E1-7D69-1D32-8CEE-5D3CD8DDA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AEA15B81-7589-6AD7-4E6C-FFEDE073B3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9118294"/>
              </p:ext>
            </p:extLst>
          </p:nvPr>
        </p:nvGraphicFramePr>
        <p:xfrm>
          <a:off x="714239" y="1364554"/>
          <a:ext cx="7634892" cy="3399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C007E780-5C32-A9B1-1563-ED20B33B62E1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 정보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3133563-CBD6-3888-E10D-84EF2C2720F9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5. Last category count</a:t>
            </a:r>
            <a:endParaRPr lang="ko-KR" altLang="en-US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0B37372B-AB0F-2DA3-A5C8-6B118FEFCB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934642"/>
              </p:ext>
            </p:extLst>
          </p:nvPr>
        </p:nvGraphicFramePr>
        <p:xfrm>
          <a:off x="714239" y="1364554"/>
          <a:ext cx="7634892" cy="3399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8441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C4BEF-D726-332B-FDD5-22EEC8F52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E87913-EE95-AE53-40EC-EFB75B179EF9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GoodPick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F6D4810-71DA-DBBB-9E47-87239D56D2CE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시스템의 테마</a:t>
            </a: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경우 사용 전 평가를 하는 경우도 많아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review_content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good, great, excellent, recommend, worth, best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개수를 평가하여 고객이 좋은 상품을 선택할 수 있도록 추천을 제공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구현 로직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BF5596-0649-B841-20B1-43BC86788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9" y="2427479"/>
            <a:ext cx="7179270" cy="24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61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6049F-5A63-6FDA-B802-D49BD112B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25711B92-2B19-D424-76F1-9E37D1A38F64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GoodPick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7166324-1489-BCBB-9B12-CB044B869ADB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A5F4B2A-183F-894A-4ACC-F46EE0CF5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869434"/>
              </p:ext>
            </p:extLst>
          </p:nvPr>
        </p:nvGraphicFramePr>
        <p:xfrm>
          <a:off x="714238" y="1132705"/>
          <a:ext cx="7715523" cy="3631023"/>
        </p:xfrm>
        <a:graphic>
          <a:graphicData uri="http://schemas.openxmlformats.org/drawingml/2006/table">
            <a:tbl>
              <a:tblPr/>
              <a:tblGrid>
                <a:gridCol w="736925">
                  <a:extLst>
                    <a:ext uri="{9D8B030D-6E8A-4147-A177-3AD203B41FA5}">
                      <a16:colId xmlns:a16="http://schemas.microsoft.com/office/drawing/2014/main" val="190375715"/>
                    </a:ext>
                  </a:extLst>
                </a:gridCol>
                <a:gridCol w="799076">
                  <a:extLst>
                    <a:ext uri="{9D8B030D-6E8A-4147-A177-3AD203B41FA5}">
                      <a16:colId xmlns:a16="http://schemas.microsoft.com/office/drawing/2014/main" val="101500139"/>
                    </a:ext>
                  </a:extLst>
                </a:gridCol>
                <a:gridCol w="461688">
                  <a:extLst>
                    <a:ext uri="{9D8B030D-6E8A-4147-A177-3AD203B41FA5}">
                      <a16:colId xmlns:a16="http://schemas.microsoft.com/office/drawing/2014/main" val="473923773"/>
                    </a:ext>
                  </a:extLst>
                </a:gridCol>
                <a:gridCol w="772441">
                  <a:extLst>
                    <a:ext uri="{9D8B030D-6E8A-4147-A177-3AD203B41FA5}">
                      <a16:colId xmlns:a16="http://schemas.microsoft.com/office/drawing/2014/main" val="3889737638"/>
                    </a:ext>
                  </a:extLst>
                </a:gridCol>
                <a:gridCol w="745805">
                  <a:extLst>
                    <a:ext uri="{9D8B030D-6E8A-4147-A177-3AD203B41FA5}">
                      <a16:colId xmlns:a16="http://schemas.microsoft.com/office/drawing/2014/main" val="1725669668"/>
                    </a:ext>
                  </a:extLst>
                </a:gridCol>
                <a:gridCol w="736925">
                  <a:extLst>
                    <a:ext uri="{9D8B030D-6E8A-4147-A177-3AD203B41FA5}">
                      <a16:colId xmlns:a16="http://schemas.microsoft.com/office/drawing/2014/main" val="3667643628"/>
                    </a:ext>
                  </a:extLst>
                </a:gridCol>
                <a:gridCol w="923377">
                  <a:extLst>
                    <a:ext uri="{9D8B030D-6E8A-4147-A177-3AD203B41FA5}">
                      <a16:colId xmlns:a16="http://schemas.microsoft.com/office/drawing/2014/main" val="220457713"/>
                    </a:ext>
                  </a:extLst>
                </a:gridCol>
                <a:gridCol w="1074313">
                  <a:extLst>
                    <a:ext uri="{9D8B030D-6E8A-4147-A177-3AD203B41FA5}">
                      <a16:colId xmlns:a16="http://schemas.microsoft.com/office/drawing/2014/main" val="4143459841"/>
                    </a:ext>
                  </a:extLst>
                </a:gridCol>
                <a:gridCol w="772441">
                  <a:extLst>
                    <a:ext uri="{9D8B030D-6E8A-4147-A177-3AD203B41FA5}">
                      <a16:colId xmlns:a16="http://schemas.microsoft.com/office/drawing/2014/main" val="123354883"/>
                    </a:ext>
                  </a:extLst>
                </a:gridCol>
                <a:gridCol w="692532">
                  <a:extLst>
                    <a:ext uri="{9D8B030D-6E8A-4147-A177-3AD203B41FA5}">
                      <a16:colId xmlns:a16="http://schemas.microsoft.com/office/drawing/2014/main" val="829422028"/>
                    </a:ext>
                  </a:extLst>
                </a:gridCol>
              </a:tblGrid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good_count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great_count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excellent_count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recommend_count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worth_count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best_count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92956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B01DEWVZ2C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192590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51738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B01DF26V7A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192589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371500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B01F25X6RQ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31539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23912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B01F262EUU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31539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62537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B01MF8MB65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273189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82775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B071Z8M4KX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363711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84680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B07CD2BN46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119466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39784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B07DFYJRQV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53648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49486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B07GPXXNNG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363713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33137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B07GQD4K6L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363713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00784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B08TV2P1N8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141841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422129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B07KY3FNQP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91770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10894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B07XJWTYM2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72563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55626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B07QZ3CZ48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441514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B07S9S86BF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161679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254140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B083T5G5PM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98250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873614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B08FN6WGDQ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4390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61396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B08G28Z33M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37817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79604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B08H9Z3XQW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161677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59550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B08MTLLSL8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76042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02965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B092X94QNQ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109864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43600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B0B5GJRTHB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2284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709024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B08D11DZ2W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28324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637000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B08D75R3Z1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18202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78648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B08D77XZX5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58162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69500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B085W8CFLH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83996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334406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B07JQKQ91F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92995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131463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B07LG59NPV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103052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696043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B07T5DKR5D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21764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44706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B08JQN8DGZ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180998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60142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B07TCN5VR9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77027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245643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B08FB2LNSZ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87798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988070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1095315-67F5-A13E-9E37-B5F859311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864694"/>
              </p:ext>
            </p:extLst>
          </p:nvPr>
        </p:nvGraphicFramePr>
        <p:xfrm>
          <a:off x="714239" y="1132705"/>
          <a:ext cx="7715523" cy="3631023"/>
        </p:xfrm>
        <a:graphic>
          <a:graphicData uri="http://schemas.openxmlformats.org/drawingml/2006/table">
            <a:tbl>
              <a:tblPr/>
              <a:tblGrid>
                <a:gridCol w="736925">
                  <a:extLst>
                    <a:ext uri="{9D8B030D-6E8A-4147-A177-3AD203B41FA5}">
                      <a16:colId xmlns:a16="http://schemas.microsoft.com/office/drawing/2014/main" val="190375715"/>
                    </a:ext>
                  </a:extLst>
                </a:gridCol>
                <a:gridCol w="799076">
                  <a:extLst>
                    <a:ext uri="{9D8B030D-6E8A-4147-A177-3AD203B41FA5}">
                      <a16:colId xmlns:a16="http://schemas.microsoft.com/office/drawing/2014/main" val="101500139"/>
                    </a:ext>
                  </a:extLst>
                </a:gridCol>
                <a:gridCol w="461688">
                  <a:extLst>
                    <a:ext uri="{9D8B030D-6E8A-4147-A177-3AD203B41FA5}">
                      <a16:colId xmlns:a16="http://schemas.microsoft.com/office/drawing/2014/main" val="473923773"/>
                    </a:ext>
                  </a:extLst>
                </a:gridCol>
                <a:gridCol w="772441">
                  <a:extLst>
                    <a:ext uri="{9D8B030D-6E8A-4147-A177-3AD203B41FA5}">
                      <a16:colId xmlns:a16="http://schemas.microsoft.com/office/drawing/2014/main" val="3889737638"/>
                    </a:ext>
                  </a:extLst>
                </a:gridCol>
                <a:gridCol w="745805">
                  <a:extLst>
                    <a:ext uri="{9D8B030D-6E8A-4147-A177-3AD203B41FA5}">
                      <a16:colId xmlns:a16="http://schemas.microsoft.com/office/drawing/2014/main" val="1725669668"/>
                    </a:ext>
                  </a:extLst>
                </a:gridCol>
                <a:gridCol w="736925">
                  <a:extLst>
                    <a:ext uri="{9D8B030D-6E8A-4147-A177-3AD203B41FA5}">
                      <a16:colId xmlns:a16="http://schemas.microsoft.com/office/drawing/2014/main" val="3667643628"/>
                    </a:ext>
                  </a:extLst>
                </a:gridCol>
                <a:gridCol w="923377">
                  <a:extLst>
                    <a:ext uri="{9D8B030D-6E8A-4147-A177-3AD203B41FA5}">
                      <a16:colId xmlns:a16="http://schemas.microsoft.com/office/drawing/2014/main" val="220457713"/>
                    </a:ext>
                  </a:extLst>
                </a:gridCol>
                <a:gridCol w="1074313">
                  <a:extLst>
                    <a:ext uri="{9D8B030D-6E8A-4147-A177-3AD203B41FA5}">
                      <a16:colId xmlns:a16="http://schemas.microsoft.com/office/drawing/2014/main" val="4143459841"/>
                    </a:ext>
                  </a:extLst>
                </a:gridCol>
                <a:gridCol w="772441">
                  <a:extLst>
                    <a:ext uri="{9D8B030D-6E8A-4147-A177-3AD203B41FA5}">
                      <a16:colId xmlns:a16="http://schemas.microsoft.com/office/drawing/2014/main" val="123354883"/>
                    </a:ext>
                  </a:extLst>
                </a:gridCol>
                <a:gridCol w="692532">
                  <a:extLst>
                    <a:ext uri="{9D8B030D-6E8A-4147-A177-3AD203B41FA5}">
                      <a16:colId xmlns:a16="http://schemas.microsoft.com/office/drawing/2014/main" val="829422028"/>
                    </a:ext>
                  </a:extLst>
                </a:gridCol>
              </a:tblGrid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good_count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great_count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excellent_count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recommend_count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worth_count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best_count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92956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B01DEWVZ2C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192590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51738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B01DF26V7A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192589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371500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B01F25X6RQ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31539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23912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B01F262EUU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31539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62537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B01MF8MB65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273189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82775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B071Z8M4KX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363711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84680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B07CD2BN46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119466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39784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B07DFYJRQV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53648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49486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B07GPXXNNG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363713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33137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B07GQD4K6L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363713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00784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B08TV2P1N8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141841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422129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B07KY3FNQP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91770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10894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B07XJWTYM2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72563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55626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B07QZ3CZ48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441514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B07S9S86BF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161679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254140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B083T5G5PM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98250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873614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B08FN6WGDQ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4390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961396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B08G28Z33M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37817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79604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B08H9Z3XQW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161677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59550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B08MTLLSL8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76042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02965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B092X94QNQ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109864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43600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B0B5GJRTHB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2284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709024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B08D11DZ2W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28324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637000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B08D75R3Z1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18202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78648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B08D77XZX5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58162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69500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B085W8CFLH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83996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334406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B07JQKQ91F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92995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131463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B07LG59NPV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103052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696043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B07T5DKR5D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21764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44706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B08JQN8DGZ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180998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60142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B07TCN5VR9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77027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245643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B08FB2LNSZ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87798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988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75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7A155-0804-540F-C97D-62594387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33793494-1D37-CA27-0F0C-D0C826CDED4F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PreViral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1E0C8A6-8422-0DC2-042B-2AE69D6D7A8C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시스템의 테마</a:t>
            </a: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rating_count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분위로 나눈 후 아직 리뷰가 많이 없는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분위의 아이템 리스트와 카테고리별 평균 가격 정보를 같이 보여주어 이미 많이 알려진 아이템 보다는 숨겨진 </a:t>
            </a:r>
            <a:r>
              <a:rPr lang="ko-KR" altLang="en-US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꿀템을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찾아 추천해주는 시스템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구현 로직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DF4BD9-80DB-9E8E-F600-007382B39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9" y="2512410"/>
            <a:ext cx="5759746" cy="150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71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1645C-2440-008B-F0CD-B2AE5C1C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FC84094-5257-81F7-30CB-A73805C39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5290"/>
              </p:ext>
            </p:extLst>
          </p:nvPr>
        </p:nvGraphicFramePr>
        <p:xfrm>
          <a:off x="1209550" y="1106129"/>
          <a:ext cx="6724899" cy="3583866"/>
        </p:xfrm>
        <a:graphic>
          <a:graphicData uri="http://schemas.openxmlformats.org/drawingml/2006/table">
            <a:tbl>
              <a:tblPr/>
              <a:tblGrid>
                <a:gridCol w="759400">
                  <a:extLst>
                    <a:ext uri="{9D8B030D-6E8A-4147-A177-3AD203B41FA5}">
                      <a16:colId xmlns:a16="http://schemas.microsoft.com/office/drawing/2014/main" val="3990446263"/>
                    </a:ext>
                  </a:extLst>
                </a:gridCol>
                <a:gridCol w="1940686">
                  <a:extLst>
                    <a:ext uri="{9D8B030D-6E8A-4147-A177-3AD203B41FA5}">
                      <a16:colId xmlns:a16="http://schemas.microsoft.com/office/drawing/2014/main" val="2647260769"/>
                    </a:ext>
                  </a:extLst>
                </a:gridCol>
                <a:gridCol w="700335">
                  <a:extLst>
                    <a:ext uri="{9D8B030D-6E8A-4147-A177-3AD203B41FA5}">
                      <a16:colId xmlns:a16="http://schemas.microsoft.com/office/drawing/2014/main" val="3034264743"/>
                    </a:ext>
                  </a:extLst>
                </a:gridCol>
                <a:gridCol w="582206">
                  <a:extLst>
                    <a:ext uri="{9D8B030D-6E8A-4147-A177-3AD203B41FA5}">
                      <a16:colId xmlns:a16="http://schemas.microsoft.com/office/drawing/2014/main" val="2824515869"/>
                    </a:ext>
                  </a:extLst>
                </a:gridCol>
                <a:gridCol w="582206">
                  <a:extLst>
                    <a:ext uri="{9D8B030D-6E8A-4147-A177-3AD203B41FA5}">
                      <a16:colId xmlns:a16="http://schemas.microsoft.com/office/drawing/2014/main" val="2316462122"/>
                    </a:ext>
                  </a:extLst>
                </a:gridCol>
                <a:gridCol w="438763">
                  <a:extLst>
                    <a:ext uri="{9D8B030D-6E8A-4147-A177-3AD203B41FA5}">
                      <a16:colId xmlns:a16="http://schemas.microsoft.com/office/drawing/2014/main" val="70523958"/>
                    </a:ext>
                  </a:extLst>
                </a:gridCol>
                <a:gridCol w="734085">
                  <a:extLst>
                    <a:ext uri="{9D8B030D-6E8A-4147-A177-3AD203B41FA5}">
                      <a16:colId xmlns:a16="http://schemas.microsoft.com/office/drawing/2014/main" val="3489318419"/>
                    </a:ext>
                  </a:extLst>
                </a:gridCol>
                <a:gridCol w="987218">
                  <a:extLst>
                    <a:ext uri="{9D8B030D-6E8A-4147-A177-3AD203B41FA5}">
                      <a16:colId xmlns:a16="http://schemas.microsoft.com/office/drawing/2014/main" val="1786543472"/>
                    </a:ext>
                  </a:extLst>
                </a:gridCol>
              </a:tblGrid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가격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비교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rating_count_ntile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648645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B0BQRJ3C47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938.7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08575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B0B94JPY2N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938.7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71320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B0BPJBTB3F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2495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37382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B0B3JSWG81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LintShavers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1061.64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9430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B0BNLFQDG2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091012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B0BGPN4GGH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991627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B0BL3R4RGS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JuicerMixerGrinders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4466.33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61505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B0BP7XLX48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938.7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43688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B0BN2576GQ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LintShavers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1061.64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277031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B0B4SJKRDF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DigitalScales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869.5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98301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B0BNDD9TN6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28900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18293.33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32507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B09ZVJXN5L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25982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B09P1MFKG1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479049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B0BMTZ4T1D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27179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B09XJ1LM7R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1170.45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557492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B0BMFD94VD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VacuumSealers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580.57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907727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B0BFBNXS94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HandBlenders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1570.84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389389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B09VGKFM7Y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WallChargers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1219.87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890581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B0BMZ6SY89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259672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B0BPBG712X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3902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B08QW937WV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InstantWaterHeaters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4563.35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881475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B07H8W9PB6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GraphicTablets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1320.82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355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B09ZHCJDP1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1055.79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704528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B09LV13JFB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1170.45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186909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B09NFSHCWN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87586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B07VSG5SXZ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1252.76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157645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B0B7L86YCB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VacuumSealers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580.57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634571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B0B7NWGXS6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2545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5411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B016MDK4F4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1252.76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03600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B0BLV1GNLN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18293.33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051664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B0BQ3K23Y1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HandBlenders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1570.84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55557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B0B9F9PT8R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032410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B69DA0DF-D54A-D4EF-CD4D-AC2004F167A7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PreViral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ABE87CC-8F46-7138-487A-8D8E82A0D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676683"/>
              </p:ext>
            </p:extLst>
          </p:nvPr>
        </p:nvGraphicFramePr>
        <p:xfrm>
          <a:off x="1209550" y="1106129"/>
          <a:ext cx="6724899" cy="3583866"/>
        </p:xfrm>
        <a:graphic>
          <a:graphicData uri="http://schemas.openxmlformats.org/drawingml/2006/table">
            <a:tbl>
              <a:tblPr/>
              <a:tblGrid>
                <a:gridCol w="759400">
                  <a:extLst>
                    <a:ext uri="{9D8B030D-6E8A-4147-A177-3AD203B41FA5}">
                      <a16:colId xmlns:a16="http://schemas.microsoft.com/office/drawing/2014/main" val="3990446263"/>
                    </a:ext>
                  </a:extLst>
                </a:gridCol>
                <a:gridCol w="1940686">
                  <a:extLst>
                    <a:ext uri="{9D8B030D-6E8A-4147-A177-3AD203B41FA5}">
                      <a16:colId xmlns:a16="http://schemas.microsoft.com/office/drawing/2014/main" val="2647260769"/>
                    </a:ext>
                  </a:extLst>
                </a:gridCol>
                <a:gridCol w="700335">
                  <a:extLst>
                    <a:ext uri="{9D8B030D-6E8A-4147-A177-3AD203B41FA5}">
                      <a16:colId xmlns:a16="http://schemas.microsoft.com/office/drawing/2014/main" val="3034264743"/>
                    </a:ext>
                  </a:extLst>
                </a:gridCol>
                <a:gridCol w="582206">
                  <a:extLst>
                    <a:ext uri="{9D8B030D-6E8A-4147-A177-3AD203B41FA5}">
                      <a16:colId xmlns:a16="http://schemas.microsoft.com/office/drawing/2014/main" val="2824515869"/>
                    </a:ext>
                  </a:extLst>
                </a:gridCol>
                <a:gridCol w="582206">
                  <a:extLst>
                    <a:ext uri="{9D8B030D-6E8A-4147-A177-3AD203B41FA5}">
                      <a16:colId xmlns:a16="http://schemas.microsoft.com/office/drawing/2014/main" val="2316462122"/>
                    </a:ext>
                  </a:extLst>
                </a:gridCol>
                <a:gridCol w="438763">
                  <a:extLst>
                    <a:ext uri="{9D8B030D-6E8A-4147-A177-3AD203B41FA5}">
                      <a16:colId xmlns:a16="http://schemas.microsoft.com/office/drawing/2014/main" val="70523958"/>
                    </a:ext>
                  </a:extLst>
                </a:gridCol>
                <a:gridCol w="734085">
                  <a:extLst>
                    <a:ext uri="{9D8B030D-6E8A-4147-A177-3AD203B41FA5}">
                      <a16:colId xmlns:a16="http://schemas.microsoft.com/office/drawing/2014/main" val="3489318419"/>
                    </a:ext>
                  </a:extLst>
                </a:gridCol>
                <a:gridCol w="987218">
                  <a:extLst>
                    <a:ext uri="{9D8B030D-6E8A-4147-A177-3AD203B41FA5}">
                      <a16:colId xmlns:a16="http://schemas.microsoft.com/office/drawing/2014/main" val="1786543472"/>
                    </a:ext>
                  </a:extLst>
                </a:gridCol>
              </a:tblGrid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가격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비교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rating_count_ntile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648645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B0BQRJ3C47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938.7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08575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B0B94JPY2N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938.7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71320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B0BPJBTB3F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2495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37382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B0B3JSWG81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LintShavers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1061.64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69430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B0BNLFQDG2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091012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B0BGPN4GGH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991627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B0BL3R4RGS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JuicerMixerGrinders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4466.33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61505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B0BP7XLX48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938.7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43688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B0BN2576GQ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LintShavers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1061.64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277031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B0B4SJKRDF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DigitalScales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869.5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98301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B0BNDD9TN6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28900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18293.33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32507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B09ZVJXN5L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5982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B09P1MFKG1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479049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B0BMTZ4T1D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27179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B09XJ1LM7R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1170.45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557492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B0BMFD94VD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VacuumSealers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580.57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907727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B0BFBNXS94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HandBlenders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1570.84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389389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B09VGKFM7Y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WallChargers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1219.87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890581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B0BMZ6SY89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259672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B0BPBG712X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83902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B08QW937WV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InstantWaterHeaters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4563.35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881475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B07H8W9PB6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GraphicTablets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1320.82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06355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B09ZHCJDP1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1055.79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704528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B09LV13JFB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1170.45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186909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B09NFSHCWN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87586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B07VSG5SXZ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1252.76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57645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B0B7L86YCB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VacuumSealers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580.57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634571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B0B7NWGXS6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2545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75411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B016MDK4F4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1252.76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03600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B0BLV1GNLN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18293.33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051664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B0BQ3K23Y1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HandBlenders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1570.84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55557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B0B9F9PT8R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032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771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6D881-2808-1F72-604A-4BC3F6B8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E732D19E-63C2-566F-8DF5-4DC2C04553B4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(Bestseller)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1C86BBB-6DE3-9B15-259F-8A32B7702650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시스템의 테마</a:t>
            </a: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평점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가격 비교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리뷰 찾기 등 귀찮은 작업은 그만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자금은 여유로운데 시간이 없는 고객을 위한 카테고리별 베스트셀러 추천 시스템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(rating or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rating_count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기준 설정 가능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구현 로직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FD354D-8E51-2F06-5128-3F56AC925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9" y="2428828"/>
            <a:ext cx="6483683" cy="180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8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A1122-157F-B92C-CE66-60B5390F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117978CE-61BC-96EE-5FAA-C79E730E05CC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(Bestseller)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458088C-7764-1010-1613-04AABA83F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052133"/>
              </p:ext>
            </p:extLst>
          </p:nvPr>
        </p:nvGraphicFramePr>
        <p:xfrm>
          <a:off x="1827042" y="1203521"/>
          <a:ext cx="5489915" cy="3506130"/>
        </p:xfrm>
        <a:graphic>
          <a:graphicData uri="http://schemas.openxmlformats.org/drawingml/2006/table">
            <a:tbl>
              <a:tblPr/>
              <a:tblGrid>
                <a:gridCol w="985945">
                  <a:extLst>
                    <a:ext uri="{9D8B030D-6E8A-4147-A177-3AD203B41FA5}">
                      <a16:colId xmlns:a16="http://schemas.microsoft.com/office/drawing/2014/main" val="272598535"/>
                    </a:ext>
                  </a:extLst>
                </a:gridCol>
                <a:gridCol w="2576898">
                  <a:extLst>
                    <a:ext uri="{9D8B030D-6E8A-4147-A177-3AD203B41FA5}">
                      <a16:colId xmlns:a16="http://schemas.microsoft.com/office/drawing/2014/main" val="3689096588"/>
                    </a:ext>
                  </a:extLst>
                </a:gridCol>
                <a:gridCol w="739458">
                  <a:extLst>
                    <a:ext uri="{9D8B030D-6E8A-4147-A177-3AD203B41FA5}">
                      <a16:colId xmlns:a16="http://schemas.microsoft.com/office/drawing/2014/main" val="2566890039"/>
                    </a:ext>
                  </a:extLst>
                </a:gridCol>
                <a:gridCol w="403341">
                  <a:extLst>
                    <a:ext uri="{9D8B030D-6E8A-4147-A177-3AD203B41FA5}">
                      <a16:colId xmlns:a16="http://schemas.microsoft.com/office/drawing/2014/main" val="2040829185"/>
                    </a:ext>
                  </a:extLst>
                </a:gridCol>
                <a:gridCol w="784273">
                  <a:extLst>
                    <a:ext uri="{9D8B030D-6E8A-4147-A177-3AD203B41FA5}">
                      <a16:colId xmlns:a16="http://schemas.microsoft.com/office/drawing/2014/main" val="2036718127"/>
                    </a:ext>
                  </a:extLst>
                </a:gridCol>
              </a:tblGrid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040507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B0B53DS4TF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AirFryers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20049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3964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769245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B06XSK3XL6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AutomobileChargers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38221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8525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B09SJ1FTYV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BasicCases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4740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149741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B09YDFDVNS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BasicMobiles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128311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963368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B07YNTJ8ZM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BluetoothSpeakers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64705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50228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B00V9NHDI4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CanisterVacuums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32931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75640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B07DKZCZ89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15032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414389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B08Y5QJXSR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CeilingFans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5190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28629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93368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B00LHZW3XY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CompositionNotebooks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8053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366661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B0746JGVDS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Cradles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46399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249974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B08MTCKDYN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Décor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509654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B07VQGVL68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DigitalKitchenScales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44994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488391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B00E3DVQFS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DisposableBatteries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31599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71882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B07XLML2YS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DomeCameras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93112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263794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B00PVT30YI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DripCoffeeMachines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4238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861752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B008YW8M0G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DryIrons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875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46647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41139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B07H3WDC4X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EggBoilers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15646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127466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B00H47GVGY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1695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13300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31575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B07WMS7TWB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ElectricKettles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1245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123365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468787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B00O2R38C4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ExhaustFans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12999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019032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B07VTFN6HM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ExternalHardDisks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7350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73005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499899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B07VX71FZP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18543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48661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B01J1CFO5I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Gamepads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33434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82348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B08498D67S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GamingKeyboards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4723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965687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B0819HZPXL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GamingMice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18139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652511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B00LVMTA2A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GeneralPurposeBatteries&amp;BatteryChargers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26556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704259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B078HRR1XV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GraphicTablets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13544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137093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B00A7PLVU6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HandBlenders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18462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038407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B07SRM58TP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HandheldVacuums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14368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535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820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C7B08-C415-DD1B-9604-01480B152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6EFAE8-CA04-7EAD-8D72-547C912CF370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DeviceFit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CD7454B-A31F-F760-E2D1-6BF2E8901750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시스템의 테마</a:t>
            </a: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내 스마트폰에 호환되는 악세사리 또는 전자기기들을 자동으로 추천해주는 시스템 더 이상 케이블을 잘못 구매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하여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불필요한 교환 및 반품의 추가 택배비용을 줄이세요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구현 로직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8712C4E-A530-482E-6BF8-138C40AA6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53" y="2377611"/>
            <a:ext cx="2101958" cy="19495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621D720-A45F-7C97-07B4-16265BF46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393" y="2377611"/>
            <a:ext cx="2197213" cy="18098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5DF97E7-03D9-55E9-7325-9F6AC8735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620" y="2377611"/>
            <a:ext cx="2362321" cy="244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31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801EF-5107-D656-9358-283602D62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A249A06-CF10-7B7D-8B02-9C807DEEA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872260"/>
              </p:ext>
            </p:extLst>
          </p:nvPr>
        </p:nvGraphicFramePr>
        <p:xfrm>
          <a:off x="1436497" y="1091485"/>
          <a:ext cx="6271005" cy="3720785"/>
        </p:xfrm>
        <a:graphic>
          <a:graphicData uri="http://schemas.openxmlformats.org/drawingml/2006/table">
            <a:tbl>
              <a:tblPr/>
              <a:tblGrid>
                <a:gridCol w="540602">
                  <a:extLst>
                    <a:ext uri="{9D8B030D-6E8A-4147-A177-3AD203B41FA5}">
                      <a16:colId xmlns:a16="http://schemas.microsoft.com/office/drawing/2014/main" val="2754894614"/>
                    </a:ext>
                  </a:extLst>
                </a:gridCol>
                <a:gridCol w="3428067">
                  <a:extLst>
                    <a:ext uri="{9D8B030D-6E8A-4147-A177-3AD203B41FA5}">
                      <a16:colId xmlns:a16="http://schemas.microsoft.com/office/drawing/2014/main" val="1838552276"/>
                    </a:ext>
                  </a:extLst>
                </a:gridCol>
                <a:gridCol w="947647">
                  <a:extLst>
                    <a:ext uri="{9D8B030D-6E8A-4147-A177-3AD203B41FA5}">
                      <a16:colId xmlns:a16="http://schemas.microsoft.com/office/drawing/2014/main" val="272340411"/>
                    </a:ext>
                  </a:extLst>
                </a:gridCol>
                <a:gridCol w="578765">
                  <a:extLst>
                    <a:ext uri="{9D8B030D-6E8A-4147-A177-3AD203B41FA5}">
                      <a16:colId xmlns:a16="http://schemas.microsoft.com/office/drawing/2014/main" val="4093104247"/>
                    </a:ext>
                  </a:extLst>
                </a:gridCol>
                <a:gridCol w="274479">
                  <a:extLst>
                    <a:ext uri="{9D8B030D-6E8A-4147-A177-3AD203B41FA5}">
                      <a16:colId xmlns:a16="http://schemas.microsoft.com/office/drawing/2014/main" val="1847439401"/>
                    </a:ext>
                  </a:extLst>
                </a:gridCol>
                <a:gridCol w="501445">
                  <a:extLst>
                    <a:ext uri="{9D8B030D-6E8A-4147-A177-3AD203B41FA5}">
                      <a16:colId xmlns:a16="http://schemas.microsoft.com/office/drawing/2014/main" val="3808028356"/>
                    </a:ext>
                  </a:extLst>
                </a:gridCol>
              </a:tblGrid>
              <a:tr h="882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813058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B09FFK1PQG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Duracell 38W Fast Car Charger Adapter with Dual Output. Quick Charge, Type C PD 20W &amp; Qualcomm Certified 3.0 Compatible for iPhone, All Smartphones, Tablets &amp; More (Copper &amp; Black)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AutomobileChargers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1680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137944"/>
                  </a:ext>
                </a:extLst>
              </a:tr>
              <a:tr h="1765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B0B1NX6JTN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Spigen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Ultra Hybrid Back Cover Case Compatible with iPhone 14 Pro max (TPU + Poly Carbonate | Crystal Clear)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1801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297664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B09MY4W73Q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Amozo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Ultra Hybrid Camera and Drop Protection Back Cover Case for iPhone 13 (Polycarbonate| Back Transparent - Sides Black)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1454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705894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B09J2MM5C6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Amozo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Ultra Hybrid Camera and Drop Protection Back Cover Case for iPhone 13 (TPU + Polycarbonate | Crystal Transparent)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2646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378071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B085HY1DGR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Sounce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Spiral Charger Cable Protector Data Cable Saver Charging Cord Protective Cable Cover Headphone MacBook Laptop Earphone Cell Phone Set of 3 (Cable Protector (12 Units))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CableConnectionProtectors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1396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214228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B08BQ947H3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LIRAMARK Webcam Cover Slide, Ultra Thin Laptop Camera Cover Slide Blocker for Computer MacBook Pro iMac PC Tablet (Pack of 3)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CameraPrivacyCovers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10833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348452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B07YNHCW6N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Robustrion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Smart Trifold Hard Back Flip Stand Case Cover for Apple iPad 10.2 Cover iPad 9th Generation Cover 2021 8th Gen 2020 7th Gen 2019 Generation Case - Black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5556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713712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B07Z53L5QL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ProElite Faux Leather Smart Flip Case Cover for Apple iPad 10.2" 9th Gen (2021) / 8th Gen / 7th Gen with Stylus Pen, Black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11006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921584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B08MTCKDYN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Gizga Essentials Spiral Cable Protector Cord Saver for Mac Charger, iPhone Charger, Wire Protector, Lightweight Durable Flexible Wire Winder for Charging Cables, Data Cables, Earphones, Pack of 10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Décor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445382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B00MUTWLW4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K480 Wireless Multi-Device Keyboard for Windows, macOS, iPadOS, Android or Chrome OS, Bluetooth, Compact, Compatible with PC, Mac, Laptop, Smartphone, Tablet - Black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3295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22618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68391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B0148NPH9I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K380 Wireless Multi-Device Keyboard for Windows, Apple iOS, Apple TV Android or Chrome, Bluetooth, Compact Space-Saving Design, PC/Mac/Laptop/Smartphone/Tablet (Dark Grey)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3195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16146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437791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B09B9SPC7F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SQUARE Laptop Tabletop Stand/ Computer Tablet Stand 6 Angles Adjustable Aluminum Ergonomic Foldable Portable Desktop Holder Compatible with MacBook, HP, Dell, Lenovo &amp; All Other Notebook (Silver)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Lapdesks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2740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829557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DB91AE5C-3EE9-A9FA-1E28-9ACD74DC2BBD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DeviceFit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CD25B59-F478-468D-04F5-CC4D7F5B1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988303"/>
              </p:ext>
            </p:extLst>
          </p:nvPr>
        </p:nvGraphicFramePr>
        <p:xfrm>
          <a:off x="1436497" y="1091485"/>
          <a:ext cx="6271005" cy="3720785"/>
        </p:xfrm>
        <a:graphic>
          <a:graphicData uri="http://schemas.openxmlformats.org/drawingml/2006/table">
            <a:tbl>
              <a:tblPr/>
              <a:tblGrid>
                <a:gridCol w="540602">
                  <a:extLst>
                    <a:ext uri="{9D8B030D-6E8A-4147-A177-3AD203B41FA5}">
                      <a16:colId xmlns:a16="http://schemas.microsoft.com/office/drawing/2014/main" val="2754894614"/>
                    </a:ext>
                  </a:extLst>
                </a:gridCol>
                <a:gridCol w="3428067">
                  <a:extLst>
                    <a:ext uri="{9D8B030D-6E8A-4147-A177-3AD203B41FA5}">
                      <a16:colId xmlns:a16="http://schemas.microsoft.com/office/drawing/2014/main" val="1838552276"/>
                    </a:ext>
                  </a:extLst>
                </a:gridCol>
                <a:gridCol w="947647">
                  <a:extLst>
                    <a:ext uri="{9D8B030D-6E8A-4147-A177-3AD203B41FA5}">
                      <a16:colId xmlns:a16="http://schemas.microsoft.com/office/drawing/2014/main" val="272340411"/>
                    </a:ext>
                  </a:extLst>
                </a:gridCol>
                <a:gridCol w="578765">
                  <a:extLst>
                    <a:ext uri="{9D8B030D-6E8A-4147-A177-3AD203B41FA5}">
                      <a16:colId xmlns:a16="http://schemas.microsoft.com/office/drawing/2014/main" val="4093104247"/>
                    </a:ext>
                  </a:extLst>
                </a:gridCol>
                <a:gridCol w="274479">
                  <a:extLst>
                    <a:ext uri="{9D8B030D-6E8A-4147-A177-3AD203B41FA5}">
                      <a16:colId xmlns:a16="http://schemas.microsoft.com/office/drawing/2014/main" val="1847439401"/>
                    </a:ext>
                  </a:extLst>
                </a:gridCol>
                <a:gridCol w="501445">
                  <a:extLst>
                    <a:ext uri="{9D8B030D-6E8A-4147-A177-3AD203B41FA5}">
                      <a16:colId xmlns:a16="http://schemas.microsoft.com/office/drawing/2014/main" val="3808028356"/>
                    </a:ext>
                  </a:extLst>
                </a:gridCol>
              </a:tblGrid>
              <a:tr h="882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813058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B09FFK1PQG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Duracell 38W Fast Car Charger Adapter with Dual Output. Quick Charge, Type C PD 20W &amp; Qualcomm Certified 3.0 Compatible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iPhone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All Smartphones, Tablets &amp; More (Copper &amp; Black)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AutomobileChargers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1680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137944"/>
                  </a:ext>
                </a:extLst>
              </a:tr>
              <a:tr h="1765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B0B1NX6JTN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Spigen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Ultra Hybrid Back Cover Case Compatible with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iPhone 14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Pro max (TPU + Poly Carbonate | Crystal Clear)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1801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297664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B09MY4W73Q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Amozo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Ultra Hybrid Camera and Drop Protection Back Cover Case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iPhone 13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(Polycarbonate| Back Transparent - Sides Black)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1454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705894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B09J2MM5C6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Amozo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Ultra Hybrid Camera and Drop Protection Back Cover Case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iPhone 13 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(TPU + Polycarbonate | Crystal Transparent)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2646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378071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B085HY1DGR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Sounce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Spiral Charger Cable Protector Data Cable Saver Charging Cord Protective Cable Cover Headphone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MacBook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Laptop Earphone Cell Phone Set of 3 (Cable Protector (12 Units))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CableConnectionProtectors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1396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214228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B08BQ947H3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LIRAMARK Webcam Cover Slide, Ultra Thin Laptop Camera Cover Slide Blocker for Computer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MacBook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Pro iMac PC Tablet (Pack of 3)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CameraPrivacyCovers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10833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348452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B07YNHCW6N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Robustrion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Smart Trifold Hard Back Flip Stand Case Cover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Apple iPad 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10.2 Cover iPad 9th Generation Cover 2021 8th Gen 2020 7th Gen 2019 Generation Case - Black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5556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713712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B07Z53L5QL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ProElite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Faux Leather Smart Flip Case Cover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Apple iPad 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10.2" 9th Gen (2021) / 8th Gen / 7th Gen with Stylus Pen, Black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11006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921584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B08MTCKDYN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Gizga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Essentials Spiral Cable Protector Cord Saver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Charger,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iPhone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Charger, Wire Protector, Lightweight Durable Flexible Wire Winder for Charging Cables, Data Cables, Earphones, Pack of 10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Décor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445382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B00MUTWLW4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K480 Wireless Multi-Device Keyboard for Windows, macOS,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iPad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OS, Android or Chrome OS, Bluetooth, Compact, Compatible with PC, Mac, Laptop, Smartphone, Tablet - Black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3295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22618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68391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B0148NPH9I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K380 Wireless Multi-Device Keyboard for Windows,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iOS, Apple TV Android or Chrome, Bluetooth, Compact Space-Saving Design, PC/Mac/Laptop/Smartphone/Tablet (Dark Grey)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3195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16146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437791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B09B9SPC7F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SQUARE Laptop Tabletop Stand/ Computer Tablet Stand 6 Angles Adjustable Aluminum Ergonomic Foldable Portable Desktop Holder Compatible with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MacBook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HP, Dell, Lenovo &amp; All Other Notebook (Silver)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Lapdesks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2740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829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87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00062-59FD-8B03-E4B0-448E5D583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5574358-EA72-1E6C-BFE1-30A14F1DA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923369"/>
              </p:ext>
            </p:extLst>
          </p:nvPr>
        </p:nvGraphicFramePr>
        <p:xfrm>
          <a:off x="1483627" y="1091589"/>
          <a:ext cx="6176746" cy="3657492"/>
        </p:xfrm>
        <a:graphic>
          <a:graphicData uri="http://schemas.openxmlformats.org/drawingml/2006/table">
            <a:tbl>
              <a:tblPr/>
              <a:tblGrid>
                <a:gridCol w="711414">
                  <a:extLst>
                    <a:ext uri="{9D8B030D-6E8A-4147-A177-3AD203B41FA5}">
                      <a16:colId xmlns:a16="http://schemas.microsoft.com/office/drawing/2014/main" val="3468207241"/>
                    </a:ext>
                  </a:extLst>
                </a:gridCol>
                <a:gridCol w="3239025">
                  <a:extLst>
                    <a:ext uri="{9D8B030D-6E8A-4147-A177-3AD203B41FA5}">
                      <a16:colId xmlns:a16="http://schemas.microsoft.com/office/drawing/2014/main" val="63496591"/>
                    </a:ext>
                  </a:extLst>
                </a:gridCol>
                <a:gridCol w="795110">
                  <a:extLst>
                    <a:ext uri="{9D8B030D-6E8A-4147-A177-3AD203B41FA5}">
                      <a16:colId xmlns:a16="http://schemas.microsoft.com/office/drawing/2014/main" val="186434596"/>
                    </a:ext>
                  </a:extLst>
                </a:gridCol>
                <a:gridCol w="544022">
                  <a:extLst>
                    <a:ext uri="{9D8B030D-6E8A-4147-A177-3AD203B41FA5}">
                      <a16:colId xmlns:a16="http://schemas.microsoft.com/office/drawing/2014/main" val="672220677"/>
                    </a:ext>
                  </a:extLst>
                </a:gridCol>
                <a:gridCol w="301305">
                  <a:extLst>
                    <a:ext uri="{9D8B030D-6E8A-4147-A177-3AD203B41FA5}">
                      <a16:colId xmlns:a16="http://schemas.microsoft.com/office/drawing/2014/main" val="4161701734"/>
                    </a:ext>
                  </a:extLst>
                </a:gridCol>
                <a:gridCol w="585870">
                  <a:extLst>
                    <a:ext uri="{9D8B030D-6E8A-4147-A177-3AD203B41FA5}">
                      <a16:colId xmlns:a16="http://schemas.microsoft.com/office/drawing/2014/main" val="76669467"/>
                    </a:ext>
                  </a:extLst>
                </a:gridCol>
              </a:tblGrid>
              <a:tr h="1306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86554"/>
                  </a:ext>
                </a:extLst>
              </a:tr>
              <a:tr h="2612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B08FN6WGDQ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Samsung Galaxy Buds Live Bluetooth Truly Wireless in Ear Earbuds with Mic,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Upto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21 Hours Playtime, Mystic Black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15990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4390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054957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B00MUTWLW4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K480 Wireless Multi-Device Keyboard for Windows, macOS, iPadOS, Android or Chrome OS, Bluetooth, Compact, Compatible with PC, Mac, Laptop, Smartphone, Tablet - Black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3295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22618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439418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B0148NPH9I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K380 Wireless Multi-Device Keyboard for Windows, Apple iOS, Apple TV Android or Chrome, Bluetooth, Compact Space-Saving Design, PC/Mac/Laptop/Smartphone/Tablet (Dark Grey)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3195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16146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751306"/>
                  </a:ext>
                </a:extLst>
              </a:tr>
              <a:tr h="522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B08Y7MXFMK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Offbeat® - DASH 2.4GHz Wireless + Bluetooth 5.1 Mouse, Multi-Device Dual Mode Slim Rechargeable Silent Click Buttons Wireless Bluetooth Mouse, 3 Adjustable DPI, Works on 2 devices at the same time with a switch button for Windows/Mac/Android/Ipad/Smart TV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2375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824790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B09BCNQ9R2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DYAZO USB 3.0 Type C Female to USB A Male Connector/Converter/Adapter Compatible for Samsung Galaxy Note s 20 10 Plus Ultra,Google Pixel 4 5 3 2 &amp; Other Type-c Devices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OTGAdapters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4971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003301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B0BNDD9TN6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WANBO X1 Pro (Upgraded) | Native 1080P Full HD | Android 9 | Projector for Home | LED Cinema | 350ANSI | 3900 lumens | WiFi Bluetooth | HDMI ARC | Dolby DTS | 4D Keystone Correction (Global Version)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28900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950324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B09B125CFJ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7SEVEN® Compatible for Mi tv Remote Control Original Suitable with Smart Android 4K LED Non Voice Command Xiaomi Redmi Remote of 4A Model 32 43 55 65 inches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915420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B09RQRZW2X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7SEVEN® Compatible Vu Smart Tv Remote Control Suitable for Original 4K Android LED Ultra HD UHD Vu Tv Remote with Non Voice Feature without google assistant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857461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B08RWCZ6SY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7SEVEN® Compatible for Sony Bravia LCD LED UHD OLED QLED 4K Ultra HD TV remote control with YouTube and NETFLIX Hotkeys. Universal Replacement for Original Sony Smart Android tv Remote Control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657900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B1E34E-4376-6CF2-DD1E-B745E8F0ED09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DeviceFit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F8822AE-CF40-BA99-0D71-FF8A9EE87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622437"/>
              </p:ext>
            </p:extLst>
          </p:nvPr>
        </p:nvGraphicFramePr>
        <p:xfrm>
          <a:off x="1483627" y="1091589"/>
          <a:ext cx="6176746" cy="3657492"/>
        </p:xfrm>
        <a:graphic>
          <a:graphicData uri="http://schemas.openxmlformats.org/drawingml/2006/table">
            <a:tbl>
              <a:tblPr/>
              <a:tblGrid>
                <a:gridCol w="711414">
                  <a:extLst>
                    <a:ext uri="{9D8B030D-6E8A-4147-A177-3AD203B41FA5}">
                      <a16:colId xmlns:a16="http://schemas.microsoft.com/office/drawing/2014/main" val="3468207241"/>
                    </a:ext>
                  </a:extLst>
                </a:gridCol>
                <a:gridCol w="3239025">
                  <a:extLst>
                    <a:ext uri="{9D8B030D-6E8A-4147-A177-3AD203B41FA5}">
                      <a16:colId xmlns:a16="http://schemas.microsoft.com/office/drawing/2014/main" val="63496591"/>
                    </a:ext>
                  </a:extLst>
                </a:gridCol>
                <a:gridCol w="795110">
                  <a:extLst>
                    <a:ext uri="{9D8B030D-6E8A-4147-A177-3AD203B41FA5}">
                      <a16:colId xmlns:a16="http://schemas.microsoft.com/office/drawing/2014/main" val="186434596"/>
                    </a:ext>
                  </a:extLst>
                </a:gridCol>
                <a:gridCol w="544022">
                  <a:extLst>
                    <a:ext uri="{9D8B030D-6E8A-4147-A177-3AD203B41FA5}">
                      <a16:colId xmlns:a16="http://schemas.microsoft.com/office/drawing/2014/main" val="672220677"/>
                    </a:ext>
                  </a:extLst>
                </a:gridCol>
                <a:gridCol w="301305">
                  <a:extLst>
                    <a:ext uri="{9D8B030D-6E8A-4147-A177-3AD203B41FA5}">
                      <a16:colId xmlns:a16="http://schemas.microsoft.com/office/drawing/2014/main" val="4161701734"/>
                    </a:ext>
                  </a:extLst>
                </a:gridCol>
                <a:gridCol w="585870">
                  <a:extLst>
                    <a:ext uri="{9D8B030D-6E8A-4147-A177-3AD203B41FA5}">
                      <a16:colId xmlns:a16="http://schemas.microsoft.com/office/drawing/2014/main" val="76669467"/>
                    </a:ext>
                  </a:extLst>
                </a:gridCol>
              </a:tblGrid>
              <a:tr h="1306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86554"/>
                  </a:ext>
                </a:extLst>
              </a:tr>
              <a:tr h="2612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B08FN6WGDQ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Samsung Galaxy 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Buds Live Bluetooth Truly Wireless in Ear Earbuds with Mic,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Upto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21 Hours Playtime, Mystic Black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15990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4390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054957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B00MUTWLW4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K480 Wireless Multi-Device Keyboard for Windows, macOS, iPadOS,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Android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or Chrome OS, Bluetooth, Compact, Compatible with PC, Mac, Laptop, Smartphone, Tablet - Black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3295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22618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439418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B0148NPH9I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K380 Wireless Multi-Device Keyboard for Windows, Apple iOS, Apple TV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Android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or Chrome, Bluetooth, Compact Space-Saving Design, PC/Mac/Laptop/Smartphone/Tablet (Dark Grey)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3195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16146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751306"/>
                  </a:ext>
                </a:extLst>
              </a:tr>
              <a:tr h="522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B08Y7MXFMK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Offbeat® - DASH 2.4GHz Wireless + Bluetooth 5.1 Mouse, Multi-Device Dual Mode Slim Rechargeable Silent Click Buttons Wireless Bluetooth Mouse, 3 Adjustable DPI, Works on 2 devices at the same time with a switch button for Windows/Mac/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Android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Ipad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/Smart TV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2375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824790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B09BCNQ9R2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DYAZO USB 3.0 Type C Female to USB A Male Connector/Converter/Adapter Compatible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Samsung Galaxy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Note s 20 10 Plus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Ultra,Google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Pixel 4 5 3 2 &amp; Other Type-c Devices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OTGAdapters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4971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003301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B0BNDD9TN6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WANBO X1 Pro (Upgraded) | Native 1080P Full HD |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Android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9 | Projector for Home | LED Cinema | 350ANSI | 3900 lumens |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WiFi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Bluetooth | HDMI ARC | Dolby DTS | 4D Keystone Correction (Global Version)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28900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950324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B09B125CFJ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7SEVEN® Compatible for Mi tv Remote Control Original Suitable with Smart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Android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4K LED Non Voice Command Xiaomi Redmi Remote of 4A Model 32 43 55 65 inches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915420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B09RQRZW2X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7SEVEN® Compatible Vu Smart Tv Remote Control Suitable for Original 4K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Android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LED Ultra HD UHD Vu Tv Remote with Non Voice Feature without google assistant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857461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B08RWCZ6SY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7SEVEN® Compatible for Sony Bravia LCD LED UHD OLED QLED 4K Ultra HD TV remote control with YouTube and NETFLIX Hotkeys. Universal Replacement for Original Sony Smart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Android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tv Remote Control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657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941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3279A-68DC-6CD8-B19F-7AEA2FC3A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1EFE6C5-5C79-9AE8-A8F1-1A85962A3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124220"/>
              </p:ext>
            </p:extLst>
          </p:nvPr>
        </p:nvGraphicFramePr>
        <p:xfrm>
          <a:off x="1118623" y="1047240"/>
          <a:ext cx="6115474" cy="3556347"/>
        </p:xfrm>
        <a:graphic>
          <a:graphicData uri="http://schemas.openxmlformats.org/drawingml/2006/table">
            <a:tbl>
              <a:tblPr/>
              <a:tblGrid>
                <a:gridCol w="671596">
                  <a:extLst>
                    <a:ext uri="{9D8B030D-6E8A-4147-A177-3AD203B41FA5}">
                      <a16:colId xmlns:a16="http://schemas.microsoft.com/office/drawing/2014/main" val="3479108085"/>
                    </a:ext>
                  </a:extLst>
                </a:gridCol>
                <a:gridCol w="3247365">
                  <a:extLst>
                    <a:ext uri="{9D8B030D-6E8A-4147-A177-3AD203B41FA5}">
                      <a16:colId xmlns:a16="http://schemas.microsoft.com/office/drawing/2014/main" val="2764368146"/>
                    </a:ext>
                  </a:extLst>
                </a:gridCol>
                <a:gridCol w="821718">
                  <a:extLst>
                    <a:ext uri="{9D8B030D-6E8A-4147-A177-3AD203B41FA5}">
                      <a16:colId xmlns:a16="http://schemas.microsoft.com/office/drawing/2014/main" val="133647995"/>
                    </a:ext>
                  </a:extLst>
                </a:gridCol>
                <a:gridCol w="436437">
                  <a:extLst>
                    <a:ext uri="{9D8B030D-6E8A-4147-A177-3AD203B41FA5}">
                      <a16:colId xmlns:a16="http://schemas.microsoft.com/office/drawing/2014/main" val="3376920575"/>
                    </a:ext>
                  </a:extLst>
                </a:gridCol>
                <a:gridCol w="385279">
                  <a:extLst>
                    <a:ext uri="{9D8B030D-6E8A-4147-A177-3AD203B41FA5}">
                      <a16:colId xmlns:a16="http://schemas.microsoft.com/office/drawing/2014/main" val="1561068697"/>
                    </a:ext>
                  </a:extLst>
                </a:gridCol>
                <a:gridCol w="553079">
                  <a:extLst>
                    <a:ext uri="{9D8B030D-6E8A-4147-A177-3AD203B41FA5}">
                      <a16:colId xmlns:a16="http://schemas.microsoft.com/office/drawing/2014/main" val="930300220"/>
                    </a:ext>
                  </a:extLst>
                </a:gridCol>
              </a:tblGrid>
              <a:tr h="194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  <a:endParaRPr lang="en-US" sz="6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  <a:endParaRPr lang="en-US" sz="6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103071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B098K3H92Z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TP-Link USB Bluetooth Adapter for PC, 5.0 Bluetooth Dongle Receiver (UB500) Supports Windows 11/10/8.1/7 for Desktop, Laptop, Mouse, Keyboard, Printers, Headsets, Speakers, PS4/ Xbox Controllers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BluetoothAdapters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95116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00068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B06XDKWLJH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Western Digital WD 1.5TB Elements Portable Hard Disk Drive, USB 3.0, Compatible with PC, PS4 and Xbox, External HDD (WDBU6Y0015BBK-WESN)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ExternalHardDisks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5734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25006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918755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B08TGG316Z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10k 8k 4k HDMI Cable, Certified 48Gbps 1ms Ultra High Speed HDMI 2.1 Cable 4k 120Hz 144Hz 2k 165Hz 8k 60Hz Dynamic HDR ARC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eARC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DTS:X Compatible for Mac Gaming PC Soundbar TV Monitor Laptop PS5 4 Xbox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3664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964827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B09HCH3JZG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Bestor</a:t>
                      </a:r>
                      <a:r>
                        <a:rPr lang="ko-KR" alt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2.1 Cable 48Gbps 9.80Ft/Ultra High Speed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Braided Cord For Roku Tv/Ps5/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Hdtv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/Blu-Ray Projector, Laptop, Television, Personal Computer, Xbox, Ps4, Ps5, Ps4 Pro (1 M, Grey)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390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424902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B09YLFHFDW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Sony WI-C100 Wireless Headphones with Customizable Equalizer for Deep Bass &amp; 25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Hrs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Battery, DSEE-Upscale, Splash Proof, 360RA, Fast Pair, in-Ear Bluetooth Headset with mic for Phone Calls (Black)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2790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2272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718745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B005LJQMCK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Digital Optical Audio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Toslink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Cable (3.3 Feet / 1 Meter) With 8 Channel (7.1) Audio Support (for Home Theatre, Xbox,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Playstation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etc.)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24981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B005LJQMZC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Digital Optical Audio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Toslink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Cable (6 Feet / 1.8 Meter) With 8 Channel (7.1) Audio Support (for Home Theatre, Xbox,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Playstation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etc.)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  <a:endParaRPr lang="en-US" sz="600" b="0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597462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B0BLV1GNLN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WZATCO Pixel | Portable LED Projector | Native 720p with Full HD 1080P Support | 2000 Lumens (200 ANSI) | 176" Large Screen | Projector for Home and Outdoor | Compatible with TV Stick, PC, PS4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9990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346092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B071VMP1Z4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LRIPL Compatible Sony Bravia LCD/led Remote Works with Almost All Sony led/LCD tv's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1951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908169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B07V5YF4ND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LOHAYA LCD/LED Remote Compatible for Sony Bravia Smart LCD LED UHD OLED QLED 4K Ultra HD TV Remote Control with YouTube &amp; Netflix Function [ Compatible for Sony Tv Remote Control ]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  <a:endParaRPr lang="en-US" sz="600" b="0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466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725595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541D1448-4571-1516-3DA6-7D83A17D7D22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DeviceFit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8CC56A0-56B9-DC73-6B7C-2C4C9AC92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040320"/>
              </p:ext>
            </p:extLst>
          </p:nvPr>
        </p:nvGraphicFramePr>
        <p:xfrm>
          <a:off x="1118623" y="1047240"/>
          <a:ext cx="6115474" cy="3556347"/>
        </p:xfrm>
        <a:graphic>
          <a:graphicData uri="http://schemas.openxmlformats.org/drawingml/2006/table">
            <a:tbl>
              <a:tblPr/>
              <a:tblGrid>
                <a:gridCol w="671596">
                  <a:extLst>
                    <a:ext uri="{9D8B030D-6E8A-4147-A177-3AD203B41FA5}">
                      <a16:colId xmlns:a16="http://schemas.microsoft.com/office/drawing/2014/main" val="3479108085"/>
                    </a:ext>
                  </a:extLst>
                </a:gridCol>
                <a:gridCol w="3247365">
                  <a:extLst>
                    <a:ext uri="{9D8B030D-6E8A-4147-A177-3AD203B41FA5}">
                      <a16:colId xmlns:a16="http://schemas.microsoft.com/office/drawing/2014/main" val="2764368146"/>
                    </a:ext>
                  </a:extLst>
                </a:gridCol>
                <a:gridCol w="821718">
                  <a:extLst>
                    <a:ext uri="{9D8B030D-6E8A-4147-A177-3AD203B41FA5}">
                      <a16:colId xmlns:a16="http://schemas.microsoft.com/office/drawing/2014/main" val="133647995"/>
                    </a:ext>
                  </a:extLst>
                </a:gridCol>
                <a:gridCol w="436437">
                  <a:extLst>
                    <a:ext uri="{9D8B030D-6E8A-4147-A177-3AD203B41FA5}">
                      <a16:colId xmlns:a16="http://schemas.microsoft.com/office/drawing/2014/main" val="3376920575"/>
                    </a:ext>
                  </a:extLst>
                </a:gridCol>
                <a:gridCol w="385279">
                  <a:extLst>
                    <a:ext uri="{9D8B030D-6E8A-4147-A177-3AD203B41FA5}">
                      <a16:colId xmlns:a16="http://schemas.microsoft.com/office/drawing/2014/main" val="1561068697"/>
                    </a:ext>
                  </a:extLst>
                </a:gridCol>
                <a:gridCol w="553079">
                  <a:extLst>
                    <a:ext uri="{9D8B030D-6E8A-4147-A177-3AD203B41FA5}">
                      <a16:colId xmlns:a16="http://schemas.microsoft.com/office/drawing/2014/main" val="930300220"/>
                    </a:ext>
                  </a:extLst>
                </a:gridCol>
              </a:tblGrid>
              <a:tr h="194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103071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B098K3H92Z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TP-Link USB Bluetooth Adapter for PC, 5.0 Bluetooth Dongle Receiver (UB500) Supports Windows 11/10/8.1/7 for Desktop, Laptop, Mouse, Keyboard, Printers, Headsets, Speakers,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PS4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Xbox Controllers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BluetoothAdapters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95116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00068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B06XDKWLJH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Western Digital WD 1.5TB Elements Portable Hard Disk Drive, USB 3.0, Compatible with PC,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PS4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and Xbox, External HDD (WDBU6Y0015BBK-WESN)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ExternalHardDisks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5734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25006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918755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B08TGG316Z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10k 8k 4k HDMI Cable, Certified 48Gbps 1ms Ultra High Speed HDMI 2.1 Cable 4k 120Hz 144Hz 2k 165Hz 8k 60Hz Dynamic HDR ARC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eARC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DTS:X Compatible for Mac Gaming PC Soundbar TV Monitor Laptop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PS5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4 Xbox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3664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964827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B09HCH3JZG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Bestor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2.1 Cable 48Gbps 9.80Ft/Ultra High Speed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Braided Cord For Roku Tv/Ps5/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Hdtv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/Blu-Ray Projector, Laptop, Television, Personal Computer, Xbox,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Ps4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Ps5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Ps4 Pro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(1 M, Grey)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390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424902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B09YLFHFDW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Sony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WI-C100 Wireless Headphones with Customizable Equalizer for Deep Bass &amp; 25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Hrs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Battery, DSEE-Upscale, Splash Proof, 360RA, Fast Pair, in-Ear Bluetooth Headset with mic for Phone Calls (Black)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2790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2272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718745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B005LJQMCK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Digital Optical Audio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Toslink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Cable (3.3 Feet / 1 Meter) With 8 Channel (7.1) Audio Support (for Home Theatre, Xbox, </a:t>
                      </a:r>
                      <a:r>
                        <a:rPr lang="en-US" sz="6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Playstation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etc.)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24981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B005LJQMZC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Digital Optical Audio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Toslink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Cable (6 Feet / 1.8 Meter) With 8 Channel (7.1) Audio Support (for Home Theatre, Xbox, </a:t>
                      </a:r>
                      <a:r>
                        <a:rPr lang="en-US" sz="6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Playstation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etc.)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597462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B0BLV1GNLN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WZATCO Pixel | Portable LED Projector | Native 720p with Full HD 1080P Support | 2000 Lumens (200 ANSI) | 176" Large Screen | Projector for Home and Outdoor | Compatible with TV Stick, PC,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9990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346092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B071VMP1Z4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LRIPL Compatible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Sony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Bravia LCD/led Remote Works with Almost All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Sony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led/LCD tv's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1951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908169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B07V5YF4ND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LOHAYA LCD/LED Remote Compatible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Sony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Bravia Smart LCD LED UHD OLED QLED 4K Ultra HD TV Remote Control with YouTube &amp; Netflix Function [ Compatible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Sony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Tv Remote Control ]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466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72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11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3B045-B95F-60C0-DC24-A6EB3A36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E7BA22A3-A15C-92A4-E0F6-070CBB5CEAC2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altLang="en-US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５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Wonpice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808A0E2-2650-6FD4-2168-05F3370AB9B7}"/>
              </a:ext>
            </a:extLst>
          </p:cNvPr>
          <p:cNvSpPr/>
          <p:nvPr/>
        </p:nvSpPr>
        <p:spPr>
          <a:xfrm>
            <a:off x="714238" y="1204452"/>
            <a:ext cx="8051219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시스템의 테마</a:t>
            </a: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망망대해 같은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Amazon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에서 조금이라도 더 저렴하고 좋은 상품을 위해 내수가 아닌 직구 모험을 떠나는 고객들을 위해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상품 하나하나 고객이 직접 원화와 비교하지 않고 모든 상품을 루피 가격에 대한 원화 가격으로 함께 보여주어 프로 </a:t>
            </a:r>
            <a:r>
              <a:rPr lang="ko-KR" altLang="en-US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직구러들을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위한 추천 시스템</a:t>
            </a: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구현 로직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223D15-561E-A25A-E331-262C62E91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8" y="2654355"/>
            <a:ext cx="5569444" cy="230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20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1FEB0-D37F-4021-1570-1027BA63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1570435-3F83-7F26-2FEE-159CD6BE5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158881"/>
              </p:ext>
            </p:extLst>
          </p:nvPr>
        </p:nvGraphicFramePr>
        <p:xfrm>
          <a:off x="714240" y="1288746"/>
          <a:ext cx="7886699" cy="2566008"/>
        </p:xfrm>
        <a:graphic>
          <a:graphicData uri="http://schemas.openxmlformats.org/drawingml/2006/table">
            <a:tbl>
              <a:tblPr/>
              <a:tblGrid>
                <a:gridCol w="566031">
                  <a:extLst>
                    <a:ext uri="{9D8B030D-6E8A-4147-A177-3AD203B41FA5}">
                      <a16:colId xmlns:a16="http://schemas.microsoft.com/office/drawing/2014/main" val="4181535975"/>
                    </a:ext>
                  </a:extLst>
                </a:gridCol>
                <a:gridCol w="2685503">
                  <a:extLst>
                    <a:ext uri="{9D8B030D-6E8A-4147-A177-3AD203B41FA5}">
                      <a16:colId xmlns:a16="http://schemas.microsoft.com/office/drawing/2014/main" val="104499021"/>
                    </a:ext>
                  </a:extLst>
                </a:gridCol>
                <a:gridCol w="1446524">
                  <a:extLst>
                    <a:ext uri="{9D8B030D-6E8A-4147-A177-3AD203B41FA5}">
                      <a16:colId xmlns:a16="http://schemas.microsoft.com/office/drawing/2014/main" val="2094220428"/>
                    </a:ext>
                  </a:extLst>
                </a:gridCol>
                <a:gridCol w="415089">
                  <a:extLst>
                    <a:ext uri="{9D8B030D-6E8A-4147-A177-3AD203B41FA5}">
                      <a16:colId xmlns:a16="http://schemas.microsoft.com/office/drawing/2014/main" val="1110409898"/>
                    </a:ext>
                  </a:extLst>
                </a:gridCol>
                <a:gridCol w="566031">
                  <a:extLst>
                    <a:ext uri="{9D8B030D-6E8A-4147-A177-3AD203B41FA5}">
                      <a16:colId xmlns:a16="http://schemas.microsoft.com/office/drawing/2014/main" val="2797288525"/>
                    </a:ext>
                  </a:extLst>
                </a:gridCol>
                <a:gridCol w="591188">
                  <a:extLst>
                    <a:ext uri="{9D8B030D-6E8A-4147-A177-3AD203B41FA5}">
                      <a16:colId xmlns:a16="http://schemas.microsoft.com/office/drawing/2014/main" val="3596605869"/>
                    </a:ext>
                  </a:extLst>
                </a:gridCol>
                <a:gridCol w="742130">
                  <a:extLst>
                    <a:ext uri="{9D8B030D-6E8A-4147-A177-3AD203B41FA5}">
                      <a16:colId xmlns:a16="http://schemas.microsoft.com/office/drawing/2014/main" val="2391176039"/>
                    </a:ext>
                  </a:extLst>
                </a:gridCol>
                <a:gridCol w="433957">
                  <a:extLst>
                    <a:ext uri="{9D8B030D-6E8A-4147-A177-3AD203B41FA5}">
                      <a16:colId xmlns:a16="http://schemas.microsoft.com/office/drawing/2014/main" val="2062096842"/>
                    </a:ext>
                  </a:extLst>
                </a:gridCol>
                <a:gridCol w="440246">
                  <a:extLst>
                    <a:ext uri="{9D8B030D-6E8A-4147-A177-3AD203B41FA5}">
                      <a16:colId xmlns:a16="http://schemas.microsoft.com/office/drawing/2014/main" val="1362446043"/>
                    </a:ext>
                  </a:extLst>
                </a:gridCol>
              </a:tblGrid>
              <a:tr h="1069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actual_price_krw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discounted_price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discounted_price_krw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385411"/>
                  </a:ext>
                </a:extLst>
              </a:tr>
              <a:tr h="3207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B09ZHCJDP1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Amazon Basics Wireless Mouse | 2.4 GHz Connection, 1600 DPI | Type - C Adapter | Upto 12 Months of Battery Life | Ambidextrous Design | Suitable for PC/Mac/Laptop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14400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7185.6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996056"/>
                  </a:ext>
                </a:extLst>
              </a:tr>
              <a:tr h="3207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B0BP7XLX48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Syncwire LTG to USB Cable for Fast Charging Compatible with Phone 5/ 5C/ 5S/ 6/ 6S/ 7/8/ X/XR/XS Max/ 11/12/ 13 Series and Pad Air/Mini, Pod &amp; Other Devices (1.1 Meter, White)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28785.6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5745.6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671177"/>
                  </a:ext>
                </a:extLst>
              </a:tr>
              <a:tr h="3207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B0BQRJ3C47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REDTECH USB-C to Lightning Cable 3.3FT, [Apple MFi Certified] Lightning to Type C Fast Charging Cord Compatible with iPhone 14/13/13 pro/Max/12/11/X/XS/XR/8, Supports Power Delivery - White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14385.6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3585.6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238289"/>
                  </a:ext>
                </a:extLst>
              </a:tr>
              <a:tr h="1069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B002PD61Y4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D-Link DWA-131 300 Mbps Wireless Nano USB Adapter (Black)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WirelessUSBAdapters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1208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17395.2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507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7300.8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8131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550318"/>
                  </a:ext>
                </a:extLst>
              </a:tr>
              <a:tr h="3207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B002SZEOLG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TP-Link Nano USB WiFi Dongle 150Mbps High Gain Wireless Network Wi-Fi Adapter for PC Desktop and Laptops, Supports Windows 10/8.1/8/7/XP, Linux, Mac OS X (TL-WN722N)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WirelessUSBAdapters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19281.6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10785.6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179692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866265"/>
                  </a:ext>
                </a:extLst>
              </a:tr>
              <a:tr h="1069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B003B00484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Duracell Plus AAA Rechargeable Batteries (750 mAh) Pack of 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RechargeableBatteries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7185.6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5745.6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27201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761754"/>
                  </a:ext>
                </a:extLst>
              </a:tr>
              <a:tr h="2138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B003L62T7W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B100 Wired USB Mouse, 3 yr Warranty, 800 DPI Optical Tracking, Ambidextrous PC/Mac/Laptop - Black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5400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4017.6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31534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928082"/>
                  </a:ext>
                </a:extLst>
              </a:tr>
              <a:tr h="2138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B004IO5BMQ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M235 Wireless Mouse, 1000 DPI Optical Tracking, 12 Month Life Battery, Compatible with Windows, Mac, Chromebook/PC/Laptop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14328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10065.6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54405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356359"/>
                  </a:ext>
                </a:extLst>
              </a:tr>
              <a:tr h="1069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B005FYNT3G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SanDisk Cruzer Blade 32GB USB Flash Drive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PenDrives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650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9360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4161.6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253105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132898"/>
                  </a:ext>
                </a:extLst>
              </a:tr>
              <a:tr h="2138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B005LJQMCK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 Digital Optical Audio Toslink Cable (3.3 Feet / 1 Meter) With 8 Channel (7.1) Audio Support (for Home Theatre, Xbox, Playstation etc.)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8625.6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5990.4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211049"/>
                  </a:ext>
                </a:extLst>
              </a:tr>
              <a:tr h="2138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B005LJQMZC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 Digital Optical Audio Toslink Cable (6 Feet / 1.8 Meter) With 8 Channel (7.1) Audio Support (for Home Theatre, Xbox, Playstation etc.)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28785.6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6998.4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694737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6128ABE6-B50A-8796-01E3-D9A226BC752E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>
              <a:tabLst>
                <a:tab pos="0" algn="l"/>
              </a:tabLst>
            </a:pPr>
            <a:r>
              <a:rPr lang="ko-KR" altLang="en-US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５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Wonpice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8015889-8ACB-FDEE-ED88-A0A1E9DCC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830594"/>
              </p:ext>
            </p:extLst>
          </p:nvPr>
        </p:nvGraphicFramePr>
        <p:xfrm>
          <a:off x="714240" y="1288746"/>
          <a:ext cx="7886699" cy="2566008"/>
        </p:xfrm>
        <a:graphic>
          <a:graphicData uri="http://schemas.openxmlformats.org/drawingml/2006/table">
            <a:tbl>
              <a:tblPr/>
              <a:tblGrid>
                <a:gridCol w="566031">
                  <a:extLst>
                    <a:ext uri="{9D8B030D-6E8A-4147-A177-3AD203B41FA5}">
                      <a16:colId xmlns:a16="http://schemas.microsoft.com/office/drawing/2014/main" val="4181535975"/>
                    </a:ext>
                  </a:extLst>
                </a:gridCol>
                <a:gridCol w="2685503">
                  <a:extLst>
                    <a:ext uri="{9D8B030D-6E8A-4147-A177-3AD203B41FA5}">
                      <a16:colId xmlns:a16="http://schemas.microsoft.com/office/drawing/2014/main" val="104499021"/>
                    </a:ext>
                  </a:extLst>
                </a:gridCol>
                <a:gridCol w="1446524">
                  <a:extLst>
                    <a:ext uri="{9D8B030D-6E8A-4147-A177-3AD203B41FA5}">
                      <a16:colId xmlns:a16="http://schemas.microsoft.com/office/drawing/2014/main" val="2094220428"/>
                    </a:ext>
                  </a:extLst>
                </a:gridCol>
                <a:gridCol w="415089">
                  <a:extLst>
                    <a:ext uri="{9D8B030D-6E8A-4147-A177-3AD203B41FA5}">
                      <a16:colId xmlns:a16="http://schemas.microsoft.com/office/drawing/2014/main" val="1110409898"/>
                    </a:ext>
                  </a:extLst>
                </a:gridCol>
                <a:gridCol w="566031">
                  <a:extLst>
                    <a:ext uri="{9D8B030D-6E8A-4147-A177-3AD203B41FA5}">
                      <a16:colId xmlns:a16="http://schemas.microsoft.com/office/drawing/2014/main" val="2797288525"/>
                    </a:ext>
                  </a:extLst>
                </a:gridCol>
                <a:gridCol w="591188">
                  <a:extLst>
                    <a:ext uri="{9D8B030D-6E8A-4147-A177-3AD203B41FA5}">
                      <a16:colId xmlns:a16="http://schemas.microsoft.com/office/drawing/2014/main" val="3596605869"/>
                    </a:ext>
                  </a:extLst>
                </a:gridCol>
                <a:gridCol w="742130">
                  <a:extLst>
                    <a:ext uri="{9D8B030D-6E8A-4147-A177-3AD203B41FA5}">
                      <a16:colId xmlns:a16="http://schemas.microsoft.com/office/drawing/2014/main" val="2391176039"/>
                    </a:ext>
                  </a:extLst>
                </a:gridCol>
                <a:gridCol w="433957">
                  <a:extLst>
                    <a:ext uri="{9D8B030D-6E8A-4147-A177-3AD203B41FA5}">
                      <a16:colId xmlns:a16="http://schemas.microsoft.com/office/drawing/2014/main" val="2062096842"/>
                    </a:ext>
                  </a:extLst>
                </a:gridCol>
                <a:gridCol w="440246">
                  <a:extLst>
                    <a:ext uri="{9D8B030D-6E8A-4147-A177-3AD203B41FA5}">
                      <a16:colId xmlns:a16="http://schemas.microsoft.com/office/drawing/2014/main" val="1362446043"/>
                    </a:ext>
                  </a:extLst>
                </a:gridCol>
              </a:tblGrid>
              <a:tr h="1069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actual_price_krw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discounted_price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discounted_price_krw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385411"/>
                  </a:ext>
                </a:extLst>
              </a:tr>
              <a:tr h="3207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B09ZHCJDP1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Amazon Basics Wireless Mouse | 2.4 GHz Connection, 1600 DPI | Type - C Adapter | Upto 12 Months of Battery Life | Ambidextrous Design | Suitable for PC/Mac/Laptop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14400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7185.6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996056"/>
                  </a:ext>
                </a:extLst>
              </a:tr>
              <a:tr h="3207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B0BP7XLX48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Syncwire LTG to USB Cable for Fast Charging Compatible with Phone 5/ 5C/ 5S/ 6/ 6S/ 7/8/ X/XR/XS Max/ 11/12/ 13 Series and Pad Air/Mini, Pod &amp; Other Devices (1.1 Meter, White)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28785.6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5745.6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671177"/>
                  </a:ext>
                </a:extLst>
              </a:tr>
              <a:tr h="3207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B0BQRJ3C47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REDTECH USB-C to Lightning Cable 3.3FT, [Apple MFi Certified] Lightning to Type C Fast Charging Cord Compatible with iPhone 14/13/13 pro/Max/12/11/X/XS/XR/8, Supports Power Delivery - White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14385.6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3585.6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238289"/>
                  </a:ext>
                </a:extLst>
              </a:tr>
              <a:tr h="1069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B002PD61Y4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D-Link DWA-131 300 Mbps Wireless Nano USB Adapter (Black)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WirelessUSBAdapters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1208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17395.2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507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7300.8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8131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550318"/>
                  </a:ext>
                </a:extLst>
              </a:tr>
              <a:tr h="3207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B002SZEOLG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TP-Link Nano USB WiFi Dongle 150Mbps High Gain Wireless Network Wi-Fi Adapter for PC Desktop and Laptops, Supports Windows 10/8.1/8/7/XP, Linux, Mac OS X (TL-WN722N)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WirelessUSBAdapters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19281.6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10785.6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179692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866265"/>
                  </a:ext>
                </a:extLst>
              </a:tr>
              <a:tr h="1069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B003B00484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Duracell Plus AAA Rechargeable Batteries (750 mAh) Pack of 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RechargeableBatteries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7185.6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5745.6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27201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761754"/>
                  </a:ext>
                </a:extLst>
              </a:tr>
              <a:tr h="2138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B003L62T7W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B100 Wired USB Mouse, 3 yr Warranty, 800 DPI Optical Tracking, Ambidextrous PC/Mac/Laptop - Black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5400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4017.6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31534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928082"/>
                  </a:ext>
                </a:extLst>
              </a:tr>
              <a:tr h="2138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B004IO5BMQ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M235 Wireless Mouse, 1000 DPI Optical Tracking, 12 Month Life Battery, Compatible with Windows, Mac, Chromebook/PC/Laptop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14328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10065.6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54405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356359"/>
                  </a:ext>
                </a:extLst>
              </a:tr>
              <a:tr h="1069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B005FYNT3G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SanDisk Cruzer Blade 32GB USB Flash Drive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PenDrives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650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9360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4161.6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253105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132898"/>
                  </a:ext>
                </a:extLst>
              </a:tr>
              <a:tr h="2138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B005LJQMCK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 Digital Optical Audio Toslink Cable (3.3 Feet / 1 Meter) With 8 Channel (7.1) Audio Support (for Home Theatre, Xbox, Playstation etc.)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8625.6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5990.4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211049"/>
                  </a:ext>
                </a:extLst>
              </a:tr>
              <a:tr h="2138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B005LJQMZC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 Digital Optical Audio Toslink Cable (6 Feet / 1.8 Meter) With 8 Channel (7.1) Audio Support (for Home Theatre, Xbox, Playstation etc.)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28785.6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486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6998.4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3145" marR="3145" marT="31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694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32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D2425-DA85-3E6A-0308-7A9DC9360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92;p35">
            <a:extLst>
              <a:ext uri="{FF2B5EF4-FFF2-40B4-BE49-F238E27FC236}">
                <a16:creationId xmlns:a16="http://schemas.microsoft.com/office/drawing/2014/main" id="{F3C64DF9-B858-219B-3A12-5F5BC7520844}"/>
              </a:ext>
            </a:extLst>
          </p:cNvPr>
          <p:cNvGrpSpPr/>
          <p:nvPr/>
        </p:nvGrpSpPr>
        <p:grpSpPr>
          <a:xfrm>
            <a:off x="9043560" y="2520"/>
            <a:ext cx="100800" cy="5138640"/>
            <a:chOff x="9043560" y="2520"/>
            <a:chExt cx="100800" cy="5138640"/>
          </a:xfrm>
        </p:grpSpPr>
        <p:grpSp>
          <p:nvGrpSpPr>
            <p:cNvPr id="24" name="Google Shape;293;p35">
              <a:extLst>
                <a:ext uri="{FF2B5EF4-FFF2-40B4-BE49-F238E27FC236}">
                  <a16:creationId xmlns:a16="http://schemas.microsoft.com/office/drawing/2014/main" id="{E6FBD806-E2DB-EEFD-3232-ED024CCE6518}"/>
                </a:ext>
              </a:extLst>
            </p:cNvPr>
            <p:cNvGrpSpPr/>
            <p:nvPr/>
          </p:nvGrpSpPr>
          <p:grpSpPr>
            <a:xfrm>
              <a:off x="9043560" y="2520"/>
              <a:ext cx="100800" cy="5138640"/>
              <a:chOff x="9043560" y="2520"/>
              <a:chExt cx="100800" cy="5138640"/>
            </a:xfrm>
          </p:grpSpPr>
          <p:sp>
            <p:nvSpPr>
              <p:cNvPr id="25" name="Google Shape;294;p35">
                <a:extLst>
                  <a:ext uri="{FF2B5EF4-FFF2-40B4-BE49-F238E27FC236}">
                    <a16:creationId xmlns:a16="http://schemas.microsoft.com/office/drawing/2014/main" id="{709E254A-094D-7AC5-8A1A-AE10CAB54CFF}"/>
                  </a:ext>
                </a:extLst>
              </p:cNvPr>
              <p:cNvSpPr/>
              <p:nvPr/>
            </p:nvSpPr>
            <p:spPr>
              <a:xfrm>
                <a:off x="9043560" y="3467160"/>
                <a:ext cx="100080" cy="81648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" name="Google Shape;295;p35">
                <a:extLst>
                  <a:ext uri="{FF2B5EF4-FFF2-40B4-BE49-F238E27FC236}">
                    <a16:creationId xmlns:a16="http://schemas.microsoft.com/office/drawing/2014/main" id="{02669342-BC40-4930-2425-E4D0FA1BD1F9}"/>
                  </a:ext>
                </a:extLst>
              </p:cNvPr>
              <p:cNvSpPr/>
              <p:nvPr/>
            </p:nvSpPr>
            <p:spPr>
              <a:xfrm>
                <a:off x="9043560" y="4284360"/>
                <a:ext cx="100080" cy="8568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" name="Google Shape;296;p35">
                <a:extLst>
                  <a:ext uri="{FF2B5EF4-FFF2-40B4-BE49-F238E27FC236}">
                    <a16:creationId xmlns:a16="http://schemas.microsoft.com/office/drawing/2014/main" id="{9DDFA03D-B643-21D2-31C5-E0667F156026}"/>
                  </a:ext>
                </a:extLst>
              </p:cNvPr>
              <p:cNvSpPr/>
              <p:nvPr/>
            </p:nvSpPr>
            <p:spPr>
              <a:xfrm>
                <a:off x="9043560" y="2649960"/>
                <a:ext cx="100080" cy="8164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" name="Google Shape;297;p35">
                <a:extLst>
                  <a:ext uri="{FF2B5EF4-FFF2-40B4-BE49-F238E27FC236}">
                    <a16:creationId xmlns:a16="http://schemas.microsoft.com/office/drawing/2014/main" id="{DE6DE1BB-3A57-CC3F-2E79-DFD81E074AFA}"/>
                  </a:ext>
                </a:extLst>
              </p:cNvPr>
              <p:cNvSpPr/>
              <p:nvPr/>
            </p:nvSpPr>
            <p:spPr>
              <a:xfrm rot="10800000" flipH="1">
                <a:off x="9044280" y="860040"/>
                <a:ext cx="100080" cy="81648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" name="Google Shape;298;p35">
                <a:extLst>
                  <a:ext uri="{FF2B5EF4-FFF2-40B4-BE49-F238E27FC236}">
                    <a16:creationId xmlns:a16="http://schemas.microsoft.com/office/drawing/2014/main" id="{FEDAF7B2-7543-D14D-30F0-12D4BC26E867}"/>
                  </a:ext>
                </a:extLst>
              </p:cNvPr>
              <p:cNvSpPr/>
              <p:nvPr/>
            </p:nvSpPr>
            <p:spPr>
              <a:xfrm rot="10800000" flipH="1">
                <a:off x="9044280" y="2520"/>
                <a:ext cx="100080" cy="8568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" name="Google Shape;299;p35">
                <a:extLst>
                  <a:ext uri="{FF2B5EF4-FFF2-40B4-BE49-F238E27FC236}">
                    <a16:creationId xmlns:a16="http://schemas.microsoft.com/office/drawing/2014/main" id="{2FCA2832-4FBD-230A-2311-CC72D1E3214E}"/>
                  </a:ext>
                </a:extLst>
              </p:cNvPr>
              <p:cNvSpPr/>
              <p:nvPr/>
            </p:nvSpPr>
            <p:spPr>
              <a:xfrm rot="10800000" flipH="1">
                <a:off x="9044280" y="1676880"/>
                <a:ext cx="100080" cy="8164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1" name="Google Shape;300;p35">
              <a:extLst>
                <a:ext uri="{FF2B5EF4-FFF2-40B4-BE49-F238E27FC236}">
                  <a16:creationId xmlns:a16="http://schemas.microsoft.com/office/drawing/2014/main" id="{EF113ABB-5E9D-BA43-5B8F-E96D654D18A4}"/>
                </a:ext>
              </a:extLst>
            </p:cNvPr>
            <p:cNvSpPr/>
            <p:nvPr/>
          </p:nvSpPr>
          <p:spPr>
            <a:xfrm>
              <a:off x="9043560" y="2493720"/>
              <a:ext cx="10008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1800" b="0" u="none" strike="noStrik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2" name="Google Shape;303;p35">
            <a:extLst>
              <a:ext uri="{FF2B5EF4-FFF2-40B4-BE49-F238E27FC236}">
                <a16:creationId xmlns:a16="http://schemas.microsoft.com/office/drawing/2014/main" id="{0DFCCA38-B352-AEE4-1CA3-8A05BF0B28B3}"/>
              </a:ext>
            </a:extLst>
          </p:cNvPr>
          <p:cNvSpPr/>
          <p:nvPr/>
        </p:nvSpPr>
        <p:spPr>
          <a:xfrm>
            <a:off x="828720" y="771480"/>
            <a:ext cx="1447560" cy="4716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760" rIns="870823080" bIns="23760" anchor="ctr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D505E8-D45C-CD10-7447-53CDBA9A1D00}"/>
              </a:ext>
            </a:extLst>
          </p:cNvPr>
          <p:cNvSpPr/>
          <p:nvPr/>
        </p:nvSpPr>
        <p:spPr>
          <a:xfrm>
            <a:off x="752868" y="2043000"/>
            <a:ext cx="7638264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altLang="en-US" sz="32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r>
              <a:rPr lang="en-US" altLang="ko-KR" sz="32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0476754"/>
      </p:ext>
    </p:extLst>
  </p:cSld>
  <p:clrMapOvr>
    <a:masterClrMapping/>
  </p:clrMapOvr>
</p:sld>
</file>

<file path=ppt/theme/theme1.xml><?xml version="1.0" encoding="utf-8"?>
<a:theme xmlns:a="http://schemas.openxmlformats.org/drawingml/2006/main" name="-">
  <a:themeElements>
    <a:clrScheme name="Simple Light">
      <a:dk1>
        <a:srgbClr val="0E1D35"/>
      </a:dk1>
      <a:lt1>
        <a:srgbClr val="FAFAFA"/>
      </a:lt1>
      <a:dk2>
        <a:srgbClr val="EFEFEF"/>
      </a:dk2>
      <a:lt2>
        <a:srgbClr val="7C8594"/>
      </a:lt2>
      <a:accent1>
        <a:srgbClr val="2B3B5D"/>
      </a:accent1>
      <a:accent2>
        <a:srgbClr val="15253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1D3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</TotalTime>
  <Words>5935</Words>
  <Application>Microsoft Office PowerPoint</Application>
  <PresentationFormat>화면 슬라이드 쇼(16:9)</PresentationFormat>
  <Paragraphs>2076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OpenSymbol</vt:lpstr>
      <vt:lpstr>맑은 고딕</vt:lpstr>
      <vt:lpstr>Arial</vt:lpstr>
      <vt:lpstr>Open Sans</vt:lpstr>
      <vt:lpstr>Raleway</vt:lpstr>
      <vt:lpstr>Raleway Medium</vt:lpstr>
      <vt:lpstr>Symbol</vt:lpstr>
      <vt:lpstr>Wingdings</vt:lpstr>
      <vt:lpstr>-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표스츄리</cp:lastModifiedBy>
  <cp:revision>90</cp:revision>
  <dcterms:modified xsi:type="dcterms:W3CDTF">2026-09-03T03:13:48Z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2026-09-02T08:47:16Z</dcterms:created>
  <dc:creator>Slidesgo AI</dc:creator>
  <dc:description/>
  <dc:language>en-US</dc:language>
  <cp:lastModifiedBy>Unknown Creator</cp:lastModifiedBy>
  <dcterms:modified xsi:type="dcterms:W3CDTF">2026-09-02T08:47:16Z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a2a601dd-7887-49bc-918e-056e70231ff4</vt:lpwstr>
  </property>
</Properties>
</file>