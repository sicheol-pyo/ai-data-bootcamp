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A258"/>
    <a:srgbClr val="006241"/>
    <a:srgbClr val="1B8A63"/>
    <a:srgbClr val="F7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 autoAdjust="0"/>
    <p:restoredTop sz="92167" autoAdjust="0"/>
  </p:normalViewPr>
  <p:slideViewPr>
    <p:cSldViewPr snapToGrid="0" snapToObjects="1">
      <p:cViewPr varScale="1">
        <p:scale>
          <a:sx n="114" d="100"/>
          <a:sy n="114" d="100"/>
        </p:scale>
        <p:origin x="8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 dirty="0">
                <a:solidFill>
                  <a:srgbClr val="212121"/>
                </a:solidFill>
              </a:rPr>
              <a:t>Reward </a:t>
            </a:r>
            <a:r>
              <a:rPr lang="ko-KR" altLang="en-US" sz="1200" b="1" dirty="0">
                <a:solidFill>
                  <a:srgbClr val="212121"/>
                </a:solidFill>
              </a:rPr>
              <a:t>값별 </a:t>
            </a:r>
            <a:r>
              <a:rPr lang="ko-KR" altLang="en-US" sz="1200" b="1" dirty="0" err="1">
                <a:solidFill>
                  <a:srgbClr val="212121"/>
                </a:solidFill>
              </a:rPr>
              <a:t>완료율</a:t>
            </a:r>
            <a:r>
              <a:rPr lang="ko-KR" altLang="en-US" sz="1200" b="1" dirty="0">
                <a:solidFill>
                  <a:srgbClr val="212121"/>
                </a:solidFill>
              </a:rPr>
              <a:t> </a:t>
            </a:r>
            <a:r>
              <a:rPr lang="en-US" altLang="ko-KR" sz="1200" b="1" dirty="0">
                <a:solidFill>
                  <a:srgbClr val="212121"/>
                </a:solidFill>
              </a:rPr>
              <a:t>(%)</a:t>
            </a:r>
          </a:p>
          <a:p>
            <a:r>
              <a:rPr lang="ko-KR" altLang="en-US" sz="1200" b="1" i="1" kern="1200" dirty="0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보상이 클수록 오히려 </a:t>
            </a:r>
            <a:r>
              <a:rPr lang="ko-KR" altLang="en-US" sz="1200" b="1" i="1" kern="1200" dirty="0" err="1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</a:t>
            </a:r>
            <a:r>
              <a:rPr lang="ko-KR" altLang="en-US" sz="1200" b="1" i="1" kern="1200" dirty="0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하락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완료율</c:v>
                </c:pt>
              </c:strCache>
            </c:strRef>
          </c:tx>
          <c:spPr>
            <a:solidFill>
              <a:srgbClr val="006241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1212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reward=2</c:v>
                </c:pt>
                <c:pt idx="1">
                  <c:v>reward=3</c:v>
                </c:pt>
                <c:pt idx="2">
                  <c:v>reward=5</c:v>
                </c:pt>
                <c:pt idx="3">
                  <c:v>reward=10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59.8</c:v>
                </c:pt>
                <c:pt idx="1">
                  <c:v>60.1</c:v>
                </c:pt>
                <c:pt idx="2">
                  <c:v>50</c:v>
                </c:pt>
                <c:pt idx="3">
                  <c:v>38.799999999999997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8EC-4057-BFC3-2E39C3F566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 dirty="0">
                <a:solidFill>
                  <a:srgbClr val="212121"/>
                </a:solidFill>
              </a:rPr>
              <a:t>채널 조합별 </a:t>
            </a:r>
            <a:r>
              <a:rPr lang="ko-KR" altLang="en-US" sz="1200" b="1" dirty="0" err="1">
                <a:solidFill>
                  <a:srgbClr val="212121"/>
                </a:solidFill>
              </a:rPr>
              <a:t>수신율</a:t>
            </a:r>
            <a:r>
              <a:rPr lang="ko-KR" altLang="en-US" sz="1200" b="1" dirty="0">
                <a:solidFill>
                  <a:srgbClr val="212121"/>
                </a:solidFill>
              </a:rPr>
              <a:t> </a:t>
            </a:r>
            <a:r>
              <a:rPr lang="en-US" altLang="ko-KR" sz="1200" b="1" dirty="0">
                <a:solidFill>
                  <a:srgbClr val="212121"/>
                </a:solidFill>
              </a:rPr>
              <a:t>(%)</a:t>
            </a:r>
          </a:p>
          <a:p>
            <a:r>
              <a:rPr lang="en-US" altLang="ko-KR" sz="1200" b="1" dirty="0" err="1">
                <a:solidFill>
                  <a:srgbClr val="212121"/>
                </a:solidFill>
              </a:rPr>
              <a:t>Web·Email</a:t>
            </a:r>
            <a:r>
              <a:rPr lang="en-US" altLang="ko-KR" sz="1200" b="1" dirty="0">
                <a:solidFill>
                  <a:srgbClr val="212121"/>
                </a:solidFill>
              </a:rPr>
              <a:t> </a:t>
            </a:r>
            <a:r>
              <a:rPr lang="ko-KR" altLang="en-US" sz="1200" b="1" dirty="0">
                <a:solidFill>
                  <a:srgbClr val="212121"/>
                </a:solidFill>
              </a:rPr>
              <a:t>단독 조합은 크게 저조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수신율</c:v>
                </c:pt>
              </c:strCache>
            </c:strRef>
          </c:tx>
          <c:spPr>
            <a:solidFill>
              <a:srgbClr val="006241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1212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Mobile/Social
포함</c:v>
                </c:pt>
                <c:pt idx="1">
                  <c:v>Web+Email
조합만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78.599999999999994</c:v>
                </c:pt>
                <c:pt idx="1">
                  <c:v>34.6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3B0-4BA0-8E83-8ED16F72A7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 dirty="0">
                <a:solidFill>
                  <a:srgbClr val="212121"/>
                </a:solidFill>
              </a:rPr>
              <a:t>Difficulty </a:t>
            </a:r>
            <a:r>
              <a:rPr lang="ko-KR" altLang="en-US" sz="1200" b="1" dirty="0">
                <a:solidFill>
                  <a:srgbClr val="212121"/>
                </a:solidFill>
              </a:rPr>
              <a:t>값별 </a:t>
            </a:r>
            <a:r>
              <a:rPr lang="ko-KR" altLang="en-US" sz="1200" b="1" dirty="0" err="1">
                <a:solidFill>
                  <a:srgbClr val="212121"/>
                </a:solidFill>
              </a:rPr>
              <a:t>완료율</a:t>
            </a:r>
            <a:r>
              <a:rPr lang="ko-KR" altLang="en-US" sz="1200" b="1" dirty="0">
                <a:solidFill>
                  <a:srgbClr val="212121"/>
                </a:solidFill>
              </a:rPr>
              <a:t> </a:t>
            </a:r>
            <a:r>
              <a:rPr lang="en-US" altLang="ko-KR" sz="1200" b="1" dirty="0">
                <a:solidFill>
                  <a:srgbClr val="212121"/>
                </a:solidFill>
              </a:rPr>
              <a:t>(%)</a:t>
            </a:r>
          </a:p>
          <a:p>
            <a:r>
              <a:rPr lang="ko-KR" altLang="en-US" sz="1200" b="1" dirty="0" err="1">
                <a:solidFill>
                  <a:srgbClr val="212121"/>
                </a:solidFill>
              </a:rPr>
              <a:t>원자료</a:t>
            </a:r>
            <a:r>
              <a:rPr lang="ko-KR" altLang="en-US" sz="1200" b="1" baseline="0" dirty="0">
                <a:solidFill>
                  <a:srgbClr val="212121"/>
                </a:solidFill>
              </a:rPr>
              <a:t> 기준</a:t>
            </a:r>
            <a:r>
              <a:rPr lang="ko-KR" altLang="en-US" sz="1200" b="1" dirty="0">
                <a:solidFill>
                  <a:srgbClr val="212121"/>
                </a:solidFill>
              </a:rPr>
              <a:t> 비단조적 패턴이나</a:t>
            </a:r>
            <a:r>
              <a:rPr lang="en-US" altLang="ko-KR" sz="1200" b="1" dirty="0">
                <a:solidFill>
                  <a:srgbClr val="212121"/>
                </a:solidFill>
              </a:rPr>
              <a:t> </a:t>
            </a:r>
            <a:r>
              <a:rPr lang="ko-KR" altLang="en-US" sz="1200" b="1" dirty="0">
                <a:solidFill>
                  <a:srgbClr val="212121"/>
                </a:solidFill>
              </a:rPr>
              <a:t>통제</a:t>
            </a:r>
            <a:r>
              <a:rPr lang="ko-KR" altLang="en-US" sz="1200" b="1" baseline="0" dirty="0">
                <a:solidFill>
                  <a:srgbClr val="212121"/>
                </a:solidFill>
              </a:rPr>
              <a:t> 후</a:t>
            </a:r>
            <a:r>
              <a:rPr lang="ko-KR" altLang="en-US" sz="1200" b="1" dirty="0">
                <a:solidFill>
                  <a:srgbClr val="212121"/>
                </a:solidFill>
              </a:rPr>
              <a:t> 뚜렷한 음의 효과를 보임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완료율</c:v>
                </c:pt>
              </c:strCache>
            </c:strRef>
          </c:tx>
          <c:spPr>
            <a:solidFill>
              <a:srgbClr val="006241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12121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difficulty
=5</c:v>
                </c:pt>
                <c:pt idx="1">
                  <c:v>difficulty
=7</c:v>
                </c:pt>
                <c:pt idx="2">
                  <c:v>difficulty
=10</c:v>
                </c:pt>
                <c:pt idx="3">
                  <c:v>difficulty
=20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60.1</c:v>
                </c:pt>
                <c:pt idx="2">
                  <c:v>48.2</c:v>
                </c:pt>
                <c:pt idx="3">
                  <c:v>50.3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9A9-4747-80E4-23FEAA51C56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100">
                <a:solidFill>
                  <a:srgbClr val="212121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F5A7-4EB5-437D-BF76-CCC0A22165E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1F3D5-EC27-4152-B060-69C525472C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4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1F3D5-EC27-4152-B060-69C525472C8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652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1F3D5-EC27-4152-B060-69C525472C8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39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project2_project%20status(C2).xlsx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laude.ai/code/artifact/6fbaafa8-8dc9-410b-9819-9b9c9aea0608?open_in_browser=1&amp;via=user_open&amp;org=adc6c44b-275b-40d4-8ab5-6f1d7c2b8fd7&amp;sk=I2M96t3dFAhg6frOEQWJ4A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8211"/>
            <a:ext cx="10362895" cy="329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CBA258"/>
                </a:solidFill>
                <a:latin typeface="Noto Sans KR"/>
              </a:defRPr>
            </a:pPr>
            <a:r>
              <a:rPr dirty="0"/>
              <a:t>S</a:t>
            </a:r>
            <a:r>
              <a:rPr lang="en-US" dirty="0"/>
              <a:t>TABUCKS</a:t>
            </a:r>
            <a:r>
              <a:rPr dirty="0"/>
              <a:t> Offer Analytics</a:t>
            </a:r>
          </a:p>
          <a:p>
            <a:pPr>
              <a:spcAft>
                <a:spcPts val="2000"/>
              </a:spcAft>
              <a:defRPr sz="4000" b="1">
                <a:solidFill>
                  <a:srgbClr val="F3F3F3"/>
                </a:solidFill>
                <a:latin typeface="Noto Sans KR"/>
              </a:defRPr>
            </a:pPr>
            <a:r>
              <a:rPr lang="ko-KR" altLang="en-US" dirty="0" err="1"/>
              <a:t>오퍼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및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프로필</a:t>
            </a:r>
            <a:r>
              <a:rPr dirty="0"/>
              <a:t> </a:t>
            </a:r>
            <a:r>
              <a:rPr dirty="0" err="1"/>
              <a:t>기반</a:t>
            </a:r>
            <a:br>
              <a:rPr dirty="0"/>
            </a:br>
            <a:r>
              <a:rPr dirty="0" err="1"/>
              <a:t>완료율</a:t>
            </a:r>
            <a:r>
              <a:rPr dirty="0"/>
              <a:t> </a:t>
            </a:r>
            <a:r>
              <a:rPr lang="ko-KR" altLang="en-US" dirty="0"/>
              <a:t>차이</a:t>
            </a:r>
            <a:r>
              <a:rPr dirty="0"/>
              <a:t> </a:t>
            </a:r>
            <a:r>
              <a:rPr lang="ko-KR" altLang="en-US" dirty="0"/>
              <a:t>요인 </a:t>
            </a:r>
            <a:r>
              <a:rPr dirty="0" err="1"/>
              <a:t>분석</a:t>
            </a:r>
            <a:endParaRPr dirty="0"/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r>
              <a:rPr b="1" dirty="0"/>
              <a:t>Logic Tree &amp; Statistical Verification Report</a:t>
            </a:r>
            <a:endParaRPr lang="en-US" b="1" dirty="0"/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endParaRPr lang="en-US" dirty="0"/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endParaRPr lang="en-US" altLang="ko-KR" sz="1600" b="1" dirty="0">
              <a:solidFill>
                <a:srgbClr val="D4E9E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주영 없는 </a:t>
            </a:r>
            <a:r>
              <a:rPr lang="ko-KR" altLang="en-US" sz="1600" b="1" dirty="0" err="1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주영팀</a:t>
            </a:r>
            <a:endParaRPr lang="en-US" altLang="ko-KR" sz="1600" b="1" dirty="0">
              <a:solidFill>
                <a:srgbClr val="D4E9E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defRPr sz="1600">
                <a:solidFill>
                  <a:srgbClr val="D4E9E2"/>
                </a:solidFill>
                <a:latin typeface="Noto Sans KR"/>
              </a:defRPr>
            </a:pP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팀원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 dirty="0" err="1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유서영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최서현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최주영</a:t>
            </a:r>
            <a:r>
              <a:rPr lang="en-US" altLang="ko-KR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600" b="1" dirty="0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 dirty="0" err="1">
                <a:solidFill>
                  <a:srgbClr val="D4E9E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표시철</a:t>
            </a:r>
            <a:endParaRPr lang="en-US" altLang="ko-KR" sz="1600" b="1" dirty="0">
              <a:solidFill>
                <a:srgbClr val="D4E9E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82E4DF95-4B4F-8442-6767-AFDAAC7790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91F64-F4AA-2847-63A9-E0B3A563B344}"/>
              </a:ext>
            </a:extLst>
          </p:cNvPr>
          <p:cNvSpPr txBox="1"/>
          <p:nvPr/>
        </p:nvSpPr>
        <p:spPr>
          <a:xfrm>
            <a:off x="502920" y="384048"/>
            <a:ext cx="10515600" cy="408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altLang="ko-KR" sz="2600" b="1" i="0" dirty="0">
                <a:solidFill>
                  <a:srgbClr val="006241"/>
                </a:solidFill>
                <a:latin typeface="Noto Sans KR"/>
              </a:rPr>
              <a:t>01. </a:t>
            </a:r>
            <a:r>
              <a:rPr lang="ko-KR" altLang="en-US" sz="2600" b="1" i="0" dirty="0">
                <a:solidFill>
                  <a:srgbClr val="006241"/>
                </a:solidFill>
                <a:latin typeface="Noto Sans KR"/>
              </a:rPr>
              <a:t>팀 소개 및 협업 프로세스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2F67F4E-D12C-D975-FB6B-8A13091F0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519718"/>
              </p:ext>
            </p:extLst>
          </p:nvPr>
        </p:nvGraphicFramePr>
        <p:xfrm>
          <a:off x="502920" y="1043334"/>
          <a:ext cx="10228218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3737167572"/>
                    </a:ext>
                  </a:extLst>
                </a:gridCol>
                <a:gridCol w="3664132">
                  <a:extLst>
                    <a:ext uri="{9D8B030D-6E8A-4147-A177-3AD203B41FA5}">
                      <a16:colId xmlns:a16="http://schemas.microsoft.com/office/drawing/2014/main" val="3444475658"/>
                    </a:ext>
                  </a:extLst>
                </a:gridCol>
                <a:gridCol w="3409406">
                  <a:extLst>
                    <a:ext uri="{9D8B030D-6E8A-4147-A177-3AD203B41FA5}">
                      <a16:colId xmlns:a16="http://schemas.microsoft.com/office/drawing/2014/main" val="4242505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457200" rtl="0" eaLnBrk="1" latinLnBrk="1" hangingPunct="1"/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Task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6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Comment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8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48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문제 정의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가설 트리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① 아이디어 발산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전원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 </a:t>
                      </a:r>
                    </a:p>
                    <a:p>
                      <a:pPr algn="ctr" latinLnBrk="1"/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②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취합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정제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③ 통계 검증</a:t>
                      </a:r>
                      <a:endParaRPr lang="en-US" altLang="ko-KR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④ 결론 도출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343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지표 지도 그리기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87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원인 분해</a:t>
                      </a:r>
                      <a:b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</a:b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로직트리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이슈 트리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99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통계적 검증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5.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머신러닝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 적용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92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결론 및 의사결정 제안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92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7.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대시보드 제작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디자인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채택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89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발표</a:t>
                      </a:r>
                    </a:p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자료 준비 및 검증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서영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서현</a:t>
                      </a:r>
                    </a:p>
                    <a:p>
                      <a:pPr algn="l" latinLnBrk="1"/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발표</a:t>
                      </a:r>
                      <a:r>
                        <a:rPr lang="en-US" altLang="ko-KR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시철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8018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81ABDCD-FDC4-14A6-30FC-0FF0553BC7E3}"/>
              </a:ext>
            </a:extLst>
          </p:cNvPr>
          <p:cNvSpPr txBox="1"/>
          <p:nvPr/>
        </p:nvSpPr>
        <p:spPr>
          <a:xfrm>
            <a:off x="418202" y="5520337"/>
            <a:ext cx="726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등록 인원은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명이며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프로젝트는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인이 진행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6CFC3-C3AF-E88E-04B6-75F3E09362EA}"/>
              </a:ext>
            </a:extLst>
          </p:cNvPr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2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  <p:pic>
        <p:nvPicPr>
          <p:cNvPr id="4" name="그림 3">
            <a:hlinkClick r:id="rId2" action="ppaction://hlinkfile"/>
            <a:extLst>
              <a:ext uri="{FF2B5EF4-FFF2-40B4-BE49-F238E27FC236}">
                <a16:creationId xmlns:a16="http://schemas.microsoft.com/office/drawing/2014/main" id="{83037320-935A-3363-A51F-00335122F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682" y="3805518"/>
            <a:ext cx="746311" cy="746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02.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문제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정의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: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가설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트리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오퍼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행사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)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설계에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따라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완료율의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차이가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500" b="1" i="0" dirty="0" err="1">
                <a:solidFill>
                  <a:srgbClr val="212121"/>
                </a:solidFill>
                <a:latin typeface="Noto Sans KR"/>
              </a:rPr>
              <a:t>있는가</a:t>
            </a:r>
            <a:r>
              <a:rPr sz="1500" b="1" i="0" dirty="0">
                <a:solidFill>
                  <a:srgbClr val="212121"/>
                </a:solidFill>
                <a:latin typeface="Noto Sans KR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7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 dirty="0" err="1">
                <a:latin typeface="Noto Sans KR"/>
              </a:rPr>
              <a:t>스타벅스는</a:t>
            </a:r>
            <a:r>
              <a:rPr sz="1250" b="0" i="0" dirty="0">
                <a:latin typeface="Noto Sans KR"/>
              </a:rPr>
              <a:t> BOGO(1+1), Discount(</a:t>
            </a:r>
            <a:r>
              <a:rPr sz="1250" b="0" i="0" dirty="0" err="1">
                <a:latin typeface="Noto Sans KR"/>
              </a:rPr>
              <a:t>할인</a:t>
            </a:r>
            <a:r>
              <a:rPr sz="1250" b="0" i="0" dirty="0">
                <a:latin typeface="Noto Sans KR"/>
              </a:rPr>
              <a:t>), Informational(</a:t>
            </a:r>
            <a:r>
              <a:rPr sz="1250" b="0" i="0" dirty="0" err="1">
                <a:latin typeface="Noto Sans KR"/>
              </a:rPr>
              <a:t>정보성</a:t>
            </a:r>
            <a:r>
              <a:rPr sz="1250" b="0" i="0" dirty="0">
                <a:latin typeface="Noto Sans KR"/>
              </a:rPr>
              <a:t>) 3가지 </a:t>
            </a:r>
            <a:r>
              <a:rPr sz="1250" b="0" i="0" dirty="0" err="1">
                <a:latin typeface="Noto Sans KR"/>
              </a:rPr>
              <a:t>오퍼를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운영하며</a:t>
            </a:r>
            <a:r>
              <a:rPr sz="1250" b="0" i="0" dirty="0">
                <a:latin typeface="Noto Sans KR"/>
              </a:rPr>
              <a:t>, </a:t>
            </a:r>
            <a:r>
              <a:rPr sz="1250" b="0" i="0" dirty="0" err="1">
                <a:latin typeface="Noto Sans KR"/>
              </a:rPr>
              <a:t>오퍼마다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보상</a:t>
            </a:r>
            <a:r>
              <a:rPr sz="1250" b="0" i="0" dirty="0">
                <a:latin typeface="Noto Sans KR"/>
              </a:rPr>
              <a:t>(reward)이 </a:t>
            </a:r>
            <a:r>
              <a:rPr sz="1250" b="0" i="0" dirty="0" err="1">
                <a:latin typeface="Noto Sans KR"/>
              </a:rPr>
              <a:t>다르게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책정된다</a:t>
            </a:r>
            <a:r>
              <a:rPr sz="1250" b="0" i="0" dirty="0">
                <a:latin typeface="Noto Sans KR"/>
              </a:rPr>
              <a:t>.</a:t>
            </a:r>
            <a:endParaRPr lang="en-US" sz="1250" b="0" i="0" dirty="0">
              <a:latin typeface="Noto Sans KR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 dirty="0" err="1">
                <a:latin typeface="Noto Sans KR"/>
              </a:rPr>
              <a:t>어떤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설계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요소가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완료율에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실제로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영향을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미치는지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파악하</a:t>
            </a:r>
            <a:r>
              <a:rPr lang="ko-KR" altLang="en-US" sz="1250" b="0" i="0" dirty="0">
                <a:latin typeface="Noto Sans KR"/>
              </a:rPr>
              <a:t>여</a:t>
            </a:r>
            <a:r>
              <a:rPr sz="1250" b="0" i="0" dirty="0">
                <a:latin typeface="Noto Sans KR"/>
              </a:rPr>
              <a:t>, </a:t>
            </a:r>
            <a:r>
              <a:rPr sz="1250" b="0" i="0" dirty="0" err="1">
                <a:latin typeface="Noto Sans KR"/>
              </a:rPr>
              <a:t>향후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오퍼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설계</a:t>
            </a:r>
            <a:r>
              <a:rPr lang="en-US" sz="1250" b="0" i="0" dirty="0">
                <a:latin typeface="Noto Sans KR"/>
              </a:rPr>
              <a:t> </a:t>
            </a:r>
            <a:r>
              <a:rPr lang="ko-KR" altLang="en-US" sz="1250" b="0" i="0" dirty="0">
                <a:latin typeface="Noto Sans KR"/>
              </a:rPr>
              <a:t>시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데이터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기반으로</a:t>
            </a:r>
            <a:r>
              <a:rPr sz="1250" b="0" i="0" dirty="0">
                <a:latin typeface="Noto Sans KR"/>
              </a:rPr>
              <a:t> </a:t>
            </a:r>
            <a:r>
              <a:rPr sz="1250" b="0" i="0" dirty="0" err="1">
                <a:latin typeface="Noto Sans KR"/>
              </a:rPr>
              <a:t>최적화할</a:t>
            </a:r>
            <a:r>
              <a:rPr sz="1250" b="0" i="0" dirty="0">
                <a:latin typeface="Noto Sans KR"/>
              </a:rPr>
              <a:t> 수 </a:t>
            </a:r>
            <a:r>
              <a:rPr sz="1250" b="0" i="0" dirty="0" err="1">
                <a:latin typeface="Noto Sans KR"/>
              </a:rPr>
              <a:t>있다</a:t>
            </a:r>
            <a:r>
              <a:rPr sz="1250" b="0" i="0" dirty="0">
                <a:latin typeface="Noto Sans K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 dirty="0">
                <a:solidFill>
                  <a:srgbClr val="6B6B6B"/>
                </a:solidFill>
                <a:latin typeface="Noto Sans KR"/>
              </a:rPr>
              <a:t>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622EF3-6425-BCD1-F34B-702791891ACE}"/>
              </a:ext>
            </a:extLst>
          </p:cNvPr>
          <p:cNvSpPr/>
          <p:nvPr/>
        </p:nvSpPr>
        <p:spPr>
          <a:xfrm>
            <a:off x="457505" y="1965960"/>
            <a:ext cx="11155680" cy="4297680"/>
          </a:xfrm>
          <a:prstGeom prst="rect">
            <a:avLst/>
          </a:prstGeom>
          <a:solidFill>
            <a:srgbClr val="006241"/>
          </a:solidFill>
          <a:ln>
            <a:solidFill>
              <a:srgbClr val="1B8A63"/>
            </a:solidFill>
          </a:ln>
        </p:spPr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2D1C126-7F84-F466-C059-4FA4BAF5F52D}"/>
              </a:ext>
            </a:extLst>
          </p:cNvPr>
          <p:cNvSpPr/>
          <p:nvPr/>
        </p:nvSpPr>
        <p:spPr>
          <a:xfrm>
            <a:off x="2295369" y="3334000"/>
            <a:ext cx="1368006" cy="436522"/>
          </a:xfrm>
          <a:custGeom>
            <a:avLst/>
            <a:gdLst>
              <a:gd name="connsiteX0" fmla="*/ 0 w 1368006"/>
              <a:gd name="connsiteY0" fmla="*/ 43652 h 436522"/>
              <a:gd name="connsiteX1" fmla="*/ 43652 w 1368006"/>
              <a:gd name="connsiteY1" fmla="*/ 0 h 436522"/>
              <a:gd name="connsiteX2" fmla="*/ 1324354 w 1368006"/>
              <a:gd name="connsiteY2" fmla="*/ 0 h 436522"/>
              <a:gd name="connsiteX3" fmla="*/ 1368006 w 1368006"/>
              <a:gd name="connsiteY3" fmla="*/ 43652 h 436522"/>
              <a:gd name="connsiteX4" fmla="*/ 1368006 w 1368006"/>
              <a:gd name="connsiteY4" fmla="*/ 392870 h 436522"/>
              <a:gd name="connsiteX5" fmla="*/ 1324354 w 1368006"/>
              <a:gd name="connsiteY5" fmla="*/ 436522 h 436522"/>
              <a:gd name="connsiteX6" fmla="*/ 43652 w 1368006"/>
              <a:gd name="connsiteY6" fmla="*/ 436522 h 436522"/>
              <a:gd name="connsiteX7" fmla="*/ 0 w 1368006"/>
              <a:gd name="connsiteY7" fmla="*/ 392870 h 436522"/>
              <a:gd name="connsiteX8" fmla="*/ 0 w 1368006"/>
              <a:gd name="connsiteY8" fmla="*/ 43652 h 4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8006" h="436522">
                <a:moveTo>
                  <a:pt x="0" y="43652"/>
                </a:moveTo>
                <a:cubicBezTo>
                  <a:pt x="0" y="19544"/>
                  <a:pt x="19544" y="0"/>
                  <a:pt x="43652" y="0"/>
                </a:cubicBezTo>
                <a:lnTo>
                  <a:pt x="1324354" y="0"/>
                </a:lnTo>
                <a:cubicBezTo>
                  <a:pt x="1348462" y="0"/>
                  <a:pt x="1368006" y="19544"/>
                  <a:pt x="1368006" y="43652"/>
                </a:cubicBezTo>
                <a:lnTo>
                  <a:pt x="1368006" y="392870"/>
                </a:lnTo>
                <a:cubicBezTo>
                  <a:pt x="1368006" y="416978"/>
                  <a:pt x="1348462" y="436522"/>
                  <a:pt x="1324354" y="436522"/>
                </a:cubicBezTo>
                <a:lnTo>
                  <a:pt x="43652" y="436522"/>
                </a:lnTo>
                <a:cubicBezTo>
                  <a:pt x="19544" y="436522"/>
                  <a:pt x="0" y="416978"/>
                  <a:pt x="0" y="392870"/>
                </a:cubicBezTo>
                <a:lnTo>
                  <a:pt x="0" y="43652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865" tIns="17865" rIns="17865" bIns="1786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Offer(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프로모션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주문 완료율의 차이가 있는가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AA58AC56-D072-1967-C2A2-031E2E484B68}"/>
              </a:ext>
            </a:extLst>
          </p:cNvPr>
          <p:cNvSpPr/>
          <p:nvPr/>
        </p:nvSpPr>
        <p:spPr>
          <a:xfrm rot="18084850">
            <a:off x="3259174" y="2815404"/>
            <a:ext cx="1688469" cy="32739"/>
          </a:xfrm>
          <a:custGeom>
            <a:avLst/>
            <a:gdLst>
              <a:gd name="connsiteX0" fmla="*/ 0 w 1688469"/>
              <a:gd name="connsiteY0" fmla="*/ 16369 h 32739"/>
              <a:gd name="connsiteX1" fmla="*/ 1688469 w 168846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88469" h="32739">
                <a:moveTo>
                  <a:pt x="0" y="16369"/>
                </a:moveTo>
                <a:lnTo>
                  <a:pt x="168846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4723" tIns="-25843" rIns="814722" bIns="-2584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96C79CAA-30CC-9D93-9505-F127E1087F97}"/>
              </a:ext>
            </a:extLst>
          </p:cNvPr>
          <p:cNvSpPr/>
          <p:nvPr/>
        </p:nvSpPr>
        <p:spPr>
          <a:xfrm>
            <a:off x="4543441" y="1965962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type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8A66DE4-0055-7B0F-245A-3F5AB37F27BE}"/>
              </a:ext>
            </a:extLst>
          </p:cNvPr>
          <p:cNvSpPr/>
          <p:nvPr/>
        </p:nvSpPr>
        <p:spPr>
          <a:xfrm>
            <a:off x="5475253" y="2094915"/>
            <a:ext cx="615653" cy="32739"/>
          </a:xfrm>
          <a:custGeom>
            <a:avLst/>
            <a:gdLst>
              <a:gd name="connsiteX0" fmla="*/ 0 w 615653"/>
              <a:gd name="connsiteY0" fmla="*/ 16369 h 32739"/>
              <a:gd name="connsiteX1" fmla="*/ 615653 w 615653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5653" h="32739">
                <a:moveTo>
                  <a:pt x="0" y="16369"/>
                </a:moveTo>
                <a:lnTo>
                  <a:pt x="615653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136" tIns="978" rIns="305135" bIns="97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1937FE0-8363-BB03-BD79-39CB71C0ADA0}"/>
              </a:ext>
            </a:extLst>
          </p:cNvPr>
          <p:cNvSpPr/>
          <p:nvPr/>
        </p:nvSpPr>
        <p:spPr>
          <a:xfrm>
            <a:off x="6090906" y="1965962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완료율은 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discount &gt; </a:t>
            </a:r>
            <a:r>
              <a:rPr lang="en-US" altLang="ko-KR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&gt; information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순으로 높을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BB2393C-3305-EA04-EA1C-F04C42A7EB44}"/>
              </a:ext>
            </a:extLst>
          </p:cNvPr>
          <p:cNvSpPr/>
          <p:nvPr/>
        </p:nvSpPr>
        <p:spPr>
          <a:xfrm rot="18625631">
            <a:off x="3424850" y="3019352"/>
            <a:ext cx="1357117" cy="32739"/>
          </a:xfrm>
          <a:custGeom>
            <a:avLst/>
            <a:gdLst>
              <a:gd name="connsiteX0" fmla="*/ 0 w 1357117"/>
              <a:gd name="connsiteY0" fmla="*/ 16369 h 32739"/>
              <a:gd name="connsiteX1" fmla="*/ 1357117 w 1357117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57117" h="32739">
                <a:moveTo>
                  <a:pt x="0" y="16369"/>
                </a:moveTo>
                <a:lnTo>
                  <a:pt x="1357117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57329" tIns="-17559" rIns="657332" bIns="-17558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1A792BC4-EC25-9428-3C9D-D436E059FA29}"/>
              </a:ext>
            </a:extLst>
          </p:cNvPr>
          <p:cNvSpPr/>
          <p:nvPr/>
        </p:nvSpPr>
        <p:spPr>
          <a:xfrm>
            <a:off x="4543441" y="2373860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B5FCB723-C3FE-240C-68E4-183F7F3FE81B}"/>
              </a:ext>
            </a:extLst>
          </p:cNvPr>
          <p:cNvSpPr/>
          <p:nvPr/>
        </p:nvSpPr>
        <p:spPr>
          <a:xfrm>
            <a:off x="5475253" y="2502813"/>
            <a:ext cx="625346" cy="32739"/>
          </a:xfrm>
          <a:custGeom>
            <a:avLst/>
            <a:gdLst>
              <a:gd name="connsiteX0" fmla="*/ 0 w 625346"/>
              <a:gd name="connsiteY0" fmla="*/ 16369 h 32739"/>
              <a:gd name="connsiteX1" fmla="*/ 625346 w 625346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346" h="32739">
                <a:moveTo>
                  <a:pt x="0" y="16369"/>
                </a:moveTo>
                <a:lnTo>
                  <a:pt x="625346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9740" tIns="736" rIns="309739" bIns="736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15E9FD1-55F4-383B-BA6C-7A1574C94C67}"/>
              </a:ext>
            </a:extLst>
          </p:cNvPr>
          <p:cNvSpPr/>
          <p:nvPr/>
        </p:nvSpPr>
        <p:spPr>
          <a:xfrm>
            <a:off x="6100599" y="2373860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(4.2)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보다 높은 경우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낮은 경우보다 완료율이 높을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E9930A3-2A17-99CB-7F97-85E8CE46CF9C}"/>
              </a:ext>
            </a:extLst>
          </p:cNvPr>
          <p:cNvSpPr/>
          <p:nvPr/>
        </p:nvSpPr>
        <p:spPr>
          <a:xfrm rot="19476643">
            <a:off x="3563648" y="3223301"/>
            <a:ext cx="1079521" cy="32739"/>
          </a:xfrm>
          <a:custGeom>
            <a:avLst/>
            <a:gdLst>
              <a:gd name="connsiteX0" fmla="*/ 0 w 1079521"/>
              <a:gd name="connsiteY0" fmla="*/ 16369 h 32739"/>
              <a:gd name="connsiteX1" fmla="*/ 1079521 w 1079521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9521" h="32739">
                <a:moveTo>
                  <a:pt x="0" y="16369"/>
                </a:moveTo>
                <a:lnTo>
                  <a:pt x="1079521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25471" tIns="-10619" rIns="525473" bIns="-1061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7719C99A-E864-7985-DB61-C4E0984C57DD}"/>
              </a:ext>
            </a:extLst>
          </p:cNvPr>
          <p:cNvSpPr/>
          <p:nvPr/>
        </p:nvSpPr>
        <p:spPr>
          <a:xfrm>
            <a:off x="4543441" y="2781757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01072B6E-CDBE-7412-DF10-C1901B91DC17}"/>
              </a:ext>
            </a:extLst>
          </p:cNvPr>
          <p:cNvSpPr/>
          <p:nvPr/>
        </p:nvSpPr>
        <p:spPr>
          <a:xfrm>
            <a:off x="5475253" y="2910710"/>
            <a:ext cx="625346" cy="32739"/>
          </a:xfrm>
          <a:custGeom>
            <a:avLst/>
            <a:gdLst>
              <a:gd name="connsiteX0" fmla="*/ 0 w 625346"/>
              <a:gd name="connsiteY0" fmla="*/ 16369 h 32739"/>
              <a:gd name="connsiteX1" fmla="*/ 625346 w 625346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346" h="32739">
                <a:moveTo>
                  <a:pt x="0" y="16369"/>
                </a:moveTo>
                <a:lnTo>
                  <a:pt x="625346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9740" tIns="736" rIns="309739" bIns="736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4A0D6C04-93F3-8C5A-A9D6-6FAE66F93245}"/>
              </a:ext>
            </a:extLst>
          </p:cNvPr>
          <p:cNvSpPr/>
          <p:nvPr/>
        </p:nvSpPr>
        <p:spPr>
          <a:xfrm>
            <a:off x="6100599" y="2781757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(6.7)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보다 높은 경우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낮은 경우보다 완료율이 높을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FC8DCBF3-F72A-F27B-F6D2-284146F6B855}"/>
              </a:ext>
            </a:extLst>
          </p:cNvPr>
          <p:cNvSpPr/>
          <p:nvPr/>
        </p:nvSpPr>
        <p:spPr>
          <a:xfrm rot="1448896">
            <a:off x="3621176" y="3733173"/>
            <a:ext cx="964465" cy="32739"/>
          </a:xfrm>
          <a:custGeom>
            <a:avLst/>
            <a:gdLst>
              <a:gd name="connsiteX0" fmla="*/ 0 w 964465"/>
              <a:gd name="connsiteY0" fmla="*/ 16369 h 32739"/>
              <a:gd name="connsiteX1" fmla="*/ 964465 w 964465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64465" h="32739">
                <a:moveTo>
                  <a:pt x="0" y="16369"/>
                </a:moveTo>
                <a:lnTo>
                  <a:pt x="964465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70821" tIns="-7743" rIns="470820" bIns="-774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0306119-128E-D47C-E441-6F6C61412AFF}"/>
              </a:ext>
            </a:extLst>
          </p:cNvPr>
          <p:cNvSpPr/>
          <p:nvPr/>
        </p:nvSpPr>
        <p:spPr>
          <a:xfrm>
            <a:off x="4543441" y="3801501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Channels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120C7B04-C562-2A17-FCD1-EF051AD1D283}"/>
              </a:ext>
            </a:extLst>
          </p:cNvPr>
          <p:cNvSpPr/>
          <p:nvPr/>
        </p:nvSpPr>
        <p:spPr>
          <a:xfrm rot="18937510">
            <a:off x="5350487" y="3624531"/>
            <a:ext cx="874879" cy="32739"/>
          </a:xfrm>
          <a:custGeom>
            <a:avLst/>
            <a:gdLst>
              <a:gd name="connsiteX0" fmla="*/ 0 w 874879"/>
              <a:gd name="connsiteY0" fmla="*/ 16369 h 32739"/>
              <a:gd name="connsiteX1" fmla="*/ 874879 w 87487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4879" h="32739">
                <a:moveTo>
                  <a:pt x="0" y="16369"/>
                </a:moveTo>
                <a:lnTo>
                  <a:pt x="87487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28266" tIns="-5503" rIns="428269" bIns="-550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C6C85D84-37FE-64E3-A74B-462C06594FD3}"/>
              </a:ext>
            </a:extLst>
          </p:cNvPr>
          <p:cNvSpPr/>
          <p:nvPr/>
        </p:nvSpPr>
        <p:spPr>
          <a:xfrm>
            <a:off x="6100599" y="3189655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완료율은 높아지지 않을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7DBE2063-413C-DC1C-8528-F3B621DC3266}"/>
              </a:ext>
            </a:extLst>
          </p:cNvPr>
          <p:cNvSpPr/>
          <p:nvPr/>
        </p:nvSpPr>
        <p:spPr>
          <a:xfrm rot="20516215">
            <a:off x="5459045" y="3828480"/>
            <a:ext cx="657763" cy="32739"/>
          </a:xfrm>
          <a:custGeom>
            <a:avLst/>
            <a:gdLst>
              <a:gd name="connsiteX0" fmla="*/ 0 w 657763"/>
              <a:gd name="connsiteY0" fmla="*/ 16369 h 32739"/>
              <a:gd name="connsiteX1" fmla="*/ 657763 w 657763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763" h="32739">
                <a:moveTo>
                  <a:pt x="0" y="16369"/>
                </a:moveTo>
                <a:lnTo>
                  <a:pt x="657763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5136" tIns="-76" rIns="325138" bIns="-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AF4A9FEA-B308-B0E5-9A28-2B33EBE6F81F}"/>
              </a:ext>
            </a:extLst>
          </p:cNvPr>
          <p:cNvSpPr/>
          <p:nvPr/>
        </p:nvSpPr>
        <p:spPr>
          <a:xfrm>
            <a:off x="6100599" y="3597552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email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완료율은 높아지지 않을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DC93CCA2-4979-10BA-054F-8A1F0721706E}"/>
              </a:ext>
            </a:extLst>
          </p:cNvPr>
          <p:cNvSpPr/>
          <p:nvPr/>
        </p:nvSpPr>
        <p:spPr>
          <a:xfrm rot="1083785">
            <a:off x="5459045" y="4032429"/>
            <a:ext cx="657763" cy="32739"/>
          </a:xfrm>
          <a:custGeom>
            <a:avLst/>
            <a:gdLst>
              <a:gd name="connsiteX0" fmla="*/ 0 w 657763"/>
              <a:gd name="connsiteY0" fmla="*/ 16369 h 32739"/>
              <a:gd name="connsiteX1" fmla="*/ 657763 w 657763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7763" h="32739">
                <a:moveTo>
                  <a:pt x="0" y="16369"/>
                </a:moveTo>
                <a:lnTo>
                  <a:pt x="657763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5136" tIns="-75" rIns="325138" bIns="-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0752282B-9EA6-5E54-6B43-DE73B3357D7F}"/>
              </a:ext>
            </a:extLst>
          </p:cNvPr>
          <p:cNvSpPr/>
          <p:nvPr/>
        </p:nvSpPr>
        <p:spPr>
          <a:xfrm>
            <a:off x="6100599" y="4005450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Mobile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포함되지 않은 경우보다 완료율이 높을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34BF0D6C-FDAC-BA85-A6B2-C8542EB18DC9}"/>
              </a:ext>
            </a:extLst>
          </p:cNvPr>
          <p:cNvSpPr/>
          <p:nvPr/>
        </p:nvSpPr>
        <p:spPr>
          <a:xfrm rot="2662490">
            <a:off x="5350487" y="4236377"/>
            <a:ext cx="874879" cy="32739"/>
          </a:xfrm>
          <a:custGeom>
            <a:avLst/>
            <a:gdLst>
              <a:gd name="connsiteX0" fmla="*/ 0 w 874879"/>
              <a:gd name="connsiteY0" fmla="*/ 16369 h 32739"/>
              <a:gd name="connsiteX1" fmla="*/ 874879 w 87487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4879" h="32739">
                <a:moveTo>
                  <a:pt x="0" y="16369"/>
                </a:moveTo>
                <a:lnTo>
                  <a:pt x="87487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28267" tIns="-5502" rIns="428268" bIns="-550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C87488EF-FA64-4BA6-32E8-BC2658C7111E}"/>
              </a:ext>
            </a:extLst>
          </p:cNvPr>
          <p:cNvSpPr/>
          <p:nvPr/>
        </p:nvSpPr>
        <p:spPr>
          <a:xfrm>
            <a:off x="6100599" y="4413348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Social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포함되어 있는 경우 포함되지 않은 경우보다 완료율이 높을 것이다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2B084568-939B-5CD7-2C7E-FD392E2CCFCC}"/>
              </a:ext>
            </a:extLst>
          </p:cNvPr>
          <p:cNvSpPr/>
          <p:nvPr/>
        </p:nvSpPr>
        <p:spPr>
          <a:xfrm rot="3486461">
            <a:off x="3270525" y="4243045"/>
            <a:ext cx="1665765" cy="32739"/>
          </a:xfrm>
          <a:custGeom>
            <a:avLst/>
            <a:gdLst>
              <a:gd name="connsiteX0" fmla="*/ 0 w 1665765"/>
              <a:gd name="connsiteY0" fmla="*/ 16369 h 32739"/>
              <a:gd name="connsiteX1" fmla="*/ 1665765 w 1665765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5765" h="32739">
                <a:moveTo>
                  <a:pt x="0" y="16369"/>
                </a:moveTo>
                <a:lnTo>
                  <a:pt x="1665765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03939" tIns="-25276" rIns="803937" bIns="-252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3814577A-E912-5216-FADD-F4636DED0AAE}"/>
              </a:ext>
            </a:extLst>
          </p:cNvPr>
          <p:cNvSpPr/>
          <p:nvPr/>
        </p:nvSpPr>
        <p:spPr>
          <a:xfrm>
            <a:off x="4543441" y="4821245"/>
            <a:ext cx="931812" cy="290645"/>
          </a:xfrm>
          <a:custGeom>
            <a:avLst/>
            <a:gdLst>
              <a:gd name="connsiteX0" fmla="*/ 0 w 931812"/>
              <a:gd name="connsiteY0" fmla="*/ 29065 h 290645"/>
              <a:gd name="connsiteX1" fmla="*/ 29065 w 931812"/>
              <a:gd name="connsiteY1" fmla="*/ 0 h 290645"/>
              <a:gd name="connsiteX2" fmla="*/ 902748 w 931812"/>
              <a:gd name="connsiteY2" fmla="*/ 0 h 290645"/>
              <a:gd name="connsiteX3" fmla="*/ 931813 w 931812"/>
              <a:gd name="connsiteY3" fmla="*/ 29065 h 290645"/>
              <a:gd name="connsiteX4" fmla="*/ 931812 w 931812"/>
              <a:gd name="connsiteY4" fmla="*/ 261581 h 290645"/>
              <a:gd name="connsiteX5" fmla="*/ 902747 w 931812"/>
              <a:gd name="connsiteY5" fmla="*/ 290646 h 290645"/>
              <a:gd name="connsiteX6" fmla="*/ 29065 w 931812"/>
              <a:gd name="connsiteY6" fmla="*/ 290645 h 290645"/>
              <a:gd name="connsiteX7" fmla="*/ 0 w 931812"/>
              <a:gd name="connsiteY7" fmla="*/ 261580 h 290645"/>
              <a:gd name="connsiteX8" fmla="*/ 0 w 931812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902748" y="0"/>
                </a:lnTo>
                <a:cubicBezTo>
                  <a:pt x="918800" y="0"/>
                  <a:pt x="931813" y="13013"/>
                  <a:pt x="931813" y="29065"/>
                </a:cubicBezTo>
                <a:cubicBezTo>
                  <a:pt x="931813" y="106570"/>
                  <a:pt x="931812" y="184076"/>
                  <a:pt x="931812" y="261581"/>
                </a:cubicBezTo>
                <a:cubicBezTo>
                  <a:pt x="931812" y="277633"/>
                  <a:pt x="918799" y="290646"/>
                  <a:pt x="902747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92930C8B-E4D6-60A7-7ED5-11F431FA0531}"/>
              </a:ext>
            </a:extLst>
          </p:cNvPr>
          <p:cNvSpPr/>
          <p:nvPr/>
        </p:nvSpPr>
        <p:spPr>
          <a:xfrm>
            <a:off x="5475253" y="4950198"/>
            <a:ext cx="625346" cy="32739"/>
          </a:xfrm>
          <a:custGeom>
            <a:avLst/>
            <a:gdLst>
              <a:gd name="connsiteX0" fmla="*/ 0 w 625346"/>
              <a:gd name="connsiteY0" fmla="*/ 16369 h 32739"/>
              <a:gd name="connsiteX1" fmla="*/ 625346 w 625346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346" h="32739">
                <a:moveTo>
                  <a:pt x="0" y="16369"/>
                </a:moveTo>
                <a:lnTo>
                  <a:pt x="625346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9740" tIns="736" rIns="309739" bIns="736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8872B2B6-0F56-CBC2-D39C-8D140B19F9A6}"/>
              </a:ext>
            </a:extLst>
          </p:cNvPr>
          <p:cNvSpPr/>
          <p:nvPr/>
        </p:nvSpPr>
        <p:spPr>
          <a:xfrm>
            <a:off x="6100599" y="4821245"/>
            <a:ext cx="3420001" cy="290645"/>
          </a:xfrm>
          <a:custGeom>
            <a:avLst/>
            <a:gdLst>
              <a:gd name="connsiteX0" fmla="*/ 0 w 3420001"/>
              <a:gd name="connsiteY0" fmla="*/ 29065 h 290645"/>
              <a:gd name="connsiteX1" fmla="*/ 29065 w 3420001"/>
              <a:gd name="connsiteY1" fmla="*/ 0 h 290645"/>
              <a:gd name="connsiteX2" fmla="*/ 3390937 w 3420001"/>
              <a:gd name="connsiteY2" fmla="*/ 0 h 290645"/>
              <a:gd name="connsiteX3" fmla="*/ 3420002 w 3420001"/>
              <a:gd name="connsiteY3" fmla="*/ 29065 h 290645"/>
              <a:gd name="connsiteX4" fmla="*/ 3420001 w 3420001"/>
              <a:gd name="connsiteY4" fmla="*/ 261581 h 290645"/>
              <a:gd name="connsiteX5" fmla="*/ 3390936 w 3420001"/>
              <a:gd name="connsiteY5" fmla="*/ 290646 h 290645"/>
              <a:gd name="connsiteX6" fmla="*/ 29065 w 3420001"/>
              <a:gd name="connsiteY6" fmla="*/ 290645 h 290645"/>
              <a:gd name="connsiteX7" fmla="*/ 0 w 3420001"/>
              <a:gd name="connsiteY7" fmla="*/ 261580 h 290645"/>
              <a:gd name="connsiteX8" fmla="*/ 0 w 3420001"/>
              <a:gd name="connsiteY8" fmla="*/ 29065 h 29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90645">
                <a:moveTo>
                  <a:pt x="0" y="29065"/>
                </a:moveTo>
                <a:cubicBezTo>
                  <a:pt x="0" y="13013"/>
                  <a:pt x="13013" y="0"/>
                  <a:pt x="29065" y="0"/>
                </a:cubicBezTo>
                <a:lnTo>
                  <a:pt x="3390937" y="0"/>
                </a:lnTo>
                <a:cubicBezTo>
                  <a:pt x="3406989" y="0"/>
                  <a:pt x="3420002" y="13013"/>
                  <a:pt x="3420002" y="29065"/>
                </a:cubicBezTo>
                <a:cubicBezTo>
                  <a:pt x="3420002" y="106570"/>
                  <a:pt x="3420001" y="184076"/>
                  <a:pt x="3420001" y="261581"/>
                </a:cubicBezTo>
                <a:cubicBezTo>
                  <a:pt x="3420001" y="277633"/>
                  <a:pt x="3406988" y="290646"/>
                  <a:pt x="3390936" y="290646"/>
                </a:cubicBezTo>
                <a:lnTo>
                  <a:pt x="29065" y="290645"/>
                </a:lnTo>
                <a:cubicBezTo>
                  <a:pt x="13013" y="290645"/>
                  <a:pt x="0" y="277632"/>
                  <a:pt x="0" y="261580"/>
                </a:cubicBezTo>
                <a:lnTo>
                  <a:pt x="0" y="29065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93" tIns="13593" rIns="13593" bIns="135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(7.7)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보다 높은 경우 낮은 경우보다 완료율이 낮을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AF523944-BDF8-5706-B34E-02F534EE61E7}"/>
              </a:ext>
            </a:extLst>
          </p:cNvPr>
          <p:cNvSpPr/>
          <p:nvPr/>
        </p:nvSpPr>
        <p:spPr>
          <a:xfrm>
            <a:off x="2319069" y="5528128"/>
            <a:ext cx="1368006" cy="436522"/>
          </a:xfrm>
          <a:custGeom>
            <a:avLst/>
            <a:gdLst>
              <a:gd name="connsiteX0" fmla="*/ 0 w 1368006"/>
              <a:gd name="connsiteY0" fmla="*/ 43652 h 436522"/>
              <a:gd name="connsiteX1" fmla="*/ 43652 w 1368006"/>
              <a:gd name="connsiteY1" fmla="*/ 0 h 436522"/>
              <a:gd name="connsiteX2" fmla="*/ 1324354 w 1368006"/>
              <a:gd name="connsiteY2" fmla="*/ 0 h 436522"/>
              <a:gd name="connsiteX3" fmla="*/ 1368006 w 1368006"/>
              <a:gd name="connsiteY3" fmla="*/ 43652 h 436522"/>
              <a:gd name="connsiteX4" fmla="*/ 1368006 w 1368006"/>
              <a:gd name="connsiteY4" fmla="*/ 392870 h 436522"/>
              <a:gd name="connsiteX5" fmla="*/ 1324354 w 1368006"/>
              <a:gd name="connsiteY5" fmla="*/ 436522 h 436522"/>
              <a:gd name="connsiteX6" fmla="*/ 43652 w 1368006"/>
              <a:gd name="connsiteY6" fmla="*/ 436522 h 436522"/>
              <a:gd name="connsiteX7" fmla="*/ 0 w 1368006"/>
              <a:gd name="connsiteY7" fmla="*/ 392870 h 436522"/>
              <a:gd name="connsiteX8" fmla="*/ 0 w 1368006"/>
              <a:gd name="connsiteY8" fmla="*/ 43652 h 4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8006" h="436522">
                <a:moveTo>
                  <a:pt x="0" y="43652"/>
                </a:moveTo>
                <a:cubicBezTo>
                  <a:pt x="0" y="19544"/>
                  <a:pt x="19544" y="0"/>
                  <a:pt x="43652" y="0"/>
                </a:cubicBezTo>
                <a:lnTo>
                  <a:pt x="1324354" y="0"/>
                </a:lnTo>
                <a:cubicBezTo>
                  <a:pt x="1348462" y="0"/>
                  <a:pt x="1368006" y="19544"/>
                  <a:pt x="1368006" y="43652"/>
                </a:cubicBezTo>
                <a:lnTo>
                  <a:pt x="1368006" y="392870"/>
                </a:lnTo>
                <a:cubicBezTo>
                  <a:pt x="1368006" y="416978"/>
                  <a:pt x="1348462" y="436522"/>
                  <a:pt x="1324354" y="436522"/>
                </a:cubicBezTo>
                <a:lnTo>
                  <a:pt x="43652" y="436522"/>
                </a:lnTo>
                <a:cubicBezTo>
                  <a:pt x="19544" y="436522"/>
                  <a:pt x="0" y="416978"/>
                  <a:pt x="0" y="392870"/>
                </a:cubicBezTo>
                <a:lnTo>
                  <a:pt x="0" y="43652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865" tIns="17865" rIns="17865" bIns="1786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Profile(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고객 정보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)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주문 완료율이 다를 것이다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.</a:t>
            </a:r>
            <a:endParaRPr lang="ko-KR" altLang="en-US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C05D078C-C7F2-0DF6-EFE8-AF2217F8E2CE}"/>
              </a:ext>
            </a:extLst>
          </p:cNvPr>
          <p:cNvSpPr/>
          <p:nvPr/>
        </p:nvSpPr>
        <p:spPr>
          <a:xfrm rot="20102555">
            <a:off x="3644595" y="5538062"/>
            <a:ext cx="909871" cy="32739"/>
          </a:xfrm>
          <a:custGeom>
            <a:avLst/>
            <a:gdLst>
              <a:gd name="connsiteX0" fmla="*/ 0 w 909871"/>
              <a:gd name="connsiteY0" fmla="*/ 16369 h 32739"/>
              <a:gd name="connsiteX1" fmla="*/ 909871 w 909871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9871" h="32739">
                <a:moveTo>
                  <a:pt x="0" y="16369"/>
                </a:moveTo>
                <a:lnTo>
                  <a:pt x="909871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44888" tIns="-6377" rIns="444889" bIns="-6378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64CDBA9C-C60F-3481-9F06-20E5675C4DCE}"/>
              </a:ext>
            </a:extLst>
          </p:cNvPr>
          <p:cNvSpPr/>
          <p:nvPr/>
        </p:nvSpPr>
        <p:spPr>
          <a:xfrm>
            <a:off x="4511986" y="5229143"/>
            <a:ext cx="931812" cy="266663"/>
          </a:xfrm>
          <a:custGeom>
            <a:avLst/>
            <a:gdLst>
              <a:gd name="connsiteX0" fmla="*/ 0 w 931812"/>
              <a:gd name="connsiteY0" fmla="*/ 26666 h 266663"/>
              <a:gd name="connsiteX1" fmla="*/ 26666 w 931812"/>
              <a:gd name="connsiteY1" fmla="*/ 0 h 266663"/>
              <a:gd name="connsiteX2" fmla="*/ 905146 w 931812"/>
              <a:gd name="connsiteY2" fmla="*/ 0 h 266663"/>
              <a:gd name="connsiteX3" fmla="*/ 931812 w 931812"/>
              <a:gd name="connsiteY3" fmla="*/ 26666 h 266663"/>
              <a:gd name="connsiteX4" fmla="*/ 931812 w 931812"/>
              <a:gd name="connsiteY4" fmla="*/ 239997 h 266663"/>
              <a:gd name="connsiteX5" fmla="*/ 905146 w 931812"/>
              <a:gd name="connsiteY5" fmla="*/ 266663 h 266663"/>
              <a:gd name="connsiteX6" fmla="*/ 26666 w 931812"/>
              <a:gd name="connsiteY6" fmla="*/ 266663 h 266663"/>
              <a:gd name="connsiteX7" fmla="*/ 0 w 931812"/>
              <a:gd name="connsiteY7" fmla="*/ 239997 h 266663"/>
              <a:gd name="connsiteX8" fmla="*/ 0 w 931812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905146" y="0"/>
                </a:lnTo>
                <a:cubicBezTo>
                  <a:pt x="919873" y="0"/>
                  <a:pt x="931812" y="11939"/>
                  <a:pt x="931812" y="26666"/>
                </a:cubicBezTo>
                <a:lnTo>
                  <a:pt x="931812" y="239997"/>
                </a:lnTo>
                <a:cubicBezTo>
                  <a:pt x="931812" y="254724"/>
                  <a:pt x="919873" y="266663"/>
                  <a:pt x="905146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성별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7E90C507-E66E-75BC-DBD4-B38B050899E4}"/>
              </a:ext>
            </a:extLst>
          </p:cNvPr>
          <p:cNvSpPr/>
          <p:nvPr/>
        </p:nvSpPr>
        <p:spPr>
          <a:xfrm>
            <a:off x="5443798" y="5346105"/>
            <a:ext cx="635804" cy="32739"/>
          </a:xfrm>
          <a:custGeom>
            <a:avLst/>
            <a:gdLst>
              <a:gd name="connsiteX0" fmla="*/ 0 w 635804"/>
              <a:gd name="connsiteY0" fmla="*/ 16369 h 32739"/>
              <a:gd name="connsiteX1" fmla="*/ 635804 w 635804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804" h="32739">
                <a:moveTo>
                  <a:pt x="0" y="16369"/>
                </a:moveTo>
                <a:lnTo>
                  <a:pt x="635804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14708" tIns="474" rIns="314706" bIns="47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39A6CC1F-4097-7B05-E1E1-734F7F8EE50C}"/>
              </a:ext>
            </a:extLst>
          </p:cNvPr>
          <p:cNvSpPr/>
          <p:nvPr/>
        </p:nvSpPr>
        <p:spPr>
          <a:xfrm>
            <a:off x="6079603" y="5229143"/>
            <a:ext cx="3420001" cy="266663"/>
          </a:xfrm>
          <a:custGeom>
            <a:avLst/>
            <a:gdLst>
              <a:gd name="connsiteX0" fmla="*/ 0 w 3420001"/>
              <a:gd name="connsiteY0" fmla="*/ 26666 h 266663"/>
              <a:gd name="connsiteX1" fmla="*/ 26666 w 3420001"/>
              <a:gd name="connsiteY1" fmla="*/ 0 h 266663"/>
              <a:gd name="connsiteX2" fmla="*/ 3393335 w 3420001"/>
              <a:gd name="connsiteY2" fmla="*/ 0 h 266663"/>
              <a:gd name="connsiteX3" fmla="*/ 3420001 w 3420001"/>
              <a:gd name="connsiteY3" fmla="*/ 26666 h 266663"/>
              <a:gd name="connsiteX4" fmla="*/ 3420001 w 3420001"/>
              <a:gd name="connsiteY4" fmla="*/ 239997 h 266663"/>
              <a:gd name="connsiteX5" fmla="*/ 3393335 w 3420001"/>
              <a:gd name="connsiteY5" fmla="*/ 266663 h 266663"/>
              <a:gd name="connsiteX6" fmla="*/ 26666 w 3420001"/>
              <a:gd name="connsiteY6" fmla="*/ 266663 h 266663"/>
              <a:gd name="connsiteX7" fmla="*/ 0 w 3420001"/>
              <a:gd name="connsiteY7" fmla="*/ 239997 h 266663"/>
              <a:gd name="connsiteX8" fmla="*/ 0 w 3420001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3393335" y="0"/>
                </a:lnTo>
                <a:cubicBezTo>
                  <a:pt x="3408062" y="0"/>
                  <a:pt x="3420001" y="11939"/>
                  <a:pt x="3420001" y="26666"/>
                </a:cubicBezTo>
                <a:lnTo>
                  <a:pt x="3420001" y="239997"/>
                </a:lnTo>
                <a:cubicBezTo>
                  <a:pt x="3420001" y="254724"/>
                  <a:pt x="3408062" y="266663"/>
                  <a:pt x="3393335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여성이면 남성보다 완료율이 높을 것이다</a:t>
            </a: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0A143314-6039-BCF4-BB32-8EFFBA886F7B}"/>
              </a:ext>
            </a:extLst>
          </p:cNvPr>
          <p:cNvSpPr/>
          <p:nvPr/>
        </p:nvSpPr>
        <p:spPr>
          <a:xfrm>
            <a:off x="3687076" y="5730020"/>
            <a:ext cx="824909" cy="32739"/>
          </a:xfrm>
          <a:custGeom>
            <a:avLst/>
            <a:gdLst>
              <a:gd name="connsiteX0" fmla="*/ 0 w 824909"/>
              <a:gd name="connsiteY0" fmla="*/ 16369 h 32739"/>
              <a:gd name="connsiteX1" fmla="*/ 824909 w 824909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4909" h="32739">
                <a:moveTo>
                  <a:pt x="0" y="16369"/>
                </a:moveTo>
                <a:lnTo>
                  <a:pt x="824909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4532" tIns="-4253" rIns="404532" bIns="-425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57E670E5-2466-2B02-1EBF-A2CB760A3EB9}"/>
              </a:ext>
            </a:extLst>
          </p:cNvPr>
          <p:cNvSpPr/>
          <p:nvPr/>
        </p:nvSpPr>
        <p:spPr>
          <a:xfrm>
            <a:off x="4511986" y="5613058"/>
            <a:ext cx="931812" cy="266663"/>
          </a:xfrm>
          <a:custGeom>
            <a:avLst/>
            <a:gdLst>
              <a:gd name="connsiteX0" fmla="*/ 0 w 931812"/>
              <a:gd name="connsiteY0" fmla="*/ 26666 h 266663"/>
              <a:gd name="connsiteX1" fmla="*/ 26666 w 931812"/>
              <a:gd name="connsiteY1" fmla="*/ 0 h 266663"/>
              <a:gd name="connsiteX2" fmla="*/ 905146 w 931812"/>
              <a:gd name="connsiteY2" fmla="*/ 0 h 266663"/>
              <a:gd name="connsiteX3" fmla="*/ 931812 w 931812"/>
              <a:gd name="connsiteY3" fmla="*/ 26666 h 266663"/>
              <a:gd name="connsiteX4" fmla="*/ 931812 w 931812"/>
              <a:gd name="connsiteY4" fmla="*/ 239997 h 266663"/>
              <a:gd name="connsiteX5" fmla="*/ 905146 w 931812"/>
              <a:gd name="connsiteY5" fmla="*/ 266663 h 266663"/>
              <a:gd name="connsiteX6" fmla="*/ 26666 w 931812"/>
              <a:gd name="connsiteY6" fmla="*/ 266663 h 266663"/>
              <a:gd name="connsiteX7" fmla="*/ 0 w 931812"/>
              <a:gd name="connsiteY7" fmla="*/ 239997 h 266663"/>
              <a:gd name="connsiteX8" fmla="*/ 0 w 931812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905146" y="0"/>
                </a:lnTo>
                <a:cubicBezTo>
                  <a:pt x="919873" y="0"/>
                  <a:pt x="931812" y="11939"/>
                  <a:pt x="931812" y="26666"/>
                </a:cubicBezTo>
                <a:lnTo>
                  <a:pt x="931812" y="239997"/>
                </a:lnTo>
                <a:cubicBezTo>
                  <a:pt x="931812" y="254724"/>
                  <a:pt x="919873" y="266663"/>
                  <a:pt x="905146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소득</a:t>
            </a:r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EB25374F-2033-C146-31DA-E3E8451A5F73}"/>
              </a:ext>
            </a:extLst>
          </p:cNvPr>
          <p:cNvSpPr/>
          <p:nvPr/>
        </p:nvSpPr>
        <p:spPr>
          <a:xfrm>
            <a:off x="5443798" y="5730020"/>
            <a:ext cx="635804" cy="32739"/>
          </a:xfrm>
          <a:custGeom>
            <a:avLst/>
            <a:gdLst>
              <a:gd name="connsiteX0" fmla="*/ 0 w 635804"/>
              <a:gd name="connsiteY0" fmla="*/ 16369 h 32739"/>
              <a:gd name="connsiteX1" fmla="*/ 635804 w 635804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804" h="32739">
                <a:moveTo>
                  <a:pt x="0" y="16369"/>
                </a:moveTo>
                <a:lnTo>
                  <a:pt x="635804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14708" tIns="475" rIns="314706" bIns="47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C40F487C-536E-2D79-CAB4-3ABEFCC0F41A}"/>
              </a:ext>
            </a:extLst>
          </p:cNvPr>
          <p:cNvSpPr/>
          <p:nvPr/>
        </p:nvSpPr>
        <p:spPr>
          <a:xfrm>
            <a:off x="6079603" y="5613058"/>
            <a:ext cx="3420001" cy="266663"/>
          </a:xfrm>
          <a:custGeom>
            <a:avLst/>
            <a:gdLst>
              <a:gd name="connsiteX0" fmla="*/ 0 w 3420001"/>
              <a:gd name="connsiteY0" fmla="*/ 26666 h 266663"/>
              <a:gd name="connsiteX1" fmla="*/ 26666 w 3420001"/>
              <a:gd name="connsiteY1" fmla="*/ 0 h 266663"/>
              <a:gd name="connsiteX2" fmla="*/ 3393335 w 3420001"/>
              <a:gd name="connsiteY2" fmla="*/ 0 h 266663"/>
              <a:gd name="connsiteX3" fmla="*/ 3420001 w 3420001"/>
              <a:gd name="connsiteY3" fmla="*/ 26666 h 266663"/>
              <a:gd name="connsiteX4" fmla="*/ 3420001 w 3420001"/>
              <a:gd name="connsiteY4" fmla="*/ 239997 h 266663"/>
              <a:gd name="connsiteX5" fmla="*/ 3393335 w 3420001"/>
              <a:gd name="connsiteY5" fmla="*/ 266663 h 266663"/>
              <a:gd name="connsiteX6" fmla="*/ 26666 w 3420001"/>
              <a:gd name="connsiteY6" fmla="*/ 266663 h 266663"/>
              <a:gd name="connsiteX7" fmla="*/ 0 w 3420001"/>
              <a:gd name="connsiteY7" fmla="*/ 239997 h 266663"/>
              <a:gd name="connsiteX8" fmla="*/ 0 w 3420001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3393335" y="0"/>
                </a:lnTo>
                <a:cubicBezTo>
                  <a:pt x="3408062" y="0"/>
                  <a:pt x="3420001" y="11939"/>
                  <a:pt x="3420001" y="26666"/>
                </a:cubicBezTo>
                <a:lnTo>
                  <a:pt x="3420001" y="239997"/>
                </a:lnTo>
                <a:cubicBezTo>
                  <a:pt x="3420001" y="254724"/>
                  <a:pt x="3408062" y="266663"/>
                  <a:pt x="3393335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소득이 높으면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(8</a:t>
            </a:r>
            <a:r>
              <a:rPr lang="ko-KR" altLang="en-US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만불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+)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완료율이 높을 것이다</a:t>
            </a: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5F284634-17C3-AC27-2A2B-6F2D6A6BFFD2}"/>
              </a:ext>
            </a:extLst>
          </p:cNvPr>
          <p:cNvSpPr/>
          <p:nvPr/>
        </p:nvSpPr>
        <p:spPr>
          <a:xfrm rot="1497445">
            <a:off x="3644595" y="5921978"/>
            <a:ext cx="909871" cy="32739"/>
          </a:xfrm>
          <a:custGeom>
            <a:avLst/>
            <a:gdLst>
              <a:gd name="connsiteX0" fmla="*/ 0 w 909871"/>
              <a:gd name="connsiteY0" fmla="*/ 16369 h 32739"/>
              <a:gd name="connsiteX1" fmla="*/ 909871 w 909871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9871" h="32739">
                <a:moveTo>
                  <a:pt x="0" y="16369"/>
                </a:moveTo>
                <a:lnTo>
                  <a:pt x="909871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44889" tIns="-6378" rIns="444888" bIns="-6377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3BDBC1B3-B309-1B4C-C9A0-9B427D24F186}"/>
              </a:ext>
            </a:extLst>
          </p:cNvPr>
          <p:cNvSpPr/>
          <p:nvPr/>
        </p:nvSpPr>
        <p:spPr>
          <a:xfrm>
            <a:off x="4511986" y="5996974"/>
            <a:ext cx="931812" cy="266663"/>
          </a:xfrm>
          <a:custGeom>
            <a:avLst/>
            <a:gdLst>
              <a:gd name="connsiteX0" fmla="*/ 0 w 931812"/>
              <a:gd name="connsiteY0" fmla="*/ 26666 h 266663"/>
              <a:gd name="connsiteX1" fmla="*/ 26666 w 931812"/>
              <a:gd name="connsiteY1" fmla="*/ 0 h 266663"/>
              <a:gd name="connsiteX2" fmla="*/ 905146 w 931812"/>
              <a:gd name="connsiteY2" fmla="*/ 0 h 266663"/>
              <a:gd name="connsiteX3" fmla="*/ 931812 w 931812"/>
              <a:gd name="connsiteY3" fmla="*/ 26666 h 266663"/>
              <a:gd name="connsiteX4" fmla="*/ 931812 w 931812"/>
              <a:gd name="connsiteY4" fmla="*/ 239997 h 266663"/>
              <a:gd name="connsiteX5" fmla="*/ 905146 w 931812"/>
              <a:gd name="connsiteY5" fmla="*/ 266663 h 266663"/>
              <a:gd name="connsiteX6" fmla="*/ 26666 w 931812"/>
              <a:gd name="connsiteY6" fmla="*/ 266663 h 266663"/>
              <a:gd name="connsiteX7" fmla="*/ 0 w 931812"/>
              <a:gd name="connsiteY7" fmla="*/ 239997 h 266663"/>
              <a:gd name="connsiteX8" fmla="*/ 0 w 931812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812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905146" y="0"/>
                </a:lnTo>
                <a:cubicBezTo>
                  <a:pt x="919873" y="0"/>
                  <a:pt x="931812" y="11939"/>
                  <a:pt x="931812" y="26666"/>
                </a:cubicBezTo>
                <a:lnTo>
                  <a:pt x="931812" y="239997"/>
                </a:lnTo>
                <a:cubicBezTo>
                  <a:pt x="931812" y="254724"/>
                  <a:pt x="919873" y="266663"/>
                  <a:pt x="905146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rgbClr val="1B8A6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90" tIns="12890" rIns="12890" bIns="1289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나이</a:t>
            </a: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158BECE6-6DF9-DF6A-C02B-81EDD48CD35C}"/>
              </a:ext>
            </a:extLst>
          </p:cNvPr>
          <p:cNvSpPr/>
          <p:nvPr/>
        </p:nvSpPr>
        <p:spPr>
          <a:xfrm>
            <a:off x="5443798" y="6113936"/>
            <a:ext cx="656800" cy="32739"/>
          </a:xfrm>
          <a:custGeom>
            <a:avLst/>
            <a:gdLst>
              <a:gd name="connsiteX0" fmla="*/ 0 w 656800"/>
              <a:gd name="connsiteY0" fmla="*/ 16369 h 32739"/>
              <a:gd name="connsiteX1" fmla="*/ 656800 w 656800"/>
              <a:gd name="connsiteY1" fmla="*/ 16369 h 3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6800" h="32739">
                <a:moveTo>
                  <a:pt x="0" y="16369"/>
                </a:moveTo>
                <a:lnTo>
                  <a:pt x="656800" y="1636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4681" tIns="-51" rIns="324679" bIns="-5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73840FF4-223C-2CBB-647B-EADE0DE41199}"/>
              </a:ext>
            </a:extLst>
          </p:cNvPr>
          <p:cNvSpPr/>
          <p:nvPr/>
        </p:nvSpPr>
        <p:spPr>
          <a:xfrm>
            <a:off x="6100599" y="5996974"/>
            <a:ext cx="3420001" cy="266663"/>
          </a:xfrm>
          <a:custGeom>
            <a:avLst/>
            <a:gdLst>
              <a:gd name="connsiteX0" fmla="*/ 0 w 3420001"/>
              <a:gd name="connsiteY0" fmla="*/ 26666 h 266663"/>
              <a:gd name="connsiteX1" fmla="*/ 26666 w 3420001"/>
              <a:gd name="connsiteY1" fmla="*/ 0 h 266663"/>
              <a:gd name="connsiteX2" fmla="*/ 3393335 w 3420001"/>
              <a:gd name="connsiteY2" fmla="*/ 0 h 266663"/>
              <a:gd name="connsiteX3" fmla="*/ 3420001 w 3420001"/>
              <a:gd name="connsiteY3" fmla="*/ 26666 h 266663"/>
              <a:gd name="connsiteX4" fmla="*/ 3420001 w 3420001"/>
              <a:gd name="connsiteY4" fmla="*/ 239997 h 266663"/>
              <a:gd name="connsiteX5" fmla="*/ 3393335 w 3420001"/>
              <a:gd name="connsiteY5" fmla="*/ 266663 h 266663"/>
              <a:gd name="connsiteX6" fmla="*/ 26666 w 3420001"/>
              <a:gd name="connsiteY6" fmla="*/ 266663 h 266663"/>
              <a:gd name="connsiteX7" fmla="*/ 0 w 3420001"/>
              <a:gd name="connsiteY7" fmla="*/ 239997 h 266663"/>
              <a:gd name="connsiteX8" fmla="*/ 0 w 3420001"/>
              <a:gd name="connsiteY8" fmla="*/ 26666 h 26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20001" h="266663">
                <a:moveTo>
                  <a:pt x="0" y="26666"/>
                </a:moveTo>
                <a:cubicBezTo>
                  <a:pt x="0" y="11939"/>
                  <a:pt x="11939" y="0"/>
                  <a:pt x="26666" y="0"/>
                </a:cubicBezTo>
                <a:lnTo>
                  <a:pt x="3393335" y="0"/>
                </a:lnTo>
                <a:cubicBezTo>
                  <a:pt x="3408062" y="0"/>
                  <a:pt x="3420001" y="11939"/>
                  <a:pt x="3420001" y="26666"/>
                </a:cubicBezTo>
                <a:lnTo>
                  <a:pt x="3420001" y="239997"/>
                </a:lnTo>
                <a:cubicBezTo>
                  <a:pt x="3420001" y="254724"/>
                  <a:pt x="3408062" y="266663"/>
                  <a:pt x="3393335" y="266663"/>
                </a:cubicBezTo>
                <a:lnTo>
                  <a:pt x="26666" y="266663"/>
                </a:lnTo>
                <a:cubicBezTo>
                  <a:pt x="11939" y="266663"/>
                  <a:pt x="0" y="254724"/>
                  <a:pt x="0" y="239997"/>
                </a:cubicBezTo>
                <a:lnTo>
                  <a:pt x="0" y="26666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solidFill>
              <a:srgbClr val="1B8A63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255" tIns="12255" rIns="12255" bIns="12255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나이 평균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(54)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보다 </a:t>
            </a:r>
            <a:r>
              <a:rPr lang="ko-KR" altLang="en-US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높은면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완료율이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낮을 것이다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8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03. </a:t>
            </a:r>
            <a:r>
              <a:rPr lang="ko-KR" altLang="en-US" sz="2600" b="1" dirty="0">
                <a:solidFill>
                  <a:srgbClr val="006241"/>
                </a:solidFill>
                <a:latin typeface="Noto Sans KR"/>
              </a:rPr>
              <a:t>지표 지도 그리기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400" b="1" i="0" dirty="0">
                <a:solidFill>
                  <a:srgbClr val="006241"/>
                </a:solidFill>
                <a:latin typeface="Noto Sans KR"/>
              </a:rPr>
              <a:t>Funnel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&amp; North Star Framework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채택</a:t>
            </a:r>
            <a:r>
              <a:rPr sz="1250" b="1" i="0" dirty="0">
                <a:solidFill>
                  <a:srgbClr val="6B6B6B"/>
                </a:solidFill>
                <a:latin typeface="Noto Sans KR"/>
              </a:rPr>
              <a:t>  </a:t>
            </a:r>
            <a:r>
              <a:rPr sz="1250" b="1" i="0" dirty="0">
                <a:latin typeface="Noto Sans KR"/>
              </a:rPr>
              <a:t>·  </a:t>
            </a:r>
            <a:r>
              <a:rPr sz="1250" b="1" i="0" dirty="0" err="1">
                <a:latin typeface="Noto Sans KR"/>
              </a:rPr>
              <a:t>발송</a:t>
            </a:r>
            <a:r>
              <a:rPr sz="1250" b="1" i="0" dirty="0">
                <a:latin typeface="Noto Sans KR"/>
              </a:rPr>
              <a:t> → </a:t>
            </a:r>
            <a:r>
              <a:rPr sz="1250" b="1" i="0" dirty="0" err="1">
                <a:latin typeface="Noto Sans KR"/>
              </a:rPr>
              <a:t>수신</a:t>
            </a:r>
            <a:r>
              <a:rPr sz="1250" b="1" i="0" dirty="0">
                <a:latin typeface="Noto Sans KR"/>
              </a:rPr>
              <a:t> → </a:t>
            </a:r>
            <a:r>
              <a:rPr sz="1250" b="1" i="0" dirty="0" err="1">
                <a:latin typeface="Noto Sans KR"/>
              </a:rPr>
              <a:t>완료의</a:t>
            </a:r>
            <a:r>
              <a:rPr sz="1250" b="1" i="0" dirty="0">
                <a:latin typeface="Noto Sans KR"/>
              </a:rPr>
              <a:t> </a:t>
            </a:r>
            <a:r>
              <a:rPr sz="1250" b="1" i="0" dirty="0" err="1">
                <a:latin typeface="Noto Sans KR"/>
              </a:rPr>
              <a:t>단일</a:t>
            </a:r>
            <a:r>
              <a:rPr sz="1250" b="1" i="0" dirty="0">
                <a:latin typeface="Noto Sans KR"/>
              </a:rPr>
              <a:t> </a:t>
            </a:r>
            <a:r>
              <a:rPr sz="1250" b="1" i="0" dirty="0" err="1">
                <a:latin typeface="Noto Sans KR"/>
              </a:rPr>
              <a:t>퍼널에</a:t>
            </a:r>
            <a:r>
              <a:rPr sz="1250" b="1" i="0" dirty="0">
                <a:latin typeface="Noto Sans KR"/>
              </a:rPr>
              <a:t> </a:t>
            </a:r>
            <a:r>
              <a:rPr sz="1250" b="1" i="0" dirty="0" err="1">
                <a:latin typeface="Noto Sans KR"/>
              </a:rPr>
              <a:t>대응</a:t>
            </a:r>
            <a:endParaRPr sz="1250" b="1" i="0" dirty="0">
              <a:latin typeface="Noto Sans KR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777240" y="1691640"/>
            <a:ext cx="2880360" cy="1371600"/>
          </a:xfrm>
          <a:prstGeom prst="chevron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① 발송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Noto Sans KR"/>
              </a:rPr>
              <a:t>76,277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offer received · 건</a:t>
            </a:r>
          </a:p>
        </p:txBody>
      </p:sp>
      <p:sp>
        <p:nvSpPr>
          <p:cNvPr id="6" name="Chevron 5"/>
          <p:cNvSpPr/>
          <p:nvPr/>
        </p:nvSpPr>
        <p:spPr>
          <a:xfrm>
            <a:off x="4160520" y="1691640"/>
            <a:ext cx="2880360" cy="1371600"/>
          </a:xfrm>
          <a:prstGeom prst="chevron">
            <a:avLst/>
          </a:prstGeom>
          <a:solidFill>
            <a:srgbClr val="1B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② 수신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Noto Sans KR"/>
              </a:rPr>
              <a:t>74.2%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수신 건수 56,567건</a:t>
            </a:r>
          </a:p>
        </p:txBody>
      </p:sp>
      <p:sp>
        <p:nvSpPr>
          <p:cNvPr id="7" name="Chevron 6"/>
          <p:cNvSpPr/>
          <p:nvPr/>
        </p:nvSpPr>
        <p:spPr>
          <a:xfrm>
            <a:off x="7543800" y="1691640"/>
            <a:ext cx="2880360" cy="1371600"/>
          </a:xfrm>
          <a:prstGeom prst="chevron">
            <a:avLst/>
          </a:prstGeom>
          <a:solidFill>
            <a:srgbClr val="CBA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KR"/>
              </a:rPr>
              <a:t>③ 수신 후 전환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Noto Sans KR"/>
              </a:rPr>
              <a:t>53.6%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Noto Sans KR"/>
              </a:rPr>
              <a:t>완료+구매 30,320건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11155680" cy="220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세그먼트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절단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lang="ko-KR" altLang="en-US" sz="1400" b="1" i="0" dirty="0">
                <a:solidFill>
                  <a:srgbClr val="006241"/>
                </a:solidFill>
                <a:latin typeface="Noto Sans KR"/>
              </a:rPr>
              <a:t>기준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(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퍼널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3단계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전체에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400" b="1" i="0" dirty="0" err="1">
                <a:solidFill>
                  <a:srgbClr val="006241"/>
                </a:solidFill>
                <a:latin typeface="Noto Sans KR"/>
              </a:rPr>
              <a:t>적용</a:t>
            </a:r>
            <a:r>
              <a:rPr sz="1400" b="1" i="0" dirty="0">
                <a:solidFill>
                  <a:srgbClr val="006241"/>
                </a:solidFill>
                <a:latin typeface="Noto Sans KR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94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500" b="1" i="0" dirty="0">
                <a:solidFill>
                  <a:srgbClr val="006241"/>
                </a:solidFill>
                <a:latin typeface="Noto Sans KR"/>
              </a:rPr>
              <a:t>Offer </a:t>
            </a:r>
            <a:r>
              <a:rPr sz="1500" b="1" i="0" dirty="0" err="1">
                <a:solidFill>
                  <a:srgbClr val="006241"/>
                </a:solidFill>
                <a:latin typeface="Noto Sans KR"/>
              </a:rPr>
              <a:t>설계</a:t>
            </a:r>
            <a:r>
              <a:rPr sz="15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lang="ko-KR" altLang="en-US" sz="1500" b="1" i="0" dirty="0">
                <a:solidFill>
                  <a:srgbClr val="006241"/>
                </a:solidFill>
                <a:latin typeface="Noto Sans KR"/>
              </a:rPr>
              <a:t>기준</a:t>
            </a:r>
            <a:endParaRPr sz="1500" b="1" i="0" dirty="0">
              <a:solidFill>
                <a:srgbClr val="006241"/>
              </a:solidFill>
              <a:latin typeface="Noto Sans KR"/>
            </a:endParaRPr>
          </a:p>
          <a:p>
            <a:pPr algn="ctr">
              <a:spcAft>
                <a:spcPts val="1200"/>
              </a:spcAft>
            </a:pPr>
            <a:r>
              <a:rPr sz="1100" b="1" i="1" dirty="0">
                <a:solidFill>
                  <a:srgbClr val="CBA258"/>
                </a:solidFill>
                <a:latin typeface="Noto Sans KR"/>
              </a:rPr>
              <a:t>Offer(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프로모션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)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설계에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따라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완료율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차이가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있는가</a:t>
            </a:r>
            <a:endParaRPr sz="1100" b="1" i="1" dirty="0">
              <a:solidFill>
                <a:srgbClr val="CBA258"/>
              </a:solidFill>
              <a:latin typeface="Noto Sans KR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i="0" dirty="0">
                <a:solidFill>
                  <a:schemeClr val="tx1"/>
                </a:solidFill>
                <a:latin typeface="Noto Sans KR"/>
              </a:rPr>
              <a:t>•  Offer type · Reward(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 4.2) · Duration(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 6.7일) · Difficulty(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 7.7) · Channels(</a:t>
            </a:r>
            <a:r>
              <a:rPr sz="1150" i="0" dirty="0" err="1">
                <a:solidFill>
                  <a:schemeClr val="tx1"/>
                </a:solidFill>
                <a:latin typeface="Noto Sans KR"/>
              </a:rPr>
              <a:t>web·email·mobile·social</a:t>
            </a:r>
            <a:r>
              <a:rPr sz="1150" i="0" dirty="0">
                <a:solidFill>
                  <a:schemeClr val="tx1"/>
                </a:solidFill>
                <a:latin typeface="Noto Sans KR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94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500" b="1" i="0" dirty="0">
                <a:solidFill>
                  <a:srgbClr val="006241"/>
                </a:solidFill>
                <a:latin typeface="Noto Sans KR"/>
              </a:rPr>
              <a:t>Profile </a:t>
            </a:r>
            <a:r>
              <a:rPr sz="1500" b="1" i="0" dirty="0" err="1">
                <a:solidFill>
                  <a:srgbClr val="006241"/>
                </a:solidFill>
                <a:latin typeface="Noto Sans KR"/>
              </a:rPr>
              <a:t>속성</a:t>
            </a:r>
            <a:r>
              <a:rPr sz="15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lang="ko-KR" altLang="en-US" sz="1500" b="1" i="0" dirty="0">
                <a:solidFill>
                  <a:srgbClr val="006241"/>
                </a:solidFill>
                <a:latin typeface="Noto Sans KR"/>
              </a:rPr>
              <a:t>기준</a:t>
            </a:r>
            <a:endParaRPr sz="1500" b="1" i="0" dirty="0">
              <a:solidFill>
                <a:srgbClr val="006241"/>
              </a:solidFill>
              <a:latin typeface="Noto Sans KR"/>
            </a:endParaRPr>
          </a:p>
          <a:p>
            <a:pPr algn="ctr">
              <a:spcAft>
                <a:spcPts val="1200"/>
              </a:spcAft>
            </a:pPr>
            <a:r>
              <a:rPr sz="1100" b="1" i="1" dirty="0">
                <a:solidFill>
                  <a:srgbClr val="CBA258"/>
                </a:solidFill>
                <a:latin typeface="Noto Sans KR"/>
              </a:rPr>
              <a:t>Profile(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고객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정보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)에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따라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완료율이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다를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것이다</a:t>
            </a:r>
            <a:endParaRPr sz="1100" b="1" i="1" dirty="0">
              <a:solidFill>
                <a:srgbClr val="CBA258"/>
              </a:solidFill>
              <a:latin typeface="Noto Sans KR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 dirty="0">
                <a:solidFill>
                  <a:schemeClr val="tx1"/>
                </a:solidFill>
                <a:latin typeface="Noto Sans KR"/>
              </a:rPr>
              <a:t>• 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성별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 ·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소득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(8만불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기준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) ·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나이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(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평균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 54세 </a:t>
            </a:r>
            <a:r>
              <a:rPr sz="1150" b="0" i="0" dirty="0" err="1">
                <a:solidFill>
                  <a:schemeClr val="tx1"/>
                </a:solidFill>
                <a:latin typeface="Noto Sans KR"/>
              </a:rPr>
              <a:t>기준</a:t>
            </a:r>
            <a:r>
              <a:rPr sz="1150" b="0" i="0" dirty="0">
                <a:solidFill>
                  <a:schemeClr val="tx1"/>
                </a:solidFill>
                <a:latin typeface="Noto Sans KR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40680"/>
            <a:ext cx="11155680" cy="489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1" i="1" dirty="0">
                <a:latin typeface="Noto Sans KR"/>
              </a:rPr>
              <a:t>Tier B(</a:t>
            </a:r>
            <a:r>
              <a:rPr sz="1150" b="1" i="1" dirty="0" err="1">
                <a:latin typeface="Noto Sans KR"/>
              </a:rPr>
              <a:t>순증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전환율</a:t>
            </a:r>
            <a:r>
              <a:rPr sz="1150" b="1" i="1" dirty="0">
                <a:latin typeface="Noto Sans KR"/>
              </a:rPr>
              <a:t>, P(</a:t>
            </a:r>
            <a:r>
              <a:rPr sz="1150" b="1" i="1" dirty="0" err="1">
                <a:latin typeface="Noto Sans KR"/>
              </a:rPr>
              <a:t>구매|노출</a:t>
            </a:r>
            <a:r>
              <a:rPr sz="1150" b="1" i="1" dirty="0">
                <a:latin typeface="Noto Sans KR"/>
              </a:rPr>
              <a:t>)-P(</a:t>
            </a:r>
            <a:r>
              <a:rPr sz="1150" b="1" i="1" dirty="0" err="1">
                <a:latin typeface="Noto Sans KR"/>
              </a:rPr>
              <a:t>구매|미노출</a:t>
            </a:r>
            <a:r>
              <a:rPr sz="1150" b="1" i="1" dirty="0">
                <a:latin typeface="Noto Sans KR"/>
              </a:rPr>
              <a:t>))는 </a:t>
            </a:r>
            <a:r>
              <a:rPr sz="1150" b="1" i="1" dirty="0" err="1">
                <a:latin typeface="Noto Sans KR"/>
              </a:rPr>
              <a:t>대조군이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없어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현재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사용</a:t>
            </a:r>
            <a:r>
              <a:rPr sz="1150" b="1" i="1" dirty="0">
                <a:latin typeface="Noto Sans KR"/>
              </a:rPr>
              <a:t> </a:t>
            </a:r>
            <a:r>
              <a:rPr sz="1150" b="1" i="1" dirty="0" err="1">
                <a:latin typeface="Noto Sans KR"/>
              </a:rPr>
              <a:t>불가</a:t>
            </a:r>
            <a:r>
              <a:rPr sz="1150" b="1" i="1" dirty="0">
                <a:latin typeface="Noto Sans KR"/>
              </a:rPr>
              <a:t> — </a:t>
            </a:r>
            <a:r>
              <a:rPr sz="1150" b="1" i="1" dirty="0">
                <a:solidFill>
                  <a:srgbClr val="006241"/>
                </a:solidFill>
                <a:latin typeface="Noto Sans KR"/>
              </a:rPr>
              <a:t>Tier A(</a:t>
            </a:r>
            <a:r>
              <a:rPr sz="1150" b="1" i="1" dirty="0" err="1">
                <a:solidFill>
                  <a:srgbClr val="006241"/>
                </a:solidFill>
                <a:latin typeface="Noto Sans KR"/>
              </a:rPr>
              <a:t>완료율·수신율·전환율</a:t>
            </a:r>
            <a:r>
              <a:rPr sz="1150" b="1" i="1" dirty="0">
                <a:solidFill>
                  <a:srgbClr val="006241"/>
                </a:solidFill>
                <a:latin typeface="Noto Sans KR"/>
              </a:rPr>
              <a:t>)로 </a:t>
            </a:r>
            <a:r>
              <a:rPr sz="1150" b="1" i="1" dirty="0" err="1">
                <a:solidFill>
                  <a:srgbClr val="006241"/>
                </a:solidFill>
                <a:latin typeface="Noto Sans KR"/>
              </a:rPr>
              <a:t>시작</a:t>
            </a:r>
            <a:endParaRPr sz="1150" b="1" i="1" dirty="0">
              <a:solidFill>
                <a:srgbClr val="006241"/>
              </a:solidFill>
              <a:latin typeface="Noto Sans KR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en-US" sz="1100" b="1" i="1" dirty="0">
                <a:solidFill>
                  <a:srgbClr val="CBA258"/>
                </a:solidFill>
                <a:latin typeface="Noto Sans KR"/>
              </a:rPr>
              <a:t>AARRR</a:t>
            </a:r>
            <a:r>
              <a:rPr lang="ko-KR" altLang="en-US" sz="1100" b="1" i="1" dirty="0">
                <a:solidFill>
                  <a:srgbClr val="CBA258"/>
                </a:solidFill>
                <a:latin typeface="Noto Sans KR"/>
              </a:rPr>
              <a:t>의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Acquisition·Referral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sz="1100" b="1" i="1" dirty="0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1" i="1" dirty="0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 수집되어</a:t>
            </a:r>
            <a:r>
              <a:rPr sz="1100" b="1" i="1" dirty="0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측정</a:t>
            </a:r>
            <a:r>
              <a:rPr sz="1100" b="1" i="1" dirty="0">
                <a:solidFill>
                  <a:srgbClr val="CBA25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불가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(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가입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경로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,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추천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로그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00" b="1" i="1" dirty="0" err="1">
                <a:solidFill>
                  <a:srgbClr val="CBA258"/>
                </a:solidFill>
                <a:latin typeface="Noto Sans KR"/>
              </a:rPr>
              <a:t>없음</a:t>
            </a:r>
            <a:r>
              <a:rPr sz="1100" b="1" i="1" dirty="0">
                <a:solidFill>
                  <a:srgbClr val="CBA258"/>
                </a:solidFill>
                <a:latin typeface="Noto Sans KR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2927-EC6A-8DFB-A2D7-EEC854F0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BD6249-2A68-8E0F-69FF-44F190D2F9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E38D4-A22F-7B73-394F-B8743D13E45A}"/>
              </a:ext>
            </a:extLst>
          </p:cNvPr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D845CE-BDD4-9727-6B8B-0DEC541D9156}"/>
              </a:ext>
            </a:extLst>
          </p:cNvPr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5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5DE099-9A22-8452-D68C-3FB51822F203}"/>
              </a:ext>
            </a:extLst>
          </p:cNvPr>
          <p:cNvSpPr/>
          <p:nvPr/>
        </p:nvSpPr>
        <p:spPr>
          <a:xfrm>
            <a:off x="502920" y="931436"/>
            <a:ext cx="11155680" cy="5332204"/>
          </a:xfrm>
          <a:prstGeom prst="rect">
            <a:avLst/>
          </a:prstGeom>
          <a:solidFill>
            <a:srgbClr val="006241"/>
          </a:solidFill>
          <a:ln>
            <a:solidFill>
              <a:srgbClr val="1B8A63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EB93EA76-B7FC-E712-D65F-5D92FF85D342}"/>
              </a:ext>
            </a:extLst>
          </p:cNvPr>
          <p:cNvSpPr/>
          <p:nvPr/>
        </p:nvSpPr>
        <p:spPr>
          <a:xfrm>
            <a:off x="913187" y="3904923"/>
            <a:ext cx="1166652" cy="342544"/>
          </a:xfrm>
          <a:custGeom>
            <a:avLst/>
            <a:gdLst>
              <a:gd name="connsiteX0" fmla="*/ 0 w 1166652"/>
              <a:gd name="connsiteY0" fmla="*/ 34254 h 342544"/>
              <a:gd name="connsiteX1" fmla="*/ 34254 w 1166652"/>
              <a:gd name="connsiteY1" fmla="*/ 0 h 342544"/>
              <a:gd name="connsiteX2" fmla="*/ 1132398 w 1166652"/>
              <a:gd name="connsiteY2" fmla="*/ 0 h 342544"/>
              <a:gd name="connsiteX3" fmla="*/ 1166652 w 1166652"/>
              <a:gd name="connsiteY3" fmla="*/ 34254 h 342544"/>
              <a:gd name="connsiteX4" fmla="*/ 1166652 w 1166652"/>
              <a:gd name="connsiteY4" fmla="*/ 308290 h 342544"/>
              <a:gd name="connsiteX5" fmla="*/ 1132398 w 1166652"/>
              <a:gd name="connsiteY5" fmla="*/ 342544 h 342544"/>
              <a:gd name="connsiteX6" fmla="*/ 34254 w 1166652"/>
              <a:gd name="connsiteY6" fmla="*/ 342544 h 342544"/>
              <a:gd name="connsiteX7" fmla="*/ 0 w 1166652"/>
              <a:gd name="connsiteY7" fmla="*/ 308290 h 342544"/>
              <a:gd name="connsiteX8" fmla="*/ 0 w 116665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665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132398" y="0"/>
                </a:lnTo>
                <a:cubicBezTo>
                  <a:pt x="1151316" y="0"/>
                  <a:pt x="1166652" y="15336"/>
                  <a:pt x="1166652" y="34254"/>
                </a:cubicBezTo>
                <a:lnTo>
                  <a:pt x="1166652" y="308290"/>
                </a:lnTo>
                <a:cubicBezTo>
                  <a:pt x="1166652" y="327208"/>
                  <a:pt x="1151316" y="342544"/>
                  <a:pt x="113239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Offer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별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</a:t>
            </a:r>
            <a:r>
              <a:rPr lang="ko-KR" altLang="en-US" sz="800" b="1" i="0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차이 원인 분석</a:t>
            </a: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2354CBB-0CE0-67A7-5C75-4D33B5FF55C0}"/>
              </a:ext>
            </a:extLst>
          </p:cNvPr>
          <p:cNvSpPr/>
          <p:nvPr/>
        </p:nvSpPr>
        <p:spPr>
          <a:xfrm rot="16747743">
            <a:off x="1508807" y="3401531"/>
            <a:ext cx="1357434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57480" tIns="-29393" rIns="657482" bIns="-2939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736F4C3-4B5C-05A7-9868-AAFD85FDDEF4}"/>
              </a:ext>
            </a:extLst>
          </p:cNvPr>
          <p:cNvSpPr/>
          <p:nvPr/>
        </p:nvSpPr>
        <p:spPr>
          <a:xfrm>
            <a:off x="2295208" y="2564683"/>
            <a:ext cx="1431109" cy="342544"/>
          </a:xfrm>
          <a:custGeom>
            <a:avLst/>
            <a:gdLst>
              <a:gd name="connsiteX0" fmla="*/ 0 w 1431109"/>
              <a:gd name="connsiteY0" fmla="*/ 34254 h 342544"/>
              <a:gd name="connsiteX1" fmla="*/ 34254 w 1431109"/>
              <a:gd name="connsiteY1" fmla="*/ 0 h 342544"/>
              <a:gd name="connsiteX2" fmla="*/ 1396855 w 1431109"/>
              <a:gd name="connsiteY2" fmla="*/ 0 h 342544"/>
              <a:gd name="connsiteX3" fmla="*/ 1431109 w 1431109"/>
              <a:gd name="connsiteY3" fmla="*/ 34254 h 342544"/>
              <a:gd name="connsiteX4" fmla="*/ 1431109 w 1431109"/>
              <a:gd name="connsiteY4" fmla="*/ 308290 h 342544"/>
              <a:gd name="connsiteX5" fmla="*/ 1396855 w 1431109"/>
              <a:gd name="connsiteY5" fmla="*/ 342544 h 342544"/>
              <a:gd name="connsiteX6" fmla="*/ 34254 w 1431109"/>
              <a:gd name="connsiteY6" fmla="*/ 342544 h 342544"/>
              <a:gd name="connsiteX7" fmla="*/ 0 w 1431109"/>
              <a:gd name="connsiteY7" fmla="*/ 308290 h 342544"/>
              <a:gd name="connsiteX8" fmla="*/ 0 w 1431109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1109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396855" y="0"/>
                </a:lnTo>
                <a:cubicBezTo>
                  <a:pt x="1415773" y="0"/>
                  <a:pt x="1431109" y="15336"/>
                  <a:pt x="1431109" y="34254"/>
                </a:cubicBezTo>
                <a:lnTo>
                  <a:pt x="1431109" y="308290"/>
                </a:lnTo>
                <a:cubicBezTo>
                  <a:pt x="1431109" y="327208"/>
                  <a:pt x="1415773" y="342544"/>
                  <a:pt x="1396855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Offer type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완료율은 왜 낮을까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?</a:t>
            </a:r>
            <a:endParaRPr lang="ko-KR" altLang="en-US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9E76F6A-A9A4-C07B-3F9B-1006181EBB58}"/>
              </a:ext>
            </a:extLst>
          </p:cNvPr>
          <p:cNvSpPr/>
          <p:nvPr/>
        </p:nvSpPr>
        <p:spPr>
          <a:xfrm rot="16789086">
            <a:off x="3202499" y="2109156"/>
            <a:ext cx="126300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12627" tIns="-27032" rIns="612628" bIns="-2703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34652EF9-A431-3180-BE3B-9E8E08EF9A60}"/>
              </a:ext>
            </a:extLst>
          </p:cNvPr>
          <p:cNvSpPr/>
          <p:nvPr/>
        </p:nvSpPr>
        <p:spPr>
          <a:xfrm>
            <a:off x="3941687" y="1320174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 동기 및 수용성 부족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22C320B-980F-0E18-7F98-880F4152E7F3}"/>
              </a:ext>
            </a:extLst>
          </p:cNvPr>
          <p:cNvSpPr/>
          <p:nvPr/>
        </p:nvSpPr>
        <p:spPr>
          <a:xfrm rot="17938430">
            <a:off x="4944846" y="1295439"/>
            <a:ext cx="43770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0611" tIns="-6399" rIns="220611" bIns="-640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C97BE3FA-D95A-EC49-C1EE-6DA0EC7E7161}"/>
              </a:ext>
            </a:extLst>
          </p:cNvPr>
          <p:cNvSpPr/>
          <p:nvPr/>
        </p:nvSpPr>
        <p:spPr>
          <a:xfrm>
            <a:off x="5269716" y="937248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호감도 낮음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6633970E-8F5D-138C-2B4F-FB91D97D05C2}"/>
              </a:ext>
            </a:extLst>
          </p:cNvPr>
          <p:cNvSpPr/>
          <p:nvPr/>
        </p:nvSpPr>
        <p:spPr>
          <a:xfrm>
            <a:off x="6817717" y="1103976"/>
            <a:ext cx="21870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6585" tIns="-924" rIns="116587" bIns="-924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0D66402-825F-0C4F-0AF9-07821D99D097}"/>
              </a:ext>
            </a:extLst>
          </p:cNvPr>
          <p:cNvSpPr/>
          <p:nvPr/>
        </p:nvSpPr>
        <p:spPr>
          <a:xfrm>
            <a:off x="7036424" y="937248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카페인 민감자의 커피 </a:t>
            </a:r>
            <a:r>
              <a:rPr lang="ko-KR" altLang="en-US" sz="800" b="1" kern="1200" dirty="0" err="1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신메뉴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 선호도 불일치</a:t>
            </a: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41245BB1-D8C2-BC34-FC42-D5657AE1068C}"/>
              </a:ext>
            </a:extLst>
          </p:cNvPr>
          <p:cNvSpPr/>
          <p:nvPr/>
        </p:nvSpPr>
        <p:spPr>
          <a:xfrm>
            <a:off x="9592426" y="110397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03B00B73-182E-FE39-F9EF-CF6BE81EA82F}"/>
              </a:ext>
            </a:extLst>
          </p:cNvPr>
          <p:cNvSpPr/>
          <p:nvPr/>
        </p:nvSpPr>
        <p:spPr>
          <a:xfrm>
            <a:off x="9807795" y="937248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 및 개인 데이터 부재로</a:t>
            </a:r>
            <a:endParaRPr lang="en-US" altLang="ko-KR" sz="800" b="1" kern="12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 불가 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FC7747AD-7E47-B842-40F4-EF3E1CA4DDC5}"/>
              </a:ext>
            </a:extLst>
          </p:cNvPr>
          <p:cNvSpPr/>
          <p:nvPr/>
        </p:nvSpPr>
        <p:spPr>
          <a:xfrm>
            <a:off x="5057685" y="148690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359B99DC-AF03-79BB-F521-CDB3942C443E}"/>
              </a:ext>
            </a:extLst>
          </p:cNvPr>
          <p:cNvSpPr/>
          <p:nvPr/>
        </p:nvSpPr>
        <p:spPr>
          <a:xfrm>
            <a:off x="5273054" y="1320174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매력도 부족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31A364E6-33F1-9A32-C95E-9D7069266EBB}"/>
              </a:ext>
            </a:extLst>
          </p:cNvPr>
          <p:cNvSpPr/>
          <p:nvPr/>
        </p:nvSpPr>
        <p:spPr>
          <a:xfrm>
            <a:off x="6821055" y="148690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517D8731-130B-DB6B-EBED-530A4AEFEE9F}"/>
              </a:ext>
            </a:extLst>
          </p:cNvPr>
          <p:cNvSpPr/>
          <p:nvPr/>
        </p:nvSpPr>
        <p:spPr>
          <a:xfrm>
            <a:off x="7036424" y="1320174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소비 부담 대비 낮은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보상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BF94BB8-8267-8F88-0265-BC3FDD3F0EE1}"/>
              </a:ext>
            </a:extLst>
          </p:cNvPr>
          <p:cNvSpPr/>
          <p:nvPr/>
        </p:nvSpPr>
        <p:spPr>
          <a:xfrm>
            <a:off x="9592426" y="148690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AC8CDA29-F3DD-EA74-F1B2-0B0FF062B22E}"/>
              </a:ext>
            </a:extLst>
          </p:cNvPr>
          <p:cNvSpPr/>
          <p:nvPr/>
        </p:nvSpPr>
        <p:spPr>
          <a:xfrm>
            <a:off x="9807795" y="1320174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+A/B Test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71C8C410-3902-109D-D4B2-F6A851DE0C34}"/>
              </a:ext>
            </a:extLst>
          </p:cNvPr>
          <p:cNvSpPr/>
          <p:nvPr/>
        </p:nvSpPr>
        <p:spPr>
          <a:xfrm rot="3638718">
            <a:off x="4945701" y="1678365"/>
            <a:ext cx="439335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1384" tIns="-6441" rIns="221384" bIns="-643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5D8460D2-511B-7B32-E7D6-0064BFDB3344}"/>
              </a:ext>
            </a:extLst>
          </p:cNvPr>
          <p:cNvSpPr/>
          <p:nvPr/>
        </p:nvSpPr>
        <p:spPr>
          <a:xfrm>
            <a:off x="5273054" y="1703100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구매 관성</a:t>
            </a: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6A1AAC24-E37F-CB4A-98B5-61EDBE010F20}"/>
              </a:ext>
            </a:extLst>
          </p:cNvPr>
          <p:cNvSpPr/>
          <p:nvPr/>
        </p:nvSpPr>
        <p:spPr>
          <a:xfrm>
            <a:off x="6821055" y="1869828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D38604A9-CBD6-D8DC-28D8-6944EC383AEE}"/>
              </a:ext>
            </a:extLst>
          </p:cNvPr>
          <p:cNvSpPr/>
          <p:nvPr/>
        </p:nvSpPr>
        <p:spPr>
          <a:xfrm>
            <a:off x="7036424" y="1703100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 구매습관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금액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유지로 인한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외면</a:t>
            </a: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F623DD90-4625-CB9A-BF6B-6E3F5DB65721}"/>
              </a:ext>
            </a:extLst>
          </p:cNvPr>
          <p:cNvSpPr/>
          <p:nvPr/>
        </p:nvSpPr>
        <p:spPr>
          <a:xfrm>
            <a:off x="9592426" y="1869828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D9CB23F2-EBEC-1022-96AC-B3D0FE78B7FE}"/>
              </a:ext>
            </a:extLst>
          </p:cNvPr>
          <p:cNvSpPr/>
          <p:nvPr/>
        </p:nvSpPr>
        <p:spPr>
          <a:xfrm>
            <a:off x="9807795" y="1703100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 불가</a:t>
            </a: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B8F31C02-F4DB-6503-874F-335D7B3D3E9C}"/>
              </a:ext>
            </a:extLst>
          </p:cNvPr>
          <p:cNvSpPr/>
          <p:nvPr/>
        </p:nvSpPr>
        <p:spPr>
          <a:xfrm rot="1437909">
            <a:off x="3716159" y="2779276"/>
            <a:ext cx="23568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651" tIns="-1349" rIns="124650" bIns="-134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0ACABD32-D985-D289-EC4B-DA0E29D37C8A}"/>
              </a:ext>
            </a:extLst>
          </p:cNvPr>
          <p:cNvSpPr/>
          <p:nvPr/>
        </p:nvSpPr>
        <p:spPr>
          <a:xfrm>
            <a:off x="3941687" y="2660414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및 접촉 제약</a:t>
            </a: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71FCCEFD-C560-AFCE-71B9-06B254F11AFB}"/>
              </a:ext>
            </a:extLst>
          </p:cNvPr>
          <p:cNvSpPr/>
          <p:nvPr/>
        </p:nvSpPr>
        <p:spPr>
          <a:xfrm rot="17433221">
            <a:off x="4858650" y="2539948"/>
            <a:ext cx="61343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4082" tIns="-10792" rIns="304083" bIns="-107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F5860EBA-184C-1A30-8663-F8E0E6231F4F}"/>
              </a:ext>
            </a:extLst>
          </p:cNvPr>
          <p:cNvSpPr/>
          <p:nvPr/>
        </p:nvSpPr>
        <p:spPr>
          <a:xfrm>
            <a:off x="5273054" y="2086025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채널 한계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26DD3AC0-CD6E-E0BD-CBED-75F8781B0E3C}"/>
              </a:ext>
            </a:extLst>
          </p:cNvPr>
          <p:cNvSpPr/>
          <p:nvPr/>
        </p:nvSpPr>
        <p:spPr>
          <a:xfrm>
            <a:off x="6821055" y="2252753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FE91A055-7610-66E8-C35E-FBC69847E720}"/>
              </a:ext>
            </a:extLst>
          </p:cNvPr>
          <p:cNvSpPr/>
          <p:nvPr/>
        </p:nvSpPr>
        <p:spPr>
          <a:xfrm>
            <a:off x="7036424" y="2086025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Mobile, Social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대비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Web, Email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사용률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도달률이 낮음</a:t>
            </a: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4B72800D-3DB0-52C2-CA26-A58A73EDCDDB}"/>
              </a:ext>
            </a:extLst>
          </p:cNvPr>
          <p:cNvSpPr/>
          <p:nvPr/>
        </p:nvSpPr>
        <p:spPr>
          <a:xfrm>
            <a:off x="9592426" y="2252753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A4C7A38C-7331-9C31-7515-B0BA55F6B85D}"/>
              </a:ext>
            </a:extLst>
          </p:cNvPr>
          <p:cNvSpPr/>
          <p:nvPr/>
        </p:nvSpPr>
        <p:spPr>
          <a:xfrm>
            <a:off x="9807795" y="2086025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오퍼 단위 비교</a:t>
            </a:r>
            <a:endParaRPr lang="en-US" altLang="ko-KR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채널 조합별 수신율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1A4F88FA-2898-1FB7-AA2F-D09B3D50EB14}"/>
              </a:ext>
            </a:extLst>
          </p:cNvPr>
          <p:cNvSpPr/>
          <p:nvPr/>
        </p:nvSpPr>
        <p:spPr>
          <a:xfrm rot="19101774">
            <a:off x="5021285" y="2731411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1" rIns="149581" bIns="-266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CADC0476-E241-1C65-1B6D-11F806E802B0}"/>
              </a:ext>
            </a:extLst>
          </p:cNvPr>
          <p:cNvSpPr/>
          <p:nvPr/>
        </p:nvSpPr>
        <p:spPr>
          <a:xfrm>
            <a:off x="5273054" y="2468951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 부족</a:t>
            </a:r>
          </a:p>
        </p:txBody>
      </p: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D544CB2F-25E6-1B12-F161-7414663DF86D}"/>
              </a:ext>
            </a:extLst>
          </p:cNvPr>
          <p:cNvSpPr/>
          <p:nvPr/>
        </p:nvSpPr>
        <p:spPr>
          <a:xfrm>
            <a:off x="6821055" y="2635679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A5BEC758-F1C7-A705-2FBF-C4F91B400B43}"/>
              </a:ext>
            </a:extLst>
          </p:cNvPr>
          <p:cNvSpPr/>
          <p:nvPr/>
        </p:nvSpPr>
        <p:spPr>
          <a:xfrm>
            <a:off x="7036424" y="2468951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짧은 경우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전 마감될 수 있음</a:t>
            </a:r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ED675262-FE0A-2B4D-193D-572A9454D8A2}"/>
              </a:ext>
            </a:extLst>
          </p:cNvPr>
          <p:cNvSpPr/>
          <p:nvPr/>
        </p:nvSpPr>
        <p:spPr>
          <a:xfrm>
            <a:off x="9592426" y="2635679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5" name="자유형: 도형 44">
            <a:extLst>
              <a:ext uri="{FF2B5EF4-FFF2-40B4-BE49-F238E27FC236}">
                <a16:creationId xmlns:a16="http://schemas.microsoft.com/office/drawing/2014/main" id="{ADEBCD35-33B6-D4B5-3840-04DE78C01855}"/>
              </a:ext>
            </a:extLst>
          </p:cNvPr>
          <p:cNvSpPr/>
          <p:nvPr/>
        </p:nvSpPr>
        <p:spPr>
          <a:xfrm>
            <a:off x="9807795" y="2468951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상관 분석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ED97F137-F3AE-4383-61BB-E0AFECEB529D}"/>
              </a:ext>
            </a:extLst>
          </p:cNvPr>
          <p:cNvSpPr/>
          <p:nvPr/>
        </p:nvSpPr>
        <p:spPr>
          <a:xfrm rot="2498226">
            <a:off x="5021285" y="2922874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79" tIns="-2662" rIns="149581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14D90590-7BCD-22F2-D2FF-C33ACDF14DA5}"/>
              </a:ext>
            </a:extLst>
          </p:cNvPr>
          <p:cNvSpPr/>
          <p:nvPr/>
        </p:nvSpPr>
        <p:spPr>
          <a:xfrm>
            <a:off x="5273054" y="2851877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둔감화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E7FB3417-79F6-7C87-198F-DC6CB1ABB5F6}"/>
              </a:ext>
            </a:extLst>
          </p:cNvPr>
          <p:cNvSpPr/>
          <p:nvPr/>
        </p:nvSpPr>
        <p:spPr>
          <a:xfrm>
            <a:off x="6821055" y="3018605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prstClr val="white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ECA7C009-B082-4048-8C2A-298BB0AE2F47}"/>
              </a:ext>
            </a:extLst>
          </p:cNvPr>
          <p:cNvSpPr/>
          <p:nvPr/>
        </p:nvSpPr>
        <p:spPr>
          <a:xfrm>
            <a:off x="7036424" y="2851877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횟수에 따라 반응 둔화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DA38D38F-7959-B931-38D3-06F3B86FC084}"/>
              </a:ext>
            </a:extLst>
          </p:cNvPr>
          <p:cNvSpPr/>
          <p:nvPr/>
        </p:nvSpPr>
        <p:spPr>
          <a:xfrm>
            <a:off x="9592426" y="3018605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8AE580A3-BB7D-ED17-375A-92EBE4F1FE10}"/>
              </a:ext>
            </a:extLst>
          </p:cNvPr>
          <p:cNvSpPr/>
          <p:nvPr/>
        </p:nvSpPr>
        <p:spPr>
          <a:xfrm>
            <a:off x="9807795" y="2851877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상관분석</a:t>
            </a: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CD092FB-ED31-D7BA-9BB4-D33BAF07A54A}"/>
              </a:ext>
            </a:extLst>
          </p:cNvPr>
          <p:cNvSpPr/>
          <p:nvPr/>
        </p:nvSpPr>
        <p:spPr>
          <a:xfrm rot="4166779">
            <a:off x="4858650" y="3114336"/>
            <a:ext cx="61343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4083" tIns="-10793" rIns="304082" bIns="-1079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47E4DCFC-5D9B-AD32-D01A-9C6BF5BAAE44}"/>
              </a:ext>
            </a:extLst>
          </p:cNvPr>
          <p:cNvSpPr/>
          <p:nvPr/>
        </p:nvSpPr>
        <p:spPr>
          <a:xfrm>
            <a:off x="5273054" y="3234803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노출 제한의 한계</a:t>
            </a: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456EAAEF-00E3-0C9C-2995-42A9742BB195}"/>
              </a:ext>
            </a:extLst>
          </p:cNvPr>
          <p:cNvSpPr/>
          <p:nvPr/>
        </p:nvSpPr>
        <p:spPr>
          <a:xfrm>
            <a:off x="6821055" y="340153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10E2B9ED-EDC3-2873-193B-CE75E326A979}"/>
              </a:ext>
            </a:extLst>
          </p:cNvPr>
          <p:cNvSpPr/>
          <p:nvPr/>
        </p:nvSpPr>
        <p:spPr>
          <a:xfrm>
            <a:off x="7036424" y="3234803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해제 고객의 노출 제한 </a:t>
            </a:r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12BEDF6A-4217-9BB8-0767-B1155397C216}"/>
              </a:ext>
            </a:extLst>
          </p:cNvPr>
          <p:cNvSpPr/>
          <p:nvPr/>
        </p:nvSpPr>
        <p:spPr>
          <a:xfrm>
            <a:off x="9592426" y="340153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3D87B2AE-47B6-F7C9-A14F-363E24411346}"/>
              </a:ext>
            </a:extLst>
          </p:cNvPr>
          <p:cNvSpPr/>
          <p:nvPr/>
        </p:nvSpPr>
        <p:spPr>
          <a:xfrm>
            <a:off x="9807795" y="3234803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Profile</a:t>
            </a:r>
            <a:r>
              <a:rPr lang="ko-KR" altLang="en-US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별 </a:t>
            </a:r>
            <a:r>
              <a:rPr lang="en-US" altLang="ko-KR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channel </a:t>
            </a:r>
            <a:r>
              <a:rPr lang="ko-KR" altLang="en-US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해제</a:t>
            </a:r>
            <a:endParaRPr lang="en-US" altLang="ko-KR" sz="800" b="1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부재로 검증 불가</a:t>
            </a:r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F7E7B539-5729-A109-0C5B-B8460EF5BBDB}"/>
              </a:ext>
            </a:extLst>
          </p:cNvPr>
          <p:cNvSpPr/>
          <p:nvPr/>
        </p:nvSpPr>
        <p:spPr>
          <a:xfrm rot="4810914">
            <a:off x="3202499" y="3353665"/>
            <a:ext cx="126300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12628" tIns="-27032" rIns="612627" bIns="-2703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자유형: 도형 58">
            <a:extLst>
              <a:ext uri="{FF2B5EF4-FFF2-40B4-BE49-F238E27FC236}">
                <a16:creationId xmlns:a16="http://schemas.microsoft.com/office/drawing/2014/main" id="{51F47153-E8E6-3A30-C895-E0E464DBAE69}"/>
              </a:ext>
            </a:extLst>
          </p:cNvPr>
          <p:cNvSpPr/>
          <p:nvPr/>
        </p:nvSpPr>
        <p:spPr>
          <a:xfrm>
            <a:off x="3941687" y="3809191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달성 난이도 부담</a:t>
            </a:r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47F04AD5-7D58-F11C-3047-0D833366EF00}"/>
              </a:ext>
            </a:extLst>
          </p:cNvPr>
          <p:cNvSpPr/>
          <p:nvPr/>
        </p:nvSpPr>
        <p:spPr>
          <a:xfrm rot="19101774">
            <a:off x="5021285" y="3880188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79" tIns="-2661" rIns="149581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1" name="자유형: 도형 60">
            <a:extLst>
              <a:ext uri="{FF2B5EF4-FFF2-40B4-BE49-F238E27FC236}">
                <a16:creationId xmlns:a16="http://schemas.microsoft.com/office/drawing/2014/main" id="{F1FD8552-93A2-E23E-EE00-519FA99BB16C}"/>
              </a:ext>
            </a:extLst>
          </p:cNvPr>
          <p:cNvSpPr/>
          <p:nvPr/>
        </p:nvSpPr>
        <p:spPr>
          <a:xfrm>
            <a:off x="5273054" y="3617728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과잉 구매 부담</a:t>
            </a:r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8B43B3FC-7C44-07AC-92ED-F306D68E0AED}"/>
              </a:ext>
            </a:extLst>
          </p:cNvPr>
          <p:cNvSpPr/>
          <p:nvPr/>
        </p:nvSpPr>
        <p:spPr>
          <a:xfrm>
            <a:off x="6821055" y="378445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8C58B7FE-AB96-2F88-E9CB-64B73AC1D703}"/>
              </a:ext>
            </a:extLst>
          </p:cNvPr>
          <p:cNvSpPr/>
          <p:nvPr/>
        </p:nvSpPr>
        <p:spPr>
          <a:xfrm>
            <a:off x="7036424" y="3617728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bogo(1+1)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 수량 중심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부담</a:t>
            </a:r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54D4A769-EA75-D34C-3656-7A9A6869C78C}"/>
              </a:ext>
            </a:extLst>
          </p:cNvPr>
          <p:cNvSpPr/>
          <p:nvPr/>
        </p:nvSpPr>
        <p:spPr>
          <a:xfrm>
            <a:off x="9592426" y="378445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6062506D-0DF0-44FE-8FBB-B4C46B56E9FD}"/>
              </a:ext>
            </a:extLst>
          </p:cNvPr>
          <p:cNvSpPr/>
          <p:nvPr/>
        </p:nvSpPr>
        <p:spPr>
          <a:xfrm>
            <a:off x="9807795" y="3617728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C1459734-9D52-5759-10DD-1A9DEAE2100B}"/>
              </a:ext>
            </a:extLst>
          </p:cNvPr>
          <p:cNvSpPr/>
          <p:nvPr/>
        </p:nvSpPr>
        <p:spPr>
          <a:xfrm rot="2498226">
            <a:off x="5021285" y="4071651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1" rIns="149580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2CF577A4-7A6B-AFE7-EE9A-BD7733B2613E}"/>
              </a:ext>
            </a:extLst>
          </p:cNvPr>
          <p:cNvSpPr/>
          <p:nvPr/>
        </p:nvSpPr>
        <p:spPr>
          <a:xfrm>
            <a:off x="5273054" y="4000654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소비 금액 증가 부담</a:t>
            </a:r>
          </a:p>
        </p:txBody>
      </p:sp>
      <p:sp>
        <p:nvSpPr>
          <p:cNvPr id="68" name="자유형: 도형 67">
            <a:extLst>
              <a:ext uri="{FF2B5EF4-FFF2-40B4-BE49-F238E27FC236}">
                <a16:creationId xmlns:a16="http://schemas.microsoft.com/office/drawing/2014/main" id="{D415A85E-7D85-87A4-3D16-F1C890BDF955}"/>
              </a:ext>
            </a:extLst>
          </p:cNvPr>
          <p:cNvSpPr/>
          <p:nvPr/>
        </p:nvSpPr>
        <p:spPr>
          <a:xfrm>
            <a:off x="6821055" y="416738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EC67DA22-CE0E-C7F7-CE6D-349FA84B4A6F}"/>
              </a:ext>
            </a:extLst>
          </p:cNvPr>
          <p:cNvSpPr/>
          <p:nvPr/>
        </p:nvSpPr>
        <p:spPr>
          <a:xfrm>
            <a:off x="7036424" y="4000654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 금액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(difficulty)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도달에 따른 소비 금액 증가의 부담</a:t>
            </a:r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9FCA9211-570F-3798-8366-EA1DF02D4028}"/>
              </a:ext>
            </a:extLst>
          </p:cNvPr>
          <p:cNvSpPr/>
          <p:nvPr/>
        </p:nvSpPr>
        <p:spPr>
          <a:xfrm>
            <a:off x="9592426" y="416738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2C2BD589-701B-B35D-816B-08DA91FD0122}"/>
              </a:ext>
            </a:extLst>
          </p:cNvPr>
          <p:cNvSpPr/>
          <p:nvPr/>
        </p:nvSpPr>
        <p:spPr>
          <a:xfrm>
            <a:off x="9807795" y="4000654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72" name="자유형: 도형 71">
            <a:extLst>
              <a:ext uri="{FF2B5EF4-FFF2-40B4-BE49-F238E27FC236}">
                <a16:creationId xmlns:a16="http://schemas.microsoft.com/office/drawing/2014/main" id="{30F5D6FD-E64F-5917-6CAC-776FC1AA44D1}"/>
              </a:ext>
            </a:extLst>
          </p:cNvPr>
          <p:cNvSpPr/>
          <p:nvPr/>
        </p:nvSpPr>
        <p:spPr>
          <a:xfrm rot="4852257">
            <a:off x="1508807" y="4741771"/>
            <a:ext cx="1357434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57481" tIns="-29392" rIns="657481" bIns="-2939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자유형: 도형 72">
            <a:extLst>
              <a:ext uri="{FF2B5EF4-FFF2-40B4-BE49-F238E27FC236}">
                <a16:creationId xmlns:a16="http://schemas.microsoft.com/office/drawing/2014/main" id="{F7CC14D4-2973-737F-6182-C1FBABD593E5}"/>
              </a:ext>
            </a:extLst>
          </p:cNvPr>
          <p:cNvSpPr/>
          <p:nvPr/>
        </p:nvSpPr>
        <p:spPr>
          <a:xfrm>
            <a:off x="2295208" y="5245163"/>
            <a:ext cx="1424244" cy="342544"/>
          </a:xfrm>
          <a:custGeom>
            <a:avLst/>
            <a:gdLst>
              <a:gd name="connsiteX0" fmla="*/ 0 w 1424244"/>
              <a:gd name="connsiteY0" fmla="*/ 34254 h 342544"/>
              <a:gd name="connsiteX1" fmla="*/ 34254 w 1424244"/>
              <a:gd name="connsiteY1" fmla="*/ 0 h 342544"/>
              <a:gd name="connsiteX2" fmla="*/ 1389990 w 1424244"/>
              <a:gd name="connsiteY2" fmla="*/ 0 h 342544"/>
              <a:gd name="connsiteX3" fmla="*/ 1424244 w 1424244"/>
              <a:gd name="connsiteY3" fmla="*/ 34254 h 342544"/>
              <a:gd name="connsiteX4" fmla="*/ 1424244 w 1424244"/>
              <a:gd name="connsiteY4" fmla="*/ 308290 h 342544"/>
              <a:gd name="connsiteX5" fmla="*/ 1389990 w 1424244"/>
              <a:gd name="connsiteY5" fmla="*/ 342544 h 342544"/>
              <a:gd name="connsiteX6" fmla="*/ 34254 w 1424244"/>
              <a:gd name="connsiteY6" fmla="*/ 342544 h 342544"/>
              <a:gd name="connsiteX7" fmla="*/ 0 w 1424244"/>
              <a:gd name="connsiteY7" fmla="*/ 308290 h 342544"/>
              <a:gd name="connsiteX8" fmla="*/ 0 w 1424244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4244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389990" y="0"/>
                </a:lnTo>
                <a:cubicBezTo>
                  <a:pt x="1408908" y="0"/>
                  <a:pt x="1424244" y="15336"/>
                  <a:pt x="1424244" y="34254"/>
                </a:cubicBezTo>
                <a:lnTo>
                  <a:pt x="1424244" y="308290"/>
                </a:lnTo>
                <a:cubicBezTo>
                  <a:pt x="1424244" y="327208"/>
                  <a:pt x="1408908" y="342544"/>
                  <a:pt x="1389990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Profile(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고객 정보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)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에 따라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완료율이 왜 낮을까</a:t>
            </a: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?</a:t>
            </a:r>
            <a:endParaRPr lang="ko-KR" altLang="en-US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77A4A627-13D0-F071-AA86-0413C1482C75}"/>
              </a:ext>
            </a:extLst>
          </p:cNvPr>
          <p:cNvSpPr/>
          <p:nvPr/>
        </p:nvSpPr>
        <p:spPr>
          <a:xfrm rot="17274848">
            <a:off x="3481884" y="5085420"/>
            <a:ext cx="686210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8649" tIns="-12612" rIns="338650" bIns="-12612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9DD721BA-7EFB-FEC6-1485-17F78F11CD02}"/>
              </a:ext>
            </a:extLst>
          </p:cNvPr>
          <p:cNvSpPr/>
          <p:nvPr/>
        </p:nvSpPr>
        <p:spPr>
          <a:xfrm>
            <a:off x="3930525" y="4592221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소득 수준별 제약</a:t>
            </a:r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B7E10974-75A6-0EBF-FE32-A316F20A816D}"/>
              </a:ext>
            </a:extLst>
          </p:cNvPr>
          <p:cNvSpPr/>
          <p:nvPr/>
        </p:nvSpPr>
        <p:spPr>
          <a:xfrm rot="19101774">
            <a:off x="5010123" y="4663218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1" rIns="149580" bIns="-266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6374A1E1-301E-84ED-96EB-33B30BEF345D}"/>
              </a:ext>
            </a:extLst>
          </p:cNvPr>
          <p:cNvSpPr/>
          <p:nvPr/>
        </p:nvSpPr>
        <p:spPr>
          <a:xfrm>
            <a:off x="5261892" y="4400758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저소득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중위소득 그룹의 소비 부담</a:t>
            </a:r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AF3609A6-7D34-0130-3A50-A31B8695D4DB}"/>
              </a:ext>
            </a:extLst>
          </p:cNvPr>
          <p:cNvSpPr/>
          <p:nvPr/>
        </p:nvSpPr>
        <p:spPr>
          <a:xfrm>
            <a:off x="6809893" y="456748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1" tIns="-840" rIns="114999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79" name="자유형: 도형 78">
            <a:extLst>
              <a:ext uri="{FF2B5EF4-FFF2-40B4-BE49-F238E27FC236}">
                <a16:creationId xmlns:a16="http://schemas.microsoft.com/office/drawing/2014/main" id="{07C63F39-A836-D61D-E3C5-B41FB492DDBB}"/>
              </a:ext>
            </a:extLst>
          </p:cNvPr>
          <p:cNvSpPr/>
          <p:nvPr/>
        </p:nvSpPr>
        <p:spPr>
          <a:xfrm>
            <a:off x="7025262" y="4400758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소득 대비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높아질수록 완료 저하</a:t>
            </a:r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83C9D6D3-2996-5D53-703C-9DA91FDEC0E6}"/>
              </a:ext>
            </a:extLst>
          </p:cNvPr>
          <p:cNvSpPr/>
          <p:nvPr/>
        </p:nvSpPr>
        <p:spPr>
          <a:xfrm>
            <a:off x="9581265" y="4567486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F54EC342-F846-AE8D-A55B-D5B0CDC44652}"/>
              </a:ext>
            </a:extLst>
          </p:cNvPr>
          <p:cNvSpPr/>
          <p:nvPr/>
        </p:nvSpPr>
        <p:spPr>
          <a:xfrm>
            <a:off x="9796633" y="4400758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로지스틱 회귀</a:t>
            </a:r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AC2CC486-A417-6973-5BAE-2C285C472A3C}"/>
              </a:ext>
            </a:extLst>
          </p:cNvPr>
          <p:cNvSpPr/>
          <p:nvPr/>
        </p:nvSpPr>
        <p:spPr>
          <a:xfrm rot="2498226">
            <a:off x="5010123" y="4854681"/>
            <a:ext cx="288169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9580" tIns="-2662" rIns="149580" bIns="-266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FABD4D80-EBE8-8494-9697-6FF1B928C3DF}"/>
              </a:ext>
            </a:extLst>
          </p:cNvPr>
          <p:cNvSpPr/>
          <p:nvPr/>
        </p:nvSpPr>
        <p:spPr>
          <a:xfrm>
            <a:off x="5261892" y="4783684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고소득 그룹의 체감 보상 부족</a:t>
            </a: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EC84FC66-67C8-5B5F-C8D6-EED69B7C266A}"/>
              </a:ext>
            </a:extLst>
          </p:cNvPr>
          <p:cNvSpPr/>
          <p:nvPr/>
        </p:nvSpPr>
        <p:spPr>
          <a:xfrm>
            <a:off x="6809893" y="495041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1" tIns="-840" rIns="114999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66A5843F-CF35-5562-B6B5-09310A041DBF}"/>
              </a:ext>
            </a:extLst>
          </p:cNvPr>
          <p:cNvSpPr/>
          <p:nvPr/>
        </p:nvSpPr>
        <p:spPr>
          <a:xfrm>
            <a:off x="7025262" y="4783684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금액이 고소득자의 동기부여 수준에 미달</a:t>
            </a:r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5C3C19D8-B87A-0324-49F8-42FD6936FD49}"/>
              </a:ext>
            </a:extLst>
          </p:cNvPr>
          <p:cNvSpPr/>
          <p:nvPr/>
        </p:nvSpPr>
        <p:spPr>
          <a:xfrm>
            <a:off x="9581265" y="4950412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87" name="자유형: 도형 86">
            <a:extLst>
              <a:ext uri="{FF2B5EF4-FFF2-40B4-BE49-F238E27FC236}">
                <a16:creationId xmlns:a16="http://schemas.microsoft.com/office/drawing/2014/main" id="{810BDA8A-212C-7080-DA65-ADD1598F115C}"/>
              </a:ext>
            </a:extLst>
          </p:cNvPr>
          <p:cNvSpPr/>
          <p:nvPr/>
        </p:nvSpPr>
        <p:spPr>
          <a:xfrm>
            <a:off x="9796633" y="4783684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ANOVA/T-test</a:t>
            </a: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922DC381-A08D-B746-FFCD-EFDFC21DEF89}"/>
              </a:ext>
            </a:extLst>
          </p:cNvPr>
          <p:cNvSpPr/>
          <p:nvPr/>
        </p:nvSpPr>
        <p:spPr>
          <a:xfrm rot="1437909">
            <a:off x="3709294" y="5459757"/>
            <a:ext cx="235686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651" tIns="-1349" rIns="124651" bIns="-1348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자유형: 도형 88">
            <a:extLst>
              <a:ext uri="{FF2B5EF4-FFF2-40B4-BE49-F238E27FC236}">
                <a16:creationId xmlns:a16="http://schemas.microsoft.com/office/drawing/2014/main" id="{DDFF41E8-52BA-0FD3-211A-919851067BEE}"/>
              </a:ext>
            </a:extLst>
          </p:cNvPr>
          <p:cNvSpPr/>
          <p:nvPr/>
        </p:nvSpPr>
        <p:spPr>
          <a:xfrm>
            <a:off x="3934822" y="5340894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연령대별 행동 패턴 차이</a:t>
            </a:r>
          </a:p>
        </p:txBody>
      </p:sp>
      <p:sp>
        <p:nvSpPr>
          <p:cNvPr id="90" name="자유형: 도형 89">
            <a:extLst>
              <a:ext uri="{FF2B5EF4-FFF2-40B4-BE49-F238E27FC236}">
                <a16:creationId xmlns:a16="http://schemas.microsoft.com/office/drawing/2014/main" id="{6D2145BE-954A-AF47-1039-A8B0B23DBEB7}"/>
              </a:ext>
            </a:extLst>
          </p:cNvPr>
          <p:cNvSpPr/>
          <p:nvPr/>
        </p:nvSpPr>
        <p:spPr>
          <a:xfrm rot="19227189">
            <a:off x="5019493" y="5420480"/>
            <a:ext cx="27372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719" tIns="-2300" rIns="142721" bIns="-230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EE7F754E-904C-0541-F968-0F3AD62B4AC8}"/>
              </a:ext>
            </a:extLst>
          </p:cNvPr>
          <p:cNvSpPr/>
          <p:nvPr/>
        </p:nvSpPr>
        <p:spPr>
          <a:xfrm>
            <a:off x="5261892" y="5166610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청년층 오퍼 인지 채널 불일치</a:t>
            </a:r>
          </a:p>
        </p:txBody>
      </p:sp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2A37A3C6-C501-EC3F-3770-A9BB018FF1E3}"/>
              </a:ext>
            </a:extLst>
          </p:cNvPr>
          <p:cNvSpPr/>
          <p:nvPr/>
        </p:nvSpPr>
        <p:spPr>
          <a:xfrm rot="27806">
            <a:off x="6809890" y="5334226"/>
            <a:ext cx="219672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044" tIns="-948" rIns="117044" bIns="-94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CF362ACF-374D-8066-82D0-D9060F9376C2}"/>
              </a:ext>
            </a:extLst>
          </p:cNvPr>
          <p:cNvSpPr/>
          <p:nvPr/>
        </p:nvSpPr>
        <p:spPr>
          <a:xfrm>
            <a:off x="7029559" y="5168386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Web, Email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비선호 채널의 오퍼 발송 시 수신율 저하</a:t>
            </a: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F8BDB083-3FD3-4F3A-67CA-CDAE773B30ED}"/>
              </a:ext>
            </a:extLst>
          </p:cNvPr>
          <p:cNvSpPr/>
          <p:nvPr/>
        </p:nvSpPr>
        <p:spPr>
          <a:xfrm>
            <a:off x="9585561" y="5335115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1" rIns="115000" bIns="-840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4B86EC4C-54E0-7C61-6646-936A8D0BC18F}"/>
              </a:ext>
            </a:extLst>
          </p:cNvPr>
          <p:cNvSpPr/>
          <p:nvPr/>
        </p:nvSpPr>
        <p:spPr>
          <a:xfrm>
            <a:off x="9800930" y="5168386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카이제곱 검정</a:t>
            </a:r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E2B9F3E9-ECD7-2749-605B-97F251628887}"/>
              </a:ext>
            </a:extLst>
          </p:cNvPr>
          <p:cNvSpPr/>
          <p:nvPr/>
        </p:nvSpPr>
        <p:spPr>
          <a:xfrm rot="2680089">
            <a:off x="5007963" y="5611943"/>
            <a:ext cx="296787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3673" tIns="-2876" rIns="153674" bIns="-2877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5B97ECD8-61A9-A778-7948-11BCFF22E150}"/>
              </a:ext>
            </a:extLst>
          </p:cNvPr>
          <p:cNvSpPr/>
          <p:nvPr/>
        </p:nvSpPr>
        <p:spPr>
          <a:xfrm>
            <a:off x="5261892" y="5549535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고연령층의</a:t>
            </a:r>
            <a:endParaRPr lang="en-US" altLang="ko-KR" sz="800" b="1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디지털 매체 적응 한계</a:t>
            </a:r>
          </a:p>
        </p:txBody>
      </p:sp>
      <p:sp>
        <p:nvSpPr>
          <p:cNvPr id="98" name="자유형: 도형 97">
            <a:extLst>
              <a:ext uri="{FF2B5EF4-FFF2-40B4-BE49-F238E27FC236}">
                <a16:creationId xmlns:a16="http://schemas.microsoft.com/office/drawing/2014/main" id="{D045F0D7-02B9-DE6A-E1C5-4CF82194BD15}"/>
              </a:ext>
            </a:extLst>
          </p:cNvPr>
          <p:cNvSpPr/>
          <p:nvPr/>
        </p:nvSpPr>
        <p:spPr>
          <a:xfrm rot="27806">
            <a:off x="6809890" y="5717152"/>
            <a:ext cx="219672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044" tIns="-948" rIns="117044" bIns="-949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99" name="자유형: 도형 98">
            <a:extLst>
              <a:ext uri="{FF2B5EF4-FFF2-40B4-BE49-F238E27FC236}">
                <a16:creationId xmlns:a16="http://schemas.microsoft.com/office/drawing/2014/main" id="{584E5D69-0C14-7AAF-C19A-1698A10CF7B3}"/>
              </a:ext>
            </a:extLst>
          </p:cNvPr>
          <p:cNvSpPr/>
          <p:nvPr/>
        </p:nvSpPr>
        <p:spPr>
          <a:xfrm>
            <a:off x="7029559" y="5551312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고령층의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수신율 저하</a:t>
            </a:r>
          </a:p>
        </p:txBody>
      </p:sp>
      <p:sp>
        <p:nvSpPr>
          <p:cNvPr id="100" name="자유형: 도형 99">
            <a:extLst>
              <a:ext uri="{FF2B5EF4-FFF2-40B4-BE49-F238E27FC236}">
                <a16:creationId xmlns:a16="http://schemas.microsoft.com/office/drawing/2014/main" id="{7DA75855-F873-D9CB-B360-7C11AEB9EC30}"/>
              </a:ext>
            </a:extLst>
          </p:cNvPr>
          <p:cNvSpPr/>
          <p:nvPr/>
        </p:nvSpPr>
        <p:spPr>
          <a:xfrm>
            <a:off x="9585561" y="5718040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1" name="자유형: 도형 100">
            <a:extLst>
              <a:ext uri="{FF2B5EF4-FFF2-40B4-BE49-F238E27FC236}">
                <a16:creationId xmlns:a16="http://schemas.microsoft.com/office/drawing/2014/main" id="{4A98C916-1B96-74BB-BD1A-13F086175CBA}"/>
              </a:ext>
            </a:extLst>
          </p:cNvPr>
          <p:cNvSpPr/>
          <p:nvPr/>
        </p:nvSpPr>
        <p:spPr>
          <a:xfrm>
            <a:off x="9800930" y="5551312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상관분석</a:t>
            </a:r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AAB3607C-8683-4F22-D69D-85676D86D8DE}"/>
              </a:ext>
            </a:extLst>
          </p:cNvPr>
          <p:cNvSpPr/>
          <p:nvPr/>
        </p:nvSpPr>
        <p:spPr>
          <a:xfrm rot="4330992">
            <a:off x="3475198" y="5746951"/>
            <a:ext cx="70387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7043" tIns="-13054" rIns="347041" bIns="-1305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kern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3" name="자유형: 도형 102">
            <a:extLst>
              <a:ext uri="{FF2B5EF4-FFF2-40B4-BE49-F238E27FC236}">
                <a16:creationId xmlns:a16="http://schemas.microsoft.com/office/drawing/2014/main" id="{3F851251-BCAE-8FAB-0285-BB9045C71BE2}"/>
              </a:ext>
            </a:extLst>
          </p:cNvPr>
          <p:cNvSpPr/>
          <p:nvPr/>
        </p:nvSpPr>
        <p:spPr>
          <a:xfrm>
            <a:off x="3934822" y="5915283"/>
            <a:ext cx="1115998" cy="342544"/>
          </a:xfrm>
          <a:custGeom>
            <a:avLst/>
            <a:gdLst>
              <a:gd name="connsiteX0" fmla="*/ 0 w 1115998"/>
              <a:gd name="connsiteY0" fmla="*/ 34254 h 342544"/>
              <a:gd name="connsiteX1" fmla="*/ 34254 w 1115998"/>
              <a:gd name="connsiteY1" fmla="*/ 0 h 342544"/>
              <a:gd name="connsiteX2" fmla="*/ 1081744 w 1115998"/>
              <a:gd name="connsiteY2" fmla="*/ 0 h 342544"/>
              <a:gd name="connsiteX3" fmla="*/ 1115998 w 1115998"/>
              <a:gd name="connsiteY3" fmla="*/ 34254 h 342544"/>
              <a:gd name="connsiteX4" fmla="*/ 1115998 w 1115998"/>
              <a:gd name="connsiteY4" fmla="*/ 308290 h 342544"/>
              <a:gd name="connsiteX5" fmla="*/ 1081744 w 1115998"/>
              <a:gd name="connsiteY5" fmla="*/ 342544 h 342544"/>
              <a:gd name="connsiteX6" fmla="*/ 34254 w 1115998"/>
              <a:gd name="connsiteY6" fmla="*/ 342544 h 342544"/>
              <a:gd name="connsiteX7" fmla="*/ 0 w 1115998"/>
              <a:gd name="connsiteY7" fmla="*/ 308290 h 342544"/>
              <a:gd name="connsiteX8" fmla="*/ 0 w 1115998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5998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081744" y="0"/>
                </a:lnTo>
                <a:cubicBezTo>
                  <a:pt x="1100662" y="0"/>
                  <a:pt x="1115998" y="15336"/>
                  <a:pt x="1115998" y="34254"/>
                </a:cubicBezTo>
                <a:lnTo>
                  <a:pt x="1115998" y="308290"/>
                </a:lnTo>
                <a:cubicBezTo>
                  <a:pt x="1115998" y="327208"/>
                  <a:pt x="1100662" y="342544"/>
                  <a:pt x="1081744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성별에 따른</a:t>
            </a:r>
            <a:endParaRPr lang="en-US" altLang="ko-KR" sz="800" b="1" i="0" kern="1200" dirty="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ko-KR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offer </a:t>
            </a:r>
            <a:r>
              <a:rPr lang="ko-KR" altLang="en-US" sz="800" b="1" i="0" kern="120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선호도 불일치</a:t>
            </a:r>
          </a:p>
        </p:txBody>
      </p:sp>
      <p:sp>
        <p:nvSpPr>
          <p:cNvPr id="104" name="자유형: 도형 103">
            <a:extLst>
              <a:ext uri="{FF2B5EF4-FFF2-40B4-BE49-F238E27FC236}">
                <a16:creationId xmlns:a16="http://schemas.microsoft.com/office/drawing/2014/main" id="{93242EBF-F6FD-B33F-4F28-F9E51ECE1A9D}"/>
              </a:ext>
            </a:extLst>
          </p:cNvPr>
          <p:cNvSpPr/>
          <p:nvPr/>
        </p:nvSpPr>
        <p:spPr>
          <a:xfrm>
            <a:off x="5050820" y="608201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5" name="자유형: 도형 104">
            <a:extLst>
              <a:ext uri="{FF2B5EF4-FFF2-40B4-BE49-F238E27FC236}">
                <a16:creationId xmlns:a16="http://schemas.microsoft.com/office/drawing/2014/main" id="{99C88675-D335-B50F-F5B0-81105905B9A1}"/>
              </a:ext>
            </a:extLst>
          </p:cNvPr>
          <p:cNvSpPr/>
          <p:nvPr/>
        </p:nvSpPr>
        <p:spPr>
          <a:xfrm>
            <a:off x="5266189" y="5915283"/>
            <a:ext cx="1548001" cy="342544"/>
          </a:xfrm>
          <a:custGeom>
            <a:avLst/>
            <a:gdLst>
              <a:gd name="connsiteX0" fmla="*/ 0 w 1548001"/>
              <a:gd name="connsiteY0" fmla="*/ 34254 h 342544"/>
              <a:gd name="connsiteX1" fmla="*/ 34254 w 1548001"/>
              <a:gd name="connsiteY1" fmla="*/ 0 h 342544"/>
              <a:gd name="connsiteX2" fmla="*/ 1513747 w 1548001"/>
              <a:gd name="connsiteY2" fmla="*/ 0 h 342544"/>
              <a:gd name="connsiteX3" fmla="*/ 1548001 w 1548001"/>
              <a:gd name="connsiteY3" fmla="*/ 34254 h 342544"/>
              <a:gd name="connsiteX4" fmla="*/ 1548001 w 1548001"/>
              <a:gd name="connsiteY4" fmla="*/ 308290 h 342544"/>
              <a:gd name="connsiteX5" fmla="*/ 1513747 w 1548001"/>
              <a:gd name="connsiteY5" fmla="*/ 342544 h 342544"/>
              <a:gd name="connsiteX6" fmla="*/ 34254 w 1548001"/>
              <a:gd name="connsiteY6" fmla="*/ 342544 h 342544"/>
              <a:gd name="connsiteX7" fmla="*/ 0 w 1548001"/>
              <a:gd name="connsiteY7" fmla="*/ 308290 h 342544"/>
              <a:gd name="connsiteX8" fmla="*/ 0 w 1548001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8001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513747" y="0"/>
                </a:lnTo>
                <a:cubicBezTo>
                  <a:pt x="1532665" y="0"/>
                  <a:pt x="1548001" y="15336"/>
                  <a:pt x="1548001" y="34254"/>
                </a:cubicBezTo>
                <a:lnTo>
                  <a:pt x="1548001" y="308290"/>
                </a:lnTo>
                <a:cubicBezTo>
                  <a:pt x="1548001" y="327208"/>
                  <a:pt x="1532665" y="342544"/>
                  <a:pt x="1513747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성별에 따른 </a:t>
            </a:r>
            <a:r>
              <a:rPr lang="en-US" altLang="ko-KR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선호도 차이</a:t>
            </a:r>
          </a:p>
        </p:txBody>
      </p:sp>
      <p:sp>
        <p:nvSpPr>
          <p:cNvPr id="106" name="자유형: 도형 105">
            <a:extLst>
              <a:ext uri="{FF2B5EF4-FFF2-40B4-BE49-F238E27FC236}">
                <a16:creationId xmlns:a16="http://schemas.microsoft.com/office/drawing/2014/main" id="{E4DE1457-9FAD-88EE-C7E5-F93026131C99}"/>
              </a:ext>
            </a:extLst>
          </p:cNvPr>
          <p:cNvSpPr/>
          <p:nvPr/>
        </p:nvSpPr>
        <p:spPr>
          <a:xfrm>
            <a:off x="6814190" y="608201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7" name="자유형: 도형 106">
            <a:extLst>
              <a:ext uri="{FF2B5EF4-FFF2-40B4-BE49-F238E27FC236}">
                <a16:creationId xmlns:a16="http://schemas.microsoft.com/office/drawing/2014/main" id="{635782C2-303E-D8D9-96B7-D5B102E2B399}"/>
              </a:ext>
            </a:extLst>
          </p:cNvPr>
          <p:cNvSpPr/>
          <p:nvPr/>
        </p:nvSpPr>
        <p:spPr>
          <a:xfrm>
            <a:off x="7029559" y="5915283"/>
            <a:ext cx="2556002" cy="342544"/>
          </a:xfrm>
          <a:custGeom>
            <a:avLst/>
            <a:gdLst>
              <a:gd name="connsiteX0" fmla="*/ 0 w 2556002"/>
              <a:gd name="connsiteY0" fmla="*/ 34254 h 342544"/>
              <a:gd name="connsiteX1" fmla="*/ 34254 w 2556002"/>
              <a:gd name="connsiteY1" fmla="*/ 0 h 342544"/>
              <a:gd name="connsiteX2" fmla="*/ 2521748 w 2556002"/>
              <a:gd name="connsiteY2" fmla="*/ 0 h 342544"/>
              <a:gd name="connsiteX3" fmla="*/ 2556002 w 2556002"/>
              <a:gd name="connsiteY3" fmla="*/ 34254 h 342544"/>
              <a:gd name="connsiteX4" fmla="*/ 2556002 w 2556002"/>
              <a:gd name="connsiteY4" fmla="*/ 308290 h 342544"/>
              <a:gd name="connsiteX5" fmla="*/ 2521748 w 2556002"/>
              <a:gd name="connsiteY5" fmla="*/ 342544 h 342544"/>
              <a:gd name="connsiteX6" fmla="*/ 34254 w 2556002"/>
              <a:gd name="connsiteY6" fmla="*/ 342544 h 342544"/>
              <a:gd name="connsiteX7" fmla="*/ 0 w 2556002"/>
              <a:gd name="connsiteY7" fmla="*/ 308290 h 342544"/>
              <a:gd name="connsiteX8" fmla="*/ 0 w 2556002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002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2521748" y="0"/>
                </a:lnTo>
                <a:cubicBezTo>
                  <a:pt x="2540666" y="0"/>
                  <a:pt x="2556002" y="15336"/>
                  <a:pt x="2556002" y="34254"/>
                </a:cubicBezTo>
                <a:lnTo>
                  <a:pt x="2556002" y="308290"/>
                </a:lnTo>
                <a:cubicBezTo>
                  <a:pt x="2556002" y="327208"/>
                  <a:pt x="2540666" y="342544"/>
                  <a:pt x="2521748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특정 성별 집단에서 특정 오퍼 유형에 대한 수용도 저하</a:t>
            </a:r>
          </a:p>
        </p:txBody>
      </p:sp>
      <p:sp>
        <p:nvSpPr>
          <p:cNvPr id="108" name="자유형: 도형 107">
            <a:extLst>
              <a:ext uri="{FF2B5EF4-FFF2-40B4-BE49-F238E27FC236}">
                <a16:creationId xmlns:a16="http://schemas.microsoft.com/office/drawing/2014/main" id="{0DC44A62-FFF7-E91F-B421-5A6E01A04645}"/>
              </a:ext>
            </a:extLst>
          </p:cNvPr>
          <p:cNvSpPr/>
          <p:nvPr/>
        </p:nvSpPr>
        <p:spPr>
          <a:xfrm>
            <a:off x="9585561" y="6082011"/>
            <a:ext cx="215368" cy="9087"/>
          </a:xfrm>
          <a:custGeom>
            <a:avLst/>
            <a:gdLst>
              <a:gd name="connsiteX0" fmla="*/ 0 w 10000"/>
              <a:gd name="connsiteY0" fmla="*/ 4999 h 10000"/>
              <a:gd name="connsiteX1" fmla="*/ 10000 w 10000"/>
              <a:gd name="connsiteY1" fmla="*/ 499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4999"/>
                </a:moveTo>
                <a:lnTo>
                  <a:pt x="10000" y="499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5000" tIns="-840" rIns="115000" bIns="-841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800" b="1" kern="1200">
              <a:solidFill>
                <a:sysClr val="windowText" lastClr="0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09" name="자유형: 도형 108">
            <a:extLst>
              <a:ext uri="{FF2B5EF4-FFF2-40B4-BE49-F238E27FC236}">
                <a16:creationId xmlns:a16="http://schemas.microsoft.com/office/drawing/2014/main" id="{F5843532-5F80-29C2-20DE-6061BB8C8205}"/>
              </a:ext>
            </a:extLst>
          </p:cNvPr>
          <p:cNvSpPr/>
          <p:nvPr/>
        </p:nvSpPr>
        <p:spPr>
          <a:xfrm>
            <a:off x="9800930" y="5915283"/>
            <a:ext cx="1440537" cy="342544"/>
          </a:xfrm>
          <a:custGeom>
            <a:avLst/>
            <a:gdLst>
              <a:gd name="connsiteX0" fmla="*/ 0 w 1440537"/>
              <a:gd name="connsiteY0" fmla="*/ 34254 h 342544"/>
              <a:gd name="connsiteX1" fmla="*/ 34254 w 1440537"/>
              <a:gd name="connsiteY1" fmla="*/ 0 h 342544"/>
              <a:gd name="connsiteX2" fmla="*/ 1406283 w 1440537"/>
              <a:gd name="connsiteY2" fmla="*/ 0 h 342544"/>
              <a:gd name="connsiteX3" fmla="*/ 1440537 w 1440537"/>
              <a:gd name="connsiteY3" fmla="*/ 34254 h 342544"/>
              <a:gd name="connsiteX4" fmla="*/ 1440537 w 1440537"/>
              <a:gd name="connsiteY4" fmla="*/ 308290 h 342544"/>
              <a:gd name="connsiteX5" fmla="*/ 1406283 w 1440537"/>
              <a:gd name="connsiteY5" fmla="*/ 342544 h 342544"/>
              <a:gd name="connsiteX6" fmla="*/ 34254 w 1440537"/>
              <a:gd name="connsiteY6" fmla="*/ 342544 h 342544"/>
              <a:gd name="connsiteX7" fmla="*/ 0 w 1440537"/>
              <a:gd name="connsiteY7" fmla="*/ 308290 h 342544"/>
              <a:gd name="connsiteX8" fmla="*/ 0 w 1440537"/>
              <a:gd name="connsiteY8" fmla="*/ 34254 h 342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0537" h="342544">
                <a:moveTo>
                  <a:pt x="0" y="34254"/>
                </a:moveTo>
                <a:cubicBezTo>
                  <a:pt x="0" y="15336"/>
                  <a:pt x="15336" y="0"/>
                  <a:pt x="34254" y="0"/>
                </a:cubicBezTo>
                <a:lnTo>
                  <a:pt x="1406283" y="0"/>
                </a:lnTo>
                <a:cubicBezTo>
                  <a:pt x="1425201" y="0"/>
                  <a:pt x="1440537" y="15336"/>
                  <a:pt x="1440537" y="34254"/>
                </a:cubicBezTo>
                <a:lnTo>
                  <a:pt x="1440537" y="308290"/>
                </a:lnTo>
                <a:cubicBezTo>
                  <a:pt x="1440537" y="327208"/>
                  <a:pt x="1425201" y="342544"/>
                  <a:pt x="1406283" y="342544"/>
                </a:cubicBezTo>
                <a:lnTo>
                  <a:pt x="34254" y="342544"/>
                </a:lnTo>
                <a:cubicBezTo>
                  <a:pt x="15336" y="342544"/>
                  <a:pt x="0" y="327208"/>
                  <a:pt x="0" y="308290"/>
                </a:cubicBezTo>
                <a:lnTo>
                  <a:pt x="0" y="3425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1B8A6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13" tIns="15113" rIns="15113" bIns="15113" numCol="1" spcCol="1270" anchor="ctr" anchorCtr="0">
            <a:noAutofit/>
          </a:bodyPr>
          <a:lstStyle/>
          <a:p>
            <a:pPr marL="0" lvl="0" indent="0" algn="ctr" defTabSz="355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800" b="1" kern="120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카이제곱 검정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29081F-B5A7-78C1-D182-B318CA49F1A1}"/>
              </a:ext>
            </a:extLst>
          </p:cNvPr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04.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: </a:t>
            </a:r>
            <a:r>
              <a:rPr lang="ko-KR" altLang="en-US" sz="2600" b="1" i="0" dirty="0">
                <a:solidFill>
                  <a:srgbClr val="006241"/>
                </a:solidFill>
                <a:latin typeface="Noto Sans KR"/>
              </a:rPr>
              <a:t>로직 트리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2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37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5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①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구매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동기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수용성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204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 dirty="0">
                <a:solidFill>
                  <a:srgbClr val="CBA258"/>
                </a:solidFill>
                <a:latin typeface="Noto Sans KR"/>
              </a:rPr>
              <a:t>Motivation &amp; 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686388"/>
              </p:ext>
            </p:extLst>
          </p:nvPr>
        </p:nvGraphicFramePr>
        <p:xfrm>
          <a:off x="502920" y="137160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7091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663440"/>
            <a:ext cx="4480560" cy="385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 dirty="0">
                <a:latin typeface="Noto Sans KR"/>
              </a:rPr>
              <a:t>reward </a:t>
            </a:r>
            <a:r>
              <a:rPr sz="1050" b="0" i="0" dirty="0" err="1">
                <a:latin typeface="Noto Sans KR"/>
              </a:rPr>
              <a:t>계수</a:t>
            </a:r>
            <a:r>
              <a:rPr sz="1050" b="0" i="0" dirty="0">
                <a:latin typeface="Noto Sans KR"/>
              </a:rPr>
              <a:t> -0.110, p&lt;.001로 </a:t>
            </a:r>
            <a:r>
              <a:rPr sz="1050" b="0" i="0" dirty="0" err="1">
                <a:latin typeface="Noto Sans KR"/>
              </a:rPr>
              <a:t>통계적으로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매우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유의하지만</a:t>
            </a:r>
            <a:r>
              <a:rPr sz="1050" b="0" i="0" dirty="0">
                <a:latin typeface="Noto Sans KR"/>
              </a:rPr>
              <a:t>,</a:t>
            </a:r>
            <a:endParaRPr lang="en-US" sz="1050" b="0" i="0" dirty="0">
              <a:latin typeface="Noto Sans KR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 dirty="0" err="1">
                <a:latin typeface="Noto Sans KR"/>
              </a:rPr>
              <a:t>reward가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offer_</a:t>
            </a:r>
            <a:r>
              <a:rPr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type과</a:t>
            </a:r>
            <a:r>
              <a:rPr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 세트로 묶여 있어 실제</a:t>
            </a:r>
            <a:r>
              <a:rPr sz="1050" b="0" i="0" dirty="0">
                <a:latin typeface="Noto Sans KR"/>
              </a:rPr>
              <a:t> reward </a:t>
            </a:r>
            <a:r>
              <a:rPr sz="1050" b="0" i="0" dirty="0" err="1">
                <a:latin typeface="Noto Sans KR"/>
              </a:rPr>
              <a:t>효과인지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분리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불가</a:t>
            </a:r>
            <a:endParaRPr sz="1050" b="0" i="0" dirty="0">
              <a:latin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7960" y="1371600"/>
            <a:ext cx="56235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오퍼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유형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격차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(BOGO vs Discount)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완료율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BOGO 43.8%  vs  Discount 58.7% — 약 15%p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차이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reward·difficulty·duration</a:t>
            </a:r>
            <a:r>
              <a:rPr sz="1150" dirty="0">
                <a:solidFill>
                  <a:srgbClr val="212121"/>
                </a:solidFill>
                <a:latin typeface="Noto Sans KR"/>
              </a:rPr>
              <a:t> 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보정</a:t>
            </a:r>
            <a:r>
              <a:rPr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dirty="0" err="1">
                <a:solidFill>
                  <a:srgbClr val="212121"/>
                </a:solidFill>
                <a:latin typeface="Noto Sans KR"/>
              </a:rPr>
              <a:t>후에도</a:t>
            </a:r>
            <a:r>
              <a:rPr sz="11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offer_type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고유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유의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하게 남음</a:t>
            </a:r>
            <a:endParaRPr lang="en-US" sz="115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(원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격차의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약 55%는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변수로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설명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14813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BA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부분지지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108960"/>
            <a:ext cx="5623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구매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관성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기존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결제·메뉴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패턴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고착화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가설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—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메뉴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상품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 </a:t>
            </a:r>
            <a:r>
              <a:rPr lang="ko-KR" altLang="en-US" sz="115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수집으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불가</a:t>
            </a:r>
            <a:endParaRPr sz="1150" b="0" i="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0" y="32186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검증불가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480560"/>
            <a:ext cx="5623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호감도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불일치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개인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선호와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오퍼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불일치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가설</a:t>
            </a:r>
            <a:endParaRPr lang="en-US" sz="115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선호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메뉴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데이터가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없어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검증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불가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,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후속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데이터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수집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필요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72800" y="45902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검증불가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155680" cy="196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dirty="0">
                <a:solidFill>
                  <a:srgbClr val="006241"/>
                </a:solidFill>
                <a:latin typeface="Noto Sans KR"/>
              </a:rPr>
              <a:t>Take-away </a:t>
            </a:r>
            <a:r>
              <a:rPr lang="ko-KR" altLang="en-US" sz="12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lang="en-US" altLang="ko-KR" sz="1250" dirty="0">
                <a:solidFill>
                  <a:srgbClr val="212121"/>
                </a:solidFill>
                <a:latin typeface="Noto Sans KR"/>
              </a:rPr>
              <a:t>Reward</a:t>
            </a:r>
            <a:r>
              <a:rPr lang="ko-KR" altLang="en-US"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금액을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일괄적으로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높이지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않는다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·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동일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lang="en-US" sz="1250" dirty="0">
                <a:solidFill>
                  <a:srgbClr val="212121"/>
                </a:solidFill>
                <a:latin typeface="Noto Sans KR"/>
              </a:rPr>
              <a:t>offer </a:t>
            </a:r>
            <a:r>
              <a:rPr lang="en-US" sz="1250" dirty="0" err="1">
                <a:solidFill>
                  <a:srgbClr val="212121"/>
                </a:solidFill>
                <a:latin typeface="Noto Sans KR"/>
              </a:rPr>
              <a:t>type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·</a:t>
            </a:r>
            <a:r>
              <a:rPr lang="en-US" sz="1250" dirty="0" err="1">
                <a:solidFill>
                  <a:srgbClr val="212121"/>
                </a:solidFill>
                <a:latin typeface="Noto Sans KR"/>
              </a:rPr>
              <a:t>difficulty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·</a:t>
            </a:r>
            <a:r>
              <a:rPr lang="en-US" sz="1250" dirty="0" err="1">
                <a:solidFill>
                  <a:srgbClr val="212121"/>
                </a:solidFill>
                <a:latin typeface="Noto Sans KR"/>
              </a:rPr>
              <a:t>duration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에서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lang="en-US" sz="1250" dirty="0" err="1">
                <a:solidFill>
                  <a:srgbClr val="212121"/>
                </a:solidFill>
                <a:latin typeface="Noto Sans KR"/>
              </a:rPr>
              <a:t>reward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만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다르게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하는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A/B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테스트를</a:t>
            </a:r>
            <a:r>
              <a:rPr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lang="ko-KR" altLang="en-US" sz="1250" dirty="0">
                <a:solidFill>
                  <a:srgbClr val="212121"/>
                </a:solidFill>
                <a:latin typeface="Noto Sans KR"/>
              </a:rPr>
              <a:t>추후 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설계</a:t>
            </a:r>
            <a:r>
              <a:rPr lang="en-US" sz="1250" dirty="0">
                <a:solidFill>
                  <a:srgbClr val="212121"/>
                </a:solidFill>
                <a:latin typeface="Noto Sans KR"/>
              </a:rPr>
              <a:t> </a:t>
            </a:r>
            <a:r>
              <a:rPr lang="ko-KR" altLang="en-US" sz="1250" dirty="0">
                <a:solidFill>
                  <a:srgbClr val="212121"/>
                </a:solidFill>
                <a:latin typeface="Noto Sans KR"/>
              </a:rPr>
              <a:t>후 검증</a:t>
            </a:r>
            <a:r>
              <a:rPr sz="1250" dirty="0" err="1">
                <a:solidFill>
                  <a:srgbClr val="212121"/>
                </a:solidFill>
                <a:latin typeface="Noto Sans KR"/>
              </a:rPr>
              <a:t>한다</a:t>
            </a:r>
            <a:r>
              <a:rPr lang="en-US" sz="1250" dirty="0">
                <a:solidFill>
                  <a:srgbClr val="212121"/>
                </a:solidFill>
                <a:latin typeface="Noto Sans KR"/>
              </a:rPr>
              <a:t>.</a:t>
            </a:r>
            <a:endParaRPr sz="125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6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6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②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인지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접촉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제약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204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>
                <a:solidFill>
                  <a:srgbClr val="CBA258"/>
                </a:solidFill>
                <a:latin typeface="Noto Sans KR"/>
              </a:rPr>
              <a:t>Awareness &amp; Reach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77799"/>
              </p:ext>
            </p:extLst>
          </p:nvPr>
        </p:nvGraphicFramePr>
        <p:xfrm>
          <a:off x="502920" y="137160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617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보류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572000"/>
            <a:ext cx="4480560" cy="385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가설</a:t>
            </a:r>
            <a:r>
              <a:rPr 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기준으로 각 </a:t>
            </a:r>
            <a:r>
              <a:rPr lang="en-US" altLang="ko-KR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channel</a:t>
            </a:r>
            <a:r>
              <a:rPr lang="ko-KR" alt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별 대조할 수 있는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조합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</a:t>
            </a:r>
            <a:r>
              <a:rPr 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한정적이며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표본</a:t>
            </a:r>
            <a:r>
              <a:rPr 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작아</a:t>
            </a:r>
            <a:r>
              <a:rPr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정식</a:t>
            </a:r>
            <a:r>
              <a:rPr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검증은</a:t>
            </a:r>
            <a:r>
              <a:rPr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어려움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sz="1050" b="0" i="0" dirty="0" err="1">
                <a:latin typeface="Noto Sans KR"/>
              </a:rPr>
              <a:t>참고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관찰로는</a:t>
            </a:r>
            <a:r>
              <a:rPr sz="1050" b="0" i="0" dirty="0">
                <a:latin typeface="Noto Sans KR"/>
              </a:rPr>
              <a:t> </a:t>
            </a:r>
            <a:r>
              <a:rPr lang="ko-KR" alt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가설과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일치</a:t>
            </a:r>
            <a:r>
              <a:rPr lang="en-US" sz="1050" b="0" i="0" dirty="0">
                <a:latin typeface="Noto Sans KR"/>
              </a:rPr>
              <a:t>)</a:t>
            </a:r>
            <a:endParaRPr sz="1050" b="0" i="0" dirty="0">
              <a:latin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7960" y="13716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유효기간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(Duration)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“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기간이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짧아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인지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전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마감된다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”</a:t>
            </a:r>
            <a:endParaRPr lang="en-US" sz="1150" b="0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방향이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가설과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반대이고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패턴이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비선형적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duration이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type 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마다 고유하여 </a:t>
            </a:r>
            <a:r>
              <a:rPr lang="ko-KR" altLang="en-US"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차이가 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 때문인지는 설명 어려움</a:t>
            </a:r>
            <a:r>
              <a:rPr lang="en-US" altLang="ko-KR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sz="1150" b="0" i="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0" y="14813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718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노출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반복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피로도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누적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수신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횟수와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반응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사이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상관은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유의하나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크기가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무시할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수준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(r²&lt;0.001)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5회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이상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구간의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완료율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하락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(53%→43%대)은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표본이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작아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(n=3,067)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참고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관찰로만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유지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0" y="30815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572000"/>
            <a:ext cx="5623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알림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해제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고객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전체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고객의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알림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해제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비율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관련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미수집으로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검증불가 후속 데이터 수집 필요</a:t>
            </a:r>
            <a:endParaRPr sz="1150" b="0" i="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72800" y="46817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검증불가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15568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dirty="0">
                <a:solidFill>
                  <a:srgbClr val="006241"/>
                </a:solidFill>
                <a:latin typeface="Noto Sans KR"/>
              </a:rPr>
              <a:t>Take-away 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유효기간을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일괄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연장하지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않는다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·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후 24시간 </a:t>
            </a:r>
            <a:r>
              <a:rPr lang="ko-KR" altLang="en-US"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이후의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타이밍과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메시지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구성</a:t>
            </a:r>
            <a:r>
              <a:rPr sz="12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/>
              </a:rPr>
              <a:t>개선</a:t>
            </a:r>
            <a:r>
              <a:rPr lang="ko-KR" altLang="en-US"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필요</a:t>
            </a:r>
            <a:r>
              <a:rPr lang="en-US"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sz="1250" b="0" i="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7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137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7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원인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분해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③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달성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난이도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부담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204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>
                <a:solidFill>
                  <a:srgbClr val="CBA258"/>
                </a:solidFill>
                <a:latin typeface="Noto Sans KR"/>
              </a:rPr>
              <a:t>Barrier &amp; Difficulty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181989"/>
              </p:ext>
            </p:extLst>
          </p:nvPr>
        </p:nvGraphicFramePr>
        <p:xfrm>
          <a:off x="502920" y="137160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617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572000"/>
            <a:ext cx="4480560" cy="587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 dirty="0" err="1">
                <a:latin typeface="Noto Sans KR"/>
              </a:rPr>
              <a:t>통제모델</a:t>
            </a:r>
            <a:r>
              <a:rPr sz="1050" b="0" i="0" dirty="0">
                <a:latin typeface="Noto Sans KR"/>
              </a:rPr>
              <a:t> </a:t>
            </a:r>
            <a:r>
              <a:rPr sz="1050" b="0" i="0" dirty="0" err="1">
                <a:latin typeface="Noto Sans KR"/>
              </a:rPr>
              <a:t>계수</a:t>
            </a:r>
            <a:r>
              <a:rPr sz="1050" b="0" i="0" dirty="0">
                <a:latin typeface="Noto Sans KR"/>
              </a:rPr>
              <a:t> -0.0444, p&lt;.001</a:t>
            </a:r>
            <a:endParaRPr lang="en-US" sz="1050" b="0" i="0" dirty="0">
              <a:latin typeface="Noto Sans KR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 dirty="0" err="1">
                <a:latin typeface="Noto Sans KR"/>
              </a:rPr>
              <a:t>단순모델</a:t>
            </a:r>
            <a:r>
              <a:rPr sz="1050" b="0" i="0" dirty="0">
                <a:latin typeface="Noto Sans KR"/>
              </a:rPr>
              <a:t>(-0.0128)</a:t>
            </a:r>
            <a:r>
              <a:rPr sz="1050" b="0" i="0" dirty="0" err="1">
                <a:latin typeface="Noto Sans KR"/>
              </a:rPr>
              <a:t>보다</a:t>
            </a:r>
            <a:r>
              <a:rPr sz="1050" b="0" i="0" dirty="0">
                <a:latin typeface="Noto Sans KR"/>
              </a:rPr>
              <a:t> 약 3.5배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커져</a:t>
            </a:r>
            <a:r>
              <a:rPr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offer_type</a:t>
            </a:r>
            <a:r>
              <a:rPr lang="ko-KR" alt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영향으로 </a:t>
            </a:r>
            <a:r>
              <a:rPr sz="1050" b="0" i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lang="ko-KR" altLang="en-US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드러나지 않음</a:t>
            </a:r>
            <a:r>
              <a:rPr lang="en-US" altLang="ko-KR" sz="1050" b="0" i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sz="1050" b="0" i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37960" y="13716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>
                <a:solidFill>
                  <a:srgbClr val="006241"/>
                </a:solidFill>
                <a:latin typeface="Noto Sans KR"/>
              </a:rPr>
              <a:t>BOGO 등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수량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중심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부담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offer_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type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영향이 있으며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강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도가 강하고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일관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됨</a:t>
            </a:r>
            <a:endParaRPr lang="en-US" sz="115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원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격차의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약 55%는 reward/difficulty/duration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차이로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설명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통제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후에도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유의한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고유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효과가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남아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“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수량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부담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가설을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완전히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배제할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없음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0" y="14813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BA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부분지지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7180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소득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대비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난이도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부담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income × difficulty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상호작용은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유의하지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않음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단,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income의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단순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주효과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소득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↑→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완료율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↑, p&lt;.001)는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별도로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유의</a:t>
            </a:r>
            <a:endParaRPr lang="en-US" sz="115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0" y="30815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572000"/>
            <a:ext cx="5623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/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해석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주의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difficulty는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4개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값뿐인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offer-level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변수라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원자료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완료율이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비단조적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(n=25,302)</a:t>
            </a:r>
            <a:endParaRPr lang="en-US" sz="1150" b="0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구간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세밀하게 나누어 어느 지점부터 효과가 달라지는지 확인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</a:t>
            </a:r>
            <a:endParaRPr sz="1150" b="0" i="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11155680" cy="196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 dirty="0">
                <a:solidFill>
                  <a:srgbClr val="006241"/>
                </a:solidFill>
                <a:latin typeface="Noto Sans KR"/>
              </a:rPr>
              <a:t>Take-away  </a:t>
            </a:r>
            <a:r>
              <a:rPr lang="en-US" altLang="ko-KR"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Difficulty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일괄로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낮추기보다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완료율이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급격히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하락하는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구간을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먼저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찾는다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</a:t>
            </a:r>
            <a:r>
              <a:rPr lang="ko-KR" altLang="en-US"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매출·</a:t>
            </a:r>
            <a:r>
              <a:rPr lang="en-US" sz="125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</a:t>
            </a:r>
            <a:r>
              <a:rPr lang="en-US" sz="12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비용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함께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적정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목표금액을</a:t>
            </a:r>
            <a:r>
              <a:rPr sz="12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결정한다</a:t>
            </a:r>
            <a:endParaRPr sz="1250" b="0" i="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8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8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세그먼트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인사이트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: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성별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·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소득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·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연령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972800" cy="189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1" dirty="0">
                <a:latin typeface="Noto Sans KR"/>
              </a:rPr>
              <a:t>Profile </a:t>
            </a:r>
            <a:r>
              <a:rPr sz="1200" b="0" i="1" dirty="0" err="1">
                <a:latin typeface="Noto Sans KR"/>
              </a:rPr>
              <a:t>효과는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오퍼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설계와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무관하게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독립적으로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존재</a:t>
            </a:r>
            <a:r>
              <a:rPr sz="1200" b="0" i="1" dirty="0">
                <a:latin typeface="Noto Sans KR"/>
              </a:rPr>
              <a:t> — </a:t>
            </a:r>
            <a:r>
              <a:rPr sz="1200" b="0" i="1" dirty="0" err="1">
                <a:latin typeface="Noto Sans KR"/>
              </a:rPr>
              <a:t>그중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성별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효과가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가장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크고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견고함</a:t>
            </a:r>
            <a:r>
              <a:rPr sz="1200" b="0" i="1" dirty="0">
                <a:latin typeface="Noto Sans KR"/>
              </a:rPr>
              <a:t> (</a:t>
            </a:r>
            <a:r>
              <a:rPr sz="1200" b="0" i="1" dirty="0" err="1">
                <a:latin typeface="Noto Sans KR"/>
              </a:rPr>
              <a:t>통합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로지스틱</a:t>
            </a:r>
            <a:r>
              <a:rPr sz="1200" b="0" i="1" dirty="0">
                <a:latin typeface="Noto Sans KR"/>
              </a:rPr>
              <a:t> </a:t>
            </a:r>
            <a:r>
              <a:rPr sz="1200" b="0" i="1" dirty="0" err="1">
                <a:latin typeface="Noto Sans KR"/>
              </a:rPr>
              <a:t>회귀</a:t>
            </a:r>
            <a:r>
              <a:rPr sz="1200" b="0" i="1" dirty="0">
                <a:latin typeface="Noto Sans KR"/>
              </a:rPr>
              <a:t>, N=39,646)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700" b="1" i="0" dirty="0" err="1">
                <a:solidFill>
                  <a:srgbClr val="006241"/>
                </a:solidFill>
                <a:latin typeface="Noto Sans KR"/>
              </a:rPr>
              <a:t>성별</a:t>
            </a:r>
            <a:endParaRPr sz="1700" b="1" i="0" dirty="0">
              <a:solidFill>
                <a:srgbClr val="006241"/>
              </a:solidFill>
              <a:latin typeface="Noto Sans KR"/>
            </a:endParaRPr>
          </a:p>
          <a:p>
            <a:pPr algn="ctr">
              <a:spcAft>
                <a:spcPts val="1200"/>
              </a:spcAft>
            </a:pP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남성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× BOGO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수용도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저하</a:t>
            </a:r>
            <a:endParaRPr sz="1150" b="1" i="1" dirty="0">
              <a:solidFill>
                <a:srgbClr val="CBA258"/>
              </a:solidFill>
              <a:latin typeface="Noto Sans KR"/>
            </a:endParaRPr>
          </a:p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여성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대비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남성의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완료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오즈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약 31%p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낮음</a:t>
            </a:r>
            <a:endParaRPr lang="en-US" sz="1100" dirty="0">
              <a:solidFill>
                <a:srgbClr val="212121"/>
              </a:solidFill>
              <a:latin typeface="Noto Sans KR"/>
            </a:endParaRPr>
          </a:p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오즈비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0.688)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남성×BOGO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조합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완료율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42.4%</a:t>
            </a:r>
            <a:endParaRPr lang="en-US" sz="1100" b="0" i="0" dirty="0">
              <a:solidFill>
                <a:srgbClr val="212121"/>
              </a:solidFill>
              <a:latin typeface="Noto Sans KR"/>
            </a:endParaRPr>
          </a:p>
          <a:p>
            <a:pPr algn="l">
              <a:lnSpc>
                <a:spcPct val="115000"/>
              </a:lnSpc>
            </a:pP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전체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조합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중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최저</a:t>
            </a:r>
            <a:endParaRPr sz="1100" b="0" i="0" dirty="0">
              <a:solidFill>
                <a:srgbClr val="212121"/>
              </a:solidFill>
              <a:latin typeface="Noto Sans KR"/>
            </a:endParaRP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연관성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강도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남성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(V≈0.191)이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여성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(V≈0.108)의 약 1.8배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지지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700" b="1" i="0" dirty="0" err="1">
                <a:solidFill>
                  <a:srgbClr val="006241"/>
                </a:solidFill>
                <a:latin typeface="Noto Sans KR"/>
              </a:rPr>
              <a:t>소득</a:t>
            </a:r>
            <a:endParaRPr sz="1700" b="1" i="0" dirty="0">
              <a:solidFill>
                <a:srgbClr val="006241"/>
              </a:solidFill>
              <a:latin typeface="Noto Sans KR"/>
            </a:endParaRPr>
          </a:p>
          <a:p>
            <a:pPr algn="ctr">
              <a:spcAft>
                <a:spcPts val="1200"/>
              </a:spcAft>
            </a:pP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저소득일수록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보상에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민감</a:t>
            </a:r>
            <a:endParaRPr sz="1150" b="1" i="1" dirty="0">
              <a:solidFill>
                <a:srgbClr val="CBA258"/>
              </a:solidFill>
              <a:latin typeface="Noto Sans KR"/>
            </a:endParaRPr>
          </a:p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소득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1만불↑당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완료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오즈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약 14%↑</a:t>
            </a:r>
            <a:endParaRPr lang="en-US" sz="1100" b="0" i="0" dirty="0">
              <a:solidFill>
                <a:srgbClr val="212121"/>
              </a:solidFill>
              <a:latin typeface="Noto Sans KR"/>
            </a:endParaRPr>
          </a:p>
          <a:p>
            <a:pPr algn="l">
              <a:lnSpc>
                <a:spcPct val="115000"/>
              </a:lnSpc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오즈비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1.139)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reward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민감도</a:t>
            </a:r>
            <a:endParaRPr lang="en-US" sz="1100" dirty="0">
              <a:solidFill>
                <a:srgbClr val="212121"/>
              </a:solidFill>
              <a:latin typeface="Noto Sans KR"/>
            </a:endParaRPr>
          </a:p>
          <a:p>
            <a:pPr algn="l">
              <a:lnSpc>
                <a:spcPct val="115000"/>
              </a:lnSpc>
            </a:pP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저소득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완료율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스프레드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33.5%p vs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고소득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7.7%p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소득×difficulty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상호작용은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유의하지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않음</a:t>
            </a:r>
            <a:endParaRPr sz="1100" b="0" i="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82512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지지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4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34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t"/>
          <a:lstStyle/>
          <a:p>
            <a:pPr algn="ctr">
              <a:spcAft>
                <a:spcPts val="200"/>
              </a:spcAft>
            </a:pPr>
            <a:r>
              <a:rPr sz="1700" b="1" i="0" dirty="0" err="1">
                <a:solidFill>
                  <a:srgbClr val="A3402E"/>
                </a:solidFill>
                <a:latin typeface="Noto Sans KR"/>
              </a:rPr>
              <a:t>연령</a:t>
            </a:r>
            <a:endParaRPr sz="1700" b="1" i="0" dirty="0">
              <a:solidFill>
                <a:srgbClr val="A3402E"/>
              </a:solidFill>
              <a:latin typeface="Noto Sans KR"/>
            </a:endParaRPr>
          </a:p>
          <a:p>
            <a:pPr algn="ctr">
              <a:spcAft>
                <a:spcPts val="1200"/>
              </a:spcAft>
            </a:pP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고령층이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아닌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청년층이</a:t>
            </a:r>
            <a:r>
              <a:rPr sz="1150" b="1" i="1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150" b="1" i="1" dirty="0" err="1">
                <a:solidFill>
                  <a:srgbClr val="CBA258"/>
                </a:solidFill>
                <a:latin typeface="Noto Sans KR"/>
              </a:rPr>
              <a:t>약점</a:t>
            </a:r>
            <a:endParaRPr sz="1150" b="1" i="1" dirty="0">
              <a:solidFill>
                <a:srgbClr val="CBA258"/>
              </a:solidFill>
              <a:latin typeface="Noto Sans KR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dirty="0">
                <a:solidFill>
                  <a:srgbClr val="212121"/>
                </a:solidFill>
                <a:latin typeface="Noto Sans KR"/>
              </a:rPr>
              <a:t>•  “</a:t>
            </a:r>
            <a:r>
              <a:rPr sz="1100" dirty="0" err="1">
                <a:solidFill>
                  <a:srgbClr val="212121"/>
                </a:solidFill>
                <a:latin typeface="Noto Sans KR"/>
              </a:rPr>
              <a:t>고령층</a:t>
            </a:r>
            <a:r>
              <a:rPr sz="110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dirty="0" err="1">
                <a:solidFill>
                  <a:srgbClr val="212121"/>
                </a:solidFill>
                <a:latin typeface="Noto Sans KR"/>
              </a:rPr>
              <a:t>수신율</a:t>
            </a:r>
            <a:r>
              <a:rPr sz="110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dirty="0" err="1">
                <a:solidFill>
                  <a:srgbClr val="212121"/>
                </a:solidFill>
                <a:latin typeface="Noto Sans KR"/>
              </a:rPr>
              <a:t>저하</a:t>
            </a:r>
            <a:r>
              <a:rPr sz="1100" dirty="0">
                <a:solidFill>
                  <a:srgbClr val="212121"/>
                </a:solidFill>
                <a:latin typeface="Noto Sans KR"/>
              </a:rPr>
              <a:t>” </a:t>
            </a:r>
            <a:r>
              <a:rPr sz="1100" dirty="0" err="1">
                <a:solidFill>
                  <a:srgbClr val="212121"/>
                </a:solidFill>
                <a:latin typeface="Noto Sans KR"/>
              </a:rPr>
              <a:t>가설은</a:t>
            </a:r>
            <a:r>
              <a:rPr sz="110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dirty="0" err="1">
                <a:solidFill>
                  <a:srgbClr val="212121"/>
                </a:solidFill>
                <a:latin typeface="Noto Sans KR"/>
              </a:rPr>
              <a:t>기각</a:t>
            </a:r>
            <a:endParaRPr lang="en-US" sz="110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dirty="0" err="1">
                <a:solidFill>
                  <a:srgbClr val="212121"/>
                </a:solidFill>
                <a:latin typeface="Noto Sans KR"/>
              </a:rPr>
              <a:t>실제</a:t>
            </a:r>
            <a:r>
              <a:rPr sz="110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dirty="0" err="1">
                <a:solidFill>
                  <a:srgbClr val="212121"/>
                </a:solidFill>
                <a:latin typeface="Noto Sans KR"/>
              </a:rPr>
              <a:t>최저는</a:t>
            </a:r>
            <a:r>
              <a:rPr sz="1100" dirty="0">
                <a:solidFill>
                  <a:srgbClr val="212121"/>
                </a:solidFill>
                <a:latin typeface="Noto Sans KR"/>
              </a:rPr>
              <a:t> 18-30세(68.0%)</a:t>
            </a:r>
          </a:p>
          <a:p>
            <a:pPr algn="l">
              <a:spcBef>
                <a:spcPts val="1200"/>
              </a:spcBef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Web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포함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시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수신율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격차</a:t>
            </a:r>
            <a:endParaRPr lang="en-US" sz="1100" dirty="0">
              <a:solidFill>
                <a:srgbClr val="212121"/>
              </a:solidFill>
              <a:latin typeface="Noto Sans KR"/>
            </a:endParaRPr>
          </a:p>
          <a:p>
            <a:pPr algn="l">
              <a:spcBef>
                <a:spcPts val="600"/>
              </a:spcBef>
            </a:pP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청년층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27.15%p(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최대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) vs 51세+ 8~11%p대</a:t>
            </a:r>
          </a:p>
          <a:p>
            <a:pPr algn="l">
              <a:spcBef>
                <a:spcPts val="1200"/>
              </a:spcBef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• 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연령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자체의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효과크기는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미미</a:t>
            </a:r>
            <a:endParaRPr lang="en-US" sz="1100" b="0" i="0" dirty="0">
              <a:solidFill>
                <a:srgbClr val="212121"/>
              </a:solidFill>
              <a:latin typeface="Noto Sans KR"/>
            </a:endParaRPr>
          </a:p>
          <a:p>
            <a:pPr algn="l">
              <a:spcBef>
                <a:spcPts val="600"/>
              </a:spcBef>
            </a:pPr>
            <a:r>
              <a:rPr sz="1100" b="0" i="0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100" b="0" i="0" dirty="0" err="1">
                <a:solidFill>
                  <a:srgbClr val="212121"/>
                </a:solidFill>
                <a:latin typeface="Noto Sans KR"/>
              </a:rPr>
              <a:t>오즈비</a:t>
            </a:r>
            <a:r>
              <a:rPr sz="1100" b="0" i="0" dirty="0">
                <a:solidFill>
                  <a:srgbClr val="212121"/>
                </a:solidFill>
                <a:latin typeface="Noto Sans KR"/>
              </a:rPr>
              <a:t> 1.002~1.003)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58984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A34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KR"/>
              </a:rPr>
              <a:t>기각→반전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8000"/>
            </a:avLst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46304" rIns="274320" bIns="146304" rtlCol="0" anchor="ctr"/>
          <a:lstStyle/>
          <a:p>
            <a:pPr algn="ctr"/>
            <a:r>
              <a:rPr sz="1400" b="1" i="0" dirty="0" err="1">
                <a:solidFill>
                  <a:srgbClr val="CBA258"/>
                </a:solidFill>
                <a:latin typeface="Noto Sans KR"/>
              </a:rPr>
              <a:t>반전</a:t>
            </a:r>
            <a:r>
              <a:rPr sz="1400" b="1" i="0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400" b="1" i="0" dirty="0" err="1">
                <a:solidFill>
                  <a:srgbClr val="CBA258"/>
                </a:solidFill>
                <a:latin typeface="Noto Sans KR"/>
              </a:rPr>
              <a:t>발견</a:t>
            </a:r>
            <a:r>
              <a:rPr sz="1400" b="1" i="0" dirty="0">
                <a:solidFill>
                  <a:srgbClr val="CBA258"/>
                </a:solidFill>
                <a:latin typeface="Noto Sans KR"/>
              </a:rPr>
              <a:t> (Counter-intuitive Finding)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1200" b="1" i="0" dirty="0">
                <a:solidFill>
                  <a:srgbClr val="FFFFFF"/>
                </a:solidFill>
                <a:latin typeface="Noto Sans KR"/>
              </a:rPr>
              <a:t>“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고령층은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모바일에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서툴러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채널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수신율이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낮을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것”이라는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lang="ko-KR" altLang="en-US" sz="1200" b="1" i="0" dirty="0">
                <a:solidFill>
                  <a:srgbClr val="FFFFFF"/>
                </a:solidFill>
                <a:latin typeface="Noto Sans KR"/>
              </a:rPr>
              <a:t>가설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과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달리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,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실제로는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청년층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(18-30세)의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채널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격차가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Noto Sans KR"/>
              </a:rPr>
              <a:t>가장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Noto Sans KR"/>
              </a:rPr>
              <a:t>큼</a:t>
            </a:r>
            <a:r>
              <a:rPr sz="1200" b="1" i="0" dirty="0">
                <a:solidFill>
                  <a:srgbClr val="FFFFFF"/>
                </a:solidFill>
                <a:latin typeface="Noto Sans KR"/>
              </a:rPr>
              <a:t>.</a:t>
            </a:r>
            <a:endParaRPr lang="en-US" altLang="en-US" sz="1200" b="1" i="0" dirty="0">
              <a:solidFill>
                <a:srgbClr val="FFFFFF"/>
              </a:solidFill>
              <a:latin typeface="Noto Sans KR"/>
            </a:endParaRP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lang="ko-KR" altLang="en-US" sz="1200" b="1" i="0" dirty="0">
                <a:solidFill>
                  <a:srgbClr val="FFFFFF"/>
                </a:solidFill>
                <a:latin typeface="Noto Sans KR"/>
              </a:rPr>
              <a:t>청년층 대상 </a:t>
            </a:r>
            <a:r>
              <a:rPr lang="en-US" altLang="ko-KR" sz="1200" b="1" i="0" dirty="0" err="1">
                <a:solidFill>
                  <a:srgbClr val="FFFFFF"/>
                </a:solidFill>
                <a:latin typeface="Noto Sans KR"/>
              </a:rPr>
              <a:t>Web·Email</a:t>
            </a:r>
            <a:r>
              <a:rPr lang="ko-KR" altLang="en-US" sz="1200" b="1" i="0" dirty="0">
                <a:solidFill>
                  <a:srgbClr val="FFFFFF"/>
                </a:solidFill>
                <a:latin typeface="Noto Sans KR"/>
              </a:rPr>
              <a:t> 발송을 </a:t>
            </a:r>
            <a:r>
              <a:rPr lang="en-US" altLang="ko-KR" sz="1200" b="1" i="0" dirty="0" err="1">
                <a:solidFill>
                  <a:srgbClr val="FFFFFF"/>
                </a:solidFill>
                <a:latin typeface="Noto Sans KR"/>
              </a:rPr>
              <a:t>Mobile·Social</a:t>
            </a:r>
            <a:r>
              <a:rPr lang="ko-KR" altLang="en-US" sz="1200" b="1" i="0" dirty="0">
                <a:solidFill>
                  <a:srgbClr val="FFFFFF"/>
                </a:solidFill>
                <a:latin typeface="Noto Sans KR"/>
              </a:rPr>
              <a:t>로 전환하는 </a:t>
            </a:r>
            <a:r>
              <a:rPr lang="ko-KR" altLang="en-US" sz="1200" b="1" i="0" dirty="0" err="1">
                <a:solidFill>
                  <a:srgbClr val="FFFFFF"/>
                </a:solidFill>
                <a:latin typeface="Noto Sans KR"/>
              </a:rPr>
              <a:t>리밸런싱을</a:t>
            </a:r>
            <a:r>
              <a:rPr lang="ko-KR" altLang="en-US" sz="1200" b="1" i="0" dirty="0">
                <a:solidFill>
                  <a:srgbClr val="FFFFFF"/>
                </a:solidFill>
                <a:latin typeface="Noto Sans KR"/>
              </a:rPr>
              <a:t> 최우선 실행 항목으로 제안</a:t>
            </a:r>
            <a:r>
              <a:rPr lang="en-US" altLang="ko-KR" sz="1200" b="1" i="0" dirty="0">
                <a:solidFill>
                  <a:srgbClr val="FFFFFF"/>
                </a:solidFill>
                <a:latin typeface="Noto Sans K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9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0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9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통계적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검증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결과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요약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97280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1" dirty="0" err="1">
                <a:solidFill>
                  <a:srgbClr val="6B6B6B"/>
                </a:solidFill>
                <a:latin typeface="Noto Sans KR"/>
              </a:rPr>
              <a:t>검증한</a:t>
            </a:r>
            <a:r>
              <a:rPr sz="1250" b="1" i="1" dirty="0">
                <a:solidFill>
                  <a:srgbClr val="6B6B6B"/>
                </a:solidFill>
                <a:latin typeface="Noto Sans KR"/>
              </a:rPr>
              <a:t> 12개 </a:t>
            </a:r>
            <a:r>
              <a:rPr sz="1250" b="1" i="1" dirty="0" err="1">
                <a:solidFill>
                  <a:srgbClr val="6B6B6B"/>
                </a:solidFill>
                <a:latin typeface="Noto Sans KR"/>
              </a:rPr>
              <a:t>가설</a:t>
            </a:r>
            <a:r>
              <a:rPr sz="1250" b="1" i="1" dirty="0">
                <a:solidFill>
                  <a:srgbClr val="6B6B6B"/>
                </a:solidFill>
                <a:latin typeface="Noto Sans KR"/>
              </a:rPr>
              <a:t> 중 </a:t>
            </a:r>
            <a:r>
              <a:rPr sz="1250" b="1" i="1" dirty="0" err="1">
                <a:solidFill>
                  <a:srgbClr val="006241"/>
                </a:solidFill>
                <a:latin typeface="Noto Sans KR"/>
              </a:rPr>
              <a:t>지지</a:t>
            </a:r>
            <a:r>
              <a:rPr sz="1250" b="1" i="1" dirty="0">
                <a:solidFill>
                  <a:srgbClr val="006241"/>
                </a:solidFill>
                <a:latin typeface="Noto Sans KR"/>
              </a:rPr>
              <a:t> 4 </a:t>
            </a:r>
            <a:r>
              <a:rPr sz="1250" b="1" i="1" dirty="0">
                <a:solidFill>
                  <a:srgbClr val="6B6B6B"/>
                </a:solidFill>
                <a:latin typeface="Noto Sans KR"/>
              </a:rPr>
              <a:t>· </a:t>
            </a:r>
            <a:r>
              <a:rPr sz="1250" b="1" i="1" dirty="0" err="1">
                <a:solidFill>
                  <a:srgbClr val="CBA258"/>
                </a:solidFill>
                <a:latin typeface="Noto Sans KR"/>
              </a:rPr>
              <a:t>부분지지</a:t>
            </a:r>
            <a:r>
              <a:rPr sz="1250" b="1" i="1" dirty="0">
                <a:solidFill>
                  <a:srgbClr val="CBA258"/>
                </a:solidFill>
                <a:latin typeface="Noto Sans KR"/>
              </a:rPr>
              <a:t> 2</a:t>
            </a:r>
            <a:r>
              <a:rPr sz="1250" b="1" i="1" dirty="0">
                <a:solidFill>
                  <a:srgbClr val="6B6B6B"/>
                </a:solidFill>
                <a:latin typeface="Noto Sans KR"/>
              </a:rPr>
              <a:t> · </a:t>
            </a:r>
            <a:r>
              <a:rPr sz="1250" b="1" i="1" dirty="0" err="1">
                <a:latin typeface="Noto Sans KR"/>
              </a:rPr>
              <a:t>보류</a:t>
            </a:r>
            <a:r>
              <a:rPr sz="1250" b="1" i="1" dirty="0">
                <a:latin typeface="Noto Sans KR"/>
              </a:rPr>
              <a:t> 2</a:t>
            </a:r>
            <a:r>
              <a:rPr sz="1250" b="1" i="1" dirty="0">
                <a:solidFill>
                  <a:srgbClr val="6B6B6B"/>
                </a:solidFill>
                <a:latin typeface="Noto Sans KR"/>
              </a:rPr>
              <a:t> · </a:t>
            </a:r>
            <a:r>
              <a:rPr sz="1250" b="1" i="1" dirty="0" err="1">
                <a:solidFill>
                  <a:srgbClr val="FF0000"/>
                </a:solidFill>
                <a:latin typeface="Noto Sans KR"/>
              </a:rPr>
              <a:t>기각</a:t>
            </a:r>
            <a:r>
              <a:rPr sz="1250" b="1" i="1" dirty="0">
                <a:solidFill>
                  <a:srgbClr val="FF0000"/>
                </a:solidFill>
                <a:latin typeface="Noto Sans KR"/>
              </a:rPr>
              <a:t>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962729"/>
              </p:ext>
            </p:extLst>
          </p:nvPr>
        </p:nvGraphicFramePr>
        <p:xfrm>
          <a:off x="502920" y="1417320"/>
          <a:ext cx="11155680" cy="4892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9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Noto Sans KR"/>
                        </a:rPr>
                        <a:t>가설</a:t>
                      </a:r>
                      <a:endParaRPr sz="1250" b="1" i="0" dirty="0">
                        <a:solidFill>
                          <a:srgbClr val="FFFFFF"/>
                        </a:solidFill>
                        <a:latin typeface="Noto Sans KR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Noto Sans KR"/>
                        </a:rPr>
                        <a:t>검증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Noto Sans KR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Noto Sans KR"/>
                        </a:rPr>
                        <a:t>방법</a:t>
                      </a:r>
                      <a:endParaRPr sz="1250" b="1" i="0" dirty="0">
                        <a:solidFill>
                          <a:srgbClr val="FFFFFF"/>
                        </a:solidFill>
                        <a:latin typeface="Noto Sans KR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2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oto Sans KR"/>
                        </a:rPr>
                        <a:t>채택 여부</a:t>
                      </a:r>
                    </a:p>
                  </a:txBody>
                  <a:tcPr marL="109728" marR="109728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소비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부담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대비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낮은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Reward(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보상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)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 + A/B 테스트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chemeClr val="tx1"/>
                          </a:solidFill>
                          <a:latin typeface="Noto Sans KR"/>
                        </a:rPr>
                        <a:t>보류</a:t>
                      </a:r>
                      <a:endParaRPr sz="1100" b="1" i="0" dirty="0">
                        <a:solidFill>
                          <a:schemeClr val="tx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Web·Email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대비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Mobile·Social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도달률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저하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212121"/>
                          </a:solidFill>
                          <a:latin typeface="Noto Sans KR"/>
                        </a:rPr>
                        <a:t>Offer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단위</a:t>
                      </a:r>
                      <a:r>
                        <a:rPr sz="1100" b="0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비교</a:t>
                      </a:r>
                      <a:endParaRPr sz="1100" b="0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chemeClr val="tx1"/>
                          </a:solidFill>
                          <a:latin typeface="Noto Sans KR"/>
                        </a:rPr>
                        <a:t>보류</a:t>
                      </a:r>
                      <a:endParaRPr sz="1100" b="1" i="0" dirty="0">
                        <a:solidFill>
                          <a:schemeClr val="tx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Duration이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짧으면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인지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전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마감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상관분석 / 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Offer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노출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횟수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증가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시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반응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둔화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상관분석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BOGO 등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수량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중심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offer의</a:t>
                      </a:r>
                      <a:r>
                        <a:rPr sz="1100" b="1" i="0" dirty="0">
                          <a:solidFill>
                            <a:srgbClr val="212121"/>
                          </a:solidFill>
                          <a:latin typeface="Noto Sans KR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12121"/>
                          </a:solidFill>
                          <a:latin typeface="Noto Sans KR"/>
                        </a:rPr>
                        <a:t>부담</a:t>
                      </a:r>
                      <a:endParaRPr sz="1100" b="1" i="0" dirty="0">
                        <a:solidFill>
                          <a:srgbClr val="21212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BA258"/>
                          </a:solidFill>
                          <a:latin typeface="Noto Sans KR"/>
                        </a:rPr>
                        <a:t>부분지지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목표 금액(difficulty) 도달 부담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소득 대비 difficulty 부담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Reward가 고소득자 동기부여 미달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집단 비교 + 카이제곱 검정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연령별 채널 비선호 시 수신율 저하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카이제곱 검정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BA258"/>
                          </a:solidFill>
                          <a:latin typeface="Noto Sans KR"/>
                        </a:rPr>
                        <a:t>부분지지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고령층의 offer 수신율 저하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상관분석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3402E"/>
                          </a:solidFill>
                          <a:latin typeface="Noto Sans KR"/>
                        </a:rPr>
                        <a:t>기각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특정 성별의 특정 오퍼 유형 수용도 저하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카이제곱 검정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12121"/>
                          </a:solidFill>
                          <a:latin typeface="Noto Sans KR"/>
                        </a:rPr>
                        <a:t>Profile 효과의 독립성 (성별·연령·소득)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12121"/>
                          </a:solidFill>
                          <a:latin typeface="Noto Sans KR"/>
                        </a:rPr>
                        <a:t>로지스틱 회귀</a:t>
                      </a: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 err="1">
                          <a:solidFill>
                            <a:srgbClr val="006241"/>
                          </a:solidFill>
                          <a:latin typeface="Noto Sans KR"/>
                        </a:rPr>
                        <a:t>지지</a:t>
                      </a:r>
                      <a:endParaRPr sz="1100" b="1" i="0" dirty="0">
                        <a:solidFill>
                          <a:srgbClr val="006241"/>
                        </a:solidFill>
                        <a:latin typeface="Noto Sans KR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10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600" b="1" dirty="0">
                <a:solidFill>
                  <a:srgbClr val="006241"/>
                </a:solidFill>
                <a:latin typeface="Noto Sans KR"/>
              </a:rPr>
              <a:t>10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결론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액션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제안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5486400" cy="204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>
                <a:solidFill>
                  <a:srgbClr val="CBA258"/>
                </a:solidFill>
                <a:latin typeface="Noto Sans KR"/>
              </a:rPr>
              <a:t>Action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63931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062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</a:pPr>
            <a:r>
              <a:rPr sz="1450" b="1" i="0" dirty="0" err="1">
                <a:solidFill>
                  <a:srgbClr val="006241"/>
                </a:solidFill>
                <a:latin typeface="Noto Sans KR"/>
              </a:rPr>
              <a:t>우선순위</a:t>
            </a:r>
            <a:r>
              <a:rPr sz="1450" b="1" i="0" dirty="0">
                <a:solidFill>
                  <a:srgbClr val="006241"/>
                </a:solidFill>
                <a:latin typeface="Noto Sans KR"/>
              </a:rPr>
              <a:t> 1 · </a:t>
            </a:r>
            <a:r>
              <a:rPr sz="1450" b="1" i="0" dirty="0" err="1">
                <a:solidFill>
                  <a:srgbClr val="006241"/>
                </a:solidFill>
                <a:latin typeface="Noto Sans KR"/>
              </a:rPr>
              <a:t>즉시</a:t>
            </a:r>
            <a:r>
              <a:rPr sz="14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450" b="1" i="0" dirty="0" err="1">
                <a:solidFill>
                  <a:srgbClr val="006241"/>
                </a:solidFill>
                <a:latin typeface="Noto Sans KR"/>
              </a:rPr>
              <a:t>실행</a:t>
            </a:r>
            <a:r>
              <a:rPr sz="14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450" b="1" i="0" dirty="0" err="1">
                <a:solidFill>
                  <a:srgbClr val="006241"/>
                </a:solidFill>
                <a:latin typeface="Noto Sans KR"/>
              </a:rPr>
              <a:t>검토</a:t>
            </a:r>
            <a:endParaRPr sz="14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 dirty="0" err="1">
                <a:solidFill>
                  <a:srgbClr val="212121"/>
                </a:solidFill>
                <a:latin typeface="Noto Sans KR"/>
              </a:rPr>
              <a:t>할인형</a:t>
            </a:r>
            <a:r>
              <a:rPr sz="1250" b="1" i="0" dirty="0">
                <a:solidFill>
                  <a:srgbClr val="212121"/>
                </a:solidFill>
                <a:latin typeface="Noto Sans KR"/>
              </a:rPr>
              <a:t>(Discount) </a:t>
            </a:r>
            <a:r>
              <a:rPr sz="1250" b="1" i="0" dirty="0" err="1">
                <a:solidFill>
                  <a:srgbClr val="212121"/>
                </a:solidFill>
                <a:latin typeface="Noto Sans KR"/>
              </a:rPr>
              <a:t>비중</a:t>
            </a:r>
            <a:r>
              <a:rPr sz="1250" b="1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rgbClr val="212121"/>
                </a:solidFill>
                <a:latin typeface="Noto Sans KR"/>
              </a:rPr>
              <a:t>확대</a:t>
            </a:r>
            <a:r>
              <a:rPr lang="en-US" sz="1250" b="1" dirty="0">
                <a:solidFill>
                  <a:srgbClr val="212121"/>
                </a:solidFill>
                <a:latin typeface="Noto Sans KR"/>
              </a:rPr>
              <a:t>(</a:t>
            </a:r>
            <a:r>
              <a:rPr sz="1250" b="1" i="0" dirty="0" err="1">
                <a:solidFill>
                  <a:srgbClr val="212121"/>
                </a:solidFill>
                <a:latin typeface="Noto Sans KR"/>
              </a:rPr>
              <a:t>파일럿</a:t>
            </a:r>
            <a:r>
              <a:rPr lang="en-US" sz="1250" b="1" i="0" dirty="0">
                <a:solidFill>
                  <a:srgbClr val="212121"/>
                </a:solidFill>
                <a:latin typeface="Noto Sans KR"/>
              </a:rPr>
              <a:t>)</a:t>
            </a:r>
            <a:endParaRPr sz="1250" b="1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격차의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절반은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다른 </a:t>
            </a:r>
            <a:r>
              <a:rPr lang="ko-KR" alt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요인으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설명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불가능하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며 단순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offer_type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별로 확인된 차이임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sz="1100" b="0" i="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Discount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완료율이 높은 것으로 확인되었으나 </a:t>
            </a:r>
            <a:r>
              <a:rPr 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재고 소진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신제품 홍보 등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따라 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type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설정이 필요함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경우 추가 음료를 원하지 않는 경우 쿠폰 발급 등과 같이 </a:t>
            </a:r>
            <a:r>
              <a:rPr lang="ko-KR" altLang="en-US" sz="11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증진에 도움이 되는 추가 설계가 필요</a:t>
            </a:r>
            <a:r>
              <a:rPr lang="en-US" altLang="ko-KR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1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sz="11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15000"/>
              </a:lnSpc>
              <a:spcBef>
                <a:spcPts val="1800"/>
              </a:spcBef>
            </a:pPr>
            <a:r>
              <a:rPr sz="1200" b="1" i="0" dirty="0" err="1">
                <a:solidFill>
                  <a:schemeClr val="tx1"/>
                </a:solidFill>
                <a:latin typeface="Noto Sans KR"/>
              </a:rPr>
              <a:t>청년층</a:t>
            </a:r>
            <a:r>
              <a:rPr sz="1200" b="1" i="0" dirty="0">
                <a:solidFill>
                  <a:schemeClr val="tx1"/>
                </a:solidFill>
                <a:latin typeface="Noto Sans KR"/>
              </a:rPr>
              <a:t>(18-30세) </a:t>
            </a:r>
            <a:r>
              <a:rPr sz="1200" b="1" i="0" dirty="0" err="1">
                <a:solidFill>
                  <a:schemeClr val="tx1"/>
                </a:solidFill>
                <a:latin typeface="Noto Sans KR"/>
              </a:rPr>
              <a:t>채널</a:t>
            </a:r>
            <a:r>
              <a:rPr sz="120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Noto Sans KR"/>
              </a:rPr>
              <a:t>Mobile·Social</a:t>
            </a:r>
            <a:r>
              <a:rPr sz="120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00" b="1" i="0" dirty="0" err="1">
                <a:solidFill>
                  <a:schemeClr val="tx1"/>
                </a:solidFill>
                <a:latin typeface="Noto Sans KR"/>
              </a:rPr>
              <a:t>리밸런싱</a:t>
            </a:r>
            <a:endParaRPr sz="1200" b="1" i="0" dirty="0">
              <a:solidFill>
                <a:schemeClr val="tx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고령층이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아닌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청년층에서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Web·Email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위주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채널의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수신율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저하가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가장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크게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나타난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연령별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채널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조합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우선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전환</a:t>
            </a:r>
            <a:r>
              <a:rPr 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63931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CBA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</a:pPr>
            <a:r>
              <a:rPr sz="1450" b="1" i="0" dirty="0" err="1">
                <a:solidFill>
                  <a:srgbClr val="CBA258"/>
                </a:solidFill>
                <a:latin typeface="Noto Sans KR"/>
              </a:rPr>
              <a:t>우선순위</a:t>
            </a:r>
            <a:r>
              <a:rPr sz="1450" b="1" i="0" dirty="0">
                <a:solidFill>
                  <a:srgbClr val="CBA258"/>
                </a:solidFill>
                <a:latin typeface="Noto Sans KR"/>
              </a:rPr>
              <a:t> 2 · A/B </a:t>
            </a:r>
            <a:r>
              <a:rPr sz="1450" b="1" i="0" dirty="0" err="1">
                <a:solidFill>
                  <a:srgbClr val="CBA258"/>
                </a:solidFill>
                <a:latin typeface="Noto Sans KR"/>
              </a:rPr>
              <a:t>테스트</a:t>
            </a:r>
            <a:r>
              <a:rPr sz="1450" b="1" i="0" dirty="0">
                <a:solidFill>
                  <a:srgbClr val="CBA258"/>
                </a:solidFill>
                <a:latin typeface="Noto Sans KR"/>
              </a:rPr>
              <a:t> </a:t>
            </a:r>
            <a:r>
              <a:rPr sz="1450" b="1" i="0" dirty="0" err="1">
                <a:solidFill>
                  <a:srgbClr val="CBA258"/>
                </a:solidFill>
                <a:latin typeface="Noto Sans KR"/>
              </a:rPr>
              <a:t>설계</a:t>
            </a:r>
            <a:endParaRPr sz="1450" b="1" i="0" dirty="0">
              <a:solidFill>
                <a:srgbClr val="CBA258"/>
              </a:solidFill>
              <a:latin typeface="Noto Sans KR"/>
            </a:endParaRP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lang="ko-KR" altLang="en-US" sz="1250" b="1" i="0" dirty="0">
                <a:solidFill>
                  <a:srgbClr val="212121"/>
                </a:solidFill>
                <a:latin typeface="Noto Sans KR"/>
              </a:rPr>
              <a:t>다양한 </a:t>
            </a:r>
            <a:r>
              <a:rPr lang="en-US" altLang="ko-KR" sz="1250" b="1" i="0" dirty="0">
                <a:solidFill>
                  <a:srgbClr val="212121"/>
                </a:solidFill>
                <a:latin typeface="Noto Sans KR"/>
              </a:rPr>
              <a:t>Offer </a:t>
            </a:r>
            <a:r>
              <a:rPr lang="ko-KR" altLang="en-US" sz="1250" b="1" i="0" dirty="0">
                <a:solidFill>
                  <a:srgbClr val="212121"/>
                </a:solidFill>
                <a:latin typeface="Noto Sans KR"/>
              </a:rPr>
              <a:t>설계 필요</a:t>
            </a:r>
            <a:r>
              <a:rPr lang="en-US" altLang="ko-KR" sz="1250" b="1" i="0" dirty="0">
                <a:solidFill>
                  <a:srgbClr val="212121"/>
                </a:solidFill>
                <a:latin typeface="Noto Sans KR"/>
              </a:rPr>
              <a:t>.</a:t>
            </a:r>
            <a:endParaRPr sz="1250" b="1" i="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</a:t>
            </a:r>
            <a:r>
              <a:rPr lang="en-US"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offer_type과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 세트로 </a:t>
            </a:r>
            <a:r>
              <a:rPr lang="ko-KR" altLang="en-US"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묶여있어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순수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reward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효과를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확인할 수 있도록 다양한 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 조합 시행이 필요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sz="1100" b="0" i="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15000"/>
              </a:lnSpc>
              <a:spcBef>
                <a:spcPts val="1800"/>
              </a:spcBef>
            </a:pP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남성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고객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대상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B</a:t>
            </a:r>
            <a:r>
              <a:rPr lang="en-US" sz="1250" b="1" i="0" dirty="0">
                <a:solidFill>
                  <a:schemeClr val="tx1"/>
                </a:solidFill>
                <a:latin typeface="Noto Sans KR"/>
              </a:rPr>
              <a:t>ogo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메시지·구조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재검토</a:t>
            </a:r>
            <a:endParaRPr sz="1250" b="1" i="0" dirty="0">
              <a:solidFill>
                <a:schemeClr val="tx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남성에서만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완료율이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유독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낮음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sz="1100" b="0" i="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 메시지 혹은 </a:t>
            </a:r>
            <a:r>
              <a:rPr lang="en-US" altLang="ko-KR"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bogo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대상 메뉴 및 개인 고객 선호도 등 여러 요인을 수집하여 추후 재 비교 필요</a:t>
            </a:r>
            <a:r>
              <a:rPr lang="en-US" altLang="ko-KR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sz="1100" b="0" i="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15000"/>
              </a:lnSpc>
              <a:spcBef>
                <a:spcPts val="1800"/>
              </a:spcBef>
            </a:pPr>
            <a:r>
              <a:rPr sz="1250" b="1" i="0" dirty="0">
                <a:solidFill>
                  <a:schemeClr val="tx1"/>
                </a:solidFill>
                <a:latin typeface="Noto Sans KR"/>
              </a:rPr>
              <a:t>Difficulty </a:t>
            </a:r>
            <a:r>
              <a:rPr lang="ko-KR" altLang="en-US" sz="1250" b="1" i="0" dirty="0">
                <a:solidFill>
                  <a:schemeClr val="tx1"/>
                </a:solidFill>
                <a:latin typeface="Noto Sans KR"/>
              </a:rPr>
              <a:t>구간별 재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탐색</a:t>
            </a:r>
            <a:endParaRPr sz="1250" b="1" i="0" dirty="0">
              <a:solidFill>
                <a:schemeClr val="tx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금액이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높을수록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하락은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유의하나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비선형적</a:t>
            </a:r>
            <a:r>
              <a:rPr 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형태를 보임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sz="1100" b="0" i="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구간별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세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분석으로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급격히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하락하는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지점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r>
              <a:rPr 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417320"/>
            <a:ext cx="3639312" cy="4892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bIns="164592" rtlCol="0" anchor="ctr"/>
          <a:lstStyle/>
          <a:p>
            <a:pPr algn="ctr">
              <a:spcAft>
                <a:spcPts val="1000"/>
              </a:spcAft>
            </a:pPr>
            <a:r>
              <a:rPr sz="1450" b="1" i="0" dirty="0" err="1">
                <a:solidFill>
                  <a:srgbClr val="8C8C8C"/>
                </a:solidFill>
                <a:latin typeface="Noto Sans KR"/>
              </a:rPr>
              <a:t>보류</a:t>
            </a:r>
            <a:r>
              <a:rPr sz="1450" b="1" i="0" dirty="0">
                <a:solidFill>
                  <a:srgbClr val="8C8C8C"/>
                </a:solidFill>
                <a:latin typeface="Noto Sans KR"/>
              </a:rPr>
              <a:t> · </a:t>
            </a:r>
            <a:r>
              <a:rPr sz="1450" b="1" i="0" dirty="0" err="1">
                <a:solidFill>
                  <a:srgbClr val="8C8C8C"/>
                </a:solidFill>
                <a:latin typeface="Noto Sans KR"/>
              </a:rPr>
              <a:t>현행</a:t>
            </a:r>
            <a:r>
              <a:rPr sz="1450" b="1" i="0" dirty="0">
                <a:solidFill>
                  <a:srgbClr val="8C8C8C"/>
                </a:solidFill>
                <a:latin typeface="Noto Sans KR"/>
              </a:rPr>
              <a:t> </a:t>
            </a:r>
            <a:r>
              <a:rPr sz="1450" b="1" i="0" dirty="0" err="1">
                <a:solidFill>
                  <a:srgbClr val="8C8C8C"/>
                </a:solidFill>
                <a:latin typeface="Noto Sans KR"/>
              </a:rPr>
              <a:t>유지</a:t>
            </a:r>
            <a:endParaRPr sz="1450" b="1" i="0" dirty="0">
              <a:solidFill>
                <a:srgbClr val="8C8C8C"/>
              </a:solidFill>
              <a:latin typeface="Noto Sans KR"/>
            </a:endParaRP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 i="0" dirty="0" err="1">
                <a:solidFill>
                  <a:srgbClr val="212121"/>
                </a:solidFill>
                <a:latin typeface="Noto Sans KR"/>
              </a:rPr>
              <a:t>유효기간</a:t>
            </a:r>
            <a:r>
              <a:rPr sz="1250" b="1" i="0" dirty="0">
                <a:solidFill>
                  <a:srgbClr val="212121"/>
                </a:solidFill>
                <a:latin typeface="Noto Sans KR"/>
              </a:rPr>
              <a:t>(Duration) </a:t>
            </a:r>
            <a:r>
              <a:rPr sz="1250" b="1" i="0" dirty="0" err="1">
                <a:solidFill>
                  <a:srgbClr val="212121"/>
                </a:solidFill>
                <a:latin typeface="Noto Sans KR"/>
              </a:rPr>
              <a:t>연장</a:t>
            </a:r>
            <a:r>
              <a:rPr sz="1250" b="1" i="0" dirty="0">
                <a:solidFill>
                  <a:srgbClr val="212121"/>
                </a:solidFill>
                <a:latin typeface="Noto Sans KR"/>
              </a:rPr>
              <a:t> 안 함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수신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은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대부분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후 24시간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이내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대신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알림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타이밍·메시지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구성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개선에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집중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.</a:t>
            </a:r>
          </a:p>
          <a:p>
            <a:pPr>
              <a:lnSpc>
                <a:spcPct val="115000"/>
              </a:lnSpc>
              <a:spcBef>
                <a:spcPts val="1800"/>
              </a:spcBef>
            </a:pP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발송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빈도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제한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도입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안 함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반복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발송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에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따른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피로도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효과는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통계적으로만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미세하게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유의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.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예산에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맞춰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현행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발송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정책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/>
              </a:rPr>
              <a:t>유지</a:t>
            </a:r>
            <a:r>
              <a:rPr sz="1100" b="0" i="0" dirty="0">
                <a:solidFill>
                  <a:schemeClr val="tx1"/>
                </a:solidFill>
                <a:latin typeface="Noto Sans KR"/>
              </a:rPr>
              <a:t>.</a:t>
            </a:r>
          </a:p>
          <a:p>
            <a:pPr>
              <a:lnSpc>
                <a:spcPct val="115000"/>
              </a:lnSpc>
              <a:spcBef>
                <a:spcPts val="1800"/>
              </a:spcBef>
            </a:pP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소득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기반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reward·difficulty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차등화</a:t>
            </a:r>
            <a:r>
              <a:rPr sz="1250" b="1" i="0" dirty="0">
                <a:solidFill>
                  <a:schemeClr val="tx1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chemeClr val="tx1"/>
                </a:solidFill>
                <a:latin typeface="Noto Sans KR"/>
              </a:rPr>
              <a:t>보류</a:t>
            </a:r>
            <a:endParaRPr sz="1250" b="1" i="0" dirty="0">
              <a:solidFill>
                <a:schemeClr val="tx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저소득층에서만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보상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민감도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차이가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관측되었으나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재현성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미확인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en-US" sz="1100" b="0" i="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 구매 금액 별 등급 차등화 및 </a:t>
            </a:r>
            <a:r>
              <a:rPr lang="en-US" altLang="ko-KR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reward </a:t>
            </a:r>
            <a:r>
              <a:rPr lang="ko-KR" altLang="en-US" sz="11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차등화의 경우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데이터로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재검증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전까지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00" b="0" i="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보류</a:t>
            </a:r>
            <a:r>
              <a:rPr sz="1100" b="0" i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11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409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006241"/>
                </a:solidFill>
                <a:latin typeface="Noto Sans KR"/>
              </a:rPr>
              <a:t>1</a:t>
            </a:r>
            <a:r>
              <a:rPr lang="en-US" sz="2600" b="1" i="0" dirty="0">
                <a:solidFill>
                  <a:srgbClr val="006241"/>
                </a:solidFill>
                <a:latin typeface="Noto Sans KR"/>
              </a:rPr>
              <a:t>1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.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데이터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한계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및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후속</a:t>
            </a:r>
            <a:r>
              <a:rPr sz="260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2600" b="1" i="0" dirty="0" err="1">
                <a:solidFill>
                  <a:srgbClr val="006241"/>
                </a:solidFill>
                <a:latin typeface="Noto Sans KR"/>
              </a:rPr>
              <a:t>과제</a:t>
            </a:r>
            <a:endParaRPr sz="2600" b="1" i="0" dirty="0">
              <a:solidFill>
                <a:srgbClr val="006241"/>
              </a:solidFill>
              <a:latin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315200" cy="2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 dirty="0">
                <a:solidFill>
                  <a:srgbClr val="CBA258"/>
                </a:solidFill>
                <a:latin typeface="Noto Sans KR"/>
              </a:rPr>
              <a:t>Data Limitations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>
              <a:spcAft>
                <a:spcPts val="1200"/>
              </a:spcAft>
            </a:pP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귀속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(Attribution)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한계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B</a:t>
            </a:r>
            <a:r>
              <a:rPr lang="en-US" sz="1150" dirty="0" err="1">
                <a:solidFill>
                  <a:srgbClr val="212121"/>
                </a:solidFill>
                <a:latin typeface="Noto Sans KR"/>
              </a:rPr>
              <a:t>ogo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·Discount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완료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33,579건 중 8,649건(25.76%), Informational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구매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9,483건 중 2,768건(29.2%)이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오퍼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수신</a:t>
            </a:r>
            <a:r>
              <a:rPr lang="en-US"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없이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발생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endParaRPr lang="en-US" sz="115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평소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구매일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가능성이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있어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완료율을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오퍼의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순수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효과로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곧바로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해석하는데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주의</a:t>
            </a:r>
            <a:endParaRPr sz="1150" b="0" i="0" dirty="0">
              <a:solidFill>
                <a:srgbClr val="212121"/>
              </a:solidFill>
              <a:latin typeface="Noto Sans K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36208" y="1417320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>
              <a:spcAft>
                <a:spcPts val="1200"/>
              </a:spcAft>
            </a:pP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비완전</a:t>
            </a:r>
            <a:r>
              <a:rPr sz="1350" b="1" i="0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i="0" dirty="0" err="1">
                <a:solidFill>
                  <a:srgbClr val="006241"/>
                </a:solidFill>
                <a:latin typeface="Noto Sans KR"/>
              </a:rPr>
              <a:t>요인설계</a:t>
            </a:r>
            <a:endParaRPr sz="1350" b="1" i="0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121"/>
                </a:solidFill>
                <a:latin typeface="Noto Sans KR"/>
              </a:rPr>
              <a:t>reward × difficulty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조합은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가능한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16가지 중 5가지만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존재하고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reward=5는 difficulty 5·20 두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값에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걸쳐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있어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변수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간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효과를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독립적으로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분리하기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어려움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. channel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조합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역시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표본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간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불균형이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90672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>
              <a:spcAft>
                <a:spcPts val="1200"/>
              </a:spcAft>
            </a:pPr>
            <a:r>
              <a:rPr sz="1350" b="1" dirty="0" err="1">
                <a:solidFill>
                  <a:srgbClr val="006241"/>
                </a:solidFill>
                <a:latin typeface="Noto Sans KR"/>
              </a:rPr>
              <a:t>관측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기간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제한</a:t>
            </a:r>
            <a:endParaRPr sz="1350" b="1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거래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로그의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관측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기간이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제한적이어서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재구매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여부나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장기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로열티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효과는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이번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분석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범위에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포함되지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않음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—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이후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장기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추적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데이터가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필요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3090672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>
              <a:spcAft>
                <a:spcPts val="1200"/>
              </a:spcAft>
            </a:pPr>
            <a:r>
              <a:rPr lang="en-US" sz="1350" b="1" dirty="0">
                <a:solidFill>
                  <a:srgbClr val="006241"/>
                </a:solidFill>
                <a:latin typeface="Noto Sans KR"/>
              </a:rPr>
              <a:t>Channel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개별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효과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분리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불가</a:t>
            </a:r>
            <a:endParaRPr sz="1350" b="1" dirty="0">
              <a:solidFill>
                <a:srgbClr val="006241"/>
              </a:solidFill>
              <a:latin typeface="Noto Sans KR"/>
            </a:endParaRPr>
          </a:p>
          <a:p>
            <a:pPr>
              <a:lnSpc>
                <a:spcPct val="120000"/>
              </a:lnSpc>
            </a:pPr>
            <a:r>
              <a:rPr lang="en-US" sz="1150" dirty="0" err="1">
                <a:solidFill>
                  <a:srgbClr val="212121"/>
                </a:solidFill>
                <a:latin typeface="Noto Sans KR"/>
              </a:rPr>
              <a:t>Offer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다중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lang="en-US" sz="1150" dirty="0">
                <a:solidFill>
                  <a:srgbClr val="212121"/>
                </a:solidFill>
                <a:latin typeface="Noto Sans KR"/>
              </a:rPr>
              <a:t>channel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조합으로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동시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발송되어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Mobile·Social·Web·Email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각 </a:t>
            </a:r>
            <a:r>
              <a:rPr lang="en-US" sz="1150" dirty="0" err="1">
                <a:solidFill>
                  <a:srgbClr val="212121"/>
                </a:solidFill>
                <a:latin typeface="Noto Sans KR"/>
              </a:rPr>
              <a:t>channel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개별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기여도를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통계적으로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분리하기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어려움</a:t>
            </a:r>
            <a:endParaRPr lang="en-US" sz="115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</a:pP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추후 </a:t>
            </a:r>
            <a:r>
              <a:rPr lang="en-US" altLang="ko-KR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offer 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 시 </a:t>
            </a:r>
            <a:r>
              <a:rPr lang="en-US" altLang="ko-KR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channel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다양한 조합으로 개별 기여도 검증 필요</a:t>
            </a:r>
            <a:r>
              <a:rPr lang="en-US" altLang="ko-KR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sz="1150" dirty="0">
              <a:solidFill>
                <a:srgbClr val="21212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29787" y="4719212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ctr">
              <a:spcAft>
                <a:spcPts val="1200"/>
              </a:spcAft>
            </a:pPr>
            <a:r>
              <a:rPr sz="1350" b="1" dirty="0">
                <a:solidFill>
                  <a:srgbClr val="006241"/>
                </a:solidFill>
                <a:latin typeface="Noto Sans KR"/>
              </a:rPr>
              <a:t>ML 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미적용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 (</a:t>
            </a:r>
            <a:r>
              <a:rPr sz="1350" b="1" dirty="0" err="1">
                <a:solidFill>
                  <a:srgbClr val="006241"/>
                </a:solidFill>
                <a:latin typeface="Noto Sans KR"/>
              </a:rPr>
              <a:t>의사결정</a:t>
            </a:r>
            <a:r>
              <a:rPr sz="1350" b="1" dirty="0">
                <a:solidFill>
                  <a:srgbClr val="006241"/>
                </a:solidFill>
                <a:latin typeface="Noto Sans KR"/>
              </a:rPr>
              <a:t>)</a:t>
            </a:r>
          </a:p>
          <a:p>
            <a:pPr>
              <a:lnSpc>
                <a:spcPct val="120000"/>
              </a:lnSpc>
            </a:pP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가설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검증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단계에서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통계적으로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유의한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설명력을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이미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확보했고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,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일부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설계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변수가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완전교차설계되어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있지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않아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예측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모델의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일반화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신뢰도가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낮다고</a:t>
            </a:r>
            <a:r>
              <a:rPr sz="1150" b="0" i="0" dirty="0">
                <a:solidFill>
                  <a:srgbClr val="212121"/>
                </a:solidFill>
                <a:latin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</a:rPr>
              <a:t>판단</a:t>
            </a:r>
            <a:endParaRPr lang="en-US" sz="1150" dirty="0">
              <a:solidFill>
                <a:srgbClr val="212121"/>
              </a:solidFill>
              <a:latin typeface="Noto Sans KR"/>
            </a:endParaRPr>
          </a:p>
          <a:p>
            <a:pPr>
              <a:lnSpc>
                <a:spcPct val="120000"/>
              </a:lnSpc>
            </a:pP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통계적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가설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검증으로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결론을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도출하고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ML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적용은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추후 </a:t>
            </a:r>
            <a:r>
              <a:rPr lang="en-US" altLang="ko-KR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data </a:t>
            </a:r>
            <a:r>
              <a:rPr lang="ko-KR" altLang="en-US" sz="115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보강 후 진행하는 것으로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보류</a:t>
            </a:r>
            <a:r>
              <a:rPr sz="1150" b="0" i="0" dirty="0">
                <a:solidFill>
                  <a:srgbClr val="21212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Noto Sans KR"/>
              </a:rPr>
              <a:t>Starbucks Offer Analytics · 주영 없는 주영팀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12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006241"/>
                </a:solidFill>
                <a:latin typeface="Noto Sans KR"/>
              </a:rPr>
              <a:t>11. 대시보드 미리보기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2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1">
                <a:solidFill>
                  <a:srgbClr val="CBA258"/>
                </a:solidFill>
                <a:latin typeface="Noto Sans KR"/>
              </a:rPr>
              <a:t>Interactive Dashboard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26501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Noto Sans KR"/>
              </a:rPr>
              <a:t>가설 트리에서 채택된 지표만 담은 인터랙티브 대시보드 — 오퍼 유형·세그먼트·설계 변수 탭으로 실시간 탐색 가능 (공유 링크 제공)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 dirty="0">
                <a:solidFill>
                  <a:srgbClr val="6B6B6B"/>
                </a:solidFill>
                <a:latin typeface="Noto Sans KR"/>
              </a:rPr>
              <a:t>Starbucks Offer Analytics · </a:t>
            </a:r>
            <a:r>
              <a:rPr sz="1000" b="0" i="0" dirty="0" err="1">
                <a:solidFill>
                  <a:srgbClr val="6B6B6B"/>
                </a:solidFill>
                <a:latin typeface="Noto Sans KR"/>
              </a:rPr>
              <a:t>주영</a:t>
            </a:r>
            <a:r>
              <a:rPr sz="1000" b="0" i="0" dirty="0">
                <a:solidFill>
                  <a:srgbClr val="6B6B6B"/>
                </a:solidFill>
                <a:latin typeface="Noto Sans KR"/>
              </a:rPr>
              <a:t> </a:t>
            </a:r>
            <a:r>
              <a:rPr sz="1000" b="0" i="0" dirty="0" err="1">
                <a:solidFill>
                  <a:srgbClr val="6B6B6B"/>
                </a:solidFill>
                <a:latin typeface="Noto Sans KR"/>
              </a:rPr>
              <a:t>없는</a:t>
            </a:r>
            <a:r>
              <a:rPr sz="1000" b="0" i="0" dirty="0">
                <a:solidFill>
                  <a:srgbClr val="6B6B6B"/>
                </a:solidFill>
                <a:latin typeface="Noto Sans KR"/>
              </a:rPr>
              <a:t> </a:t>
            </a:r>
            <a:r>
              <a:rPr sz="1000" b="0" i="0" dirty="0" err="1">
                <a:solidFill>
                  <a:srgbClr val="6B6B6B"/>
                </a:solidFill>
                <a:latin typeface="Noto Sans KR"/>
              </a:rPr>
              <a:t>주영팀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157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6B6B6B"/>
                </a:solidFill>
                <a:latin typeface="Noto Sans KR"/>
              </a:rPr>
              <a:t>13</a:t>
            </a:r>
            <a:endParaRPr sz="1000" b="0" i="0" dirty="0">
              <a:solidFill>
                <a:srgbClr val="6B6B6B"/>
              </a:solidFill>
              <a:latin typeface="Noto Sans KR"/>
            </a:endParaRPr>
          </a:p>
        </p:txBody>
      </p:sp>
      <p:pic>
        <p:nvPicPr>
          <p:cNvPr id="6" name="그림 5">
            <a:hlinkClick r:id="rId2"/>
            <a:extLst>
              <a:ext uri="{FF2B5EF4-FFF2-40B4-BE49-F238E27FC236}">
                <a16:creationId xmlns:a16="http://schemas.microsoft.com/office/drawing/2014/main" id="{E2C53448-2DE8-2D68-3462-3A48978DE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16" y="1252258"/>
            <a:ext cx="10064661" cy="49204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651760"/>
            <a:ext cx="11155680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1" dirty="0">
                <a:solidFill>
                  <a:srgbClr val="CBA258"/>
                </a:solidFill>
                <a:latin typeface="Noto Sans KR"/>
              </a:rPr>
              <a:t>STARBUCKS Offer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1089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400" b="1" i="0" dirty="0">
                <a:solidFill>
                  <a:srgbClr val="F3F3F3"/>
                </a:solidFill>
                <a:latin typeface="Noto Sans K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1155680" cy="28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D4E9E2"/>
                </a:solidFill>
                <a:latin typeface="Noto Sans KR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11155680" cy="196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인텔리전스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1기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주영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없는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주영팀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</a:t>
            </a:r>
            <a:r>
              <a:rPr lang="ko-KR" altLang="en-US" sz="1250" b="1" i="0" dirty="0" err="1">
                <a:solidFill>
                  <a:srgbClr val="D4E9E2"/>
                </a:solidFill>
                <a:latin typeface="Noto Sans KR"/>
              </a:rPr>
              <a:t>유서영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최서현</a:t>
            </a:r>
            <a:r>
              <a:rPr sz="1250" b="1" i="0" dirty="0">
                <a:solidFill>
                  <a:srgbClr val="D4E9E2"/>
                </a:solidFill>
                <a:latin typeface="Noto Sans KR"/>
              </a:rPr>
              <a:t> · </a:t>
            </a:r>
            <a:r>
              <a:rPr sz="1250" b="1" i="0" dirty="0" err="1">
                <a:solidFill>
                  <a:srgbClr val="D4E9E2"/>
                </a:solidFill>
                <a:latin typeface="Noto Sans KR"/>
              </a:rPr>
              <a:t>최주영</a:t>
            </a:r>
            <a:r>
              <a:rPr lang="ko-KR" altLang="en-US" sz="1250" b="1" dirty="0">
                <a:solidFill>
                  <a:srgbClr val="D4E9E2"/>
                </a:solidFill>
                <a:latin typeface="Noto Sans KR"/>
              </a:rPr>
              <a:t> </a:t>
            </a:r>
            <a:r>
              <a:rPr lang="en-US" altLang="ko-KR" sz="1250" b="1" dirty="0">
                <a:solidFill>
                  <a:srgbClr val="D4E9E2"/>
                </a:solidFill>
                <a:latin typeface="Noto Sans KR"/>
              </a:rPr>
              <a:t>· </a:t>
            </a:r>
            <a:r>
              <a:rPr lang="ko-KR" altLang="en-US" sz="1250" b="1" dirty="0" err="1">
                <a:solidFill>
                  <a:srgbClr val="D4E9E2"/>
                </a:solidFill>
                <a:latin typeface="Noto Sans KR"/>
              </a:rPr>
              <a:t>표시철</a:t>
            </a:r>
            <a:endParaRPr sz="1250" b="1" i="0" dirty="0">
              <a:solidFill>
                <a:srgbClr val="D4E9E2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2389</Words>
  <Application>Microsoft Office PowerPoint</Application>
  <PresentationFormat>와이드스크린</PresentationFormat>
  <Paragraphs>343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표스츄리</cp:lastModifiedBy>
  <cp:revision>149</cp:revision>
  <dcterms:created xsi:type="dcterms:W3CDTF">2013-01-27T09:14:16Z</dcterms:created>
  <dcterms:modified xsi:type="dcterms:W3CDTF">2026-09-14T05:31:19Z</dcterms:modified>
  <cp:category/>
</cp:coreProperties>
</file>