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3"/>
  </p:notesMasterIdLst>
  <p:handoutMasterIdLst>
    <p:handoutMasterId r:id="rId14"/>
  </p:handoutMasterIdLst>
  <p:sldIdLst>
    <p:sldId id="281" r:id="rId5"/>
    <p:sldId id="356" r:id="rId6"/>
    <p:sldId id="358" r:id="rId7"/>
    <p:sldId id="359" r:id="rId8"/>
    <p:sldId id="360" r:id="rId9"/>
    <p:sldId id="361" r:id="rId10"/>
    <p:sldId id="362" r:id="rId11"/>
    <p:sldId id="363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9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5E9C40-2B55-43AB-8539-C48809F2FC17}" type="datetime1">
              <a:rPr lang="en-US" altLang="ko-KR" smtClean="0">
                <a:latin typeface="+mj-ea"/>
                <a:ea typeface="+mj-ea"/>
              </a:rPr>
              <a:t>8/28/2026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58D25597-25DC-4569-9D2F-FB5CC7243947}" type="datetime1">
              <a:rPr lang="ko-KR" altLang="en-US" smtClean="0"/>
              <a:pPr/>
              <a:t>2026-08-28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BCFAAAB6-A2C6-4A85-A3A1-98EFBA61C967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272B-19D7-8469-494C-52E96C53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0DF31B-CCA4-5E3B-9F31-05DADBDA1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B5936-7177-7C5C-71FF-C46B23CE6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6777C-8495-8B43-0AB1-DDD939B8E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75869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FE73-04E4-044A-113C-12282D3C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6EF6A5-9FE4-6C65-AED7-E719973BD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CC2401-85C1-31D0-B8BC-393B43255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2B9B3-733D-A86F-DF07-DA9FDAE26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8919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316B3-4A84-A2EA-D038-050BC119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FAED19-BFE1-31E5-E64B-BA551323F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562463-7F81-0AE0-0AAE-EB7196EDF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AAE91-D15B-A262-B8F7-EA0307047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18602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6D31-1D59-70CB-4A74-AF32159B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32AD06-E8B7-59F4-70B0-4B5150FEA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B531D-73C1-3DC0-1A92-7D980B29D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57500-9AFA-56DD-EEFB-334B2C19E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8552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0641-ECE3-23FE-17D3-D3C91B40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02A59C-0A60-CA34-8980-4C2FFAB3E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3240F7-1F52-E1F9-43C3-8CB3AC840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D2E7D-AA1E-D01E-06EF-AFC060973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15828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C965-5450-FF1B-751F-5AC20744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420B02-B339-6C6A-1AA4-6657B4261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2D6BFE-5D4C-1A66-0C57-37270E95F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A1189-0A44-E7D3-F412-AB68C5172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11240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BCB8-0EC4-45CA-AD8A-9AB0ACD5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38727D-82AF-9260-F505-6FFBEFAB1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D7CA8-122D-9697-64CE-1B887142F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48D77-38C1-1E08-7D8F-BCFC4F02B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9053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직사각형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2" name="그림 개체 틀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33" name="그림 개체 틀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텍스트 개체 틀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8" name="텍스트 개체 틀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9" name="텍스트 개체 틀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0" name="텍스트 개체 틀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1" name="텍스트 개체 틀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 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텍스트 개체 틀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텍스트 개체 틀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그림 개체 틀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4" name="그림 개체 틀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5" name="그림 개체 틀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스타일을 편집하려면 클릭하세요.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altLang="ko-KR" dirty="0"/>
              <a:t>SQL </a:t>
            </a:r>
            <a:r>
              <a:rPr lang="ko-KR" altLang="en-US" dirty="0"/>
              <a:t>데이터 분석 </a:t>
            </a:r>
            <a:r>
              <a:rPr lang="en-US" altLang="ko-KR" dirty="0"/>
              <a:t>D01~D03</a:t>
            </a:r>
            <a:r>
              <a:rPr lang="ko-KR" altLang="en-US" dirty="0"/>
              <a:t> </a:t>
            </a:r>
            <a:r>
              <a:rPr lang="ko-KR" altLang="en-US" dirty="0" err="1"/>
              <a:t>꿀팁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EB84-A920-145C-D0AD-A8B2B6A4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5F673-C3EB-05E2-5F01-59C5258E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WHERE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41D31124-CD25-78F5-EB81-4C817938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63AC8C-B30A-30E0-162B-F84C53A5E156}"/>
              </a:ext>
            </a:extLst>
          </p:cNvPr>
          <p:cNvSpPr txBox="1"/>
          <p:nvPr/>
        </p:nvSpPr>
        <p:spPr>
          <a:xfrm>
            <a:off x="494269" y="2062043"/>
            <a:ext cx="1089866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/>
              <a:t>NULL</a:t>
            </a:r>
            <a:r>
              <a:rPr lang="ko-KR" altLang="en-US" sz="1400" dirty="0"/>
              <a:t>이 있는 </a:t>
            </a:r>
            <a:r>
              <a:rPr lang="en-US" altLang="ko-KR" sz="1400" dirty="0"/>
              <a:t>Data</a:t>
            </a:r>
            <a:r>
              <a:rPr lang="ko-KR" altLang="en-US" sz="1400" dirty="0"/>
              <a:t>는 비교 연산자 </a:t>
            </a:r>
            <a:r>
              <a:rPr lang="en-US" altLang="ko-KR" sz="1400" dirty="0"/>
              <a:t>=, != </a:t>
            </a:r>
            <a:r>
              <a:rPr lang="ko-KR" altLang="en-US" sz="1400" dirty="0"/>
              <a:t>확인 불가능</a:t>
            </a:r>
            <a:br>
              <a:rPr lang="en-US" altLang="ko-KR" sz="1400" dirty="0"/>
            </a:br>
            <a:r>
              <a:rPr lang="en-US" altLang="ko-KR" sz="1400" dirty="0"/>
              <a:t>— </a:t>
            </a:r>
            <a:r>
              <a:rPr lang="ko-KR" altLang="en-US" sz="1400" dirty="0"/>
              <a:t>오직 </a:t>
            </a:r>
            <a:r>
              <a:rPr lang="en-US" altLang="ko-KR" sz="1400" dirty="0"/>
              <a:t>IS NULL / IS NOT NULL</a:t>
            </a:r>
            <a:r>
              <a:rPr lang="ko-KR" altLang="en-US" sz="1400" dirty="0"/>
              <a:t>로만 확인</a:t>
            </a:r>
            <a:r>
              <a:rPr lang="en-US" altLang="ko-KR" sz="1400" dirty="0"/>
              <a:t> </a:t>
            </a:r>
            <a:r>
              <a:rPr lang="ko-KR" altLang="en-US" sz="1400" dirty="0"/>
              <a:t>가능하며</a:t>
            </a:r>
            <a:r>
              <a:rPr lang="en-US" altLang="ko-KR" sz="1400" dirty="0"/>
              <a:t>, NULL</a:t>
            </a:r>
            <a:r>
              <a:rPr lang="ko-KR" altLang="en-US" sz="1400" dirty="0"/>
              <a:t>의 경우 </a:t>
            </a:r>
            <a:r>
              <a:rPr lang="en-US" altLang="ko-KR" sz="1400" dirty="0"/>
              <a:t>=, != </a:t>
            </a:r>
            <a:r>
              <a:rPr lang="ko-KR" altLang="en-US" sz="1400" dirty="0"/>
              <a:t>둘 다 해당하지 않는 빈 데이터에 해당하여 비교 제외됨</a:t>
            </a:r>
            <a:r>
              <a:rPr lang="en-US" altLang="ko-KR" sz="1400"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/>
              <a:t>WHERE </a:t>
            </a:r>
            <a:r>
              <a:rPr lang="ko-KR" altLang="en-US" sz="1400" dirty="0"/>
              <a:t>와 집계 함수는 같이 사용하지 못한다</a:t>
            </a:r>
            <a:r>
              <a:rPr lang="en-US" altLang="ko-KR" sz="1400" dirty="0"/>
              <a:t>. — WHERE COUNT(*) &gt; 5 </a:t>
            </a:r>
            <a:r>
              <a:rPr lang="ko-KR" altLang="en-US" sz="1400" dirty="0"/>
              <a:t>같은 조건은 에러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WHERE </a:t>
            </a:r>
            <a:r>
              <a:rPr lang="ko-KR" altLang="en-US" sz="1400" dirty="0"/>
              <a:t>는 </a:t>
            </a:r>
            <a:r>
              <a:rPr lang="en-US" altLang="ko-KR" sz="1400" dirty="0"/>
              <a:t>GROUP BY</a:t>
            </a:r>
            <a:r>
              <a:rPr lang="ko-KR" altLang="en-US" sz="1400" dirty="0"/>
              <a:t>보다 먼저 실행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GROUP BY </a:t>
            </a:r>
            <a:r>
              <a:rPr lang="ko-KR" altLang="en-US" sz="1400" dirty="0"/>
              <a:t>이후 </a:t>
            </a:r>
            <a:r>
              <a:rPr lang="en-US" altLang="ko-KR" sz="1400" dirty="0"/>
              <a:t>COUNT(*) &gt; 5 </a:t>
            </a:r>
            <a:r>
              <a:rPr lang="ko-KR" altLang="en-US" sz="1400" dirty="0"/>
              <a:t>집계 조건이 필요하므로 </a:t>
            </a:r>
            <a:r>
              <a:rPr lang="en-US" altLang="ko-KR" sz="1400" dirty="0"/>
              <a:t>HAVING COUNT(*) &gt;5 </a:t>
            </a:r>
            <a:r>
              <a:rPr lang="ko-KR" altLang="en-US" sz="1400" dirty="0"/>
              <a:t>로 사용</a:t>
            </a:r>
            <a:r>
              <a:rPr lang="en-US" altLang="ko-KR" sz="1400"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/>
              <a:t>SELECT</a:t>
            </a:r>
            <a:r>
              <a:rPr lang="ko-KR" altLang="en-US" sz="1400" dirty="0"/>
              <a:t>의 별칭</a:t>
            </a:r>
            <a:r>
              <a:rPr lang="en-US" altLang="ko-KR" sz="1400" dirty="0"/>
              <a:t>(alias)</a:t>
            </a:r>
            <a:r>
              <a:rPr lang="ko-KR" altLang="en-US" sz="1400" dirty="0"/>
              <a:t>을 사용하지 못한다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/>
              <a:t>— SELECT price * qty AS total … WHERE total &gt; 100</a:t>
            </a:r>
            <a:r>
              <a:rPr lang="ko-KR" altLang="en-US" sz="1400" dirty="0"/>
              <a:t>은 에러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WHERE</a:t>
            </a:r>
            <a:r>
              <a:rPr lang="ko-KR" altLang="en-US" sz="1400" dirty="0"/>
              <a:t>가 작동되는 시점엔 </a:t>
            </a:r>
            <a:r>
              <a:rPr lang="en-US" altLang="ko-KR" sz="1400" dirty="0"/>
              <a:t>SELECT</a:t>
            </a:r>
            <a:r>
              <a:rPr lang="ko-KR" altLang="en-US" sz="1400" dirty="0"/>
              <a:t>가 실행 되기 전으로 별칭이 존재하지 않아 </a:t>
            </a:r>
            <a:r>
              <a:rPr lang="en-US" altLang="ko-KR" sz="1400" dirty="0"/>
              <a:t>Column </a:t>
            </a:r>
            <a:r>
              <a:rPr lang="ko-KR" altLang="en-US" sz="1400" dirty="0"/>
              <a:t>명을 </a:t>
            </a:r>
            <a:r>
              <a:rPr lang="ko-KR" altLang="en-US" sz="1400" dirty="0" err="1"/>
              <a:t>기재해야함</a:t>
            </a:r>
            <a:r>
              <a:rPr lang="en-US" altLang="ko-KR" sz="1400"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/>
              <a:t>AND</a:t>
            </a:r>
            <a:r>
              <a:rPr lang="ko-KR" altLang="en-US" sz="1400" dirty="0"/>
              <a:t>가 </a:t>
            </a:r>
            <a:r>
              <a:rPr lang="en-US" altLang="ko-KR" sz="1400" dirty="0"/>
              <a:t>OR</a:t>
            </a:r>
            <a:r>
              <a:rPr lang="ko-KR" altLang="en-US" sz="1400" dirty="0"/>
              <a:t>보다 먼저 묶인다</a:t>
            </a:r>
            <a:r>
              <a:rPr lang="en-US" altLang="ko-KR" sz="1400" dirty="0"/>
              <a:t>. - WHERE grade = 'A' OR grade = 'B' AND score &gt; 90 [A </a:t>
            </a:r>
            <a:r>
              <a:rPr lang="ko-KR" altLang="en-US" sz="1400" dirty="0"/>
              <a:t>또는 </a:t>
            </a:r>
            <a:r>
              <a:rPr lang="en-US" altLang="ko-KR" sz="1400" dirty="0"/>
              <a:t>(B</a:t>
            </a:r>
            <a:r>
              <a:rPr lang="ko-KR" altLang="en-US" sz="1400" dirty="0"/>
              <a:t>이면서 </a:t>
            </a:r>
            <a:r>
              <a:rPr lang="en-US" altLang="ko-KR" sz="1400" dirty="0"/>
              <a:t>90</a:t>
            </a:r>
            <a:r>
              <a:rPr lang="ko-KR" altLang="en-US" sz="1400" dirty="0"/>
              <a:t>점 초과</a:t>
            </a:r>
            <a:r>
              <a:rPr lang="en-US" altLang="ko-KR" sz="1400" dirty="0"/>
              <a:t>)]</a:t>
            </a:r>
            <a:br>
              <a:rPr lang="en-US" altLang="ko-KR" sz="1400" dirty="0"/>
            </a:br>
            <a:r>
              <a:rPr lang="ko-KR" altLang="en-US" sz="1400" dirty="0"/>
              <a:t>의도가 </a:t>
            </a:r>
            <a:r>
              <a:rPr lang="en-US" altLang="ko-KR" sz="1400" dirty="0"/>
              <a:t>"A</a:t>
            </a:r>
            <a:r>
              <a:rPr lang="ko-KR" altLang="en-US" sz="1400" dirty="0"/>
              <a:t>이거나 </a:t>
            </a:r>
            <a:r>
              <a:rPr lang="en-US" altLang="ko-KR" sz="1400" dirty="0"/>
              <a:t>B" </a:t>
            </a:r>
            <a:r>
              <a:rPr lang="ko-KR" altLang="en-US" sz="1400" dirty="0"/>
              <a:t>전체에 조건을 걸고 싶으면 괄호 필수</a:t>
            </a:r>
            <a:r>
              <a:rPr lang="en-US" altLang="ko-KR" sz="1400" dirty="0"/>
              <a:t>: WHERE (grade = 'A' OR grade = 'B') AND score &gt; 90.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/>
              <a:t>NOT IN</a:t>
            </a:r>
            <a:r>
              <a:rPr lang="ko-KR" altLang="en-US" sz="1400" dirty="0"/>
              <a:t>에 </a:t>
            </a:r>
            <a:r>
              <a:rPr lang="en-US" altLang="ko-KR" sz="1400" dirty="0"/>
              <a:t>NULL</a:t>
            </a:r>
            <a:r>
              <a:rPr lang="ko-KR" altLang="en-US" sz="1400" dirty="0"/>
              <a:t>이 섞이면 결과가 통째로 사라진다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WHERE country NOT IN ('Korea', 'Japan', NULL)</a:t>
            </a:r>
            <a:br>
              <a:rPr lang="en-US" altLang="ko-KR" sz="1400" dirty="0"/>
            </a:br>
            <a:r>
              <a:rPr lang="ko-KR" altLang="en-US" sz="1400" dirty="0"/>
              <a:t>리스트 안에 </a:t>
            </a:r>
            <a:r>
              <a:rPr lang="en-US" altLang="ko-KR" sz="1400" dirty="0"/>
              <a:t>NULL</a:t>
            </a:r>
            <a:r>
              <a:rPr lang="ko-KR" altLang="en-US" sz="1400" dirty="0"/>
              <a:t>이 있어도 </a:t>
            </a:r>
            <a:r>
              <a:rPr lang="en-US" altLang="ko-KR" sz="1400" dirty="0"/>
              <a:t>NULL</a:t>
            </a:r>
            <a:r>
              <a:rPr lang="ko-KR" altLang="en-US" sz="1400" dirty="0"/>
              <a:t>은 비교 시 </a:t>
            </a:r>
            <a:r>
              <a:rPr lang="en-US" altLang="ko-KR" sz="1400" dirty="0"/>
              <a:t>TRUE, FALSE</a:t>
            </a:r>
            <a:r>
              <a:rPr lang="ko-KR" altLang="en-US" sz="1400" dirty="0"/>
              <a:t>가 아닌 </a:t>
            </a:r>
            <a:r>
              <a:rPr lang="en-US" altLang="ko-KR" sz="1400" dirty="0"/>
              <a:t>UNKNOWN</a:t>
            </a:r>
            <a:r>
              <a:rPr lang="ko-KR" altLang="en-US" sz="1400" dirty="0"/>
              <a:t>으로 확인되어 필터링에서 제외 결국 </a:t>
            </a:r>
            <a:r>
              <a:rPr lang="en-US" altLang="ko-KR" sz="1400" dirty="0"/>
              <a:t>0</a:t>
            </a:r>
            <a:r>
              <a:rPr lang="ko-KR" altLang="en-US" sz="1400" dirty="0"/>
              <a:t>건이 출력됨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IN</a:t>
            </a:r>
            <a:r>
              <a:rPr lang="ko-KR" altLang="en-US" sz="1400" dirty="0"/>
              <a:t>은 이 문제가 없고 </a:t>
            </a:r>
            <a:r>
              <a:rPr lang="en-US" altLang="ko-KR" sz="1400" dirty="0"/>
              <a:t>NOT IN</a:t>
            </a:r>
            <a:r>
              <a:rPr lang="ko-KR" altLang="en-US" sz="1400" dirty="0"/>
              <a:t>만 이렇게 걸림</a:t>
            </a:r>
            <a:endParaRPr lang="en-US" altLang="ko-KR" sz="1400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/>
              <a:t>BETWEEN</a:t>
            </a:r>
            <a:r>
              <a:rPr lang="ko-KR" altLang="en-US" sz="1400" dirty="0"/>
              <a:t>은 양끝 포함</a:t>
            </a:r>
            <a:r>
              <a:rPr lang="en-US" altLang="ko-KR" sz="1400" dirty="0"/>
              <a:t>(inclusive) — WHERE age BETWEEN 20 AND 29</a:t>
            </a:r>
            <a:br>
              <a:rPr lang="en-US" altLang="ko-KR" sz="1400" dirty="0"/>
            </a:br>
            <a:r>
              <a:rPr lang="en-US" altLang="ko-KR" sz="1400" dirty="0"/>
              <a:t>20</a:t>
            </a:r>
            <a:r>
              <a:rPr lang="ko-KR" altLang="en-US" sz="1400" dirty="0"/>
              <a:t>이상 </a:t>
            </a:r>
            <a:r>
              <a:rPr lang="en-US" altLang="ko-KR" sz="1400" dirty="0"/>
              <a:t>29</a:t>
            </a:r>
            <a:r>
              <a:rPr lang="ko-KR" altLang="en-US" sz="1400" dirty="0"/>
              <a:t>이하의 개념으로</a:t>
            </a:r>
            <a:r>
              <a:rPr lang="en-US" altLang="ko-KR" sz="1400" dirty="0"/>
              <a:t> </a:t>
            </a:r>
            <a:r>
              <a:rPr lang="ko-KR" altLang="en-US" sz="1400" dirty="0"/>
              <a:t>비교 연산자로 풀어 쓸 때 해당 조건을 </a:t>
            </a:r>
            <a:r>
              <a:rPr lang="ko-KR" altLang="en-US" sz="1400" dirty="0" err="1"/>
              <a:t>유의해야함</a:t>
            </a:r>
            <a:r>
              <a:rPr lang="en-US" altLang="ko-KR" sz="1400"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문자열</a:t>
            </a:r>
            <a:r>
              <a:rPr lang="en-US" altLang="ko-KR" sz="1400" dirty="0"/>
              <a:t>/</a:t>
            </a:r>
            <a:r>
              <a:rPr lang="ko-KR" altLang="en-US" sz="1400" dirty="0"/>
              <a:t>날짜 비교는 </a:t>
            </a:r>
            <a:r>
              <a:rPr lang="en-US" altLang="ko-KR" sz="1400" dirty="0"/>
              <a:t>DB </a:t>
            </a:r>
            <a:r>
              <a:rPr lang="ko-KR" altLang="en-US" sz="1400" dirty="0"/>
              <a:t>설정에 따라 다르게 동작</a:t>
            </a:r>
            <a:br>
              <a:rPr lang="en-US" altLang="ko-KR" sz="1400" dirty="0"/>
            </a:br>
            <a:r>
              <a:rPr lang="ko-KR" altLang="en-US" sz="1400" dirty="0"/>
              <a:t>대소문자 구분 여부</a:t>
            </a:r>
            <a:r>
              <a:rPr lang="en-US" altLang="ko-KR" sz="1400" dirty="0"/>
              <a:t>, </a:t>
            </a:r>
            <a:r>
              <a:rPr lang="ko-KR" altLang="en-US" sz="1400" dirty="0"/>
              <a:t>앞뒤 공백 포함 여부</a:t>
            </a:r>
            <a:r>
              <a:rPr lang="en-US" altLang="ko-KR" sz="1400" dirty="0"/>
              <a:t>, </a:t>
            </a:r>
            <a:r>
              <a:rPr lang="ko-KR" altLang="en-US" sz="1400" dirty="0"/>
              <a:t>날짜를 문자열로 비교할 때 포맷 불일치로 조건이 적용되지 않아 수집된 </a:t>
            </a:r>
            <a:r>
              <a:rPr lang="en-US" altLang="ko-KR" sz="1400" dirty="0"/>
              <a:t>Data</a:t>
            </a:r>
            <a:r>
              <a:rPr lang="ko-KR" altLang="en-US" sz="1400" dirty="0"/>
              <a:t> 파악이 우선</a:t>
            </a:r>
          </a:p>
        </p:txBody>
      </p:sp>
    </p:spTree>
    <p:extLst>
      <p:ext uri="{BB962C8B-B14F-4D97-AF65-F5344CB8AC3E}">
        <p14:creationId xmlns:p14="http://schemas.microsoft.com/office/powerpoint/2010/main" val="1457023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712B-457D-9AEC-3385-B8E1DC05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E9A9D-244C-2003-8BE4-95A595E8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ko-KR" altLang="en-US" dirty="0"/>
              <a:t>집계함수 </a:t>
            </a:r>
            <a:r>
              <a:rPr lang="en-US" altLang="ko-KR" dirty="0"/>
              <a:t>5</a:t>
            </a:r>
            <a:r>
              <a:rPr lang="ko-KR" altLang="en-US" dirty="0"/>
              <a:t>종 </a:t>
            </a:r>
            <a:r>
              <a:rPr lang="en-US" altLang="ko-KR" dirty="0"/>
              <a:t>(COUNT, SUM, AVG, MIN, MAX)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72F72BD4-8B31-51AF-4CCC-8BEAFA00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99ACF-4A17-D925-3BA8-DDF45A266107}"/>
              </a:ext>
            </a:extLst>
          </p:cNvPr>
          <p:cNvSpPr txBox="1"/>
          <p:nvPr/>
        </p:nvSpPr>
        <p:spPr>
          <a:xfrm>
            <a:off x="475735" y="2103291"/>
            <a:ext cx="108986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COUNT(*) = </a:t>
            </a:r>
            <a:r>
              <a:rPr lang="ko-KR" altLang="en-US" dirty="0"/>
              <a:t>행 수</a:t>
            </a:r>
            <a:r>
              <a:rPr lang="en-US" altLang="ko-KR" dirty="0"/>
              <a:t>, COUNT(</a:t>
            </a:r>
            <a:r>
              <a:rPr lang="ko-KR" altLang="en-US" dirty="0"/>
              <a:t>열</a:t>
            </a:r>
            <a:r>
              <a:rPr lang="en-US" altLang="ko-KR" dirty="0"/>
              <a:t>) = </a:t>
            </a:r>
            <a:r>
              <a:rPr lang="ko-KR" altLang="en-US" dirty="0"/>
              <a:t>값이 있는 행 수</a:t>
            </a:r>
            <a:r>
              <a:rPr lang="en-US" altLang="ko-KR" dirty="0"/>
              <a:t>(NULL </a:t>
            </a:r>
            <a:r>
              <a:rPr lang="ko-KR" altLang="en-US" dirty="0"/>
              <a:t>제외</a:t>
            </a:r>
            <a:r>
              <a:rPr lang="en-US" altLang="ko-KR" dirty="0"/>
              <a:t>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SUM, AVG, MIN, MAX</a:t>
            </a:r>
            <a:r>
              <a:rPr lang="ko-KR" altLang="en-US" dirty="0"/>
              <a:t>는 모두 </a:t>
            </a:r>
            <a:r>
              <a:rPr lang="en-US" altLang="ko-KR" dirty="0"/>
              <a:t>NULL</a:t>
            </a:r>
            <a:r>
              <a:rPr lang="ko-KR" altLang="en-US" dirty="0"/>
              <a:t>을 계산에서 제외함 </a:t>
            </a:r>
            <a:r>
              <a:rPr lang="en-US" altLang="ko-KR" dirty="0"/>
              <a:t>— NULL</a:t>
            </a:r>
            <a:r>
              <a:rPr lang="ko-KR" altLang="en-US" dirty="0"/>
              <a:t>을 </a:t>
            </a:r>
            <a:r>
              <a:rPr lang="en-US" altLang="ko-KR" dirty="0"/>
              <a:t>0</a:t>
            </a:r>
            <a:r>
              <a:rPr lang="ko-KR" altLang="en-US" dirty="0"/>
              <a:t>으로 취급하는 게 아님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열이 전부 </a:t>
            </a:r>
            <a:r>
              <a:rPr lang="en-US" altLang="ko-KR" dirty="0"/>
              <a:t>NULL</a:t>
            </a:r>
            <a:r>
              <a:rPr lang="ko-KR" altLang="en-US" dirty="0"/>
              <a:t>이면 </a:t>
            </a:r>
            <a:r>
              <a:rPr lang="en-US" altLang="ko-KR" dirty="0"/>
              <a:t>SUM</a:t>
            </a:r>
            <a:r>
              <a:rPr lang="ko-KR" altLang="en-US" dirty="0"/>
              <a:t>도 </a:t>
            </a:r>
            <a:r>
              <a:rPr lang="en-US" altLang="ko-KR" dirty="0"/>
              <a:t>0</a:t>
            </a:r>
            <a:r>
              <a:rPr lang="ko-KR" altLang="en-US" dirty="0"/>
              <a:t>이 아니라 </a:t>
            </a:r>
            <a:r>
              <a:rPr lang="en-US" altLang="ko-KR" dirty="0"/>
              <a:t>NULL</a:t>
            </a:r>
            <a:r>
              <a:rPr lang="ko-KR" altLang="en-US" dirty="0"/>
              <a:t>이 나옴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집계함수와 </a:t>
            </a:r>
            <a:r>
              <a:rPr lang="ko-KR" altLang="en-US" dirty="0" err="1"/>
              <a:t>비집계</a:t>
            </a:r>
            <a:r>
              <a:rPr lang="ko-KR" altLang="en-US" dirty="0"/>
              <a:t> 열을 같이 </a:t>
            </a:r>
            <a:r>
              <a:rPr lang="en-US" altLang="ko-KR" dirty="0"/>
              <a:t>SELECT</a:t>
            </a:r>
            <a:r>
              <a:rPr lang="ko-KR" altLang="en-US" dirty="0"/>
              <a:t>할 땐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ko-KR" altLang="en-US" dirty="0" err="1"/>
              <a:t>비집계</a:t>
            </a:r>
            <a:r>
              <a:rPr lang="ko-KR" altLang="en-US" dirty="0"/>
              <a:t> 열이 반드시 </a:t>
            </a:r>
            <a:r>
              <a:rPr lang="en-US" altLang="ko-KR" dirty="0"/>
              <a:t>GROUP BY</a:t>
            </a:r>
            <a:r>
              <a:rPr lang="ko-KR" altLang="en-US" dirty="0"/>
              <a:t>에 있어야 함</a:t>
            </a:r>
            <a:br>
              <a:rPr lang="en-US" altLang="ko-KR" dirty="0"/>
            </a:br>
            <a:r>
              <a:rPr lang="ko-KR" altLang="en-US" dirty="0"/>
              <a:t>없으면 에러이거나</a:t>
            </a:r>
            <a:r>
              <a:rPr lang="en-US" altLang="ko-KR" dirty="0"/>
              <a:t> </a:t>
            </a:r>
            <a:r>
              <a:rPr lang="ko-KR" altLang="en-US" dirty="0"/>
              <a:t>값이 무작위로 나옴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COUNT(DISTINCT 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처럼 집계함수 안에 </a:t>
            </a:r>
            <a:r>
              <a:rPr lang="en-US" altLang="ko-KR" dirty="0"/>
              <a:t>DISTINCT</a:t>
            </a:r>
            <a:r>
              <a:rPr lang="ko-KR" altLang="en-US" dirty="0"/>
              <a:t>를 넣어 사용 가능</a:t>
            </a:r>
            <a:br>
              <a:rPr lang="en-US" altLang="ko-KR" dirty="0"/>
            </a:br>
            <a:r>
              <a:rPr lang="ko-KR" altLang="en-US" dirty="0"/>
              <a:t>중복을 빼고 세야 하는데 깜빡하고 그냥 </a:t>
            </a:r>
            <a:r>
              <a:rPr lang="en-US" altLang="ko-KR" dirty="0"/>
              <a:t>COUNT(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만 쓰면 값이 </a:t>
            </a:r>
            <a:r>
              <a:rPr lang="ko-KR" altLang="en-US" dirty="0" err="1"/>
              <a:t>부풀려짐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871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9CF9-ABD1-D825-D994-1ACBE289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A5641-99D3-86FE-A1A3-363E71F1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dirty="0"/>
              <a:t>GROUP BY · HAVING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DEA3882D-1AC4-F95F-658F-64EFE4B1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15CFF-011F-EC69-B151-44C41B9150FA}"/>
              </a:ext>
            </a:extLst>
          </p:cNvPr>
          <p:cNvSpPr txBox="1"/>
          <p:nvPr/>
        </p:nvSpPr>
        <p:spPr>
          <a:xfrm>
            <a:off x="475735" y="2103291"/>
            <a:ext cx="108986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WHERE(</a:t>
            </a:r>
            <a:r>
              <a:rPr lang="ko-KR" altLang="en-US" dirty="0"/>
              <a:t>행 필터</a:t>
            </a:r>
            <a:r>
              <a:rPr lang="en-US" altLang="ko-KR" dirty="0"/>
              <a:t>, GROUP BY </a:t>
            </a:r>
            <a:r>
              <a:rPr lang="ko-KR" altLang="en-US" dirty="0"/>
              <a:t>이전</a:t>
            </a:r>
            <a:r>
              <a:rPr lang="en-US" altLang="ko-KR" dirty="0"/>
              <a:t>) vs HAVING(</a:t>
            </a:r>
            <a:r>
              <a:rPr lang="ko-KR" altLang="en-US" dirty="0"/>
              <a:t>그룹 필터</a:t>
            </a:r>
            <a:r>
              <a:rPr lang="en-US" altLang="ko-KR" dirty="0"/>
              <a:t>, </a:t>
            </a:r>
            <a:r>
              <a:rPr lang="ko-KR" altLang="en-US" dirty="0"/>
              <a:t>집계 이후</a:t>
            </a:r>
            <a:r>
              <a:rPr lang="en-US" altLang="ko-KR" dirty="0"/>
              <a:t>)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SELECT</a:t>
            </a:r>
            <a:r>
              <a:rPr lang="ko-KR" altLang="en-US" dirty="0"/>
              <a:t>에 넣은 </a:t>
            </a:r>
            <a:r>
              <a:rPr lang="ko-KR" altLang="en-US" dirty="0" err="1"/>
              <a:t>비집계</a:t>
            </a:r>
            <a:r>
              <a:rPr lang="ko-KR" altLang="en-US" dirty="0"/>
              <a:t> 열은 반드시 </a:t>
            </a:r>
            <a:r>
              <a:rPr lang="en-US" altLang="ko-KR" dirty="0"/>
              <a:t>GROUP BY</a:t>
            </a:r>
            <a:r>
              <a:rPr lang="ko-KR" altLang="en-US" dirty="0"/>
              <a:t>에도 있어야 함 </a:t>
            </a:r>
            <a:r>
              <a:rPr lang="en-US" altLang="ko-KR" dirty="0"/>
              <a:t>— </a:t>
            </a:r>
            <a:r>
              <a:rPr lang="ko-KR" altLang="en-US" dirty="0"/>
              <a:t>없으면 </a:t>
            </a:r>
            <a:r>
              <a:rPr lang="en-US" altLang="ko-KR" dirty="0"/>
              <a:t>"</a:t>
            </a:r>
            <a:r>
              <a:rPr lang="ko-KR" altLang="en-US" dirty="0"/>
              <a:t>이 값을 어느 행 기준으로 보여줄지</a:t>
            </a:r>
            <a:r>
              <a:rPr lang="en-US" altLang="ko-KR" dirty="0"/>
              <a:t>" </a:t>
            </a:r>
            <a:r>
              <a:rPr lang="ko-KR" altLang="en-US" dirty="0"/>
              <a:t>정의가 안 돼서 에러이거나 예측 불가능한 결과가 나옴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GROUP BY</a:t>
            </a:r>
            <a:r>
              <a:rPr lang="ko-KR" altLang="en-US" dirty="0"/>
              <a:t>는 그룹을 </a:t>
            </a:r>
            <a:r>
              <a:rPr lang="en-US" altLang="ko-KR" dirty="0"/>
              <a:t>"</a:t>
            </a:r>
            <a:r>
              <a:rPr lang="ko-KR" altLang="en-US" dirty="0"/>
              <a:t>묶는</a:t>
            </a:r>
            <a:r>
              <a:rPr lang="en-US" altLang="ko-KR" dirty="0"/>
              <a:t>" </a:t>
            </a:r>
            <a:r>
              <a:rPr lang="ko-KR" altLang="en-US" dirty="0"/>
              <a:t>것이지 </a:t>
            </a:r>
            <a:r>
              <a:rPr lang="en-US" altLang="ko-KR" dirty="0"/>
              <a:t>"</a:t>
            </a:r>
            <a:r>
              <a:rPr lang="ko-KR" altLang="en-US" dirty="0"/>
              <a:t>정렬</a:t>
            </a:r>
            <a:r>
              <a:rPr lang="en-US" altLang="ko-KR" dirty="0"/>
              <a:t>"</a:t>
            </a:r>
            <a:r>
              <a:rPr lang="ko-KR" altLang="en-US" dirty="0"/>
              <a:t>이 아님 </a:t>
            </a:r>
            <a:r>
              <a:rPr lang="en-US" altLang="ko-KR" dirty="0"/>
              <a:t>— </a:t>
            </a:r>
            <a:r>
              <a:rPr lang="ko-KR" altLang="en-US" dirty="0"/>
              <a:t>결과 순서가 보장되길 원하면 별도로 </a:t>
            </a:r>
            <a:r>
              <a:rPr lang="en-US" altLang="ko-KR" dirty="0"/>
              <a:t>ORDER BY</a:t>
            </a:r>
            <a:r>
              <a:rPr lang="ko-KR" altLang="en-US" dirty="0"/>
              <a:t>를 붙여야 함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성능 관점</a:t>
            </a:r>
            <a:r>
              <a:rPr lang="en-US" altLang="ko-KR" dirty="0"/>
              <a:t>: </a:t>
            </a:r>
            <a:r>
              <a:rPr lang="ko-KR" altLang="en-US" dirty="0"/>
              <a:t>행 단위로 걸러도 되는 조건은 </a:t>
            </a:r>
            <a:r>
              <a:rPr lang="en-US" altLang="ko-KR" dirty="0"/>
              <a:t>HAVING</a:t>
            </a:r>
            <a:r>
              <a:rPr lang="ko-KR" altLang="en-US" dirty="0"/>
              <a:t>이 아니라 </a:t>
            </a:r>
            <a:r>
              <a:rPr lang="en-US" altLang="ko-KR" dirty="0"/>
              <a:t>WHERE</a:t>
            </a:r>
            <a:r>
              <a:rPr lang="ko-KR" altLang="en-US" dirty="0"/>
              <a:t>에 두는 게 유리함 </a:t>
            </a:r>
            <a:r>
              <a:rPr lang="en-US" altLang="ko-KR" dirty="0"/>
              <a:t>— </a:t>
            </a:r>
            <a:r>
              <a:rPr lang="ko-KR" altLang="en-US" dirty="0"/>
              <a:t>그룹화 전에 행 수를 줄이기 때문</a:t>
            </a:r>
          </a:p>
        </p:txBody>
      </p:sp>
    </p:spTree>
    <p:extLst>
      <p:ext uri="{BB962C8B-B14F-4D97-AF65-F5344CB8AC3E}">
        <p14:creationId xmlns:p14="http://schemas.microsoft.com/office/powerpoint/2010/main" val="361529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4992-99B9-A85C-BABC-75510A4E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1FA5E-69F0-0FC7-74EA-0BF252A7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dirty="0"/>
              <a:t>절의 논리적 처리 순서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030FFD85-BE09-1AAD-DFE2-5BA4991D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08597-4D82-CB51-2CD3-2E2BCF3947E5}"/>
              </a:ext>
            </a:extLst>
          </p:cNvPr>
          <p:cNvSpPr txBox="1"/>
          <p:nvPr/>
        </p:nvSpPr>
        <p:spPr>
          <a:xfrm>
            <a:off x="475735" y="2103291"/>
            <a:ext cx="108986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FROM → WHERE → GROUP BY → HAVING → SELECT → ORDER BY → LIMIT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위 순서는 작성 순서와 다르다는 게 핵심 함정 </a:t>
            </a:r>
            <a:r>
              <a:rPr lang="en-US" altLang="ko-KR" dirty="0"/>
              <a:t>— </a:t>
            </a:r>
            <a:r>
              <a:rPr lang="ko-KR" altLang="en-US" dirty="0"/>
              <a:t>코드는 </a:t>
            </a:r>
            <a:r>
              <a:rPr lang="en-US" altLang="ko-KR" dirty="0"/>
              <a:t>SELECT</a:t>
            </a:r>
            <a:r>
              <a:rPr lang="ko-KR" altLang="en-US" dirty="0"/>
              <a:t>가 맨 위에 있지만</a:t>
            </a:r>
            <a:r>
              <a:rPr lang="en-US" altLang="ko-KR" dirty="0"/>
              <a:t>, </a:t>
            </a:r>
            <a:r>
              <a:rPr lang="ko-KR" altLang="en-US" dirty="0"/>
              <a:t>실제로는 </a:t>
            </a:r>
            <a:r>
              <a:rPr lang="en-US" altLang="ko-KR" dirty="0"/>
              <a:t>FROM/WHERE</a:t>
            </a:r>
            <a:r>
              <a:rPr lang="ko-KR" altLang="en-US" dirty="0"/>
              <a:t>가 제일 먼저 실행됨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별칭은 </a:t>
            </a:r>
            <a:r>
              <a:rPr lang="en-US" altLang="ko-KR" dirty="0"/>
              <a:t>SELECT </a:t>
            </a:r>
            <a:r>
              <a:rPr lang="ko-KR" altLang="en-US" dirty="0"/>
              <a:t>이후에 처리되는 절</a:t>
            </a:r>
            <a:r>
              <a:rPr lang="en-US" altLang="ko-KR" dirty="0"/>
              <a:t>(ORDER BY)</a:t>
            </a:r>
            <a:r>
              <a:rPr lang="ko-KR" altLang="en-US" dirty="0"/>
              <a:t>에서만 원칙적으로 사용 가능 </a:t>
            </a:r>
            <a:r>
              <a:rPr lang="en-US" altLang="ko-KR" dirty="0"/>
              <a:t>— WHERE·HAVING(</a:t>
            </a:r>
            <a:r>
              <a:rPr lang="ko-KR" altLang="en-US" dirty="0"/>
              <a:t>집계 조건 아닌 경우</a:t>
            </a:r>
            <a:r>
              <a:rPr lang="en-US" altLang="ko-KR" dirty="0"/>
              <a:t>)</a:t>
            </a:r>
            <a:r>
              <a:rPr lang="ko-KR" altLang="en-US" dirty="0"/>
              <a:t>에서는 원래 식을 그대로 써야 안전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LIMIT</a:t>
            </a:r>
            <a:r>
              <a:rPr lang="ko-KR" altLang="en-US" dirty="0"/>
              <a:t>은 이 순서의 맨 마지막 </a:t>
            </a:r>
            <a:r>
              <a:rPr lang="en-US" altLang="ko-KR" dirty="0"/>
              <a:t>— </a:t>
            </a:r>
            <a:r>
              <a:rPr lang="ko-KR" altLang="en-US" dirty="0"/>
              <a:t>정렬까지 다 끝난 다음에 </a:t>
            </a:r>
            <a:r>
              <a:rPr lang="ko-KR" altLang="en-US" dirty="0" err="1"/>
              <a:t>잘라냄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042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F529-5677-1F26-C83C-FFBC12E8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000D6-EC08-F53A-C3FE-CADE9541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dirty="0"/>
              <a:t>INNER JOIN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1A5C6BD2-7AAC-4E99-915E-0CBE2385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7DB9A-5349-8ED1-0C0D-42DD6C6E9895}"/>
              </a:ext>
            </a:extLst>
          </p:cNvPr>
          <p:cNvSpPr txBox="1"/>
          <p:nvPr/>
        </p:nvSpPr>
        <p:spPr>
          <a:xfrm>
            <a:off x="475735" y="2103291"/>
            <a:ext cx="1089866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양쪽에 매칭되는 행만 남고</a:t>
            </a:r>
            <a:r>
              <a:rPr lang="en-US" altLang="ko-KR" dirty="0"/>
              <a:t>, </a:t>
            </a:r>
            <a:r>
              <a:rPr lang="ko-KR" altLang="en-US" dirty="0"/>
              <a:t>한쪽에만 있는 행은 통째로 사라짐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조인 조건이 느슨하거나</a:t>
            </a:r>
            <a:r>
              <a:rPr lang="en-US" altLang="ko-KR" dirty="0"/>
              <a:t>(</a:t>
            </a:r>
            <a:r>
              <a:rPr lang="ko-KR" altLang="en-US" dirty="0"/>
              <a:t>키를 일부만 걸거나</a:t>
            </a:r>
            <a:r>
              <a:rPr lang="en-US" altLang="ko-KR" dirty="0"/>
              <a:t>) </a:t>
            </a:r>
            <a:r>
              <a:rPr lang="ko-KR" altLang="en-US" dirty="0"/>
              <a:t>상대 테이블이 </a:t>
            </a:r>
            <a:r>
              <a:rPr lang="en-US" altLang="ko-KR" dirty="0"/>
              <a:t>1:N </a:t>
            </a:r>
            <a:r>
              <a:rPr lang="ko-KR" altLang="en-US" dirty="0"/>
              <a:t>관계면 행이 </a:t>
            </a:r>
            <a:r>
              <a:rPr lang="ko-KR" altLang="en-US" dirty="0" err="1"/>
              <a:t>부풀려짐</a:t>
            </a:r>
            <a:r>
              <a:rPr lang="en-US" altLang="ko-KR" dirty="0"/>
              <a:t>(fan-out)</a:t>
            </a:r>
            <a:br>
              <a:rPr lang="en-US" altLang="ko-KR" dirty="0"/>
            </a:br>
            <a:r>
              <a:rPr lang="ko-KR" altLang="en-US" dirty="0"/>
              <a:t>한 고객에 주문이 </a:t>
            </a:r>
            <a:r>
              <a:rPr lang="en-US" altLang="ko-KR" dirty="0"/>
              <a:t>3</a:t>
            </a:r>
            <a:r>
              <a:rPr lang="ko-KR" altLang="en-US" dirty="0"/>
              <a:t>건이면 고객 정보가 </a:t>
            </a:r>
            <a:r>
              <a:rPr lang="en-US" altLang="ko-KR" dirty="0"/>
              <a:t>3</a:t>
            </a:r>
            <a:r>
              <a:rPr lang="ko-KR" altLang="en-US" dirty="0"/>
              <a:t>번 중복돼서 나타남</a:t>
            </a:r>
            <a:r>
              <a:rPr lang="en-US" altLang="ko-KR" dirty="0"/>
              <a:t>. </a:t>
            </a:r>
            <a:r>
              <a:rPr lang="ko-KR" altLang="en-US" dirty="0"/>
              <a:t>이 상태에서 </a:t>
            </a:r>
            <a:r>
              <a:rPr lang="en-US" altLang="ko-KR" dirty="0"/>
              <a:t>SUM/COUNT</a:t>
            </a:r>
            <a:r>
              <a:rPr lang="ko-KR" altLang="en-US" dirty="0"/>
              <a:t>를 걸면 값이 실제보다 크게 나오는 이중 함정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LEFT JOIN</a:t>
            </a:r>
            <a:r>
              <a:rPr lang="ko-KR" altLang="en-US" dirty="0"/>
              <a:t>을 의도했는데 </a:t>
            </a:r>
            <a:r>
              <a:rPr lang="en-US" altLang="ko-KR" dirty="0"/>
              <a:t>WHERE</a:t>
            </a:r>
            <a:r>
              <a:rPr lang="ko-KR" altLang="en-US" dirty="0"/>
              <a:t>절에 오른쪽 테이블 조건을 걸면 사실상 </a:t>
            </a:r>
            <a:r>
              <a:rPr lang="en-US" altLang="ko-KR" dirty="0"/>
              <a:t>INNER JOIN</a:t>
            </a:r>
            <a:r>
              <a:rPr lang="ko-KR" altLang="en-US" dirty="0"/>
              <a:t>처럼 동작함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: LEFT JOIN orders ... WHERE </a:t>
            </a:r>
            <a:r>
              <a:rPr lang="en-US" altLang="ko-KR" dirty="0" err="1"/>
              <a:t>orders.status</a:t>
            </a:r>
            <a:r>
              <a:rPr lang="en-US" altLang="ko-KR" dirty="0"/>
              <a:t> = 'paid'. </a:t>
            </a:r>
            <a:r>
              <a:rPr lang="ko-KR" altLang="en-US" dirty="0"/>
              <a:t>매칭 안 된 행은 </a:t>
            </a:r>
            <a:r>
              <a:rPr lang="en-US" altLang="ko-KR" dirty="0"/>
              <a:t>orders </a:t>
            </a:r>
            <a:r>
              <a:rPr lang="ko-KR" altLang="en-US" dirty="0"/>
              <a:t>열이 </a:t>
            </a:r>
            <a:r>
              <a:rPr lang="en-US" altLang="ko-KR" dirty="0"/>
              <a:t>NULL</a:t>
            </a:r>
            <a:r>
              <a:rPr lang="ko-KR" altLang="en-US" dirty="0"/>
              <a:t>이라 이 조건을 통과 못하고 </a:t>
            </a:r>
            <a:r>
              <a:rPr lang="ko-KR" altLang="en-US" dirty="0" err="1"/>
              <a:t>걸러짐</a:t>
            </a:r>
            <a:r>
              <a:rPr lang="en-US" altLang="ko-KR" dirty="0"/>
              <a:t>. LEFT JOIN</a:t>
            </a:r>
            <a:r>
              <a:rPr lang="ko-KR" altLang="en-US" dirty="0"/>
              <a:t>을 유지하려면 이 조건은 </a:t>
            </a:r>
            <a:r>
              <a:rPr lang="en-US" altLang="ko-KR" dirty="0"/>
              <a:t>WHERE</a:t>
            </a:r>
            <a:r>
              <a:rPr lang="ko-KR" altLang="en-US" dirty="0"/>
              <a:t>가 아니라 </a:t>
            </a:r>
            <a:r>
              <a:rPr lang="en-US" altLang="ko-KR" dirty="0"/>
              <a:t>ON</a:t>
            </a:r>
            <a:r>
              <a:rPr lang="ko-KR" altLang="en-US" dirty="0"/>
              <a:t>절에 있어야 함</a:t>
            </a:r>
          </a:p>
        </p:txBody>
      </p:sp>
    </p:spTree>
    <p:extLst>
      <p:ext uri="{BB962C8B-B14F-4D97-AF65-F5344CB8AC3E}">
        <p14:creationId xmlns:p14="http://schemas.microsoft.com/office/powerpoint/2010/main" val="356478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EA96-E885-2D68-2502-BE7E041A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FC147-8D98-1F63-3198-9A695EB2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dirty="0"/>
              <a:t>LEFT JOIN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03D0E531-8E99-170B-753A-2CCD776C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57EFB-8B1A-6824-28F4-AD857189CA44}"/>
              </a:ext>
            </a:extLst>
          </p:cNvPr>
          <p:cNvSpPr txBox="1"/>
          <p:nvPr/>
        </p:nvSpPr>
        <p:spPr>
          <a:xfrm>
            <a:off x="475735" y="2103291"/>
            <a:ext cx="108986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LEFT</a:t>
            </a:r>
            <a:r>
              <a:rPr lang="ko-KR" altLang="en-US" dirty="0"/>
              <a:t> 테이블의 모든 행은 반드시 남고</a:t>
            </a:r>
            <a:r>
              <a:rPr lang="en-US" altLang="ko-KR" dirty="0"/>
              <a:t>, </a:t>
            </a:r>
            <a:r>
              <a:rPr lang="ko-KR" altLang="en-US" dirty="0"/>
              <a:t>매칭이 없으면 </a:t>
            </a:r>
            <a:r>
              <a:rPr lang="en-US" altLang="ko-KR" dirty="0"/>
              <a:t>RIGHT</a:t>
            </a:r>
            <a:r>
              <a:rPr lang="ko-KR" altLang="en-US" dirty="0"/>
              <a:t> 열은 전부 </a:t>
            </a:r>
            <a:r>
              <a:rPr lang="en-US" altLang="ko-KR" dirty="0"/>
              <a:t>NULL</a:t>
            </a:r>
            <a:r>
              <a:rPr lang="ko-KR" altLang="en-US" dirty="0"/>
              <a:t>로 </a:t>
            </a:r>
            <a:r>
              <a:rPr lang="ko-KR" altLang="en-US" dirty="0" err="1"/>
              <a:t>채워짐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COUNT(*)</a:t>
            </a:r>
            <a:r>
              <a:rPr lang="ko-KR" altLang="en-US" dirty="0"/>
              <a:t>는 매칭 안 된 행도 하나의 행으로 출력됨</a:t>
            </a:r>
            <a:br>
              <a:rPr lang="en-US" altLang="ko-KR" dirty="0"/>
            </a:br>
            <a:r>
              <a:rPr lang="en-US" altLang="ko-KR" dirty="0"/>
              <a:t>NULL</a:t>
            </a:r>
            <a:r>
              <a:rPr lang="ko-KR" altLang="en-US" dirty="0"/>
              <a:t>을 제외하려면 해당 열을 </a:t>
            </a:r>
            <a:r>
              <a:rPr lang="en-US" altLang="ko-KR" dirty="0"/>
              <a:t>COUNT </a:t>
            </a:r>
            <a:r>
              <a:rPr lang="ko-KR" altLang="en-US" dirty="0"/>
              <a:t>해야함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/>
              <a:t>LEFT JOIN</a:t>
            </a:r>
            <a:r>
              <a:rPr lang="ko-KR" altLang="en-US" dirty="0"/>
              <a:t>을 여러 번 </a:t>
            </a:r>
            <a:r>
              <a:rPr lang="ko-KR" altLang="en-US" dirty="0" err="1"/>
              <a:t>이어붙이면</a:t>
            </a:r>
            <a:r>
              <a:rPr lang="en-US" altLang="ko-KR" dirty="0"/>
              <a:t>, </a:t>
            </a:r>
            <a:r>
              <a:rPr lang="ko-KR" altLang="en-US" dirty="0"/>
              <a:t>앞 단계에서 이미 </a:t>
            </a:r>
            <a:r>
              <a:rPr lang="en-US" altLang="ko-KR" dirty="0"/>
              <a:t>NULL</a:t>
            </a:r>
            <a:r>
              <a:rPr lang="ko-KR" altLang="en-US" dirty="0"/>
              <a:t>이 된 값 위에 다음 </a:t>
            </a:r>
            <a:r>
              <a:rPr lang="en-US" altLang="ko-KR" dirty="0"/>
              <a:t>JOIN</a:t>
            </a:r>
            <a:r>
              <a:rPr lang="ko-KR" altLang="en-US" dirty="0"/>
              <a:t>을 거는 셈이라 </a:t>
            </a:r>
            <a:r>
              <a:rPr lang="en-US" altLang="ko-KR" dirty="0"/>
              <a:t>NULL</a:t>
            </a:r>
            <a:r>
              <a:rPr lang="ko-KR" altLang="en-US" dirty="0"/>
              <a:t>이 계속 전파됨 </a:t>
            </a:r>
            <a:r>
              <a:rPr lang="en-US" altLang="ko-KR" dirty="0"/>
              <a:t>— </a:t>
            </a:r>
            <a:r>
              <a:rPr lang="ko-KR" altLang="en-US" dirty="0"/>
              <a:t>어느 </a:t>
            </a:r>
            <a:r>
              <a:rPr lang="en-US" altLang="ko-KR" dirty="0"/>
              <a:t>JOIN </a:t>
            </a:r>
            <a:r>
              <a:rPr lang="ko-KR" altLang="en-US" dirty="0"/>
              <a:t>단계에서 값이 비었는지 추적하기 </a:t>
            </a:r>
            <a:r>
              <a:rPr lang="ko-KR" altLang="en-US" dirty="0" err="1"/>
              <a:t>어려워짐</a:t>
            </a:r>
            <a:endParaRPr lang="en-US" altLang="ko-K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dirty="0"/>
              <a:t>오른쪽 테이블이 </a:t>
            </a:r>
            <a:r>
              <a:rPr lang="en-US" altLang="ko-KR" dirty="0"/>
              <a:t>1:N </a:t>
            </a:r>
            <a:r>
              <a:rPr lang="ko-KR" altLang="en-US" dirty="0"/>
              <a:t>관계면 </a:t>
            </a:r>
            <a:r>
              <a:rPr lang="en-US" altLang="ko-KR" dirty="0"/>
              <a:t>INNER JOIN</a:t>
            </a:r>
            <a:r>
              <a:rPr lang="ko-KR" altLang="en-US" dirty="0"/>
              <a:t>과 마찬가지로 왼쪽 행이 여러 번 복제되어 나타남 </a:t>
            </a:r>
            <a:r>
              <a:rPr lang="en-US" altLang="ko-KR" dirty="0"/>
              <a:t>— "</a:t>
            </a:r>
            <a:r>
              <a:rPr lang="ko-KR" altLang="en-US" dirty="0"/>
              <a:t>행이 없어서 늘었나</a:t>
            </a:r>
            <a:r>
              <a:rPr lang="en-US" altLang="ko-KR" dirty="0"/>
              <a:t>, </a:t>
            </a:r>
            <a:r>
              <a:rPr lang="ko-KR" altLang="en-US" dirty="0"/>
              <a:t>관계가 </a:t>
            </a:r>
            <a:r>
              <a:rPr lang="en-US" altLang="ko-KR" dirty="0"/>
              <a:t>1:N</a:t>
            </a:r>
            <a:r>
              <a:rPr lang="ko-KR" altLang="en-US" dirty="0"/>
              <a:t>이라 늘었나</a:t>
            </a:r>
            <a:r>
              <a:rPr lang="en-US" altLang="ko-KR" dirty="0"/>
              <a:t>"</a:t>
            </a:r>
            <a:r>
              <a:rPr lang="ko-KR" altLang="en-US" dirty="0"/>
              <a:t>를 구분해서 봐야 함</a:t>
            </a:r>
          </a:p>
        </p:txBody>
      </p:sp>
    </p:spTree>
    <p:extLst>
      <p:ext uri="{BB962C8B-B14F-4D97-AF65-F5344CB8AC3E}">
        <p14:creationId xmlns:p14="http://schemas.microsoft.com/office/powerpoint/2010/main" val="359817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4718-BE7F-436E-8C69-BCE86012D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66E6D-319A-3FAE-F714-B263D8F09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00044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0_TF89213316_Win32_OJ108761954" id="{2C949246-E701-4358-AE1D-5E981A9339C9}" vid="{1C9D17EB-7AF8-47B4-A0BF-F0125A4D3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프레젠테이션</Template>
  <TotalTime>85</TotalTime>
  <Words>894</Words>
  <Application>Microsoft Office PowerPoint</Application>
  <PresentationFormat>와이드스크린</PresentationFormat>
  <Paragraphs>52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AccentBoxVTI</vt:lpstr>
      <vt:lpstr>SQL 데이터 분석 D01~D03 꿀팁</vt:lpstr>
      <vt:lpstr>WHERE</vt:lpstr>
      <vt:lpstr>집계함수 5종 (COUNT, SUM, AVG, MIN, MAX)</vt:lpstr>
      <vt:lpstr>GROUP BY · HAVING</vt:lpstr>
      <vt:lpstr>절의 논리적 처리 순서</vt:lpstr>
      <vt:lpstr>INNER JOIN</vt:lpstr>
      <vt:lpstr>LEFT JOIN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표스츄리</dc:creator>
  <cp:lastModifiedBy>표스츄리</cp:lastModifiedBy>
  <cp:revision>73</cp:revision>
  <dcterms:created xsi:type="dcterms:W3CDTF">2026-08-28T05:21:11Z</dcterms:created>
  <dcterms:modified xsi:type="dcterms:W3CDTF">2026-08-28T06:46:34Z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