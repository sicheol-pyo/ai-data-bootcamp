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8A63"/>
    <a:srgbClr val="F7F5EE"/>
    <a:srgbClr val="006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 autoAdjust="0"/>
    <p:restoredTop sz="92167" autoAdjust="0"/>
  </p:normalViewPr>
  <p:slideViewPr>
    <p:cSldViewPr snapToGrid="0" snapToObjects="1">
      <p:cViewPr varScale="1">
        <p:scale>
          <a:sx n="114" d="100"/>
          <a:sy n="114" d="100"/>
        </p:scale>
        <p:origin x="8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12121"/>
                </a:solidFill>
              </a:rPr>
              <a:t>Reward </a:t>
            </a:r>
            <a:r>
              <a:rPr lang="ko-KR" altLang="en-US" sz="1200" b="1">
                <a:solidFill>
                  <a:srgbClr val="212121"/>
                </a:solidFill>
              </a:rPr>
              <a:t>값별 완료율 </a:t>
            </a:r>
            <a:r>
              <a:rPr lang="en-US" altLang="ko-KR" sz="1200" b="1">
                <a:solidFill>
                  <a:srgbClr val="212121"/>
                </a:solidFill>
              </a:rPr>
              <a:t>(%) — </a:t>
            </a:r>
            <a:r>
              <a:rPr lang="ko-KR" altLang="en-US" sz="1200" b="1">
                <a:solidFill>
                  <a:srgbClr val="212121"/>
                </a:solidFill>
              </a:rPr>
              <a:t>보상이 클수록 오히려 완료율 하락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완료율</c:v>
                </c:pt>
              </c:strCache>
            </c:strRef>
          </c:tx>
          <c:spPr>
            <a:solidFill>
              <a:srgbClr val="006241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1212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reward=2</c:v>
                </c:pt>
                <c:pt idx="1">
                  <c:v>reward=3</c:v>
                </c:pt>
                <c:pt idx="2">
                  <c:v>reward=5</c:v>
                </c:pt>
                <c:pt idx="3">
                  <c:v>reward=10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59.8</c:v>
                </c:pt>
                <c:pt idx="1">
                  <c:v>60.1</c:v>
                </c:pt>
                <c:pt idx="2">
                  <c:v>50</c:v>
                </c:pt>
                <c:pt idx="3">
                  <c:v>38.799999999999997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8EC-4057-BFC3-2E39C3F566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100">
                <a:solidFill>
                  <a:srgbClr val="212121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12121"/>
                </a:solidFill>
              </a:rPr>
              <a:t>채널 조합별 수신율 </a:t>
            </a:r>
            <a:r>
              <a:rPr lang="en-US" altLang="ko-KR" sz="1200" b="1">
                <a:solidFill>
                  <a:srgbClr val="212121"/>
                </a:solidFill>
              </a:rPr>
              <a:t>(%) — Web·Email </a:t>
            </a:r>
            <a:r>
              <a:rPr lang="ko-KR" altLang="en-US" sz="1200" b="1">
                <a:solidFill>
                  <a:srgbClr val="212121"/>
                </a:solidFill>
              </a:rPr>
              <a:t>단독 조합은 크게 저조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수신율</c:v>
                </c:pt>
              </c:strCache>
            </c:strRef>
          </c:tx>
          <c:spPr>
            <a:solidFill>
              <a:srgbClr val="006241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1212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Mobile/Social
포함</c:v>
                </c:pt>
                <c:pt idx="1">
                  <c:v>Web+Email
조합만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78.599999999999994</c:v>
                </c:pt>
                <c:pt idx="1">
                  <c:v>34.6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3B0-4BA0-8E83-8ED16F72A7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100">
                <a:solidFill>
                  <a:srgbClr val="212121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12121"/>
                </a:solidFill>
              </a:rPr>
              <a:t>Difficulty </a:t>
            </a:r>
            <a:r>
              <a:rPr lang="ko-KR" altLang="en-US" sz="1200" b="1">
                <a:solidFill>
                  <a:srgbClr val="212121"/>
                </a:solidFill>
              </a:rPr>
              <a:t>값별 완료율 </a:t>
            </a:r>
            <a:r>
              <a:rPr lang="en-US" altLang="ko-KR" sz="1200" b="1">
                <a:solidFill>
                  <a:srgbClr val="212121"/>
                </a:solidFill>
              </a:rPr>
              <a:t>(%) — </a:t>
            </a:r>
            <a:r>
              <a:rPr lang="ko-KR" altLang="en-US" sz="1200" b="1">
                <a:solidFill>
                  <a:srgbClr val="212121"/>
                </a:solidFill>
              </a:rPr>
              <a:t>원자료는 비단조적</a:t>
            </a:r>
            <a:r>
              <a:rPr lang="en-US" altLang="ko-KR" sz="1200" b="1">
                <a:solidFill>
                  <a:srgbClr val="212121"/>
                </a:solidFill>
              </a:rPr>
              <a:t>, </a:t>
            </a:r>
            <a:r>
              <a:rPr lang="ko-KR" altLang="en-US" sz="1200" b="1">
                <a:solidFill>
                  <a:srgbClr val="212121"/>
                </a:solidFill>
              </a:rPr>
              <a:t>통제모델은 뚜렷한 음의 효과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완료율</c:v>
                </c:pt>
              </c:strCache>
            </c:strRef>
          </c:tx>
          <c:spPr>
            <a:solidFill>
              <a:srgbClr val="006241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1212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difficulty
=5</c:v>
                </c:pt>
                <c:pt idx="1">
                  <c:v>difficulty
=7</c:v>
                </c:pt>
                <c:pt idx="2">
                  <c:v>difficulty
=10</c:v>
                </c:pt>
                <c:pt idx="3">
                  <c:v>difficulty
=20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60.1</c:v>
                </c:pt>
                <c:pt idx="2">
                  <c:v>48.2</c:v>
                </c:pt>
                <c:pt idx="3">
                  <c:v>50.3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9A9-4747-80E4-23FEAA51C56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100">
                <a:solidFill>
                  <a:srgbClr val="212121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F5A7-4EB5-437D-BF76-CCC0A22165EA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1F3D5-EC27-4152-B060-69C525472C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4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1F3D5-EC27-4152-B060-69C525472C8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65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laude.ai/code/artifact/6fbaafa8-8dc9-410b-9819-9b9c9aea0608?open_in_browser=1&amp;via=user_open&amp;org=adc6c44b-275b-40d4-8ab5-6f1d7c2b8fd7&amp;sk=I2M96t3dFAhg6frOEQWJ4A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8211"/>
            <a:ext cx="10362895" cy="329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CBA258"/>
                </a:solidFill>
                <a:latin typeface="Noto Sans KR"/>
              </a:defRPr>
            </a:pPr>
            <a:r>
              <a:rPr dirty="0"/>
              <a:t>S</a:t>
            </a:r>
            <a:r>
              <a:rPr lang="en-US" dirty="0"/>
              <a:t>TABUCKS</a:t>
            </a:r>
            <a:r>
              <a:rPr dirty="0"/>
              <a:t> Offer Analytics</a:t>
            </a:r>
          </a:p>
          <a:p>
            <a:pPr>
              <a:spcAft>
                <a:spcPts val="2000"/>
              </a:spcAft>
              <a:defRPr sz="4000" b="1">
                <a:solidFill>
                  <a:srgbClr val="F3F3F3"/>
                </a:solidFill>
                <a:latin typeface="Noto Sans KR"/>
              </a:defRPr>
            </a:pPr>
            <a:r>
              <a:rPr lang="ko-KR" altLang="en-US" dirty="0" err="1"/>
              <a:t>오퍼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및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프로필</a:t>
            </a:r>
            <a:r>
              <a:rPr dirty="0"/>
              <a:t> </a:t>
            </a:r>
            <a:r>
              <a:rPr dirty="0" err="1"/>
              <a:t>기반</a:t>
            </a:r>
            <a:br>
              <a:rPr dirty="0"/>
            </a:br>
            <a:r>
              <a:rPr dirty="0" err="1"/>
              <a:t>완료율</a:t>
            </a:r>
            <a:r>
              <a:rPr dirty="0"/>
              <a:t> </a:t>
            </a:r>
            <a:r>
              <a:rPr lang="ko-KR" altLang="en-US" dirty="0"/>
              <a:t>차이</a:t>
            </a:r>
            <a:r>
              <a:rPr dirty="0"/>
              <a:t> </a:t>
            </a:r>
            <a:r>
              <a:rPr dirty="0" err="1"/>
              <a:t>요인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r>
              <a:rPr b="1" dirty="0"/>
              <a:t>Logic Tree &amp; Statistical Verification Report</a:t>
            </a:r>
            <a:endParaRPr lang="en-US" b="1" dirty="0"/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endParaRPr lang="en-US" dirty="0"/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endParaRPr lang="en-US" altLang="ko-KR" sz="1600" b="1" dirty="0">
              <a:solidFill>
                <a:srgbClr val="D4E9E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주영 없는 </a:t>
            </a:r>
            <a:r>
              <a:rPr lang="ko-KR" altLang="en-US" sz="1600" b="1" dirty="0" err="1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주영팀</a:t>
            </a:r>
            <a:endParaRPr lang="en-US" altLang="ko-KR" sz="1600" b="1" dirty="0">
              <a:solidFill>
                <a:srgbClr val="D4E9E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팀원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김서영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최서현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최주영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b="1" dirty="0" err="1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표시철</a:t>
            </a:r>
            <a:endParaRPr lang="en-US" altLang="ko-KR" sz="1600" b="1" dirty="0">
              <a:solidFill>
                <a:srgbClr val="D4E9E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82E4DF95-4B4F-8442-6767-AFDAAC7790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D91F64-F4AA-2847-63A9-E0B3A563B344}"/>
              </a:ext>
            </a:extLst>
          </p:cNvPr>
          <p:cNvSpPr txBox="1"/>
          <p:nvPr/>
        </p:nvSpPr>
        <p:spPr>
          <a:xfrm>
            <a:off x="502920" y="384048"/>
            <a:ext cx="10515600" cy="408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ko-KR" sz="2600" b="1" i="0" dirty="0">
                <a:solidFill>
                  <a:srgbClr val="006241"/>
                </a:solidFill>
                <a:latin typeface="Noto Sans KR"/>
              </a:rPr>
              <a:t>01. </a:t>
            </a:r>
            <a:r>
              <a:rPr lang="ko-KR" altLang="en-US" sz="2600" b="1" i="0" dirty="0">
                <a:solidFill>
                  <a:srgbClr val="006241"/>
                </a:solidFill>
                <a:latin typeface="Noto Sans KR"/>
              </a:rPr>
              <a:t>팀 소개 및 협업 프로세스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2F67F4E-D12C-D975-FB6B-8A13091F0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738202"/>
              </p:ext>
            </p:extLst>
          </p:nvPr>
        </p:nvGraphicFramePr>
        <p:xfrm>
          <a:off x="502920" y="1043334"/>
          <a:ext cx="1022821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406">
                  <a:extLst>
                    <a:ext uri="{9D8B030D-6E8A-4147-A177-3AD203B41FA5}">
                      <a16:colId xmlns:a16="http://schemas.microsoft.com/office/drawing/2014/main" val="3737167572"/>
                    </a:ext>
                  </a:extLst>
                </a:gridCol>
                <a:gridCol w="3409406">
                  <a:extLst>
                    <a:ext uri="{9D8B030D-6E8A-4147-A177-3AD203B41FA5}">
                      <a16:colId xmlns:a16="http://schemas.microsoft.com/office/drawing/2014/main" val="3444475658"/>
                    </a:ext>
                  </a:extLst>
                </a:gridCol>
                <a:gridCol w="3409406">
                  <a:extLst>
                    <a:ext uri="{9D8B030D-6E8A-4147-A177-3AD203B41FA5}">
                      <a16:colId xmlns:a16="http://schemas.microsoft.com/office/drawing/2014/main" val="4242505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457200" rtl="0" eaLnBrk="1" latinLnBrk="1" hangingPunct="1"/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Task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6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Comment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48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문제 정의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가설 트리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① 아이디어 발산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전원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②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취합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정제</a:t>
                      </a: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③ 통계 검증</a:t>
                      </a: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④ 결론 도출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343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지표 지도 그리기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87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원인 분해</a:t>
                      </a:r>
                      <a:b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로직트리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이슈 트리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99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통계적 검증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1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5.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머신러닝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적용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92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결론 및 의사결정 제안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92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대시보드 제작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디자인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채택</a:t>
                      </a:r>
                      <a:r>
                        <a:rPr lang="en-US" alt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89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발표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발표자료 준비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</a:p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8018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81ABDCD-FDC4-14A6-30FC-0FF0553BC7E3}"/>
              </a:ext>
            </a:extLst>
          </p:cNvPr>
          <p:cNvSpPr txBox="1"/>
          <p:nvPr/>
        </p:nvSpPr>
        <p:spPr>
          <a:xfrm>
            <a:off x="418202" y="5520337"/>
            <a:ext cx="726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등록 인원은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명이며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 프로젝트는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인이 진행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6CFC3-C3AF-E88E-04B6-75F3E09362EA}"/>
              </a:ext>
            </a:extLst>
          </p:cNvPr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2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02.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문제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정의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: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가설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트리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오퍼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(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행사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)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설계에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따라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완료율의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차이가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있는가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7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 dirty="0" err="1">
                <a:latin typeface="Noto Sans KR"/>
              </a:rPr>
              <a:t>스타벅스는</a:t>
            </a:r>
            <a:r>
              <a:rPr sz="1250" b="0" i="0" dirty="0">
                <a:latin typeface="Noto Sans KR"/>
              </a:rPr>
              <a:t> BOGO(1+1), Discount(</a:t>
            </a:r>
            <a:r>
              <a:rPr sz="1250" b="0" i="0" dirty="0" err="1">
                <a:latin typeface="Noto Sans KR"/>
              </a:rPr>
              <a:t>할인</a:t>
            </a:r>
            <a:r>
              <a:rPr sz="1250" b="0" i="0" dirty="0">
                <a:latin typeface="Noto Sans KR"/>
              </a:rPr>
              <a:t>), Informational(</a:t>
            </a:r>
            <a:r>
              <a:rPr sz="1250" b="0" i="0" dirty="0" err="1">
                <a:latin typeface="Noto Sans KR"/>
              </a:rPr>
              <a:t>정보성</a:t>
            </a:r>
            <a:r>
              <a:rPr sz="1250" b="0" i="0" dirty="0">
                <a:latin typeface="Noto Sans KR"/>
              </a:rPr>
              <a:t>) 3가지 </a:t>
            </a:r>
            <a:r>
              <a:rPr sz="1250" b="0" i="0" dirty="0" err="1">
                <a:latin typeface="Noto Sans KR"/>
              </a:rPr>
              <a:t>오퍼를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운영하며</a:t>
            </a:r>
            <a:r>
              <a:rPr sz="1250" b="0" i="0" dirty="0">
                <a:latin typeface="Noto Sans KR"/>
              </a:rPr>
              <a:t>, </a:t>
            </a:r>
            <a:r>
              <a:rPr sz="1250" b="0" i="0" dirty="0" err="1">
                <a:latin typeface="Noto Sans KR"/>
              </a:rPr>
              <a:t>오퍼마다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보상</a:t>
            </a:r>
            <a:r>
              <a:rPr sz="1250" b="0" i="0" dirty="0">
                <a:latin typeface="Noto Sans KR"/>
              </a:rPr>
              <a:t>(reward)이 </a:t>
            </a:r>
            <a:r>
              <a:rPr sz="1250" b="0" i="0" dirty="0" err="1">
                <a:latin typeface="Noto Sans KR"/>
              </a:rPr>
              <a:t>다르게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책정된다</a:t>
            </a:r>
            <a:r>
              <a:rPr sz="1250" b="0" i="0" dirty="0">
                <a:latin typeface="Noto Sans KR"/>
              </a:rPr>
              <a:t>. </a:t>
            </a:r>
            <a:r>
              <a:rPr sz="1250" b="0" i="0" dirty="0" err="1">
                <a:latin typeface="Noto Sans KR"/>
              </a:rPr>
              <a:t>어떤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설계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요소가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완료율에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실제로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영향을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미치는지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파악하면</a:t>
            </a:r>
            <a:r>
              <a:rPr sz="1250" b="0" i="0" dirty="0">
                <a:latin typeface="Noto Sans KR"/>
              </a:rPr>
              <a:t>, </a:t>
            </a:r>
            <a:r>
              <a:rPr sz="1250" b="0" i="0" dirty="0" err="1">
                <a:latin typeface="Noto Sans KR"/>
              </a:rPr>
              <a:t>향후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오퍼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설계를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데이터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기반으로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최적화할</a:t>
            </a:r>
            <a:r>
              <a:rPr sz="1250" b="0" i="0" dirty="0">
                <a:latin typeface="Noto Sans KR"/>
              </a:rPr>
              <a:t> 수 </a:t>
            </a:r>
            <a:r>
              <a:rPr sz="1250" b="0" i="0" dirty="0" err="1">
                <a:latin typeface="Noto Sans KR"/>
              </a:rPr>
              <a:t>있다</a:t>
            </a:r>
            <a:r>
              <a:rPr sz="1250" b="0" i="0" dirty="0">
                <a:latin typeface="Noto Sans K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 dirty="0">
                <a:solidFill>
                  <a:srgbClr val="6B6B6B"/>
                </a:solidFill>
                <a:latin typeface="Noto Sans KR"/>
              </a:rPr>
              <a:t>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622EF3-6425-BCD1-F34B-702791891ACE}"/>
              </a:ext>
            </a:extLst>
          </p:cNvPr>
          <p:cNvSpPr/>
          <p:nvPr/>
        </p:nvSpPr>
        <p:spPr>
          <a:xfrm>
            <a:off x="457505" y="1965960"/>
            <a:ext cx="11155680" cy="4297680"/>
          </a:xfrm>
          <a:prstGeom prst="rect">
            <a:avLst/>
          </a:prstGeom>
          <a:solidFill>
            <a:srgbClr val="006241"/>
          </a:solidFill>
          <a:ln>
            <a:solidFill>
              <a:srgbClr val="1B8A63"/>
            </a:solidFill>
          </a:ln>
        </p:spPr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2D1C126-7F84-F466-C059-4FA4BAF5F52D}"/>
              </a:ext>
            </a:extLst>
          </p:cNvPr>
          <p:cNvSpPr/>
          <p:nvPr/>
        </p:nvSpPr>
        <p:spPr>
          <a:xfrm>
            <a:off x="2295369" y="3334000"/>
            <a:ext cx="1368006" cy="436522"/>
          </a:xfrm>
          <a:custGeom>
            <a:avLst/>
            <a:gdLst>
              <a:gd name="connsiteX0" fmla="*/ 0 w 1368006"/>
              <a:gd name="connsiteY0" fmla="*/ 43652 h 436522"/>
              <a:gd name="connsiteX1" fmla="*/ 43652 w 1368006"/>
              <a:gd name="connsiteY1" fmla="*/ 0 h 436522"/>
              <a:gd name="connsiteX2" fmla="*/ 1324354 w 1368006"/>
              <a:gd name="connsiteY2" fmla="*/ 0 h 436522"/>
              <a:gd name="connsiteX3" fmla="*/ 1368006 w 1368006"/>
              <a:gd name="connsiteY3" fmla="*/ 43652 h 436522"/>
              <a:gd name="connsiteX4" fmla="*/ 1368006 w 1368006"/>
              <a:gd name="connsiteY4" fmla="*/ 392870 h 436522"/>
              <a:gd name="connsiteX5" fmla="*/ 1324354 w 1368006"/>
              <a:gd name="connsiteY5" fmla="*/ 436522 h 436522"/>
              <a:gd name="connsiteX6" fmla="*/ 43652 w 1368006"/>
              <a:gd name="connsiteY6" fmla="*/ 436522 h 436522"/>
              <a:gd name="connsiteX7" fmla="*/ 0 w 1368006"/>
              <a:gd name="connsiteY7" fmla="*/ 392870 h 436522"/>
              <a:gd name="connsiteX8" fmla="*/ 0 w 1368006"/>
              <a:gd name="connsiteY8" fmla="*/ 43652 h 4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8006" h="436522">
                <a:moveTo>
                  <a:pt x="0" y="43652"/>
                </a:moveTo>
                <a:cubicBezTo>
                  <a:pt x="0" y="19544"/>
                  <a:pt x="19544" y="0"/>
                  <a:pt x="43652" y="0"/>
                </a:cubicBezTo>
                <a:lnTo>
                  <a:pt x="1324354" y="0"/>
                </a:lnTo>
                <a:cubicBezTo>
                  <a:pt x="1348462" y="0"/>
                  <a:pt x="1368006" y="19544"/>
                  <a:pt x="1368006" y="43652"/>
                </a:cubicBezTo>
                <a:lnTo>
                  <a:pt x="1368006" y="392870"/>
                </a:lnTo>
                <a:cubicBezTo>
                  <a:pt x="1368006" y="416978"/>
                  <a:pt x="1348462" y="436522"/>
                  <a:pt x="1324354" y="436522"/>
                </a:cubicBezTo>
                <a:lnTo>
                  <a:pt x="43652" y="436522"/>
                </a:lnTo>
                <a:cubicBezTo>
                  <a:pt x="19544" y="436522"/>
                  <a:pt x="0" y="416978"/>
                  <a:pt x="0" y="392870"/>
                </a:cubicBezTo>
                <a:lnTo>
                  <a:pt x="0" y="43652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865" tIns="17865" rIns="17865" bIns="1786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Offer(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프로모션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완료율의 차이가 있는가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AA58AC56-D072-1967-C2A2-031E2E484B68}"/>
              </a:ext>
            </a:extLst>
          </p:cNvPr>
          <p:cNvSpPr/>
          <p:nvPr/>
        </p:nvSpPr>
        <p:spPr>
          <a:xfrm rot="18084850">
            <a:off x="3259174" y="2815404"/>
            <a:ext cx="1688469" cy="32739"/>
          </a:xfrm>
          <a:custGeom>
            <a:avLst/>
            <a:gdLst>
              <a:gd name="connsiteX0" fmla="*/ 0 w 1688469"/>
              <a:gd name="connsiteY0" fmla="*/ 16369 h 32739"/>
              <a:gd name="connsiteX1" fmla="*/ 1688469 w 168846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88469" h="32739">
                <a:moveTo>
                  <a:pt x="0" y="16369"/>
                </a:moveTo>
                <a:lnTo>
                  <a:pt x="168846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4723" tIns="-25843" rIns="814722" bIns="-2584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96C79CAA-30CC-9D93-9505-F127E1087F97}"/>
              </a:ext>
            </a:extLst>
          </p:cNvPr>
          <p:cNvSpPr/>
          <p:nvPr/>
        </p:nvSpPr>
        <p:spPr>
          <a:xfrm>
            <a:off x="4543441" y="1965962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type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8A66DE4-0055-7B0F-245A-3F5AB37F27BE}"/>
              </a:ext>
            </a:extLst>
          </p:cNvPr>
          <p:cNvSpPr/>
          <p:nvPr/>
        </p:nvSpPr>
        <p:spPr>
          <a:xfrm>
            <a:off x="5475253" y="2094915"/>
            <a:ext cx="615653" cy="32739"/>
          </a:xfrm>
          <a:custGeom>
            <a:avLst/>
            <a:gdLst>
              <a:gd name="connsiteX0" fmla="*/ 0 w 615653"/>
              <a:gd name="connsiteY0" fmla="*/ 16369 h 32739"/>
              <a:gd name="connsiteX1" fmla="*/ 615653 w 615653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5653" h="32739">
                <a:moveTo>
                  <a:pt x="0" y="16369"/>
                </a:moveTo>
                <a:lnTo>
                  <a:pt x="615653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136" tIns="978" rIns="305135" bIns="97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1937FE0-8363-BB03-BD79-39CB71C0ADA0}"/>
              </a:ext>
            </a:extLst>
          </p:cNvPr>
          <p:cNvSpPr/>
          <p:nvPr/>
        </p:nvSpPr>
        <p:spPr>
          <a:xfrm>
            <a:off x="6090906" y="1965962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완료율은 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discount &gt; </a:t>
            </a:r>
            <a:r>
              <a:rPr lang="en-US" altLang="ko-KR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bogo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&gt; information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순으로 높을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BB2393C-3305-EA04-EA1C-F04C42A7EB44}"/>
              </a:ext>
            </a:extLst>
          </p:cNvPr>
          <p:cNvSpPr/>
          <p:nvPr/>
        </p:nvSpPr>
        <p:spPr>
          <a:xfrm rot="18625631">
            <a:off x="3424850" y="3019352"/>
            <a:ext cx="1357117" cy="32739"/>
          </a:xfrm>
          <a:custGeom>
            <a:avLst/>
            <a:gdLst>
              <a:gd name="connsiteX0" fmla="*/ 0 w 1357117"/>
              <a:gd name="connsiteY0" fmla="*/ 16369 h 32739"/>
              <a:gd name="connsiteX1" fmla="*/ 1357117 w 1357117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7117" h="32739">
                <a:moveTo>
                  <a:pt x="0" y="16369"/>
                </a:moveTo>
                <a:lnTo>
                  <a:pt x="1357117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57329" tIns="-17559" rIns="657332" bIns="-17558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1A792BC4-EC25-9428-3C9D-D436E059FA29}"/>
              </a:ext>
            </a:extLst>
          </p:cNvPr>
          <p:cNvSpPr/>
          <p:nvPr/>
        </p:nvSpPr>
        <p:spPr>
          <a:xfrm>
            <a:off x="4543441" y="2373860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B5FCB723-C3FE-240C-68E4-183F7F3FE81B}"/>
              </a:ext>
            </a:extLst>
          </p:cNvPr>
          <p:cNvSpPr/>
          <p:nvPr/>
        </p:nvSpPr>
        <p:spPr>
          <a:xfrm>
            <a:off x="5475253" y="2502813"/>
            <a:ext cx="625346" cy="32739"/>
          </a:xfrm>
          <a:custGeom>
            <a:avLst/>
            <a:gdLst>
              <a:gd name="connsiteX0" fmla="*/ 0 w 625346"/>
              <a:gd name="connsiteY0" fmla="*/ 16369 h 32739"/>
              <a:gd name="connsiteX1" fmla="*/ 625346 w 625346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346" h="32739">
                <a:moveTo>
                  <a:pt x="0" y="16369"/>
                </a:moveTo>
                <a:lnTo>
                  <a:pt x="625346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9740" tIns="736" rIns="309739" bIns="736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615E9FD1-55F4-383B-BA6C-7A1574C94C67}"/>
              </a:ext>
            </a:extLst>
          </p:cNvPr>
          <p:cNvSpPr/>
          <p:nvPr/>
        </p:nvSpPr>
        <p:spPr>
          <a:xfrm>
            <a:off x="6100599" y="2373860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(4.2)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보다 높은 경우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낮은 경우보다 완료율이 높을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2E9930A3-2A17-99CB-7F97-85E8CE46CF9C}"/>
              </a:ext>
            </a:extLst>
          </p:cNvPr>
          <p:cNvSpPr/>
          <p:nvPr/>
        </p:nvSpPr>
        <p:spPr>
          <a:xfrm rot="19476643">
            <a:off x="3563648" y="3223301"/>
            <a:ext cx="1079521" cy="32739"/>
          </a:xfrm>
          <a:custGeom>
            <a:avLst/>
            <a:gdLst>
              <a:gd name="connsiteX0" fmla="*/ 0 w 1079521"/>
              <a:gd name="connsiteY0" fmla="*/ 16369 h 32739"/>
              <a:gd name="connsiteX1" fmla="*/ 1079521 w 1079521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9521" h="32739">
                <a:moveTo>
                  <a:pt x="0" y="16369"/>
                </a:moveTo>
                <a:lnTo>
                  <a:pt x="1079521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25471" tIns="-10619" rIns="525473" bIns="-1061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7719C99A-E864-7985-DB61-C4E0984C57DD}"/>
              </a:ext>
            </a:extLst>
          </p:cNvPr>
          <p:cNvSpPr/>
          <p:nvPr/>
        </p:nvSpPr>
        <p:spPr>
          <a:xfrm>
            <a:off x="4543441" y="2781757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Duration(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01072B6E-CDBE-7412-DF10-C1901B91DC17}"/>
              </a:ext>
            </a:extLst>
          </p:cNvPr>
          <p:cNvSpPr/>
          <p:nvPr/>
        </p:nvSpPr>
        <p:spPr>
          <a:xfrm>
            <a:off x="5475253" y="2910710"/>
            <a:ext cx="625346" cy="32739"/>
          </a:xfrm>
          <a:custGeom>
            <a:avLst/>
            <a:gdLst>
              <a:gd name="connsiteX0" fmla="*/ 0 w 625346"/>
              <a:gd name="connsiteY0" fmla="*/ 16369 h 32739"/>
              <a:gd name="connsiteX1" fmla="*/ 625346 w 625346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346" h="32739">
                <a:moveTo>
                  <a:pt x="0" y="16369"/>
                </a:moveTo>
                <a:lnTo>
                  <a:pt x="625346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9740" tIns="736" rIns="309739" bIns="736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4A0D6C04-93F3-8C5A-A9D6-6FAE66F93245}"/>
              </a:ext>
            </a:extLst>
          </p:cNvPr>
          <p:cNvSpPr/>
          <p:nvPr/>
        </p:nvSpPr>
        <p:spPr>
          <a:xfrm>
            <a:off x="6100599" y="2781757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Duration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(6.7)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보다 높은 경우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낮은 경우보다 완료율이 높을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FC8DCBF3-F72A-F27B-F6D2-284146F6B855}"/>
              </a:ext>
            </a:extLst>
          </p:cNvPr>
          <p:cNvSpPr/>
          <p:nvPr/>
        </p:nvSpPr>
        <p:spPr>
          <a:xfrm rot="1448896">
            <a:off x="3621176" y="3733173"/>
            <a:ext cx="964465" cy="32739"/>
          </a:xfrm>
          <a:custGeom>
            <a:avLst/>
            <a:gdLst>
              <a:gd name="connsiteX0" fmla="*/ 0 w 964465"/>
              <a:gd name="connsiteY0" fmla="*/ 16369 h 32739"/>
              <a:gd name="connsiteX1" fmla="*/ 964465 w 964465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64465" h="32739">
                <a:moveTo>
                  <a:pt x="0" y="16369"/>
                </a:moveTo>
                <a:lnTo>
                  <a:pt x="964465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70821" tIns="-7743" rIns="470820" bIns="-774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0306119-128E-D47C-E441-6F6C61412AFF}"/>
              </a:ext>
            </a:extLst>
          </p:cNvPr>
          <p:cNvSpPr/>
          <p:nvPr/>
        </p:nvSpPr>
        <p:spPr>
          <a:xfrm>
            <a:off x="4543441" y="3801501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Channels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120C7B04-C562-2A17-FCD1-EF051AD1D283}"/>
              </a:ext>
            </a:extLst>
          </p:cNvPr>
          <p:cNvSpPr/>
          <p:nvPr/>
        </p:nvSpPr>
        <p:spPr>
          <a:xfrm rot="18937510">
            <a:off x="5350487" y="3624531"/>
            <a:ext cx="874879" cy="32739"/>
          </a:xfrm>
          <a:custGeom>
            <a:avLst/>
            <a:gdLst>
              <a:gd name="connsiteX0" fmla="*/ 0 w 874879"/>
              <a:gd name="connsiteY0" fmla="*/ 16369 h 32739"/>
              <a:gd name="connsiteX1" fmla="*/ 874879 w 87487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4879" h="32739">
                <a:moveTo>
                  <a:pt x="0" y="16369"/>
                </a:moveTo>
                <a:lnTo>
                  <a:pt x="87487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28266" tIns="-5503" rIns="428269" bIns="-550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C6C85D84-37FE-64E3-A74B-462C06594FD3}"/>
              </a:ext>
            </a:extLst>
          </p:cNvPr>
          <p:cNvSpPr/>
          <p:nvPr/>
        </p:nvSpPr>
        <p:spPr>
          <a:xfrm>
            <a:off x="6100599" y="3189655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완료율은 높아지지 않을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7DBE2063-413C-DC1C-8528-F3B621DC3266}"/>
              </a:ext>
            </a:extLst>
          </p:cNvPr>
          <p:cNvSpPr/>
          <p:nvPr/>
        </p:nvSpPr>
        <p:spPr>
          <a:xfrm rot="20516215">
            <a:off x="5459045" y="3828480"/>
            <a:ext cx="657763" cy="32739"/>
          </a:xfrm>
          <a:custGeom>
            <a:avLst/>
            <a:gdLst>
              <a:gd name="connsiteX0" fmla="*/ 0 w 657763"/>
              <a:gd name="connsiteY0" fmla="*/ 16369 h 32739"/>
              <a:gd name="connsiteX1" fmla="*/ 657763 w 657763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7763" h="32739">
                <a:moveTo>
                  <a:pt x="0" y="16369"/>
                </a:moveTo>
                <a:lnTo>
                  <a:pt x="657763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25136" tIns="-76" rIns="325138" bIns="-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AF4A9FEA-B308-B0E5-9A28-2B33EBE6F81F}"/>
              </a:ext>
            </a:extLst>
          </p:cNvPr>
          <p:cNvSpPr/>
          <p:nvPr/>
        </p:nvSpPr>
        <p:spPr>
          <a:xfrm>
            <a:off x="6100599" y="3597552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email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완료율은 높아지지 않을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DC93CCA2-4979-10BA-054F-8A1F0721706E}"/>
              </a:ext>
            </a:extLst>
          </p:cNvPr>
          <p:cNvSpPr/>
          <p:nvPr/>
        </p:nvSpPr>
        <p:spPr>
          <a:xfrm rot="1083785">
            <a:off x="5459045" y="4032429"/>
            <a:ext cx="657763" cy="32739"/>
          </a:xfrm>
          <a:custGeom>
            <a:avLst/>
            <a:gdLst>
              <a:gd name="connsiteX0" fmla="*/ 0 w 657763"/>
              <a:gd name="connsiteY0" fmla="*/ 16369 h 32739"/>
              <a:gd name="connsiteX1" fmla="*/ 657763 w 657763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7763" h="32739">
                <a:moveTo>
                  <a:pt x="0" y="16369"/>
                </a:moveTo>
                <a:lnTo>
                  <a:pt x="657763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25136" tIns="-75" rIns="325138" bIns="-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0752282B-9EA6-5E54-6B43-DE73B3357D7F}"/>
              </a:ext>
            </a:extLst>
          </p:cNvPr>
          <p:cNvSpPr/>
          <p:nvPr/>
        </p:nvSpPr>
        <p:spPr>
          <a:xfrm>
            <a:off x="6100599" y="4005450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Mobile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포함되지 않은 경우보다 완료율이 높을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34BF0D6C-FDAC-BA85-A6B2-C8542EB18DC9}"/>
              </a:ext>
            </a:extLst>
          </p:cNvPr>
          <p:cNvSpPr/>
          <p:nvPr/>
        </p:nvSpPr>
        <p:spPr>
          <a:xfrm rot="2662490">
            <a:off x="5350487" y="4236377"/>
            <a:ext cx="874879" cy="32739"/>
          </a:xfrm>
          <a:custGeom>
            <a:avLst/>
            <a:gdLst>
              <a:gd name="connsiteX0" fmla="*/ 0 w 874879"/>
              <a:gd name="connsiteY0" fmla="*/ 16369 h 32739"/>
              <a:gd name="connsiteX1" fmla="*/ 874879 w 87487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4879" h="32739">
                <a:moveTo>
                  <a:pt x="0" y="16369"/>
                </a:moveTo>
                <a:lnTo>
                  <a:pt x="87487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28267" tIns="-5502" rIns="428268" bIns="-550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C87488EF-FA64-4BA6-32E8-BC2658C7111E}"/>
              </a:ext>
            </a:extLst>
          </p:cNvPr>
          <p:cNvSpPr/>
          <p:nvPr/>
        </p:nvSpPr>
        <p:spPr>
          <a:xfrm>
            <a:off x="6100599" y="4413348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Social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포함되지 않은 경우보다 완료율이 높을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2B084568-939B-5CD7-2C7E-FD392E2CCFCC}"/>
              </a:ext>
            </a:extLst>
          </p:cNvPr>
          <p:cNvSpPr/>
          <p:nvPr/>
        </p:nvSpPr>
        <p:spPr>
          <a:xfrm rot="3486461">
            <a:off x="3270525" y="4243045"/>
            <a:ext cx="1665765" cy="32739"/>
          </a:xfrm>
          <a:custGeom>
            <a:avLst/>
            <a:gdLst>
              <a:gd name="connsiteX0" fmla="*/ 0 w 1665765"/>
              <a:gd name="connsiteY0" fmla="*/ 16369 h 32739"/>
              <a:gd name="connsiteX1" fmla="*/ 1665765 w 1665765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5765" h="32739">
                <a:moveTo>
                  <a:pt x="0" y="16369"/>
                </a:moveTo>
                <a:lnTo>
                  <a:pt x="1665765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3939" tIns="-25276" rIns="803937" bIns="-252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3814577A-E912-5216-FADD-F4636DED0AAE}"/>
              </a:ext>
            </a:extLst>
          </p:cNvPr>
          <p:cNvSpPr/>
          <p:nvPr/>
        </p:nvSpPr>
        <p:spPr>
          <a:xfrm>
            <a:off x="4543441" y="4821245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Difficulty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92930C8B-E4D6-60A7-7ED5-11F431FA0531}"/>
              </a:ext>
            </a:extLst>
          </p:cNvPr>
          <p:cNvSpPr/>
          <p:nvPr/>
        </p:nvSpPr>
        <p:spPr>
          <a:xfrm>
            <a:off x="5475253" y="4950198"/>
            <a:ext cx="625346" cy="32739"/>
          </a:xfrm>
          <a:custGeom>
            <a:avLst/>
            <a:gdLst>
              <a:gd name="connsiteX0" fmla="*/ 0 w 625346"/>
              <a:gd name="connsiteY0" fmla="*/ 16369 h 32739"/>
              <a:gd name="connsiteX1" fmla="*/ 625346 w 625346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346" h="32739">
                <a:moveTo>
                  <a:pt x="0" y="16369"/>
                </a:moveTo>
                <a:lnTo>
                  <a:pt x="625346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9740" tIns="736" rIns="309739" bIns="736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8872B2B6-0F56-CBC2-D39C-8D140B19F9A6}"/>
              </a:ext>
            </a:extLst>
          </p:cNvPr>
          <p:cNvSpPr/>
          <p:nvPr/>
        </p:nvSpPr>
        <p:spPr>
          <a:xfrm>
            <a:off x="6100599" y="4821245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Difficulty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(7.7)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보다 높은 경우 낮은 경우보다 완료율이 낮을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AF523944-BDF8-5706-B34E-02F534EE61E7}"/>
              </a:ext>
            </a:extLst>
          </p:cNvPr>
          <p:cNvSpPr/>
          <p:nvPr/>
        </p:nvSpPr>
        <p:spPr>
          <a:xfrm>
            <a:off x="2319069" y="5528128"/>
            <a:ext cx="1368006" cy="436522"/>
          </a:xfrm>
          <a:custGeom>
            <a:avLst/>
            <a:gdLst>
              <a:gd name="connsiteX0" fmla="*/ 0 w 1368006"/>
              <a:gd name="connsiteY0" fmla="*/ 43652 h 436522"/>
              <a:gd name="connsiteX1" fmla="*/ 43652 w 1368006"/>
              <a:gd name="connsiteY1" fmla="*/ 0 h 436522"/>
              <a:gd name="connsiteX2" fmla="*/ 1324354 w 1368006"/>
              <a:gd name="connsiteY2" fmla="*/ 0 h 436522"/>
              <a:gd name="connsiteX3" fmla="*/ 1368006 w 1368006"/>
              <a:gd name="connsiteY3" fmla="*/ 43652 h 436522"/>
              <a:gd name="connsiteX4" fmla="*/ 1368006 w 1368006"/>
              <a:gd name="connsiteY4" fmla="*/ 392870 h 436522"/>
              <a:gd name="connsiteX5" fmla="*/ 1324354 w 1368006"/>
              <a:gd name="connsiteY5" fmla="*/ 436522 h 436522"/>
              <a:gd name="connsiteX6" fmla="*/ 43652 w 1368006"/>
              <a:gd name="connsiteY6" fmla="*/ 436522 h 436522"/>
              <a:gd name="connsiteX7" fmla="*/ 0 w 1368006"/>
              <a:gd name="connsiteY7" fmla="*/ 392870 h 436522"/>
              <a:gd name="connsiteX8" fmla="*/ 0 w 1368006"/>
              <a:gd name="connsiteY8" fmla="*/ 43652 h 4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8006" h="436522">
                <a:moveTo>
                  <a:pt x="0" y="43652"/>
                </a:moveTo>
                <a:cubicBezTo>
                  <a:pt x="0" y="19544"/>
                  <a:pt x="19544" y="0"/>
                  <a:pt x="43652" y="0"/>
                </a:cubicBezTo>
                <a:lnTo>
                  <a:pt x="1324354" y="0"/>
                </a:lnTo>
                <a:cubicBezTo>
                  <a:pt x="1348462" y="0"/>
                  <a:pt x="1368006" y="19544"/>
                  <a:pt x="1368006" y="43652"/>
                </a:cubicBezTo>
                <a:lnTo>
                  <a:pt x="1368006" y="392870"/>
                </a:lnTo>
                <a:cubicBezTo>
                  <a:pt x="1368006" y="416978"/>
                  <a:pt x="1348462" y="436522"/>
                  <a:pt x="1324354" y="436522"/>
                </a:cubicBezTo>
                <a:lnTo>
                  <a:pt x="43652" y="436522"/>
                </a:lnTo>
                <a:cubicBezTo>
                  <a:pt x="19544" y="436522"/>
                  <a:pt x="0" y="416978"/>
                  <a:pt x="0" y="392870"/>
                </a:cubicBezTo>
                <a:lnTo>
                  <a:pt x="0" y="43652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865" tIns="17865" rIns="17865" bIns="1786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Profile(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고객 정보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)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주문 완료율이 다를 것이다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.</a:t>
            </a:r>
            <a:endParaRPr lang="ko-KR" altLang="en-US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C05D078C-C7F2-0DF6-EFE8-AF2217F8E2CE}"/>
              </a:ext>
            </a:extLst>
          </p:cNvPr>
          <p:cNvSpPr/>
          <p:nvPr/>
        </p:nvSpPr>
        <p:spPr>
          <a:xfrm rot="20102555">
            <a:off x="3644595" y="5538062"/>
            <a:ext cx="909871" cy="32739"/>
          </a:xfrm>
          <a:custGeom>
            <a:avLst/>
            <a:gdLst>
              <a:gd name="connsiteX0" fmla="*/ 0 w 909871"/>
              <a:gd name="connsiteY0" fmla="*/ 16369 h 32739"/>
              <a:gd name="connsiteX1" fmla="*/ 909871 w 909871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9871" h="32739">
                <a:moveTo>
                  <a:pt x="0" y="16369"/>
                </a:moveTo>
                <a:lnTo>
                  <a:pt x="909871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44888" tIns="-6377" rIns="444889" bIns="-6378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64CDBA9C-C60F-3481-9F06-20E5675C4DCE}"/>
              </a:ext>
            </a:extLst>
          </p:cNvPr>
          <p:cNvSpPr/>
          <p:nvPr/>
        </p:nvSpPr>
        <p:spPr>
          <a:xfrm>
            <a:off x="4511986" y="5229143"/>
            <a:ext cx="931812" cy="266663"/>
          </a:xfrm>
          <a:custGeom>
            <a:avLst/>
            <a:gdLst>
              <a:gd name="connsiteX0" fmla="*/ 0 w 931812"/>
              <a:gd name="connsiteY0" fmla="*/ 26666 h 266663"/>
              <a:gd name="connsiteX1" fmla="*/ 26666 w 931812"/>
              <a:gd name="connsiteY1" fmla="*/ 0 h 266663"/>
              <a:gd name="connsiteX2" fmla="*/ 905146 w 931812"/>
              <a:gd name="connsiteY2" fmla="*/ 0 h 266663"/>
              <a:gd name="connsiteX3" fmla="*/ 931812 w 931812"/>
              <a:gd name="connsiteY3" fmla="*/ 26666 h 266663"/>
              <a:gd name="connsiteX4" fmla="*/ 931812 w 931812"/>
              <a:gd name="connsiteY4" fmla="*/ 239997 h 266663"/>
              <a:gd name="connsiteX5" fmla="*/ 905146 w 931812"/>
              <a:gd name="connsiteY5" fmla="*/ 266663 h 266663"/>
              <a:gd name="connsiteX6" fmla="*/ 26666 w 931812"/>
              <a:gd name="connsiteY6" fmla="*/ 266663 h 266663"/>
              <a:gd name="connsiteX7" fmla="*/ 0 w 931812"/>
              <a:gd name="connsiteY7" fmla="*/ 239997 h 266663"/>
              <a:gd name="connsiteX8" fmla="*/ 0 w 931812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905146" y="0"/>
                </a:lnTo>
                <a:cubicBezTo>
                  <a:pt x="919873" y="0"/>
                  <a:pt x="931812" y="11939"/>
                  <a:pt x="931812" y="26666"/>
                </a:cubicBezTo>
                <a:lnTo>
                  <a:pt x="931812" y="239997"/>
                </a:lnTo>
                <a:cubicBezTo>
                  <a:pt x="931812" y="254724"/>
                  <a:pt x="919873" y="266663"/>
                  <a:pt x="905146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성별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7E90C507-E66E-75BC-DBD4-B38B050899E4}"/>
              </a:ext>
            </a:extLst>
          </p:cNvPr>
          <p:cNvSpPr/>
          <p:nvPr/>
        </p:nvSpPr>
        <p:spPr>
          <a:xfrm>
            <a:off x="5443798" y="5346105"/>
            <a:ext cx="635804" cy="32739"/>
          </a:xfrm>
          <a:custGeom>
            <a:avLst/>
            <a:gdLst>
              <a:gd name="connsiteX0" fmla="*/ 0 w 635804"/>
              <a:gd name="connsiteY0" fmla="*/ 16369 h 32739"/>
              <a:gd name="connsiteX1" fmla="*/ 635804 w 635804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804" h="32739">
                <a:moveTo>
                  <a:pt x="0" y="16369"/>
                </a:moveTo>
                <a:lnTo>
                  <a:pt x="635804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14708" tIns="474" rIns="314706" bIns="47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39A6CC1F-4097-7B05-E1E1-734F7F8EE50C}"/>
              </a:ext>
            </a:extLst>
          </p:cNvPr>
          <p:cNvSpPr/>
          <p:nvPr/>
        </p:nvSpPr>
        <p:spPr>
          <a:xfrm>
            <a:off x="6079603" y="5229143"/>
            <a:ext cx="3420001" cy="266663"/>
          </a:xfrm>
          <a:custGeom>
            <a:avLst/>
            <a:gdLst>
              <a:gd name="connsiteX0" fmla="*/ 0 w 3420001"/>
              <a:gd name="connsiteY0" fmla="*/ 26666 h 266663"/>
              <a:gd name="connsiteX1" fmla="*/ 26666 w 3420001"/>
              <a:gd name="connsiteY1" fmla="*/ 0 h 266663"/>
              <a:gd name="connsiteX2" fmla="*/ 3393335 w 3420001"/>
              <a:gd name="connsiteY2" fmla="*/ 0 h 266663"/>
              <a:gd name="connsiteX3" fmla="*/ 3420001 w 3420001"/>
              <a:gd name="connsiteY3" fmla="*/ 26666 h 266663"/>
              <a:gd name="connsiteX4" fmla="*/ 3420001 w 3420001"/>
              <a:gd name="connsiteY4" fmla="*/ 239997 h 266663"/>
              <a:gd name="connsiteX5" fmla="*/ 3393335 w 3420001"/>
              <a:gd name="connsiteY5" fmla="*/ 266663 h 266663"/>
              <a:gd name="connsiteX6" fmla="*/ 26666 w 3420001"/>
              <a:gd name="connsiteY6" fmla="*/ 266663 h 266663"/>
              <a:gd name="connsiteX7" fmla="*/ 0 w 3420001"/>
              <a:gd name="connsiteY7" fmla="*/ 239997 h 266663"/>
              <a:gd name="connsiteX8" fmla="*/ 0 w 3420001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3393335" y="0"/>
                </a:lnTo>
                <a:cubicBezTo>
                  <a:pt x="3408062" y="0"/>
                  <a:pt x="3420001" y="11939"/>
                  <a:pt x="3420001" y="26666"/>
                </a:cubicBezTo>
                <a:lnTo>
                  <a:pt x="3420001" y="239997"/>
                </a:lnTo>
                <a:cubicBezTo>
                  <a:pt x="3420001" y="254724"/>
                  <a:pt x="3408062" y="266663"/>
                  <a:pt x="3393335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여성이면 남성보다 완료율이 높을 것이다</a:t>
            </a: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0A143314-6039-BCF4-BB32-8EFFBA886F7B}"/>
              </a:ext>
            </a:extLst>
          </p:cNvPr>
          <p:cNvSpPr/>
          <p:nvPr/>
        </p:nvSpPr>
        <p:spPr>
          <a:xfrm>
            <a:off x="3687076" y="5730020"/>
            <a:ext cx="824909" cy="32739"/>
          </a:xfrm>
          <a:custGeom>
            <a:avLst/>
            <a:gdLst>
              <a:gd name="connsiteX0" fmla="*/ 0 w 824909"/>
              <a:gd name="connsiteY0" fmla="*/ 16369 h 32739"/>
              <a:gd name="connsiteX1" fmla="*/ 824909 w 82490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909" h="32739">
                <a:moveTo>
                  <a:pt x="0" y="16369"/>
                </a:moveTo>
                <a:lnTo>
                  <a:pt x="82490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532" tIns="-4253" rIns="404532" bIns="-425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57E670E5-2466-2B02-1EBF-A2CB760A3EB9}"/>
              </a:ext>
            </a:extLst>
          </p:cNvPr>
          <p:cNvSpPr/>
          <p:nvPr/>
        </p:nvSpPr>
        <p:spPr>
          <a:xfrm>
            <a:off x="4511986" y="5613058"/>
            <a:ext cx="931812" cy="266663"/>
          </a:xfrm>
          <a:custGeom>
            <a:avLst/>
            <a:gdLst>
              <a:gd name="connsiteX0" fmla="*/ 0 w 931812"/>
              <a:gd name="connsiteY0" fmla="*/ 26666 h 266663"/>
              <a:gd name="connsiteX1" fmla="*/ 26666 w 931812"/>
              <a:gd name="connsiteY1" fmla="*/ 0 h 266663"/>
              <a:gd name="connsiteX2" fmla="*/ 905146 w 931812"/>
              <a:gd name="connsiteY2" fmla="*/ 0 h 266663"/>
              <a:gd name="connsiteX3" fmla="*/ 931812 w 931812"/>
              <a:gd name="connsiteY3" fmla="*/ 26666 h 266663"/>
              <a:gd name="connsiteX4" fmla="*/ 931812 w 931812"/>
              <a:gd name="connsiteY4" fmla="*/ 239997 h 266663"/>
              <a:gd name="connsiteX5" fmla="*/ 905146 w 931812"/>
              <a:gd name="connsiteY5" fmla="*/ 266663 h 266663"/>
              <a:gd name="connsiteX6" fmla="*/ 26666 w 931812"/>
              <a:gd name="connsiteY6" fmla="*/ 266663 h 266663"/>
              <a:gd name="connsiteX7" fmla="*/ 0 w 931812"/>
              <a:gd name="connsiteY7" fmla="*/ 239997 h 266663"/>
              <a:gd name="connsiteX8" fmla="*/ 0 w 931812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905146" y="0"/>
                </a:lnTo>
                <a:cubicBezTo>
                  <a:pt x="919873" y="0"/>
                  <a:pt x="931812" y="11939"/>
                  <a:pt x="931812" y="26666"/>
                </a:cubicBezTo>
                <a:lnTo>
                  <a:pt x="931812" y="239997"/>
                </a:lnTo>
                <a:cubicBezTo>
                  <a:pt x="931812" y="254724"/>
                  <a:pt x="919873" y="266663"/>
                  <a:pt x="905146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소득</a:t>
            </a:r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EB25374F-2033-C146-31DA-E3E8451A5F73}"/>
              </a:ext>
            </a:extLst>
          </p:cNvPr>
          <p:cNvSpPr/>
          <p:nvPr/>
        </p:nvSpPr>
        <p:spPr>
          <a:xfrm>
            <a:off x="5443798" y="5730020"/>
            <a:ext cx="635804" cy="32739"/>
          </a:xfrm>
          <a:custGeom>
            <a:avLst/>
            <a:gdLst>
              <a:gd name="connsiteX0" fmla="*/ 0 w 635804"/>
              <a:gd name="connsiteY0" fmla="*/ 16369 h 32739"/>
              <a:gd name="connsiteX1" fmla="*/ 635804 w 635804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804" h="32739">
                <a:moveTo>
                  <a:pt x="0" y="16369"/>
                </a:moveTo>
                <a:lnTo>
                  <a:pt x="635804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14708" tIns="475" rIns="314706" bIns="4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C40F487C-536E-2D79-CAB4-3ABEFCC0F41A}"/>
              </a:ext>
            </a:extLst>
          </p:cNvPr>
          <p:cNvSpPr/>
          <p:nvPr/>
        </p:nvSpPr>
        <p:spPr>
          <a:xfrm>
            <a:off x="6079603" y="5613058"/>
            <a:ext cx="3420001" cy="266663"/>
          </a:xfrm>
          <a:custGeom>
            <a:avLst/>
            <a:gdLst>
              <a:gd name="connsiteX0" fmla="*/ 0 w 3420001"/>
              <a:gd name="connsiteY0" fmla="*/ 26666 h 266663"/>
              <a:gd name="connsiteX1" fmla="*/ 26666 w 3420001"/>
              <a:gd name="connsiteY1" fmla="*/ 0 h 266663"/>
              <a:gd name="connsiteX2" fmla="*/ 3393335 w 3420001"/>
              <a:gd name="connsiteY2" fmla="*/ 0 h 266663"/>
              <a:gd name="connsiteX3" fmla="*/ 3420001 w 3420001"/>
              <a:gd name="connsiteY3" fmla="*/ 26666 h 266663"/>
              <a:gd name="connsiteX4" fmla="*/ 3420001 w 3420001"/>
              <a:gd name="connsiteY4" fmla="*/ 239997 h 266663"/>
              <a:gd name="connsiteX5" fmla="*/ 3393335 w 3420001"/>
              <a:gd name="connsiteY5" fmla="*/ 266663 h 266663"/>
              <a:gd name="connsiteX6" fmla="*/ 26666 w 3420001"/>
              <a:gd name="connsiteY6" fmla="*/ 266663 h 266663"/>
              <a:gd name="connsiteX7" fmla="*/ 0 w 3420001"/>
              <a:gd name="connsiteY7" fmla="*/ 239997 h 266663"/>
              <a:gd name="connsiteX8" fmla="*/ 0 w 3420001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3393335" y="0"/>
                </a:lnTo>
                <a:cubicBezTo>
                  <a:pt x="3408062" y="0"/>
                  <a:pt x="3420001" y="11939"/>
                  <a:pt x="3420001" y="26666"/>
                </a:cubicBezTo>
                <a:lnTo>
                  <a:pt x="3420001" y="239997"/>
                </a:lnTo>
                <a:cubicBezTo>
                  <a:pt x="3420001" y="254724"/>
                  <a:pt x="3408062" y="266663"/>
                  <a:pt x="3393335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소득이 높으면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(8</a:t>
            </a:r>
            <a:r>
              <a:rPr lang="ko-KR" altLang="en-US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만불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+)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완료율이 높을 것이다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5F284634-17C3-AC27-2A2B-6F2D6A6BFFD2}"/>
              </a:ext>
            </a:extLst>
          </p:cNvPr>
          <p:cNvSpPr/>
          <p:nvPr/>
        </p:nvSpPr>
        <p:spPr>
          <a:xfrm rot="1497445">
            <a:off x="3644595" y="5921978"/>
            <a:ext cx="909871" cy="32739"/>
          </a:xfrm>
          <a:custGeom>
            <a:avLst/>
            <a:gdLst>
              <a:gd name="connsiteX0" fmla="*/ 0 w 909871"/>
              <a:gd name="connsiteY0" fmla="*/ 16369 h 32739"/>
              <a:gd name="connsiteX1" fmla="*/ 909871 w 909871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9871" h="32739">
                <a:moveTo>
                  <a:pt x="0" y="16369"/>
                </a:moveTo>
                <a:lnTo>
                  <a:pt x="909871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44889" tIns="-6378" rIns="444888" bIns="-6377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3BDBC1B3-B309-1B4C-C9A0-9B427D24F186}"/>
              </a:ext>
            </a:extLst>
          </p:cNvPr>
          <p:cNvSpPr/>
          <p:nvPr/>
        </p:nvSpPr>
        <p:spPr>
          <a:xfrm>
            <a:off x="4511986" y="5996974"/>
            <a:ext cx="931812" cy="266663"/>
          </a:xfrm>
          <a:custGeom>
            <a:avLst/>
            <a:gdLst>
              <a:gd name="connsiteX0" fmla="*/ 0 w 931812"/>
              <a:gd name="connsiteY0" fmla="*/ 26666 h 266663"/>
              <a:gd name="connsiteX1" fmla="*/ 26666 w 931812"/>
              <a:gd name="connsiteY1" fmla="*/ 0 h 266663"/>
              <a:gd name="connsiteX2" fmla="*/ 905146 w 931812"/>
              <a:gd name="connsiteY2" fmla="*/ 0 h 266663"/>
              <a:gd name="connsiteX3" fmla="*/ 931812 w 931812"/>
              <a:gd name="connsiteY3" fmla="*/ 26666 h 266663"/>
              <a:gd name="connsiteX4" fmla="*/ 931812 w 931812"/>
              <a:gd name="connsiteY4" fmla="*/ 239997 h 266663"/>
              <a:gd name="connsiteX5" fmla="*/ 905146 w 931812"/>
              <a:gd name="connsiteY5" fmla="*/ 266663 h 266663"/>
              <a:gd name="connsiteX6" fmla="*/ 26666 w 931812"/>
              <a:gd name="connsiteY6" fmla="*/ 266663 h 266663"/>
              <a:gd name="connsiteX7" fmla="*/ 0 w 931812"/>
              <a:gd name="connsiteY7" fmla="*/ 239997 h 266663"/>
              <a:gd name="connsiteX8" fmla="*/ 0 w 931812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905146" y="0"/>
                </a:lnTo>
                <a:cubicBezTo>
                  <a:pt x="919873" y="0"/>
                  <a:pt x="931812" y="11939"/>
                  <a:pt x="931812" y="26666"/>
                </a:cubicBezTo>
                <a:lnTo>
                  <a:pt x="931812" y="239997"/>
                </a:lnTo>
                <a:cubicBezTo>
                  <a:pt x="931812" y="254724"/>
                  <a:pt x="919873" y="266663"/>
                  <a:pt x="905146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나이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158BECE6-6DF9-DF6A-C02B-81EDD48CD35C}"/>
              </a:ext>
            </a:extLst>
          </p:cNvPr>
          <p:cNvSpPr/>
          <p:nvPr/>
        </p:nvSpPr>
        <p:spPr>
          <a:xfrm>
            <a:off x="5443798" y="6113936"/>
            <a:ext cx="656800" cy="32739"/>
          </a:xfrm>
          <a:custGeom>
            <a:avLst/>
            <a:gdLst>
              <a:gd name="connsiteX0" fmla="*/ 0 w 656800"/>
              <a:gd name="connsiteY0" fmla="*/ 16369 h 32739"/>
              <a:gd name="connsiteX1" fmla="*/ 656800 w 656800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6800" h="32739">
                <a:moveTo>
                  <a:pt x="0" y="16369"/>
                </a:moveTo>
                <a:lnTo>
                  <a:pt x="656800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24681" tIns="-51" rIns="324679" bIns="-5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73840FF4-223C-2CBB-647B-EADE0DE41199}"/>
              </a:ext>
            </a:extLst>
          </p:cNvPr>
          <p:cNvSpPr/>
          <p:nvPr/>
        </p:nvSpPr>
        <p:spPr>
          <a:xfrm>
            <a:off x="6100599" y="5996974"/>
            <a:ext cx="3420001" cy="266663"/>
          </a:xfrm>
          <a:custGeom>
            <a:avLst/>
            <a:gdLst>
              <a:gd name="connsiteX0" fmla="*/ 0 w 3420001"/>
              <a:gd name="connsiteY0" fmla="*/ 26666 h 266663"/>
              <a:gd name="connsiteX1" fmla="*/ 26666 w 3420001"/>
              <a:gd name="connsiteY1" fmla="*/ 0 h 266663"/>
              <a:gd name="connsiteX2" fmla="*/ 3393335 w 3420001"/>
              <a:gd name="connsiteY2" fmla="*/ 0 h 266663"/>
              <a:gd name="connsiteX3" fmla="*/ 3420001 w 3420001"/>
              <a:gd name="connsiteY3" fmla="*/ 26666 h 266663"/>
              <a:gd name="connsiteX4" fmla="*/ 3420001 w 3420001"/>
              <a:gd name="connsiteY4" fmla="*/ 239997 h 266663"/>
              <a:gd name="connsiteX5" fmla="*/ 3393335 w 3420001"/>
              <a:gd name="connsiteY5" fmla="*/ 266663 h 266663"/>
              <a:gd name="connsiteX6" fmla="*/ 26666 w 3420001"/>
              <a:gd name="connsiteY6" fmla="*/ 266663 h 266663"/>
              <a:gd name="connsiteX7" fmla="*/ 0 w 3420001"/>
              <a:gd name="connsiteY7" fmla="*/ 239997 h 266663"/>
              <a:gd name="connsiteX8" fmla="*/ 0 w 3420001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3393335" y="0"/>
                </a:lnTo>
                <a:cubicBezTo>
                  <a:pt x="3408062" y="0"/>
                  <a:pt x="3420001" y="11939"/>
                  <a:pt x="3420001" y="26666"/>
                </a:cubicBezTo>
                <a:lnTo>
                  <a:pt x="3420001" y="239997"/>
                </a:lnTo>
                <a:cubicBezTo>
                  <a:pt x="3420001" y="254724"/>
                  <a:pt x="3408062" y="266663"/>
                  <a:pt x="3393335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solidFill>
              <a:srgbClr val="1B8A63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255" tIns="12255" rIns="12255" bIns="1225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나이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(54)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보다 </a:t>
            </a:r>
            <a:r>
              <a:rPr lang="ko-KR" altLang="en-US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높은면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완료율이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낮을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8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03. </a:t>
            </a:r>
            <a:r>
              <a:rPr lang="ko-KR" altLang="en-US" sz="2600" b="1" dirty="0">
                <a:solidFill>
                  <a:srgbClr val="006241"/>
                </a:solidFill>
                <a:latin typeface="Noto Sans KR"/>
              </a:rPr>
              <a:t>지표 지도 그리기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220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400" b="1" i="0" dirty="0">
                <a:solidFill>
                  <a:srgbClr val="006241"/>
                </a:solidFill>
                <a:latin typeface="Noto Sans KR"/>
              </a:rPr>
              <a:t>Funnel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&amp; North Star Framework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채택</a:t>
            </a:r>
            <a:r>
              <a:rPr sz="1250" b="1" i="0" dirty="0">
                <a:solidFill>
                  <a:srgbClr val="6B6B6B"/>
                </a:solidFill>
                <a:latin typeface="Noto Sans KR"/>
              </a:rPr>
              <a:t>  </a:t>
            </a:r>
            <a:r>
              <a:rPr sz="1250" b="1" i="0" dirty="0">
                <a:latin typeface="Noto Sans KR"/>
              </a:rPr>
              <a:t>·  </a:t>
            </a:r>
            <a:r>
              <a:rPr sz="1250" b="1" i="0" dirty="0" err="1">
                <a:latin typeface="Noto Sans KR"/>
              </a:rPr>
              <a:t>발송</a:t>
            </a:r>
            <a:r>
              <a:rPr sz="1250" b="1" i="0" dirty="0">
                <a:latin typeface="Noto Sans KR"/>
              </a:rPr>
              <a:t> → </a:t>
            </a:r>
            <a:r>
              <a:rPr sz="1250" b="1" i="0" dirty="0" err="1">
                <a:latin typeface="Noto Sans KR"/>
              </a:rPr>
              <a:t>수신</a:t>
            </a:r>
            <a:r>
              <a:rPr sz="1250" b="1" i="0" dirty="0">
                <a:latin typeface="Noto Sans KR"/>
              </a:rPr>
              <a:t> → </a:t>
            </a:r>
            <a:r>
              <a:rPr sz="1250" b="1" i="0" dirty="0" err="1">
                <a:latin typeface="Noto Sans KR"/>
              </a:rPr>
              <a:t>완료의</a:t>
            </a:r>
            <a:r>
              <a:rPr sz="1250" b="1" i="0" dirty="0">
                <a:latin typeface="Noto Sans KR"/>
              </a:rPr>
              <a:t> </a:t>
            </a:r>
            <a:r>
              <a:rPr sz="1250" b="1" i="0" dirty="0" err="1">
                <a:latin typeface="Noto Sans KR"/>
              </a:rPr>
              <a:t>단일</a:t>
            </a:r>
            <a:r>
              <a:rPr sz="1250" b="1" i="0" dirty="0">
                <a:latin typeface="Noto Sans KR"/>
              </a:rPr>
              <a:t> </a:t>
            </a:r>
            <a:r>
              <a:rPr sz="1250" b="1" i="0" dirty="0" err="1">
                <a:latin typeface="Noto Sans KR"/>
              </a:rPr>
              <a:t>퍼널에</a:t>
            </a:r>
            <a:r>
              <a:rPr sz="1250" b="1" i="0" dirty="0">
                <a:latin typeface="Noto Sans KR"/>
              </a:rPr>
              <a:t> </a:t>
            </a:r>
            <a:r>
              <a:rPr sz="1250" b="1" i="0" dirty="0" err="1">
                <a:latin typeface="Noto Sans KR"/>
              </a:rPr>
              <a:t>대응</a:t>
            </a:r>
            <a:endParaRPr sz="1250" b="1" i="0" dirty="0">
              <a:latin typeface="Noto Sans KR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777240" y="1691640"/>
            <a:ext cx="2880360" cy="1371600"/>
          </a:xfrm>
          <a:prstGeom prst="chevron">
            <a:avLst/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① 발송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Noto Sans KR"/>
              </a:rPr>
              <a:t>76,277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</a:rPr>
              <a:t>offer received · 건</a:t>
            </a:r>
          </a:p>
        </p:txBody>
      </p:sp>
      <p:sp>
        <p:nvSpPr>
          <p:cNvPr id="6" name="Chevron 5"/>
          <p:cNvSpPr/>
          <p:nvPr/>
        </p:nvSpPr>
        <p:spPr>
          <a:xfrm>
            <a:off x="4160520" y="1691640"/>
            <a:ext cx="2880360" cy="1371600"/>
          </a:xfrm>
          <a:prstGeom prst="chevron">
            <a:avLst/>
          </a:prstGeom>
          <a:solidFill>
            <a:srgbClr val="1B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② 수신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Noto Sans KR"/>
              </a:rPr>
              <a:t>74.2%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</a:rPr>
              <a:t>수신 건수 56,567건</a:t>
            </a:r>
          </a:p>
        </p:txBody>
      </p:sp>
      <p:sp>
        <p:nvSpPr>
          <p:cNvPr id="7" name="Chevron 6"/>
          <p:cNvSpPr/>
          <p:nvPr/>
        </p:nvSpPr>
        <p:spPr>
          <a:xfrm>
            <a:off x="7543800" y="1691640"/>
            <a:ext cx="2880360" cy="1371600"/>
          </a:xfrm>
          <a:prstGeom prst="chevron">
            <a:avLst/>
          </a:prstGeom>
          <a:solidFill>
            <a:srgbClr val="CBA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③ 수신 후 전환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Noto Sans KR"/>
              </a:rPr>
              <a:t>53.6%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</a:rPr>
              <a:t>완료+구매 30,320건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세그먼트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절단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축 (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퍼널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3단계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전체에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적용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94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500" b="1" i="0" dirty="0">
                <a:solidFill>
                  <a:srgbClr val="006241"/>
                </a:solidFill>
                <a:latin typeface="Noto Sans KR"/>
              </a:rPr>
              <a:t>Offer </a:t>
            </a:r>
            <a:r>
              <a:rPr sz="1500" b="1" i="0" dirty="0" err="1">
                <a:solidFill>
                  <a:srgbClr val="006241"/>
                </a:solidFill>
                <a:latin typeface="Noto Sans KR"/>
              </a:rPr>
              <a:t>설계</a:t>
            </a:r>
            <a:r>
              <a:rPr sz="1500" b="1" i="0" dirty="0">
                <a:solidFill>
                  <a:srgbClr val="006241"/>
                </a:solidFill>
                <a:latin typeface="Noto Sans KR"/>
              </a:rPr>
              <a:t> 축</a:t>
            </a:r>
          </a:p>
          <a:p>
            <a:pPr algn="ctr">
              <a:spcAft>
                <a:spcPts val="1200"/>
              </a:spcAft>
            </a:pPr>
            <a:r>
              <a:rPr sz="1100" b="0" i="1" dirty="0">
                <a:solidFill>
                  <a:srgbClr val="CBA258"/>
                </a:solidFill>
                <a:latin typeface="Noto Sans KR"/>
              </a:rPr>
              <a:t>Offer(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프로모션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)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설계에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따라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완료율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차이가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있는가</a:t>
            </a:r>
            <a:endParaRPr sz="1100" b="0" i="1" dirty="0">
              <a:solidFill>
                <a:srgbClr val="CBA258"/>
              </a:solidFill>
              <a:latin typeface="Noto Sans KR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i="0" dirty="0">
                <a:solidFill>
                  <a:schemeClr val="tx1"/>
                </a:solidFill>
                <a:latin typeface="Noto Sans KR"/>
              </a:rPr>
              <a:t>•  Offer type · Reward(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 4.2) · Duration(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 6.7일) · Difficulty(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 7.7) · Channels(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web·email·mobile·social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94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500" b="1" i="0" dirty="0">
                <a:solidFill>
                  <a:srgbClr val="006241"/>
                </a:solidFill>
                <a:latin typeface="Noto Sans KR"/>
              </a:rPr>
              <a:t>Profile </a:t>
            </a:r>
            <a:r>
              <a:rPr sz="1500" b="1" i="0" dirty="0" err="1">
                <a:solidFill>
                  <a:srgbClr val="006241"/>
                </a:solidFill>
                <a:latin typeface="Noto Sans KR"/>
              </a:rPr>
              <a:t>속성</a:t>
            </a:r>
            <a:r>
              <a:rPr sz="1500" b="1" i="0" dirty="0">
                <a:solidFill>
                  <a:srgbClr val="006241"/>
                </a:solidFill>
                <a:latin typeface="Noto Sans KR"/>
              </a:rPr>
              <a:t> 축</a:t>
            </a:r>
          </a:p>
          <a:p>
            <a:pPr algn="ctr">
              <a:spcAft>
                <a:spcPts val="1200"/>
              </a:spcAft>
            </a:pPr>
            <a:r>
              <a:rPr sz="1100" b="0" i="1" dirty="0">
                <a:solidFill>
                  <a:srgbClr val="CBA258"/>
                </a:solidFill>
                <a:latin typeface="Noto Sans KR"/>
              </a:rPr>
              <a:t>Profile(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고객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정보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)에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따라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완료율이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다를</a:t>
            </a:r>
            <a:r>
              <a:rPr sz="1100" b="0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0" i="1" dirty="0" err="1">
                <a:solidFill>
                  <a:srgbClr val="CBA258"/>
                </a:solidFill>
                <a:latin typeface="Noto Sans KR"/>
              </a:rPr>
              <a:t>것이다</a:t>
            </a:r>
            <a:endParaRPr sz="1100" b="0" i="1" dirty="0">
              <a:solidFill>
                <a:srgbClr val="CBA258"/>
              </a:solidFill>
              <a:latin typeface="Noto Sans KR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 dirty="0">
                <a:solidFill>
                  <a:schemeClr val="tx1"/>
                </a:solidFill>
                <a:latin typeface="Noto Sans KR"/>
              </a:rPr>
              <a:t>• 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성별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 ·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소득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(8만불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기준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) ·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나이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(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 54세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기준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40680"/>
            <a:ext cx="11155680" cy="489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1" dirty="0">
                <a:latin typeface="Noto Sans KR"/>
              </a:rPr>
              <a:t>Tier B(</a:t>
            </a:r>
            <a:r>
              <a:rPr sz="1150" b="1" i="1" dirty="0" err="1">
                <a:latin typeface="Noto Sans KR"/>
              </a:rPr>
              <a:t>순증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전환율</a:t>
            </a:r>
            <a:r>
              <a:rPr sz="1150" b="1" i="1" dirty="0">
                <a:latin typeface="Noto Sans KR"/>
              </a:rPr>
              <a:t>, P(</a:t>
            </a:r>
            <a:r>
              <a:rPr sz="1150" b="1" i="1" dirty="0" err="1">
                <a:latin typeface="Noto Sans KR"/>
              </a:rPr>
              <a:t>구매|노출</a:t>
            </a:r>
            <a:r>
              <a:rPr sz="1150" b="1" i="1" dirty="0">
                <a:latin typeface="Noto Sans KR"/>
              </a:rPr>
              <a:t>)-P(</a:t>
            </a:r>
            <a:r>
              <a:rPr sz="1150" b="1" i="1" dirty="0" err="1">
                <a:latin typeface="Noto Sans KR"/>
              </a:rPr>
              <a:t>구매|미노출</a:t>
            </a:r>
            <a:r>
              <a:rPr sz="1150" b="1" i="1" dirty="0">
                <a:latin typeface="Noto Sans KR"/>
              </a:rPr>
              <a:t>))는 </a:t>
            </a:r>
            <a:r>
              <a:rPr sz="1150" b="1" i="1" dirty="0" err="1">
                <a:latin typeface="Noto Sans KR"/>
              </a:rPr>
              <a:t>대조군이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없어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현재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사용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불가</a:t>
            </a:r>
            <a:r>
              <a:rPr sz="1150" b="1" i="1" dirty="0">
                <a:latin typeface="Noto Sans KR"/>
              </a:rPr>
              <a:t> — </a:t>
            </a:r>
            <a:r>
              <a:rPr sz="1150" b="1" i="1" dirty="0">
                <a:solidFill>
                  <a:srgbClr val="006241"/>
                </a:solidFill>
                <a:latin typeface="Noto Sans KR"/>
              </a:rPr>
              <a:t>Tier A(</a:t>
            </a:r>
            <a:r>
              <a:rPr sz="1150" b="1" i="1" dirty="0" err="1">
                <a:solidFill>
                  <a:srgbClr val="006241"/>
                </a:solidFill>
                <a:latin typeface="Noto Sans KR"/>
              </a:rPr>
              <a:t>완료율·수신율·전환율</a:t>
            </a:r>
            <a:r>
              <a:rPr sz="1150" b="1" i="1" dirty="0">
                <a:solidFill>
                  <a:srgbClr val="006241"/>
                </a:solidFill>
                <a:latin typeface="Noto Sans KR"/>
              </a:rPr>
              <a:t>)로 </a:t>
            </a:r>
            <a:r>
              <a:rPr sz="1150" b="1" i="1" dirty="0" err="1">
                <a:solidFill>
                  <a:srgbClr val="006241"/>
                </a:solidFill>
                <a:latin typeface="Noto Sans KR"/>
              </a:rPr>
              <a:t>시작</a:t>
            </a:r>
            <a:endParaRPr sz="1150" b="1" i="1" dirty="0">
              <a:solidFill>
                <a:srgbClr val="006241"/>
              </a:solidFill>
              <a:latin typeface="Noto Sans KR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1" dirty="0" err="1">
                <a:latin typeface="Noto Sans KR"/>
              </a:rPr>
              <a:t>Acquisition·Referral은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데이터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부재로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측정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불가</a:t>
            </a:r>
            <a:r>
              <a:rPr sz="1150" b="1" i="1" dirty="0">
                <a:latin typeface="Noto Sans KR"/>
              </a:rPr>
              <a:t> (</a:t>
            </a:r>
            <a:r>
              <a:rPr sz="1150" b="1" i="1" dirty="0" err="1">
                <a:latin typeface="Noto Sans KR"/>
              </a:rPr>
              <a:t>가입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경로</a:t>
            </a:r>
            <a:r>
              <a:rPr sz="1150" b="1" i="1" dirty="0">
                <a:latin typeface="Noto Sans KR"/>
              </a:rPr>
              <a:t>, </a:t>
            </a:r>
            <a:r>
              <a:rPr sz="1150" b="1" i="1" dirty="0" err="1">
                <a:latin typeface="Noto Sans KR"/>
              </a:rPr>
              <a:t>추천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로그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없음</a:t>
            </a:r>
            <a:r>
              <a:rPr sz="1150" b="1" i="1" dirty="0">
                <a:latin typeface="Noto Sans KR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2927-EC6A-8DFB-A2D7-EEC854F0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BD6249-2A68-8E0F-69FF-44F190D2F9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E38D4-A22F-7B73-394F-B8743D13E45A}"/>
              </a:ext>
            </a:extLst>
          </p:cNvPr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D845CE-BDD4-9727-6B8B-0DEC541D9156}"/>
              </a:ext>
            </a:extLst>
          </p:cNvPr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5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5DE099-9A22-8452-D68C-3FB51822F203}"/>
              </a:ext>
            </a:extLst>
          </p:cNvPr>
          <p:cNvSpPr/>
          <p:nvPr/>
        </p:nvSpPr>
        <p:spPr>
          <a:xfrm>
            <a:off x="502920" y="931436"/>
            <a:ext cx="11155680" cy="5332204"/>
          </a:xfrm>
          <a:prstGeom prst="rect">
            <a:avLst/>
          </a:prstGeom>
          <a:solidFill>
            <a:srgbClr val="006241"/>
          </a:solidFill>
          <a:ln>
            <a:solidFill>
              <a:srgbClr val="1B8A6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EB93EA76-B7FC-E712-D65F-5D92FF85D342}"/>
              </a:ext>
            </a:extLst>
          </p:cNvPr>
          <p:cNvSpPr/>
          <p:nvPr/>
        </p:nvSpPr>
        <p:spPr>
          <a:xfrm>
            <a:off x="913187" y="3904923"/>
            <a:ext cx="1166652" cy="342544"/>
          </a:xfrm>
          <a:custGeom>
            <a:avLst/>
            <a:gdLst>
              <a:gd name="connsiteX0" fmla="*/ 0 w 1166652"/>
              <a:gd name="connsiteY0" fmla="*/ 34254 h 342544"/>
              <a:gd name="connsiteX1" fmla="*/ 34254 w 1166652"/>
              <a:gd name="connsiteY1" fmla="*/ 0 h 342544"/>
              <a:gd name="connsiteX2" fmla="*/ 1132398 w 1166652"/>
              <a:gd name="connsiteY2" fmla="*/ 0 h 342544"/>
              <a:gd name="connsiteX3" fmla="*/ 1166652 w 1166652"/>
              <a:gd name="connsiteY3" fmla="*/ 34254 h 342544"/>
              <a:gd name="connsiteX4" fmla="*/ 1166652 w 1166652"/>
              <a:gd name="connsiteY4" fmla="*/ 308290 h 342544"/>
              <a:gd name="connsiteX5" fmla="*/ 1132398 w 1166652"/>
              <a:gd name="connsiteY5" fmla="*/ 342544 h 342544"/>
              <a:gd name="connsiteX6" fmla="*/ 34254 w 1166652"/>
              <a:gd name="connsiteY6" fmla="*/ 342544 h 342544"/>
              <a:gd name="connsiteX7" fmla="*/ 0 w 1166652"/>
              <a:gd name="connsiteY7" fmla="*/ 308290 h 342544"/>
              <a:gd name="connsiteX8" fmla="*/ 0 w 116665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665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132398" y="0"/>
                </a:lnTo>
                <a:cubicBezTo>
                  <a:pt x="1151316" y="0"/>
                  <a:pt x="1166652" y="15336"/>
                  <a:pt x="1166652" y="34254"/>
                </a:cubicBezTo>
                <a:lnTo>
                  <a:pt x="1166652" y="308290"/>
                </a:lnTo>
                <a:cubicBezTo>
                  <a:pt x="1166652" y="327208"/>
                  <a:pt x="1151316" y="342544"/>
                  <a:pt x="113239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Offer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별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</a:t>
            </a:r>
            <a:r>
              <a:rPr lang="ko-KR" altLang="en-US" sz="800" b="1" i="0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차이 원인 분석</a:t>
            </a: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2354CBB-0CE0-67A7-5C75-4D33B5FF55C0}"/>
              </a:ext>
            </a:extLst>
          </p:cNvPr>
          <p:cNvSpPr/>
          <p:nvPr/>
        </p:nvSpPr>
        <p:spPr>
          <a:xfrm rot="16747743">
            <a:off x="1508807" y="3401531"/>
            <a:ext cx="1357434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57480" tIns="-29393" rIns="657482" bIns="-2939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7736F4C3-4B5C-05A7-9868-AAFD85FDDEF4}"/>
              </a:ext>
            </a:extLst>
          </p:cNvPr>
          <p:cNvSpPr/>
          <p:nvPr/>
        </p:nvSpPr>
        <p:spPr>
          <a:xfrm>
            <a:off x="2295208" y="2564683"/>
            <a:ext cx="1431109" cy="342544"/>
          </a:xfrm>
          <a:custGeom>
            <a:avLst/>
            <a:gdLst>
              <a:gd name="connsiteX0" fmla="*/ 0 w 1431109"/>
              <a:gd name="connsiteY0" fmla="*/ 34254 h 342544"/>
              <a:gd name="connsiteX1" fmla="*/ 34254 w 1431109"/>
              <a:gd name="connsiteY1" fmla="*/ 0 h 342544"/>
              <a:gd name="connsiteX2" fmla="*/ 1396855 w 1431109"/>
              <a:gd name="connsiteY2" fmla="*/ 0 h 342544"/>
              <a:gd name="connsiteX3" fmla="*/ 1431109 w 1431109"/>
              <a:gd name="connsiteY3" fmla="*/ 34254 h 342544"/>
              <a:gd name="connsiteX4" fmla="*/ 1431109 w 1431109"/>
              <a:gd name="connsiteY4" fmla="*/ 308290 h 342544"/>
              <a:gd name="connsiteX5" fmla="*/ 1396855 w 1431109"/>
              <a:gd name="connsiteY5" fmla="*/ 342544 h 342544"/>
              <a:gd name="connsiteX6" fmla="*/ 34254 w 1431109"/>
              <a:gd name="connsiteY6" fmla="*/ 342544 h 342544"/>
              <a:gd name="connsiteX7" fmla="*/ 0 w 1431109"/>
              <a:gd name="connsiteY7" fmla="*/ 308290 h 342544"/>
              <a:gd name="connsiteX8" fmla="*/ 0 w 1431109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1109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396855" y="0"/>
                </a:lnTo>
                <a:cubicBezTo>
                  <a:pt x="1415773" y="0"/>
                  <a:pt x="1431109" y="15336"/>
                  <a:pt x="1431109" y="34254"/>
                </a:cubicBezTo>
                <a:lnTo>
                  <a:pt x="1431109" y="308290"/>
                </a:lnTo>
                <a:cubicBezTo>
                  <a:pt x="1431109" y="327208"/>
                  <a:pt x="1415773" y="342544"/>
                  <a:pt x="1396855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Offer type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완료율은 왜 낮을까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?</a:t>
            </a:r>
            <a:endParaRPr lang="ko-KR" altLang="en-US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9E76F6A-A9A4-C07B-3F9B-1006181EBB58}"/>
              </a:ext>
            </a:extLst>
          </p:cNvPr>
          <p:cNvSpPr/>
          <p:nvPr/>
        </p:nvSpPr>
        <p:spPr>
          <a:xfrm rot="16789086">
            <a:off x="3202499" y="2109156"/>
            <a:ext cx="126300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12627" tIns="-27032" rIns="612628" bIns="-2703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34652EF9-A431-3180-BE3B-9E8E08EF9A60}"/>
              </a:ext>
            </a:extLst>
          </p:cNvPr>
          <p:cNvSpPr/>
          <p:nvPr/>
        </p:nvSpPr>
        <p:spPr>
          <a:xfrm>
            <a:off x="3941687" y="1320174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 동기 및 수용성 부족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22C320B-980F-0E18-7F98-880F4152E7F3}"/>
              </a:ext>
            </a:extLst>
          </p:cNvPr>
          <p:cNvSpPr/>
          <p:nvPr/>
        </p:nvSpPr>
        <p:spPr>
          <a:xfrm rot="17938430">
            <a:off x="4944846" y="1295439"/>
            <a:ext cx="43770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0611" tIns="-6399" rIns="220611" bIns="-640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C97BE3FA-D95A-EC49-C1EE-6DA0EC7E7161}"/>
              </a:ext>
            </a:extLst>
          </p:cNvPr>
          <p:cNvSpPr/>
          <p:nvPr/>
        </p:nvSpPr>
        <p:spPr>
          <a:xfrm>
            <a:off x="5269716" y="937248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호감도 낮음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633970E-8F5D-138C-2B4F-FB91D97D05C2}"/>
              </a:ext>
            </a:extLst>
          </p:cNvPr>
          <p:cNvSpPr/>
          <p:nvPr/>
        </p:nvSpPr>
        <p:spPr>
          <a:xfrm>
            <a:off x="6817717" y="1103976"/>
            <a:ext cx="21870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6585" tIns="-924" rIns="116587" bIns="-92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0D66402-825F-0C4F-0AF9-07821D99D097}"/>
              </a:ext>
            </a:extLst>
          </p:cNvPr>
          <p:cNvSpPr/>
          <p:nvPr/>
        </p:nvSpPr>
        <p:spPr>
          <a:xfrm>
            <a:off x="7036424" y="937248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카페인 민감자의 커피 </a:t>
            </a:r>
            <a:r>
              <a:rPr lang="ko-KR" altLang="en-US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신메뉴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 선호도 불일치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41245BB1-D8C2-BC34-FC42-D5657AE1068C}"/>
              </a:ext>
            </a:extLst>
          </p:cNvPr>
          <p:cNvSpPr/>
          <p:nvPr/>
        </p:nvSpPr>
        <p:spPr>
          <a:xfrm>
            <a:off x="9592426" y="110397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03B00B73-182E-FE39-F9EF-CF6BE81EA82F}"/>
              </a:ext>
            </a:extLst>
          </p:cNvPr>
          <p:cNvSpPr/>
          <p:nvPr/>
        </p:nvSpPr>
        <p:spPr>
          <a:xfrm>
            <a:off x="9807795" y="937248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메뉴 및 개인 데이터 부재로</a:t>
            </a:r>
            <a:endParaRPr lang="en-US" altLang="ko-KR" sz="800" b="1" kern="12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 불가 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FC7747AD-7E47-B842-40F4-EF3E1CA4DDC5}"/>
              </a:ext>
            </a:extLst>
          </p:cNvPr>
          <p:cNvSpPr/>
          <p:nvPr/>
        </p:nvSpPr>
        <p:spPr>
          <a:xfrm>
            <a:off x="5057685" y="148690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359B99DC-AF03-79BB-F521-CDB3942C443E}"/>
              </a:ext>
            </a:extLst>
          </p:cNvPr>
          <p:cNvSpPr/>
          <p:nvPr/>
        </p:nvSpPr>
        <p:spPr>
          <a:xfrm>
            <a:off x="5273054" y="1320174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매력도 부족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31A364E6-33F1-9A32-C95E-9D7069266EBB}"/>
              </a:ext>
            </a:extLst>
          </p:cNvPr>
          <p:cNvSpPr/>
          <p:nvPr/>
        </p:nvSpPr>
        <p:spPr>
          <a:xfrm>
            <a:off x="6821055" y="148690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517D8731-130B-DB6B-EBED-530A4AEFEE9F}"/>
              </a:ext>
            </a:extLst>
          </p:cNvPr>
          <p:cNvSpPr/>
          <p:nvPr/>
        </p:nvSpPr>
        <p:spPr>
          <a:xfrm>
            <a:off x="7036424" y="1320174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소비 부담 대비 낮은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보상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BF94BB8-8267-8F88-0265-BC3FDD3F0EE1}"/>
              </a:ext>
            </a:extLst>
          </p:cNvPr>
          <p:cNvSpPr/>
          <p:nvPr/>
        </p:nvSpPr>
        <p:spPr>
          <a:xfrm>
            <a:off x="9592426" y="148690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AC8CDA29-F3DD-EA74-F1B2-0B0FF062B22E}"/>
              </a:ext>
            </a:extLst>
          </p:cNvPr>
          <p:cNvSpPr/>
          <p:nvPr/>
        </p:nvSpPr>
        <p:spPr>
          <a:xfrm>
            <a:off x="9807795" y="1320174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+A/B Test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71C8C410-3902-109D-D4B2-F6A851DE0C34}"/>
              </a:ext>
            </a:extLst>
          </p:cNvPr>
          <p:cNvSpPr/>
          <p:nvPr/>
        </p:nvSpPr>
        <p:spPr>
          <a:xfrm rot="3638718">
            <a:off x="4945701" y="1678365"/>
            <a:ext cx="439335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1384" tIns="-6441" rIns="221384" bIns="-643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5D8460D2-511B-7B32-E7D6-0064BFDB3344}"/>
              </a:ext>
            </a:extLst>
          </p:cNvPr>
          <p:cNvSpPr/>
          <p:nvPr/>
        </p:nvSpPr>
        <p:spPr>
          <a:xfrm>
            <a:off x="5273054" y="1703100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 관성</a:t>
            </a: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6A1AAC24-E37F-CB4A-98B5-61EDBE010F20}"/>
              </a:ext>
            </a:extLst>
          </p:cNvPr>
          <p:cNvSpPr/>
          <p:nvPr/>
        </p:nvSpPr>
        <p:spPr>
          <a:xfrm>
            <a:off x="6821055" y="1869828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D38604A9-CBD6-D8DC-28D8-6944EC383AEE}"/>
              </a:ext>
            </a:extLst>
          </p:cNvPr>
          <p:cNvSpPr/>
          <p:nvPr/>
        </p:nvSpPr>
        <p:spPr>
          <a:xfrm>
            <a:off x="7036424" y="1703100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기존 구매습관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메뉴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금액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유지로 인한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외면</a:t>
            </a: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F623DD90-4625-CB9A-BF6B-6E3F5DB65721}"/>
              </a:ext>
            </a:extLst>
          </p:cNvPr>
          <p:cNvSpPr/>
          <p:nvPr/>
        </p:nvSpPr>
        <p:spPr>
          <a:xfrm>
            <a:off x="9592426" y="1869828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D9CB23F2-EBEC-1022-96AC-B3D0FE78B7FE}"/>
              </a:ext>
            </a:extLst>
          </p:cNvPr>
          <p:cNvSpPr/>
          <p:nvPr/>
        </p:nvSpPr>
        <p:spPr>
          <a:xfrm>
            <a:off x="9807795" y="1703100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 불가</a:t>
            </a: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B8F31C02-F4DB-6503-874F-335D7B3D3E9C}"/>
              </a:ext>
            </a:extLst>
          </p:cNvPr>
          <p:cNvSpPr/>
          <p:nvPr/>
        </p:nvSpPr>
        <p:spPr>
          <a:xfrm rot="1437909">
            <a:off x="3716159" y="2779276"/>
            <a:ext cx="23568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651" tIns="-1349" rIns="124650" bIns="-134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0ACABD32-D985-D289-EC4B-DA0E29D37C8A}"/>
              </a:ext>
            </a:extLst>
          </p:cNvPr>
          <p:cNvSpPr/>
          <p:nvPr/>
        </p:nvSpPr>
        <p:spPr>
          <a:xfrm>
            <a:off x="3941687" y="2660414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및 접촉 제약</a:t>
            </a: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71FCCEFD-C560-AFCE-71B9-06B254F11AFB}"/>
              </a:ext>
            </a:extLst>
          </p:cNvPr>
          <p:cNvSpPr/>
          <p:nvPr/>
        </p:nvSpPr>
        <p:spPr>
          <a:xfrm rot="17433221">
            <a:off x="4858650" y="2539948"/>
            <a:ext cx="61343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4082" tIns="-10792" rIns="304083" bIns="-107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F5860EBA-184C-1A30-8663-F8E0E6231F4F}"/>
              </a:ext>
            </a:extLst>
          </p:cNvPr>
          <p:cNvSpPr/>
          <p:nvPr/>
        </p:nvSpPr>
        <p:spPr>
          <a:xfrm>
            <a:off x="5273054" y="2086025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채널 한계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26DD3AC0-CD6E-E0BD-CBED-75F8781B0E3C}"/>
              </a:ext>
            </a:extLst>
          </p:cNvPr>
          <p:cNvSpPr/>
          <p:nvPr/>
        </p:nvSpPr>
        <p:spPr>
          <a:xfrm>
            <a:off x="6821055" y="2252753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FE91A055-7610-66E8-C35E-FBC69847E720}"/>
              </a:ext>
            </a:extLst>
          </p:cNvPr>
          <p:cNvSpPr/>
          <p:nvPr/>
        </p:nvSpPr>
        <p:spPr>
          <a:xfrm>
            <a:off x="7036424" y="2086025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Mobile, Social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대비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Web, Email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사용률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도달률이 낮음</a:t>
            </a: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4B72800D-3DB0-52C2-CA26-A58A73EDCDDB}"/>
              </a:ext>
            </a:extLst>
          </p:cNvPr>
          <p:cNvSpPr/>
          <p:nvPr/>
        </p:nvSpPr>
        <p:spPr>
          <a:xfrm>
            <a:off x="9592426" y="2252753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A4C7A38C-7331-9C31-7515-B0BA55F6B85D}"/>
              </a:ext>
            </a:extLst>
          </p:cNvPr>
          <p:cNvSpPr/>
          <p:nvPr/>
        </p:nvSpPr>
        <p:spPr>
          <a:xfrm>
            <a:off x="9807795" y="2086025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오퍼 단위 비교</a:t>
            </a:r>
            <a:endParaRPr lang="en-US" altLang="ko-KR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채널 조합별 수신율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1A4F88FA-2898-1FB7-AA2F-D09B3D50EB14}"/>
              </a:ext>
            </a:extLst>
          </p:cNvPr>
          <p:cNvSpPr/>
          <p:nvPr/>
        </p:nvSpPr>
        <p:spPr>
          <a:xfrm rot="19101774">
            <a:off x="5021285" y="2731411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1" rIns="149581" bIns="-266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CADC0476-E241-1C65-1B6D-11F806E802B0}"/>
              </a:ext>
            </a:extLst>
          </p:cNvPr>
          <p:cNvSpPr/>
          <p:nvPr/>
        </p:nvSpPr>
        <p:spPr>
          <a:xfrm>
            <a:off x="5273054" y="2468951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 부족</a:t>
            </a: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D544CB2F-25E6-1B12-F161-7414663DF86D}"/>
              </a:ext>
            </a:extLst>
          </p:cNvPr>
          <p:cNvSpPr/>
          <p:nvPr/>
        </p:nvSpPr>
        <p:spPr>
          <a:xfrm>
            <a:off x="6821055" y="2635679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A5BEC758-F1C7-A705-2FBF-C4F91B400B43}"/>
              </a:ext>
            </a:extLst>
          </p:cNvPr>
          <p:cNvSpPr/>
          <p:nvPr/>
        </p:nvSpPr>
        <p:spPr>
          <a:xfrm>
            <a:off x="7036424" y="2468951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Duration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짧은 경우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전 마감될 수 있음</a:t>
            </a:r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ED675262-FE0A-2B4D-193D-572A9454D8A2}"/>
              </a:ext>
            </a:extLst>
          </p:cNvPr>
          <p:cNvSpPr/>
          <p:nvPr/>
        </p:nvSpPr>
        <p:spPr>
          <a:xfrm>
            <a:off x="9592426" y="2635679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ADEBCD35-33B6-D4B5-3840-04DE78C01855}"/>
              </a:ext>
            </a:extLst>
          </p:cNvPr>
          <p:cNvSpPr/>
          <p:nvPr/>
        </p:nvSpPr>
        <p:spPr>
          <a:xfrm>
            <a:off x="9807795" y="2468951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상관 분석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ED97F137-F3AE-4383-61BB-E0AFECEB529D}"/>
              </a:ext>
            </a:extLst>
          </p:cNvPr>
          <p:cNvSpPr/>
          <p:nvPr/>
        </p:nvSpPr>
        <p:spPr>
          <a:xfrm rot="2498226">
            <a:off x="5021285" y="2922874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79" tIns="-2662" rIns="149581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14D90590-7BCD-22F2-D2FF-C33ACDF14DA5}"/>
              </a:ext>
            </a:extLst>
          </p:cNvPr>
          <p:cNvSpPr/>
          <p:nvPr/>
        </p:nvSpPr>
        <p:spPr>
          <a:xfrm>
            <a:off x="5273054" y="2851877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둔감화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E7FB3417-79F6-7C87-198F-DC6CB1ABB5F6}"/>
              </a:ext>
            </a:extLst>
          </p:cNvPr>
          <p:cNvSpPr/>
          <p:nvPr/>
        </p:nvSpPr>
        <p:spPr>
          <a:xfrm>
            <a:off x="6821055" y="3018605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ECA7C009-B082-4048-8C2A-298BB0AE2F47}"/>
              </a:ext>
            </a:extLst>
          </p:cNvPr>
          <p:cNvSpPr/>
          <p:nvPr/>
        </p:nvSpPr>
        <p:spPr>
          <a:xfrm>
            <a:off x="7036424" y="2851877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횟수에 따라 반응 둔화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DA38D38F-7959-B931-38D3-06F3B86FC084}"/>
              </a:ext>
            </a:extLst>
          </p:cNvPr>
          <p:cNvSpPr/>
          <p:nvPr/>
        </p:nvSpPr>
        <p:spPr>
          <a:xfrm>
            <a:off x="9592426" y="3018605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8AE580A3-BB7D-ED17-375A-92EBE4F1FE10}"/>
              </a:ext>
            </a:extLst>
          </p:cNvPr>
          <p:cNvSpPr/>
          <p:nvPr/>
        </p:nvSpPr>
        <p:spPr>
          <a:xfrm>
            <a:off x="9807795" y="2851877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상관분석</a:t>
            </a: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CD092FB-ED31-D7BA-9BB4-D33BAF07A54A}"/>
              </a:ext>
            </a:extLst>
          </p:cNvPr>
          <p:cNvSpPr/>
          <p:nvPr/>
        </p:nvSpPr>
        <p:spPr>
          <a:xfrm rot="4166779">
            <a:off x="4858650" y="3114336"/>
            <a:ext cx="61343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4083" tIns="-10793" rIns="304082" bIns="-1079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47E4DCFC-5D9B-AD32-D01A-9C6BF5BAAE44}"/>
              </a:ext>
            </a:extLst>
          </p:cNvPr>
          <p:cNvSpPr/>
          <p:nvPr/>
        </p:nvSpPr>
        <p:spPr>
          <a:xfrm>
            <a:off x="5273054" y="3234803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제한의 한계</a:t>
            </a: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456EAAEF-00E3-0C9C-2995-42A9742BB195}"/>
              </a:ext>
            </a:extLst>
          </p:cNvPr>
          <p:cNvSpPr/>
          <p:nvPr/>
        </p:nvSpPr>
        <p:spPr>
          <a:xfrm>
            <a:off x="6821055" y="340153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10E2B9ED-EDC3-2873-193B-CE75E326A979}"/>
              </a:ext>
            </a:extLst>
          </p:cNvPr>
          <p:cNvSpPr/>
          <p:nvPr/>
        </p:nvSpPr>
        <p:spPr>
          <a:xfrm>
            <a:off x="7036424" y="3234803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해제 고객의 노출 제한 </a:t>
            </a:r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12BEDF6A-4217-9BB8-0767-B1155397C216}"/>
              </a:ext>
            </a:extLst>
          </p:cNvPr>
          <p:cNvSpPr/>
          <p:nvPr/>
        </p:nvSpPr>
        <p:spPr>
          <a:xfrm>
            <a:off x="9592426" y="340153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3D87B2AE-47B6-F7C9-A14F-363E24411346}"/>
              </a:ext>
            </a:extLst>
          </p:cNvPr>
          <p:cNvSpPr/>
          <p:nvPr/>
        </p:nvSpPr>
        <p:spPr>
          <a:xfrm>
            <a:off x="9807795" y="3234803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Profile</a:t>
            </a:r>
            <a:r>
              <a:rPr lang="ko-KR" altLang="en-US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별 </a:t>
            </a:r>
            <a:r>
              <a:rPr lang="en-US" altLang="ko-KR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channel </a:t>
            </a:r>
            <a:r>
              <a:rPr lang="ko-KR" altLang="en-US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해제</a:t>
            </a:r>
            <a:endParaRPr lang="en-US" altLang="ko-KR" sz="800" b="1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부재로 검증 불가</a:t>
            </a:r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F7E7B539-5729-A109-0C5B-B8460EF5BBDB}"/>
              </a:ext>
            </a:extLst>
          </p:cNvPr>
          <p:cNvSpPr/>
          <p:nvPr/>
        </p:nvSpPr>
        <p:spPr>
          <a:xfrm rot="4810914">
            <a:off x="3202499" y="3353665"/>
            <a:ext cx="126300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12628" tIns="-27032" rIns="612627" bIns="-2703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51F47153-E8E6-3A30-C895-E0E464DBAE69}"/>
              </a:ext>
            </a:extLst>
          </p:cNvPr>
          <p:cNvSpPr/>
          <p:nvPr/>
        </p:nvSpPr>
        <p:spPr>
          <a:xfrm>
            <a:off x="3941687" y="3809191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달성 난이도 부담</a:t>
            </a:r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47F04AD5-7D58-F11C-3047-0D833366EF00}"/>
              </a:ext>
            </a:extLst>
          </p:cNvPr>
          <p:cNvSpPr/>
          <p:nvPr/>
        </p:nvSpPr>
        <p:spPr>
          <a:xfrm rot="19101774">
            <a:off x="5021285" y="3880188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79" tIns="-2661" rIns="149581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F1FD8552-93A2-E23E-EE00-519FA99BB16C}"/>
              </a:ext>
            </a:extLst>
          </p:cNvPr>
          <p:cNvSpPr/>
          <p:nvPr/>
        </p:nvSpPr>
        <p:spPr>
          <a:xfrm>
            <a:off x="5273054" y="3617728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과잉 구매 부담</a:t>
            </a:r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8B43B3FC-7C44-07AC-92ED-F306D68E0AED}"/>
              </a:ext>
            </a:extLst>
          </p:cNvPr>
          <p:cNvSpPr/>
          <p:nvPr/>
        </p:nvSpPr>
        <p:spPr>
          <a:xfrm>
            <a:off x="6821055" y="378445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8C58B7FE-AB96-2F88-E9CB-64B73AC1D703}"/>
              </a:ext>
            </a:extLst>
          </p:cNvPr>
          <p:cNvSpPr/>
          <p:nvPr/>
        </p:nvSpPr>
        <p:spPr>
          <a:xfrm>
            <a:off x="7036424" y="3617728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bogo(1+1)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 수량 중심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부담</a:t>
            </a:r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54D4A769-EA75-D34C-3656-7A9A6869C78C}"/>
              </a:ext>
            </a:extLst>
          </p:cNvPr>
          <p:cNvSpPr/>
          <p:nvPr/>
        </p:nvSpPr>
        <p:spPr>
          <a:xfrm>
            <a:off x="9592426" y="378445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6062506D-0DF0-44FE-8FBB-B4C46B56E9FD}"/>
              </a:ext>
            </a:extLst>
          </p:cNvPr>
          <p:cNvSpPr/>
          <p:nvPr/>
        </p:nvSpPr>
        <p:spPr>
          <a:xfrm>
            <a:off x="9807795" y="3617728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C1459734-9D52-5759-10DD-1A9DEAE2100B}"/>
              </a:ext>
            </a:extLst>
          </p:cNvPr>
          <p:cNvSpPr/>
          <p:nvPr/>
        </p:nvSpPr>
        <p:spPr>
          <a:xfrm rot="2498226">
            <a:off x="5021285" y="4071651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1" rIns="149580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2CF577A4-7A6B-AFE7-EE9A-BD7733B2613E}"/>
              </a:ext>
            </a:extLst>
          </p:cNvPr>
          <p:cNvSpPr/>
          <p:nvPr/>
        </p:nvSpPr>
        <p:spPr>
          <a:xfrm>
            <a:off x="5273054" y="4000654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소비 금액 증가 부담</a:t>
            </a:r>
          </a:p>
        </p:txBody>
      </p:sp>
      <p:sp>
        <p:nvSpPr>
          <p:cNvPr id="68" name="자유형: 도형 67">
            <a:extLst>
              <a:ext uri="{FF2B5EF4-FFF2-40B4-BE49-F238E27FC236}">
                <a16:creationId xmlns:a16="http://schemas.microsoft.com/office/drawing/2014/main" id="{D415A85E-7D85-87A4-3D16-F1C890BDF955}"/>
              </a:ext>
            </a:extLst>
          </p:cNvPr>
          <p:cNvSpPr/>
          <p:nvPr/>
        </p:nvSpPr>
        <p:spPr>
          <a:xfrm>
            <a:off x="6821055" y="416738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EC67DA22-CE0E-C7F7-CE6D-349FA84B4A6F}"/>
              </a:ext>
            </a:extLst>
          </p:cNvPr>
          <p:cNvSpPr/>
          <p:nvPr/>
        </p:nvSpPr>
        <p:spPr>
          <a:xfrm>
            <a:off x="7036424" y="4000654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 금액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(difficulty)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도달에 따른 소비 금액 증가의 부담</a:t>
            </a:r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9FCA9211-570F-3798-8366-EA1DF02D4028}"/>
              </a:ext>
            </a:extLst>
          </p:cNvPr>
          <p:cNvSpPr/>
          <p:nvPr/>
        </p:nvSpPr>
        <p:spPr>
          <a:xfrm>
            <a:off x="9592426" y="416738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2C2BD589-701B-B35D-816B-08DA91FD0122}"/>
              </a:ext>
            </a:extLst>
          </p:cNvPr>
          <p:cNvSpPr/>
          <p:nvPr/>
        </p:nvSpPr>
        <p:spPr>
          <a:xfrm>
            <a:off x="9807795" y="4000654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72" name="자유형: 도형 71">
            <a:extLst>
              <a:ext uri="{FF2B5EF4-FFF2-40B4-BE49-F238E27FC236}">
                <a16:creationId xmlns:a16="http://schemas.microsoft.com/office/drawing/2014/main" id="{30F5D6FD-E64F-5917-6CAC-776FC1AA44D1}"/>
              </a:ext>
            </a:extLst>
          </p:cNvPr>
          <p:cNvSpPr/>
          <p:nvPr/>
        </p:nvSpPr>
        <p:spPr>
          <a:xfrm rot="4852257">
            <a:off x="1508807" y="4741771"/>
            <a:ext cx="1357434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57481" tIns="-29392" rIns="657481" bIns="-293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F7CC14D4-2973-737F-6182-C1FBABD593E5}"/>
              </a:ext>
            </a:extLst>
          </p:cNvPr>
          <p:cNvSpPr/>
          <p:nvPr/>
        </p:nvSpPr>
        <p:spPr>
          <a:xfrm>
            <a:off x="2295208" y="5245163"/>
            <a:ext cx="1424244" cy="342544"/>
          </a:xfrm>
          <a:custGeom>
            <a:avLst/>
            <a:gdLst>
              <a:gd name="connsiteX0" fmla="*/ 0 w 1424244"/>
              <a:gd name="connsiteY0" fmla="*/ 34254 h 342544"/>
              <a:gd name="connsiteX1" fmla="*/ 34254 w 1424244"/>
              <a:gd name="connsiteY1" fmla="*/ 0 h 342544"/>
              <a:gd name="connsiteX2" fmla="*/ 1389990 w 1424244"/>
              <a:gd name="connsiteY2" fmla="*/ 0 h 342544"/>
              <a:gd name="connsiteX3" fmla="*/ 1424244 w 1424244"/>
              <a:gd name="connsiteY3" fmla="*/ 34254 h 342544"/>
              <a:gd name="connsiteX4" fmla="*/ 1424244 w 1424244"/>
              <a:gd name="connsiteY4" fmla="*/ 308290 h 342544"/>
              <a:gd name="connsiteX5" fmla="*/ 1389990 w 1424244"/>
              <a:gd name="connsiteY5" fmla="*/ 342544 h 342544"/>
              <a:gd name="connsiteX6" fmla="*/ 34254 w 1424244"/>
              <a:gd name="connsiteY6" fmla="*/ 342544 h 342544"/>
              <a:gd name="connsiteX7" fmla="*/ 0 w 1424244"/>
              <a:gd name="connsiteY7" fmla="*/ 308290 h 342544"/>
              <a:gd name="connsiteX8" fmla="*/ 0 w 1424244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4244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389990" y="0"/>
                </a:lnTo>
                <a:cubicBezTo>
                  <a:pt x="1408908" y="0"/>
                  <a:pt x="1424244" y="15336"/>
                  <a:pt x="1424244" y="34254"/>
                </a:cubicBezTo>
                <a:lnTo>
                  <a:pt x="1424244" y="308290"/>
                </a:lnTo>
                <a:cubicBezTo>
                  <a:pt x="1424244" y="327208"/>
                  <a:pt x="1408908" y="342544"/>
                  <a:pt x="1389990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Profile(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고객 정보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)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완료율이 왜 낮을까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?</a:t>
            </a:r>
            <a:endParaRPr lang="ko-KR" altLang="en-US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4" name="자유형: 도형 73">
            <a:extLst>
              <a:ext uri="{FF2B5EF4-FFF2-40B4-BE49-F238E27FC236}">
                <a16:creationId xmlns:a16="http://schemas.microsoft.com/office/drawing/2014/main" id="{77A4A627-13D0-F071-AA86-0413C1482C75}"/>
              </a:ext>
            </a:extLst>
          </p:cNvPr>
          <p:cNvSpPr/>
          <p:nvPr/>
        </p:nvSpPr>
        <p:spPr>
          <a:xfrm rot="17274848">
            <a:off x="3481884" y="5085420"/>
            <a:ext cx="686210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8649" tIns="-12612" rIns="338650" bIns="-1261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9DD721BA-7EFB-FEC6-1485-17F78F11CD02}"/>
              </a:ext>
            </a:extLst>
          </p:cNvPr>
          <p:cNvSpPr/>
          <p:nvPr/>
        </p:nvSpPr>
        <p:spPr>
          <a:xfrm>
            <a:off x="3930525" y="4592221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소득 수준별 제약</a:t>
            </a:r>
          </a:p>
        </p:txBody>
      </p: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B7E10974-75A6-0EBF-FE32-A316F20A816D}"/>
              </a:ext>
            </a:extLst>
          </p:cNvPr>
          <p:cNvSpPr/>
          <p:nvPr/>
        </p:nvSpPr>
        <p:spPr>
          <a:xfrm rot="19101774">
            <a:off x="5010123" y="4663218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1" rIns="149580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6374A1E1-301E-84ED-96EB-33B30BEF345D}"/>
              </a:ext>
            </a:extLst>
          </p:cNvPr>
          <p:cNvSpPr/>
          <p:nvPr/>
        </p:nvSpPr>
        <p:spPr>
          <a:xfrm>
            <a:off x="5261892" y="4400758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저소득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중위소득 그룹의 소비 부담</a:t>
            </a:r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AF3609A6-7D34-0130-3A50-A31B8695D4DB}"/>
              </a:ext>
            </a:extLst>
          </p:cNvPr>
          <p:cNvSpPr/>
          <p:nvPr/>
        </p:nvSpPr>
        <p:spPr>
          <a:xfrm>
            <a:off x="6809893" y="456748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1" tIns="-840" rIns="114999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9" name="자유형: 도형 78">
            <a:extLst>
              <a:ext uri="{FF2B5EF4-FFF2-40B4-BE49-F238E27FC236}">
                <a16:creationId xmlns:a16="http://schemas.microsoft.com/office/drawing/2014/main" id="{07C63F39-A836-D61D-E3C5-B41FB492DDBB}"/>
              </a:ext>
            </a:extLst>
          </p:cNvPr>
          <p:cNvSpPr/>
          <p:nvPr/>
        </p:nvSpPr>
        <p:spPr>
          <a:xfrm>
            <a:off x="7025262" y="4400758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소득 대비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difficulty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높아질수록 완료 저하</a:t>
            </a:r>
          </a:p>
        </p:txBody>
      </p: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83C9D6D3-2996-5D53-703C-9DA91FDEC0E6}"/>
              </a:ext>
            </a:extLst>
          </p:cNvPr>
          <p:cNvSpPr/>
          <p:nvPr/>
        </p:nvSpPr>
        <p:spPr>
          <a:xfrm>
            <a:off x="9581265" y="456748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F54EC342-F846-AE8D-A55B-D5B0CDC44652}"/>
              </a:ext>
            </a:extLst>
          </p:cNvPr>
          <p:cNvSpPr/>
          <p:nvPr/>
        </p:nvSpPr>
        <p:spPr>
          <a:xfrm>
            <a:off x="9796633" y="4400758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AC2CC486-A417-6973-5BAE-2C285C472A3C}"/>
              </a:ext>
            </a:extLst>
          </p:cNvPr>
          <p:cNvSpPr/>
          <p:nvPr/>
        </p:nvSpPr>
        <p:spPr>
          <a:xfrm rot="2498226">
            <a:off x="5010123" y="4854681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2" rIns="149580" bIns="-266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FABD4D80-EBE8-8494-9697-6FF1B928C3DF}"/>
              </a:ext>
            </a:extLst>
          </p:cNvPr>
          <p:cNvSpPr/>
          <p:nvPr/>
        </p:nvSpPr>
        <p:spPr>
          <a:xfrm>
            <a:off x="5261892" y="4783684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고소득 그룹의 체감 보상 부족</a:t>
            </a: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EC84FC66-67C8-5B5F-C8D6-EED69B7C266A}"/>
              </a:ext>
            </a:extLst>
          </p:cNvPr>
          <p:cNvSpPr/>
          <p:nvPr/>
        </p:nvSpPr>
        <p:spPr>
          <a:xfrm>
            <a:off x="6809893" y="495041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1" tIns="-840" rIns="114999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66A5843F-CF35-5562-B6B5-09310A041DBF}"/>
              </a:ext>
            </a:extLst>
          </p:cNvPr>
          <p:cNvSpPr/>
          <p:nvPr/>
        </p:nvSpPr>
        <p:spPr>
          <a:xfrm>
            <a:off x="7025262" y="4783684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금액이 고소득자의 동기부여 수준에 미달</a:t>
            </a:r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5C3C19D8-B87A-0324-49F8-42FD6936FD49}"/>
              </a:ext>
            </a:extLst>
          </p:cNvPr>
          <p:cNvSpPr/>
          <p:nvPr/>
        </p:nvSpPr>
        <p:spPr>
          <a:xfrm>
            <a:off x="9581265" y="495041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7" name="자유형: 도형 86">
            <a:extLst>
              <a:ext uri="{FF2B5EF4-FFF2-40B4-BE49-F238E27FC236}">
                <a16:creationId xmlns:a16="http://schemas.microsoft.com/office/drawing/2014/main" id="{810BDA8A-212C-7080-DA65-ADD1598F115C}"/>
              </a:ext>
            </a:extLst>
          </p:cNvPr>
          <p:cNvSpPr/>
          <p:nvPr/>
        </p:nvSpPr>
        <p:spPr>
          <a:xfrm>
            <a:off x="9796633" y="4783684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ANOVA/T-test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922DC381-A08D-B746-FFCD-EFDFC21DEF89}"/>
              </a:ext>
            </a:extLst>
          </p:cNvPr>
          <p:cNvSpPr/>
          <p:nvPr/>
        </p:nvSpPr>
        <p:spPr>
          <a:xfrm rot="1437909">
            <a:off x="3709294" y="5459757"/>
            <a:ext cx="23568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651" tIns="-1349" rIns="124651" bIns="-1348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자유형: 도형 88">
            <a:extLst>
              <a:ext uri="{FF2B5EF4-FFF2-40B4-BE49-F238E27FC236}">
                <a16:creationId xmlns:a16="http://schemas.microsoft.com/office/drawing/2014/main" id="{DDFF41E8-52BA-0FD3-211A-919851067BEE}"/>
              </a:ext>
            </a:extLst>
          </p:cNvPr>
          <p:cNvSpPr/>
          <p:nvPr/>
        </p:nvSpPr>
        <p:spPr>
          <a:xfrm>
            <a:off x="3934822" y="5340894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연령대별 행동 패턴 차이</a:t>
            </a:r>
          </a:p>
        </p:txBody>
      </p:sp>
      <p:sp>
        <p:nvSpPr>
          <p:cNvPr id="90" name="자유형: 도형 89">
            <a:extLst>
              <a:ext uri="{FF2B5EF4-FFF2-40B4-BE49-F238E27FC236}">
                <a16:creationId xmlns:a16="http://schemas.microsoft.com/office/drawing/2014/main" id="{6D2145BE-954A-AF47-1039-A8B0B23DBEB7}"/>
              </a:ext>
            </a:extLst>
          </p:cNvPr>
          <p:cNvSpPr/>
          <p:nvPr/>
        </p:nvSpPr>
        <p:spPr>
          <a:xfrm rot="19227189">
            <a:off x="5019493" y="5420480"/>
            <a:ext cx="27372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719" tIns="-2300" rIns="142721" bIns="-230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EE7F754E-904C-0541-F968-0F3AD62B4AC8}"/>
              </a:ext>
            </a:extLst>
          </p:cNvPr>
          <p:cNvSpPr/>
          <p:nvPr/>
        </p:nvSpPr>
        <p:spPr>
          <a:xfrm>
            <a:off x="5261892" y="5166610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청년층 오퍼 인지 채널 불일치</a:t>
            </a:r>
          </a:p>
        </p:txBody>
      </p:sp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2A37A3C6-C501-EC3F-3770-A9BB018FF1E3}"/>
              </a:ext>
            </a:extLst>
          </p:cNvPr>
          <p:cNvSpPr/>
          <p:nvPr/>
        </p:nvSpPr>
        <p:spPr>
          <a:xfrm rot="27806">
            <a:off x="6809890" y="5334226"/>
            <a:ext cx="219672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044" tIns="-948" rIns="117044" bIns="-94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CF362ACF-374D-8066-82D0-D9060F9376C2}"/>
              </a:ext>
            </a:extLst>
          </p:cNvPr>
          <p:cNvSpPr/>
          <p:nvPr/>
        </p:nvSpPr>
        <p:spPr>
          <a:xfrm>
            <a:off x="7029559" y="5168386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Web, Email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비선호 채널의 오퍼 발송 시 수신율 저하</a:t>
            </a: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F8BDB083-3FD3-4F3A-67CA-CDAE773B30ED}"/>
              </a:ext>
            </a:extLst>
          </p:cNvPr>
          <p:cNvSpPr/>
          <p:nvPr/>
        </p:nvSpPr>
        <p:spPr>
          <a:xfrm>
            <a:off x="9585561" y="5335115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4B86EC4C-54E0-7C61-6646-936A8D0BC18F}"/>
              </a:ext>
            </a:extLst>
          </p:cNvPr>
          <p:cNvSpPr/>
          <p:nvPr/>
        </p:nvSpPr>
        <p:spPr>
          <a:xfrm>
            <a:off x="9800930" y="5168386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카이제곱 검정</a:t>
            </a:r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E2B9F3E9-ECD7-2749-605B-97F251628887}"/>
              </a:ext>
            </a:extLst>
          </p:cNvPr>
          <p:cNvSpPr/>
          <p:nvPr/>
        </p:nvSpPr>
        <p:spPr>
          <a:xfrm rot="2680089">
            <a:off x="5007963" y="5611943"/>
            <a:ext cx="29678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3673" tIns="-2876" rIns="153674" bIns="-2877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5B97ECD8-61A9-A778-7948-11BCFF22E150}"/>
              </a:ext>
            </a:extLst>
          </p:cNvPr>
          <p:cNvSpPr/>
          <p:nvPr/>
        </p:nvSpPr>
        <p:spPr>
          <a:xfrm>
            <a:off x="5261892" y="5549535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고연령층의</a:t>
            </a:r>
            <a:endParaRPr lang="en-US" altLang="ko-KR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디지털 매체 적응 한계</a:t>
            </a:r>
          </a:p>
        </p:txBody>
      </p:sp>
      <p:sp>
        <p:nvSpPr>
          <p:cNvPr id="98" name="자유형: 도형 97">
            <a:extLst>
              <a:ext uri="{FF2B5EF4-FFF2-40B4-BE49-F238E27FC236}">
                <a16:creationId xmlns:a16="http://schemas.microsoft.com/office/drawing/2014/main" id="{D045F0D7-02B9-DE6A-E1C5-4CF82194BD15}"/>
              </a:ext>
            </a:extLst>
          </p:cNvPr>
          <p:cNvSpPr/>
          <p:nvPr/>
        </p:nvSpPr>
        <p:spPr>
          <a:xfrm rot="27806">
            <a:off x="6809890" y="5717152"/>
            <a:ext cx="219672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044" tIns="-948" rIns="117044" bIns="-94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9" name="자유형: 도형 98">
            <a:extLst>
              <a:ext uri="{FF2B5EF4-FFF2-40B4-BE49-F238E27FC236}">
                <a16:creationId xmlns:a16="http://schemas.microsoft.com/office/drawing/2014/main" id="{584E5D69-0C14-7AAF-C19A-1698A10CF7B3}"/>
              </a:ext>
            </a:extLst>
          </p:cNvPr>
          <p:cNvSpPr/>
          <p:nvPr/>
        </p:nvSpPr>
        <p:spPr>
          <a:xfrm>
            <a:off x="7029559" y="5551312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고령층의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수신율 저하</a:t>
            </a:r>
          </a:p>
        </p:txBody>
      </p:sp>
      <p:sp>
        <p:nvSpPr>
          <p:cNvPr id="100" name="자유형: 도형 99">
            <a:extLst>
              <a:ext uri="{FF2B5EF4-FFF2-40B4-BE49-F238E27FC236}">
                <a16:creationId xmlns:a16="http://schemas.microsoft.com/office/drawing/2014/main" id="{7DA75855-F873-D9CB-B360-7C11AEB9EC30}"/>
              </a:ext>
            </a:extLst>
          </p:cNvPr>
          <p:cNvSpPr/>
          <p:nvPr/>
        </p:nvSpPr>
        <p:spPr>
          <a:xfrm>
            <a:off x="9585561" y="5718040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1" name="자유형: 도형 100">
            <a:extLst>
              <a:ext uri="{FF2B5EF4-FFF2-40B4-BE49-F238E27FC236}">
                <a16:creationId xmlns:a16="http://schemas.microsoft.com/office/drawing/2014/main" id="{4A98C916-1B96-74BB-BD1A-13F086175CBA}"/>
              </a:ext>
            </a:extLst>
          </p:cNvPr>
          <p:cNvSpPr/>
          <p:nvPr/>
        </p:nvSpPr>
        <p:spPr>
          <a:xfrm>
            <a:off x="9800930" y="5551312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상관분석</a:t>
            </a:r>
          </a:p>
        </p:txBody>
      </p:sp>
      <p:sp>
        <p:nvSpPr>
          <p:cNvPr id="102" name="자유형: 도형 101">
            <a:extLst>
              <a:ext uri="{FF2B5EF4-FFF2-40B4-BE49-F238E27FC236}">
                <a16:creationId xmlns:a16="http://schemas.microsoft.com/office/drawing/2014/main" id="{AAB3607C-8683-4F22-D69D-85676D86D8DE}"/>
              </a:ext>
            </a:extLst>
          </p:cNvPr>
          <p:cNvSpPr/>
          <p:nvPr/>
        </p:nvSpPr>
        <p:spPr>
          <a:xfrm rot="4330992">
            <a:off x="3475198" y="5746951"/>
            <a:ext cx="70387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043" tIns="-13054" rIns="347041" bIns="-1305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자유형: 도형 102">
            <a:extLst>
              <a:ext uri="{FF2B5EF4-FFF2-40B4-BE49-F238E27FC236}">
                <a16:creationId xmlns:a16="http://schemas.microsoft.com/office/drawing/2014/main" id="{3F851251-BCAE-8FAB-0285-BB9045C71BE2}"/>
              </a:ext>
            </a:extLst>
          </p:cNvPr>
          <p:cNvSpPr/>
          <p:nvPr/>
        </p:nvSpPr>
        <p:spPr>
          <a:xfrm>
            <a:off x="3934822" y="5915283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성별에 따른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offer 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선호도 불일치</a:t>
            </a:r>
          </a:p>
        </p:txBody>
      </p:sp>
      <p:sp>
        <p:nvSpPr>
          <p:cNvPr id="104" name="자유형: 도형 103">
            <a:extLst>
              <a:ext uri="{FF2B5EF4-FFF2-40B4-BE49-F238E27FC236}">
                <a16:creationId xmlns:a16="http://schemas.microsoft.com/office/drawing/2014/main" id="{93242EBF-F6FD-B33F-4F28-F9E51ECE1A9D}"/>
              </a:ext>
            </a:extLst>
          </p:cNvPr>
          <p:cNvSpPr/>
          <p:nvPr/>
        </p:nvSpPr>
        <p:spPr>
          <a:xfrm>
            <a:off x="5050820" y="608201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5" name="자유형: 도형 104">
            <a:extLst>
              <a:ext uri="{FF2B5EF4-FFF2-40B4-BE49-F238E27FC236}">
                <a16:creationId xmlns:a16="http://schemas.microsoft.com/office/drawing/2014/main" id="{99C88675-D335-B50F-F5B0-81105905B9A1}"/>
              </a:ext>
            </a:extLst>
          </p:cNvPr>
          <p:cNvSpPr/>
          <p:nvPr/>
        </p:nvSpPr>
        <p:spPr>
          <a:xfrm>
            <a:off x="5266189" y="5915283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성별에 따른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선호도 차이</a:t>
            </a:r>
          </a:p>
        </p:txBody>
      </p:sp>
      <p:sp>
        <p:nvSpPr>
          <p:cNvPr id="106" name="자유형: 도형 105">
            <a:extLst>
              <a:ext uri="{FF2B5EF4-FFF2-40B4-BE49-F238E27FC236}">
                <a16:creationId xmlns:a16="http://schemas.microsoft.com/office/drawing/2014/main" id="{E4DE1457-9FAD-88EE-C7E5-F93026131C99}"/>
              </a:ext>
            </a:extLst>
          </p:cNvPr>
          <p:cNvSpPr/>
          <p:nvPr/>
        </p:nvSpPr>
        <p:spPr>
          <a:xfrm>
            <a:off x="6814190" y="608201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7" name="자유형: 도형 106">
            <a:extLst>
              <a:ext uri="{FF2B5EF4-FFF2-40B4-BE49-F238E27FC236}">
                <a16:creationId xmlns:a16="http://schemas.microsoft.com/office/drawing/2014/main" id="{635782C2-303E-D8D9-96B7-D5B102E2B399}"/>
              </a:ext>
            </a:extLst>
          </p:cNvPr>
          <p:cNvSpPr/>
          <p:nvPr/>
        </p:nvSpPr>
        <p:spPr>
          <a:xfrm>
            <a:off x="7029559" y="5915283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특정 성별 집단에서 특정 오퍼 유형에 대한 수용도 저하</a:t>
            </a:r>
          </a:p>
        </p:txBody>
      </p:sp>
      <p:sp>
        <p:nvSpPr>
          <p:cNvPr id="108" name="자유형: 도형 107">
            <a:extLst>
              <a:ext uri="{FF2B5EF4-FFF2-40B4-BE49-F238E27FC236}">
                <a16:creationId xmlns:a16="http://schemas.microsoft.com/office/drawing/2014/main" id="{0DC44A62-FFF7-E91F-B421-5A6E01A04645}"/>
              </a:ext>
            </a:extLst>
          </p:cNvPr>
          <p:cNvSpPr/>
          <p:nvPr/>
        </p:nvSpPr>
        <p:spPr>
          <a:xfrm>
            <a:off x="9585561" y="608201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9" name="자유형: 도형 108">
            <a:extLst>
              <a:ext uri="{FF2B5EF4-FFF2-40B4-BE49-F238E27FC236}">
                <a16:creationId xmlns:a16="http://schemas.microsoft.com/office/drawing/2014/main" id="{F5843532-5F80-29C2-20DE-6061BB8C8205}"/>
              </a:ext>
            </a:extLst>
          </p:cNvPr>
          <p:cNvSpPr/>
          <p:nvPr/>
        </p:nvSpPr>
        <p:spPr>
          <a:xfrm>
            <a:off x="9800930" y="5915283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카이제곱 검정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29081F-B5A7-78C1-D182-B318CA49F1A1}"/>
              </a:ext>
            </a:extLst>
          </p:cNvPr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04.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: </a:t>
            </a:r>
            <a:r>
              <a:rPr lang="ko-KR" altLang="en-US" sz="2600" b="1" i="0" dirty="0">
                <a:solidFill>
                  <a:srgbClr val="006241"/>
                </a:solidFill>
                <a:latin typeface="Noto Sans KR"/>
              </a:rPr>
              <a:t>로직 트리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2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5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①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구매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동기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수용성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CBA258"/>
                </a:solidFill>
                <a:latin typeface="Noto Sans KR"/>
              </a:rPr>
              <a:t>Motivation &amp; Fit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7160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7091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보류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6634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Noto Sans KR"/>
              </a:rPr>
              <a:t>reward 계수 -0.110, p&lt;.001로 통계적으로 매우 유의하지만, reward가 offer_type과 거의 겹쳐 있어 순수 reward 효과인지 분리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71600"/>
            <a:ext cx="56235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오퍼 유형 격차 (BOGO vs Discount)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완료율 BOGO 43.8%  vs  Discount 58.7% — 약 15%p 차이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reward·difficulty·duration 통제 후에도 offer_type 고유 효과 유의하게 잔존 (원 격차의 약 55%는 설계 변수로 설명)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14813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BA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부분지지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108960"/>
            <a:ext cx="5623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구매 관성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기존 결제·메뉴 패턴 고착화 가설 — 메뉴/상품 데이터 부재로 검증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32186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검증불가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480560"/>
            <a:ext cx="5623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호감도 불일치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개인 선호와 오퍼 불일치 가설 — 선호 메뉴 데이터가 없어 검증 불가, 후속 데이터 수집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45902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검증불가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06241"/>
                </a:solidFill>
                <a:latin typeface="Noto Sans KR"/>
              </a:rPr>
              <a:t>Take-away  </a:t>
            </a:r>
            <a:r>
              <a:rPr sz="1250" b="0" i="0">
                <a:solidFill>
                  <a:srgbClr val="212121"/>
                </a:solidFill>
                <a:latin typeface="Noto Sans KR"/>
              </a:rPr>
              <a:t>보상 금액을 일괄적으로 높이지 않는다 · 동일 유형·난이도·기간에서 보상만 다르게 하는 A/B 테스트를 우선 설계한다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6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6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②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인지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접촉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제약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CBA258"/>
                </a:solidFill>
                <a:latin typeface="Noto Sans KR"/>
              </a:rPr>
              <a:t>Awareness &amp; Reach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7160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6177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보류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5720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Noto Sans KR"/>
              </a:rPr>
              <a:t>가설이 전제하는 순수 대조 조합이 없고 표본도 작아 정식 검증은 보류 — 참고 관찰로는 방향이 일치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716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유효기간(Duration)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“기간이 짧아 인지 전 마감된다” — 방향이 가설과 반대이고 패턴이 비선형적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duration이 오퍼 정체성과 거의 동일 변수라 순수 효과 분리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14813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9718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노출 반복 피로도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누적 수신 횟수와 반응 사이 상관은 유의하나 크기가 무시할 수준(r²&lt;0.001)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5회 이상 구간의 완료율 하락(53%→43%대)은 표본이 작아(n=3,067) 참고 관찰로만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30815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572000"/>
            <a:ext cx="5623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알림 해제 고객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전체 고객의 알림 해제 비율 데이터가 없어 채널 선택 최적화에 반영 불가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4681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검증불가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06241"/>
                </a:solidFill>
                <a:latin typeface="Noto Sans KR"/>
              </a:rPr>
              <a:t>Take-away  </a:t>
            </a:r>
            <a:r>
              <a:rPr sz="1250" b="0" i="0">
                <a:solidFill>
                  <a:srgbClr val="212121"/>
                </a:solidFill>
                <a:latin typeface="Noto Sans KR"/>
              </a:rPr>
              <a:t>유효기간을 일괄 연장하지 않는다 · 발송 후 첫 24시간 내 알림 타이밍과 메시지 구성 개선에 집중한다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7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7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③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달성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난이도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부담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CBA258"/>
                </a:solidFill>
                <a:latin typeface="Noto Sans KR"/>
              </a:rPr>
              <a:t>Barrier &amp; Difficulty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37160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6177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5720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Noto Sans KR"/>
              </a:rPr>
              <a:t>통제모델 계수 -0.0444, p&lt;.001 — 단순모델(-0.0128)보다 약 3.5배 커져 offer_type 혼재가 효과를 가려왔음을 시사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716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BOGO 등 수량 중심 부담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offer_type 효과는 강하고 일관 — 원 격차의 약 55%는 reward/difficulty/duration 차이로 설명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통제 후에도 유의한 고유 효과가 남아 “수량 부담” 해석을 완전히 배제할 수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14813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BA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부분지지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9718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소득 대비 난이도 부담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income × difficulty 상호작용은 유의하지 않음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단, income의 단순 주효과(소득↑→완료율↑, p&lt;.001)는 별도로 유의 — 11번 발견과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30815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572000"/>
            <a:ext cx="5623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해석 주의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difficulty는 4개 값뿐인 offer-level 변수라 원자료 완료율이 비단조적(n=25,302) — 구간별 threshold 탐색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06241"/>
                </a:solidFill>
                <a:latin typeface="Noto Sans KR"/>
              </a:rPr>
              <a:t>Take-away  </a:t>
            </a:r>
            <a:r>
              <a:rPr sz="1250" b="0" i="0">
                <a:solidFill>
                  <a:srgbClr val="212121"/>
                </a:solidFill>
                <a:latin typeface="Noto Sans KR"/>
              </a:rPr>
              <a:t>난이도를 일괄로 낮추기보다 완료율이 급격히 꺾이는 구간을 먼저 찾는다 · 추가 매출·보상비용과 함께 적정 목표금액을 결정한다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8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8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세그먼트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인사이트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: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성별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·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소득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·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연령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  <a:latin typeface="Noto Sans KR"/>
              </a:rPr>
              <a:t>Profile 효과는 오퍼 설계와 무관하게 독립적으로 존재 — 그중 성별 효과가 가장 크고 견고함 (통합 로지스틱 회귀, N=39,646)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06241"/>
                </a:solidFill>
                <a:latin typeface="Noto Sans KR"/>
              </a:rPr>
              <a:t>성별</a:t>
            </a:r>
          </a:p>
          <a:p>
            <a:pPr algn="ctr">
              <a:spcAft>
                <a:spcPts val="1200"/>
              </a:spcAft>
            </a:pPr>
            <a:r>
              <a:rPr sz="1150" b="0" i="1">
                <a:solidFill>
                  <a:srgbClr val="CBA258"/>
                </a:solidFill>
                <a:latin typeface="Noto Sans KR"/>
              </a:rPr>
              <a:t>남성 × BOGO 수용도 저하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여성 대비 남성의 완료 오즈 약 31%p 낮음 (오즈비 0.688)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남성×BOGO 조합 완료율 42.4% — 전체 조합 중 최저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연관성 강도 남성(V≈0.191)이 여성(V≈0.108)의 약 1.8배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367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지지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06241"/>
                </a:solidFill>
                <a:latin typeface="Noto Sans KR"/>
              </a:rPr>
              <a:t>소득</a:t>
            </a:r>
          </a:p>
          <a:p>
            <a:pPr algn="ctr">
              <a:spcAft>
                <a:spcPts val="1200"/>
              </a:spcAft>
            </a:pPr>
            <a:r>
              <a:rPr sz="1150" b="0" i="1">
                <a:solidFill>
                  <a:srgbClr val="CBA258"/>
                </a:solidFill>
                <a:latin typeface="Noto Sans KR"/>
              </a:rPr>
              <a:t>저소득일수록 보상에 민감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소득 1만불↑당 완료 오즈 약 14%↑ (오즈비 1.139)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reward 민감도: 저소득 완료율 스프레드 33.5%p vs 고소득 7.7%p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소득×difficulty 상호작용은 유의하지 않음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367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지지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4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34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A3402E"/>
                </a:solidFill>
                <a:latin typeface="Noto Sans KR"/>
              </a:rPr>
              <a:t>연령</a:t>
            </a:r>
          </a:p>
          <a:p>
            <a:pPr algn="ctr">
              <a:spcAft>
                <a:spcPts val="1200"/>
              </a:spcAft>
            </a:pPr>
            <a:r>
              <a:rPr sz="1150" b="0" i="1">
                <a:solidFill>
                  <a:srgbClr val="CBA258"/>
                </a:solidFill>
                <a:latin typeface="Noto Sans KR"/>
              </a:rPr>
              <a:t>고령층이 아닌 청년층이 약점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“고령층 수신율 저하” 가설은 기각 — 실제 최저는 18-30세(68.0%)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Web 포함 시 수신율 격차 청년층 27.15%p(최대) vs 51세+ 8~11%p대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212121"/>
                </a:solidFill>
                <a:latin typeface="Noto Sans KR"/>
              </a:rPr>
              <a:t>•  연령 자체의 효과크기는 미미(오즈비 1.002~1.003)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58984" y="16367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기각→반전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8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46304" rIns="274320" bIns="146304" rtlCol="0" anchor="ctr"/>
          <a:lstStyle/>
          <a:p>
            <a:pPr algn="ctr"/>
            <a:r>
              <a:rPr sz="1400" b="1" i="0">
                <a:solidFill>
                  <a:srgbClr val="CBA258"/>
                </a:solidFill>
                <a:latin typeface="Noto Sans KR"/>
              </a:rPr>
              <a:t>반전 발견 (Counter-intuitive Finding)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200" b="0" i="0">
                <a:solidFill>
                  <a:srgbClr val="FFFFFF"/>
                </a:solidFill>
                <a:latin typeface="Noto Sans KR"/>
              </a:rPr>
              <a:t>“고령층은 모바일에 서툴러 채널 수신율이 낮을 것”이라는 통념과 달리, 실제로는 청년층(18-30세)의 채널 격차가 가장 컸다. 청년층 대상 Web·Email 발송을 Mobile·Social로 전환하는 리밸런싱을 최우선 실행 항목으로 제안한다.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9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9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통계적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검증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결과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요약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Noto Sans KR"/>
              </a:rPr>
              <a:t>검증한 12개 가설 중 지지 4 · 부분지지 2 · 보류 2 · 기각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962729"/>
              </p:ext>
            </p:extLst>
          </p:nvPr>
        </p:nvGraphicFramePr>
        <p:xfrm>
          <a:off x="502920" y="1417320"/>
          <a:ext cx="11155680" cy="4892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Noto Sans KR"/>
                        </a:rPr>
                        <a:t>가설</a:t>
                      </a:r>
                      <a:endParaRPr sz="1250" b="1" i="0" dirty="0">
                        <a:solidFill>
                          <a:srgbClr val="FFFFFF"/>
                        </a:solidFill>
                        <a:latin typeface="Noto Sans KR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2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Noto Sans KR"/>
                        </a:rPr>
                        <a:t>검증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Noto Sans KR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Noto Sans KR"/>
                        </a:rPr>
                        <a:t>방법</a:t>
                      </a:r>
                      <a:endParaRPr sz="1250" b="1" i="0" dirty="0">
                        <a:solidFill>
                          <a:srgbClr val="FFFFFF"/>
                        </a:solidFill>
                        <a:latin typeface="Noto Sans KR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2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oto Sans KR"/>
                        </a:rPr>
                        <a:t>채택 여부</a:t>
                      </a:r>
                    </a:p>
                  </a:txBody>
                  <a:tcPr marL="109728" marR="109728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소비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부담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대비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낮은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Reward(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보상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)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 + A/B 테스트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chemeClr val="tx1"/>
                          </a:solidFill>
                          <a:latin typeface="Noto Sans KR"/>
                        </a:rPr>
                        <a:t>보류</a:t>
                      </a:r>
                      <a:endParaRPr sz="1100" b="1" i="0" dirty="0">
                        <a:solidFill>
                          <a:schemeClr val="tx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Web·Email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대비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Mobile·Social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도달률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저하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12121"/>
                          </a:solidFill>
                          <a:latin typeface="Noto Sans KR"/>
                        </a:rPr>
                        <a:t>Offer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단위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비교</a:t>
                      </a:r>
                      <a:endParaRPr sz="1100" b="0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chemeClr val="tx1"/>
                          </a:solidFill>
                          <a:latin typeface="Noto Sans KR"/>
                        </a:rPr>
                        <a:t>보류</a:t>
                      </a:r>
                      <a:endParaRPr sz="1100" b="1" i="0" dirty="0">
                        <a:solidFill>
                          <a:schemeClr val="tx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Duration이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짧으면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인지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전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마감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상관분석 / 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Offer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노출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횟수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증가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시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반응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둔화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상관분석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BOGO 등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수량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중심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offer의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부담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BA258"/>
                          </a:solidFill>
                          <a:latin typeface="Noto Sans KR"/>
                        </a:rPr>
                        <a:t>부분지지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목표 금액(difficulty) 도달 부담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소득 대비 difficulty 부담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Reward가 고소득자 동기부여 미달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집단 비교 + 카이제곱 검정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연령별 채널 비선호 시 수신율 저하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카이제곱 검정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BA258"/>
                          </a:solidFill>
                          <a:latin typeface="Noto Sans KR"/>
                        </a:rPr>
                        <a:t>부분지지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고령층의 offer 수신율 저하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상관분석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특정 성별의 특정 오퍼 유형 수용도 저하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카이제곱 검정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Profile 효과의 독립성 (성별·연령·소득)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  <a:endParaRPr sz="1100" b="1" i="0" dirty="0">
                        <a:solidFill>
                          <a:srgbClr val="00624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10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600" b="1" dirty="0">
                <a:solidFill>
                  <a:srgbClr val="006241"/>
                </a:solidFill>
                <a:latin typeface="Noto Sans KR"/>
              </a:rPr>
              <a:t>10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결론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액션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제안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CBA258"/>
                </a:solidFill>
                <a:latin typeface="Noto Sans KR"/>
              </a:rPr>
              <a:t>Action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3931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</a:pPr>
            <a:r>
              <a:rPr sz="1450" b="1" i="0">
                <a:solidFill>
                  <a:srgbClr val="006241"/>
                </a:solidFill>
                <a:latin typeface="Noto Sans KR"/>
              </a:rPr>
              <a:t>우선순위 1 · 즉시 실행 검토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할인형(Discount) 비중 확대 파일럿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완료율 격차의 절반은 설계 변수로 설명되지 않는 순수 offer_type 효과. 결제 기록에 offer_id를 연결해 완료 이후 실제 구매·반복 이용까지 함께 추적.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청년층(18-30세) 채널 Mobile·Social 리밸런싱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고령층이 아닌 청년층에서 Web·Email 위주 채널의 수신율 저하가 가장 크게 나타난 반전 결과. 해당 세그먼트부터 채널 조합 우선 전환.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63931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CBA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</a:pPr>
            <a:r>
              <a:rPr sz="1450" b="1" i="0">
                <a:solidFill>
                  <a:srgbClr val="CBA258"/>
                </a:solidFill>
                <a:latin typeface="Noto Sans KR"/>
              </a:rPr>
              <a:t>우선순위 2 · A/B 테스트 설계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Reward × Offer type 직교 설계 테스트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현재 reward는 offer_type과 강하게 얽혀 있어 순수 reward 효과를 분리 불가. 동일 offer_type·difficulty·duration에서 reward만 다르게 배정.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남성 고객 대상 BOGO 메시지·구조 재검토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남성 세그먼트에서만 BOGO 완료율이 유독 낮음. BOGO·Discount 무작위 배정으로 유형별 완료 반응 비교.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Difficulty 임계점(threshold) 탐색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목표 금액이 높을수록 완료율 하락은 유의하나 비선형적. 구간별 세분 분석으로 급격히 꺾이는 지점 확인.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417320"/>
            <a:ext cx="363931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</a:pPr>
            <a:r>
              <a:rPr sz="1450" b="1" i="0">
                <a:solidFill>
                  <a:srgbClr val="8C8C8C"/>
                </a:solidFill>
                <a:latin typeface="Noto Sans KR"/>
              </a:rPr>
              <a:t>보류 · 현행 유지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유효기간(Duration) 연장 안 함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열람은 대부분 발송 후 24시간 이내 발생. 기간 확대 대신 발송 직후 알림 타이밍·메시지 구성 개선에 집중.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발송 빈도 제한 도입 안 함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반복 수신에 따른 피로도 효과는 통계적으로만 미세하게 유의. 예산에 맞춰 현행 발송 정책 유지.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212121"/>
                </a:solidFill>
                <a:latin typeface="Noto Sans KR"/>
              </a:rPr>
              <a:t>소득 기반 reward·difficulty 차등화 보류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6B6B6B"/>
                </a:solidFill>
                <a:latin typeface="Noto Sans KR"/>
              </a:rPr>
              <a:t>저소득층에서만 보상 민감도 차이가 관측되었으나 재현성 미확인. 추가 데이터로 재검증 전까지 보류.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11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1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1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데이터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한계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후속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과제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CBA258"/>
                </a:solidFill>
                <a:latin typeface="Noto Sans KR"/>
              </a:rPr>
              <a:t>Data Limitations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귀속(Attribution) 한계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BOGO·Discount 완료 33,579건 중 8,649건(25.76%), Informational 구매 9,483건 중 2,768건(29.2%)이 오퍼 수신 없이 발생 — 평소 구매일 가능성이 있어 완료율을 오퍼의 순수 효과로 곧바로 해석하는 데 주의 필요.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417320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비완전 요인설계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reward × difficulty 조합은 설계 가능한 16가지 중 5가지만 존재하고 reward=5는 difficulty 5·20 두 값에 걸쳐 있어 설계 변수 간 효과를 독립적으로 분리하기 어려움. channel 조합 역시 표본 간 불균형이 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81528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Tier B (순증 전환율) 측정 불가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P(구매|노출) − P(구매|미노출)을 계산할 대조군이 없어 현재 데이터로는 오퍼의 진짜 증분 효과를 측정할 수 없음 — Tier A(완료율·수신율·전환율) 지표로 대체.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3081528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관측 기간 제한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거래 로그의 관측 기간이 제한적이어서 재구매 여부나 장기 로열티 효과는 이번 분석 범위에 포함되지 않음 — 캠페인 이후 장기 추적 데이터가 필요.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45736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채널 개별 효과 분리 불가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오퍼가 다중 채널 조합으로 동시 발송되어 Mobile·Social·Web·Email 각 채널의 개별 기여도를 통계적으로 분리하기 어려움 — 향후 채널 단독 배정 실험 필요.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4745736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>
                <a:solidFill>
                  <a:srgbClr val="006241"/>
                </a:solidFill>
                <a:latin typeface="Noto Sans KR"/>
              </a:rPr>
              <a:t>ML 미적용 (의사결정)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>
                <a:solidFill>
                  <a:srgbClr val="212121"/>
                </a:solidFill>
                <a:latin typeface="Noto Sans KR"/>
              </a:rPr>
              <a:t>가설 검증 단계에서 통계적으로 유의한 설명력을 이미 확보했고, 일부 설계 변수가 완전교차설계되어 있지 않아 예측 모델의 일반화 신뢰도가 낮다고 판단 — 통계적 가설 검증으로 결론을 도출하고 ML 적용은 후속 과제로 보류.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12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006241"/>
                </a:solidFill>
                <a:latin typeface="Noto Sans KR"/>
              </a:rPr>
              <a:t>11. 대시보드 미리보기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CBA258"/>
                </a:solidFill>
                <a:latin typeface="Noto Sans KR"/>
              </a:rPr>
              <a:t>Interactive Dashboard Preview</a:t>
            </a:r>
          </a:p>
        </p:txBody>
      </p:sp>
      <p:pic>
        <p:nvPicPr>
          <p:cNvPr id="5" name="Picture 4" descr="dashboard_full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395" y="1307351"/>
            <a:ext cx="8229600" cy="49007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7326501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Noto Sans KR"/>
              </a:rPr>
              <a:t>가설 트리에서 채택된 지표만 담은 인터랙티브 대시보드 — 오퍼 유형·세그먼트·설계 변수 탭으로 실시간 탐색 가능 (공유 링크 제공)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dirty="0">
                <a:solidFill>
                  <a:srgbClr val="6B6B6B"/>
                </a:solidFill>
                <a:latin typeface="Noto Sans KR"/>
              </a:rPr>
              <a:t>Starbucks Offer Analytics · </a:t>
            </a:r>
            <a:r>
              <a:rPr sz="1000" b="0" i="0" dirty="0" err="1">
                <a:solidFill>
                  <a:srgbClr val="6B6B6B"/>
                </a:solidFill>
                <a:latin typeface="Noto Sans KR"/>
              </a:rPr>
              <a:t>주영</a:t>
            </a:r>
            <a:r>
              <a:rPr sz="1000" b="0" i="0" dirty="0">
                <a:solidFill>
                  <a:srgbClr val="6B6B6B"/>
                </a:solidFill>
                <a:latin typeface="Noto Sans KR"/>
              </a:rPr>
              <a:t> </a:t>
            </a:r>
            <a:r>
              <a:rPr sz="1000" b="0" i="0" dirty="0" err="1">
                <a:solidFill>
                  <a:srgbClr val="6B6B6B"/>
                </a:solidFill>
                <a:latin typeface="Noto Sans KR"/>
              </a:rPr>
              <a:t>없는</a:t>
            </a:r>
            <a:r>
              <a:rPr sz="1000" b="0" i="0" dirty="0">
                <a:solidFill>
                  <a:srgbClr val="6B6B6B"/>
                </a:solidFill>
                <a:latin typeface="Noto Sans KR"/>
              </a:rPr>
              <a:t> </a:t>
            </a:r>
            <a:r>
              <a:rPr sz="1000" b="0" i="0" dirty="0" err="1">
                <a:solidFill>
                  <a:srgbClr val="6B6B6B"/>
                </a:solidFill>
                <a:latin typeface="Noto Sans KR"/>
              </a:rPr>
              <a:t>주영팀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13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651760"/>
            <a:ext cx="11155680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1" dirty="0">
                <a:solidFill>
                  <a:srgbClr val="CBA258"/>
                </a:solidFill>
                <a:latin typeface="Noto Sans KR"/>
              </a:rPr>
              <a:t>STARBUCKS Offer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400" b="1" i="0" dirty="0">
                <a:solidFill>
                  <a:srgbClr val="F3F3F3"/>
                </a:solidFill>
                <a:latin typeface="Noto Sans K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1155680" cy="28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D4E9E2"/>
                </a:solidFill>
                <a:latin typeface="Noto Sans KR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1115568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인텔리전스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1기 ·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주영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없는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주영팀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·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표시철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·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김서영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·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최서현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·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최주영</a:t>
            </a:r>
            <a:endParaRPr sz="1250" b="1" i="0" dirty="0">
              <a:solidFill>
                <a:srgbClr val="D4E9E2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2339</Words>
  <Application>Microsoft Office PowerPoint</Application>
  <PresentationFormat>와이드스크린</PresentationFormat>
  <Paragraphs>317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표스츄리</cp:lastModifiedBy>
  <cp:revision>61</cp:revision>
  <dcterms:created xsi:type="dcterms:W3CDTF">2013-01-27T09:14:16Z</dcterms:created>
  <dcterms:modified xsi:type="dcterms:W3CDTF">2026-09-11T12:33:20Z</dcterms:modified>
  <cp:category/>
</cp:coreProperties>
</file>