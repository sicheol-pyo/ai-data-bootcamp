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theme/theme2.xml" ContentType="application/vnd.openxmlformats-officedocument.theme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charts/chart2.xml" ContentType="application/vnd.openxmlformats-officedocument.drawingml.chart+xml"/>
  <Override PartName="/ppt/charts/style2.xml" ContentType="application/vnd.ms-office.chartstyle+xml"/>
  <Override PartName="/ppt/charts/colors2.xml" ContentType="application/vnd.ms-office.chartcolorstyl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Props/core0.xml" ContentType="application/vnd.openxmlformats-package.core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5" Type="http://schemas.openxmlformats.org/officedocument/2006/relationships/metadata/core-properties" Target="docProps/core0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22"/>
  </p:notesMasterIdLst>
  <p:sldIdLst>
    <p:sldId id="256" r:id="rId2"/>
    <p:sldId id="257" r:id="rId3"/>
    <p:sldId id="265" r:id="rId4"/>
    <p:sldId id="266" r:id="rId5"/>
    <p:sldId id="267" r:id="rId6"/>
    <p:sldId id="268" r:id="rId7"/>
    <p:sldId id="269" r:id="rId8"/>
    <p:sldId id="271" r:id="rId9"/>
    <p:sldId id="270" r:id="rId10"/>
    <p:sldId id="272" r:id="rId11"/>
    <p:sldId id="273" r:id="rId12"/>
    <p:sldId id="274" r:id="rId13"/>
    <p:sldId id="275" r:id="rId14"/>
    <p:sldId id="276" r:id="rId15"/>
    <p:sldId id="277" r:id="rId16"/>
    <p:sldId id="278" r:id="rId17"/>
    <p:sldId id="281" r:id="rId18"/>
    <p:sldId id="279" r:id="rId19"/>
    <p:sldId id="280" r:id="rId20"/>
    <p:sldId id="282" r:id="rId21"/>
  </p:sldIdLst>
  <p:sldSz cx="9144000" cy="5143500" type="screen16x9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BFAD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55" d="100"/>
          <a:sy n="155" d="100"/>
        </p:scale>
        <p:origin x="658" y="101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ableStyles" Target="tableStyle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notesMaster" Target="notesMasters/notesMaster1.xml"/></Relationships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oleObject" Target="file:///C:\Users\pyostry\workspace\aiffel\ai-data-bootcamp\D031_SQL_Report\last_category.csv" TargetMode="External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_rels/chart2.xml.rels><?xml version="1.0" encoding="UTF-8" standalone="yes"?>
<Relationships xmlns="http://schemas.openxmlformats.org/package/2006/relationships"><Relationship Id="rId3" Type="http://schemas.openxmlformats.org/officeDocument/2006/relationships/oleObject" Target="file:///C:\Users\pyostry\workspace\aiffel\ai-data-bootcamp\D031_SQL_Report\last_category.csv" TargetMode="External"/><Relationship Id="rId2" Type="http://schemas.microsoft.com/office/2011/relationships/chartColorStyle" Target="colors2.xml"/><Relationship Id="rId1" Type="http://schemas.microsoft.com/office/2011/relationships/chartStyle" Target="style2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ko-KR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400" b="0" i="0" u="none" strike="noStrike" kern="1200" spc="0" baseline="0">
                <a:solidFill>
                  <a:schemeClr val="bg1">
                    <a:lumMod val="10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en-US" altLang="ko-KR" dirty="0">
                <a:solidFill>
                  <a:schemeClr val="bg1">
                    <a:lumMod val="10000"/>
                  </a:schemeClr>
                </a:solidFill>
              </a:rPr>
              <a:t>Last</a:t>
            </a:r>
            <a:r>
              <a:rPr lang="en-US" altLang="ko-KR" baseline="0" dirty="0">
                <a:solidFill>
                  <a:schemeClr val="bg1">
                    <a:lumMod val="10000"/>
                  </a:schemeClr>
                </a:solidFill>
              </a:rPr>
              <a:t> category count</a:t>
            </a:r>
            <a:endParaRPr lang="en-US" altLang="ko-KR" dirty="0">
              <a:solidFill>
                <a:schemeClr val="bg1">
                  <a:lumMod val="10000"/>
                </a:schemeClr>
              </a:solidFill>
            </a:endParaRP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400" b="0" i="0" u="none" strike="noStrike" kern="1200" spc="0" baseline="0">
              <a:solidFill>
                <a:schemeClr val="bg1">
                  <a:lumMod val="10000"/>
                </a:schemeClr>
              </a:solidFill>
              <a:latin typeface="+mn-lt"/>
              <a:ea typeface="+mn-ea"/>
              <a:cs typeface="+mn-cs"/>
            </a:defRPr>
          </a:pPr>
          <a:endParaRPr lang="en-US" altLang="ko-KR"/>
        </a:p>
      </c:txPr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last_category!$B$1</c:f>
              <c:strCache>
                <c:ptCount val="1"/>
                <c:pt idx="0">
                  <c:v>count</c:v>
                </c:pt>
              </c:strCache>
            </c:strRef>
          </c:tx>
          <c:spPr>
            <a:solidFill>
              <a:srgbClr val="FFC000"/>
            </a:solidFill>
            <a:ln>
              <a:noFill/>
            </a:ln>
            <a:effectLst/>
          </c:spPr>
          <c:invertIfNegative val="0"/>
          <c:dPt>
            <c:idx val="19"/>
            <c:invertIfNegative val="0"/>
            <c:bubble3D val="0"/>
            <c:spPr>
              <a:solidFill>
                <a:srgbClr val="FFC000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1-F34B-4532-9DFF-C2D1F56C90B1}"/>
              </c:ext>
            </c:extLst>
          </c:dPt>
          <c:dLbls>
            <c:dLbl>
              <c:idx val="19"/>
              <c:spPr>
                <a:noFill/>
                <a:ln>
                  <a:noFill/>
                </a:ln>
                <a:effectLst/>
              </c:spPr>
              <c:txPr>
                <a:bodyPr rot="0" spcFirstLastPara="1" vertOverflow="ellipsis" vert="horz" wrap="square" lIns="38100" tIns="19050" rIns="38100" bIns="19050" anchor="ctr" anchorCtr="1">
                  <a:spAutoFit/>
                </a:bodyPr>
                <a:lstStyle/>
                <a:p>
                  <a:pPr>
                    <a:defRPr sz="900" b="0" i="0" u="none" strike="noStrike" kern="1200" baseline="0">
                      <a:solidFill>
                        <a:schemeClr val="bg1">
                          <a:lumMod val="10000"/>
                        </a:schemeClr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ko-KR"/>
                </a:p>
              </c:txPr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6="http://schemas.microsoft.com/office/drawing/2014/chart" uri="{C3380CC4-5D6E-409C-BE32-E72D297353CC}">
                  <c16:uniqueId val="{00000001-F34B-4532-9DFF-C2D1F56C90B1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900" b="0" i="0" u="none" strike="noStrike" kern="1200" baseline="0">
                    <a:solidFill>
                      <a:schemeClr val="bg1">
                        <a:lumMod val="10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ko-KR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last_category!$A$2:$A$34</c:f>
              <c:strCache>
                <c:ptCount val="33"/>
                <c:pt idx="0">
                  <c:v>USBCables</c:v>
                </c:pt>
                <c:pt idx="1">
                  <c:v>Smartphones</c:v>
                </c:pt>
                <c:pt idx="2">
                  <c:v>SmartWatches</c:v>
                </c:pt>
                <c:pt idx="3">
                  <c:v>SmartTelevisions</c:v>
                </c:pt>
                <c:pt idx="4">
                  <c:v>In-Ear</c:v>
                </c:pt>
                <c:pt idx="5">
                  <c:v>RemoteControls</c:v>
                </c:pt>
                <c:pt idx="6">
                  <c:v>MixerGrinders</c:v>
                </c:pt>
                <c:pt idx="7">
                  <c:v>Mice</c:v>
                </c:pt>
                <c:pt idx="8">
                  <c:v>DryIrons</c:v>
                </c:pt>
                <c:pt idx="9">
                  <c:v>InstantWaterHeaters</c:v>
                </c:pt>
                <c:pt idx="10">
                  <c:v>LintShavers</c:v>
                </c:pt>
                <c:pt idx="11">
                  <c:v>HDMICables</c:v>
                </c:pt>
                <c:pt idx="12">
                  <c:v>ElectricHeaters</c:v>
                </c:pt>
                <c:pt idx="13">
                  <c:v>FanHeaters</c:v>
                </c:pt>
                <c:pt idx="14">
                  <c:v>HandBlenders</c:v>
                </c:pt>
                <c:pt idx="15">
                  <c:v>ElectricKettles</c:v>
                </c:pt>
                <c:pt idx="16">
                  <c:v>WallChargers</c:v>
                </c:pt>
                <c:pt idx="17">
                  <c:v>WirelessUSBAdapters</c:v>
                </c:pt>
                <c:pt idx="18">
                  <c:v>Lapdesks</c:v>
                </c:pt>
                <c:pt idx="19">
                  <c:v>LaundryBaskets</c:v>
                </c:pt>
                <c:pt idx="20">
                  <c:v>Kettle&amp;ToasterSets</c:v>
                </c:pt>
                <c:pt idx="21">
                  <c:v>SteamIrons</c:v>
                </c:pt>
                <c:pt idx="22">
                  <c:v>WaterFilters&amp;Purifiers</c:v>
                </c:pt>
                <c:pt idx="23">
                  <c:v>JuicerMixerGrinders</c:v>
                </c:pt>
                <c:pt idx="24">
                  <c:v>StorageWaterHeaters</c:v>
                </c:pt>
                <c:pt idx="25">
                  <c:v>ScreenProtectors</c:v>
                </c:pt>
                <c:pt idx="26">
                  <c:v>SandwichMakers</c:v>
                </c:pt>
                <c:pt idx="27">
                  <c:v>WaterPurifierAccessories</c:v>
                </c:pt>
                <c:pt idx="28">
                  <c:v>Stands</c:v>
                </c:pt>
                <c:pt idx="29">
                  <c:v>CeilingFans</c:v>
                </c:pt>
                <c:pt idx="30">
                  <c:v>GraphicTablets</c:v>
                </c:pt>
                <c:pt idx="31">
                  <c:v>EggBoilers</c:v>
                </c:pt>
                <c:pt idx="32">
                  <c:v>PowerBanks</c:v>
                </c:pt>
              </c:strCache>
            </c:strRef>
          </c:cat>
          <c:val>
            <c:numRef>
              <c:f>last_category!$B$2:$B$34</c:f>
              <c:numCache>
                <c:formatCode>General</c:formatCode>
                <c:ptCount val="33"/>
                <c:pt idx="0">
                  <c:v>161</c:v>
                </c:pt>
                <c:pt idx="1">
                  <c:v>68</c:v>
                </c:pt>
                <c:pt idx="2">
                  <c:v>62</c:v>
                </c:pt>
                <c:pt idx="3">
                  <c:v>60</c:v>
                </c:pt>
                <c:pt idx="4">
                  <c:v>51</c:v>
                </c:pt>
                <c:pt idx="5">
                  <c:v>49</c:v>
                </c:pt>
                <c:pt idx="6">
                  <c:v>27</c:v>
                </c:pt>
                <c:pt idx="7">
                  <c:v>24</c:v>
                </c:pt>
                <c:pt idx="8">
                  <c:v>24</c:v>
                </c:pt>
                <c:pt idx="9">
                  <c:v>23</c:v>
                </c:pt>
                <c:pt idx="10">
                  <c:v>22</c:v>
                </c:pt>
                <c:pt idx="11">
                  <c:v>21</c:v>
                </c:pt>
                <c:pt idx="12">
                  <c:v>20</c:v>
                </c:pt>
                <c:pt idx="13">
                  <c:v>20</c:v>
                </c:pt>
                <c:pt idx="14">
                  <c:v>19</c:v>
                </c:pt>
                <c:pt idx="15">
                  <c:v>19</c:v>
                </c:pt>
                <c:pt idx="16">
                  <c:v>15</c:v>
                </c:pt>
                <c:pt idx="17">
                  <c:v>14</c:v>
                </c:pt>
                <c:pt idx="18">
                  <c:v>14</c:v>
                </c:pt>
                <c:pt idx="19">
                  <c:v>13</c:v>
                </c:pt>
                <c:pt idx="20">
                  <c:v>13</c:v>
                </c:pt>
                <c:pt idx="21">
                  <c:v>12</c:v>
                </c:pt>
                <c:pt idx="22">
                  <c:v>12</c:v>
                </c:pt>
                <c:pt idx="23">
                  <c:v>12</c:v>
                </c:pt>
                <c:pt idx="24">
                  <c:v>12</c:v>
                </c:pt>
                <c:pt idx="25">
                  <c:v>12</c:v>
                </c:pt>
                <c:pt idx="26">
                  <c:v>11</c:v>
                </c:pt>
                <c:pt idx="27">
                  <c:v>11</c:v>
                </c:pt>
                <c:pt idx="28">
                  <c:v>11</c:v>
                </c:pt>
                <c:pt idx="29">
                  <c:v>11</c:v>
                </c:pt>
                <c:pt idx="30">
                  <c:v>11</c:v>
                </c:pt>
                <c:pt idx="31">
                  <c:v>11</c:v>
                </c:pt>
                <c:pt idx="32">
                  <c:v>11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F34B-4532-9DFF-C2D1F56C90B1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219"/>
        <c:overlap val="-27"/>
        <c:axId val="673427704"/>
        <c:axId val="673432744"/>
      </c:barChart>
      <c:catAx>
        <c:axId val="673427704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bg1">
                    <a:lumMod val="10000"/>
                  </a:schemeClr>
                </a:solidFill>
                <a:latin typeface="+mn-lt"/>
                <a:ea typeface="+mn-ea"/>
                <a:cs typeface="+mn-cs"/>
              </a:defRPr>
            </a:pPr>
            <a:endParaRPr lang="ko-KR"/>
          </a:p>
        </c:txPr>
        <c:crossAx val="673432744"/>
        <c:crosses val="autoZero"/>
        <c:auto val="1"/>
        <c:lblAlgn val="ctr"/>
        <c:lblOffset val="100"/>
        <c:noMultiLvlLbl val="0"/>
      </c:catAx>
      <c:valAx>
        <c:axId val="673432744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bg1">
                    <a:lumMod val="10000"/>
                  </a:schemeClr>
                </a:solidFill>
                <a:latin typeface="+mn-lt"/>
                <a:ea typeface="+mn-ea"/>
                <a:cs typeface="+mn-cs"/>
              </a:defRPr>
            </a:pPr>
            <a:endParaRPr lang="ko-KR"/>
          </a:p>
        </c:txPr>
        <c:crossAx val="67342770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ko-KR"/>
    </a:p>
  </c:txPr>
  <c:externalData r:id="rId3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ko-KR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400" b="0" i="0" u="none" strike="noStrike" kern="1200" spc="0" baseline="0">
                <a:solidFill>
                  <a:schemeClr val="bg1">
                    <a:lumMod val="10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en-US" altLang="ko-KR" dirty="0">
                <a:solidFill>
                  <a:schemeClr val="bg1">
                    <a:lumMod val="10000"/>
                  </a:schemeClr>
                </a:solidFill>
              </a:rPr>
              <a:t>Last</a:t>
            </a:r>
            <a:r>
              <a:rPr lang="en-US" altLang="ko-KR" baseline="0" dirty="0">
                <a:solidFill>
                  <a:schemeClr val="bg1">
                    <a:lumMod val="10000"/>
                  </a:schemeClr>
                </a:solidFill>
              </a:rPr>
              <a:t> category count</a:t>
            </a:r>
            <a:endParaRPr lang="en-US" altLang="ko-KR" dirty="0">
              <a:solidFill>
                <a:schemeClr val="bg1">
                  <a:lumMod val="10000"/>
                </a:schemeClr>
              </a:solidFill>
            </a:endParaRP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400" b="0" i="0" u="none" strike="noStrike" kern="1200" spc="0" baseline="0">
              <a:solidFill>
                <a:schemeClr val="bg1">
                  <a:lumMod val="10000"/>
                </a:schemeClr>
              </a:solidFill>
              <a:latin typeface="+mn-lt"/>
              <a:ea typeface="+mn-ea"/>
              <a:cs typeface="+mn-cs"/>
            </a:defRPr>
          </a:pPr>
          <a:endParaRPr lang="en-US" altLang="ko-KR"/>
        </a:p>
      </c:txPr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last_category!$B$1</c:f>
              <c:strCache>
                <c:ptCount val="1"/>
                <c:pt idx="0">
                  <c:v>count</c:v>
                </c:pt>
              </c:strCache>
            </c:strRef>
          </c:tx>
          <c:spPr>
            <a:solidFill>
              <a:srgbClr val="FFC000"/>
            </a:solidFill>
            <a:ln>
              <a:noFill/>
            </a:ln>
            <a:effectLst/>
          </c:spPr>
          <c:invertIfNegative val="0"/>
          <c:dPt>
            <c:idx val="19"/>
            <c:invertIfNegative val="0"/>
            <c:bubble3D val="0"/>
            <c:spPr>
              <a:solidFill>
                <a:srgbClr val="FF0000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1-934D-4072-8F7C-EB0DD5FA1896}"/>
              </c:ext>
            </c:extLst>
          </c:dPt>
          <c:dLbls>
            <c:dLbl>
              <c:idx val="19"/>
              <c:spPr>
                <a:noFill/>
                <a:ln>
                  <a:noFill/>
                </a:ln>
                <a:effectLst/>
              </c:spPr>
              <c:txPr>
                <a:bodyPr rot="0" spcFirstLastPara="1" vertOverflow="ellipsis" vert="horz" wrap="square" lIns="38100" tIns="19050" rIns="38100" bIns="19050" anchor="ctr" anchorCtr="1">
                  <a:spAutoFit/>
                </a:bodyPr>
                <a:lstStyle/>
                <a:p>
                  <a:pPr>
                    <a:defRPr sz="900" b="0" i="0" u="none" strike="noStrike" kern="1200" baseline="0">
                      <a:solidFill>
                        <a:srgbClr val="FF0000"/>
                      </a:solidFill>
                      <a:latin typeface="+mn-lt"/>
                      <a:ea typeface="+mn-ea"/>
                      <a:cs typeface="+mn-cs"/>
                    </a:defRPr>
                  </a:pPr>
                  <a:endParaRPr lang="ko-KR"/>
                </a:p>
              </c:txPr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6="http://schemas.microsoft.com/office/drawing/2014/chart" uri="{C3380CC4-5D6E-409C-BE32-E72D297353CC}">
                  <c16:uniqueId val="{00000001-934D-4072-8F7C-EB0DD5FA1896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900" b="0" i="0" u="none" strike="noStrike" kern="1200" baseline="0">
                    <a:solidFill>
                      <a:schemeClr val="bg1">
                        <a:lumMod val="10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ko-KR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last_category!$A$2:$A$34</c:f>
              <c:strCache>
                <c:ptCount val="33"/>
                <c:pt idx="0">
                  <c:v>USBCables</c:v>
                </c:pt>
                <c:pt idx="1">
                  <c:v>Smartphones</c:v>
                </c:pt>
                <c:pt idx="2">
                  <c:v>SmartWatches</c:v>
                </c:pt>
                <c:pt idx="3">
                  <c:v>SmartTelevisions</c:v>
                </c:pt>
                <c:pt idx="4">
                  <c:v>In-Ear</c:v>
                </c:pt>
                <c:pt idx="5">
                  <c:v>RemoteControls</c:v>
                </c:pt>
                <c:pt idx="6">
                  <c:v>MixerGrinders</c:v>
                </c:pt>
                <c:pt idx="7">
                  <c:v>Mice</c:v>
                </c:pt>
                <c:pt idx="8">
                  <c:v>DryIrons</c:v>
                </c:pt>
                <c:pt idx="9">
                  <c:v>InstantWaterHeaters</c:v>
                </c:pt>
                <c:pt idx="10">
                  <c:v>LintShavers</c:v>
                </c:pt>
                <c:pt idx="11">
                  <c:v>HDMICables</c:v>
                </c:pt>
                <c:pt idx="12">
                  <c:v>ElectricHeaters</c:v>
                </c:pt>
                <c:pt idx="13">
                  <c:v>FanHeaters</c:v>
                </c:pt>
                <c:pt idx="14">
                  <c:v>HandBlenders</c:v>
                </c:pt>
                <c:pt idx="15">
                  <c:v>ElectricKettles</c:v>
                </c:pt>
                <c:pt idx="16">
                  <c:v>WallChargers</c:v>
                </c:pt>
                <c:pt idx="17">
                  <c:v>WirelessUSBAdapters</c:v>
                </c:pt>
                <c:pt idx="18">
                  <c:v>Lapdesks</c:v>
                </c:pt>
                <c:pt idx="19">
                  <c:v>LaundryBaskets</c:v>
                </c:pt>
                <c:pt idx="20">
                  <c:v>Kettle&amp;ToasterSets</c:v>
                </c:pt>
                <c:pt idx="21">
                  <c:v>SteamIrons</c:v>
                </c:pt>
                <c:pt idx="22">
                  <c:v>WaterFilters&amp;Purifiers</c:v>
                </c:pt>
                <c:pt idx="23">
                  <c:v>JuicerMixerGrinders</c:v>
                </c:pt>
                <c:pt idx="24">
                  <c:v>StorageWaterHeaters</c:v>
                </c:pt>
                <c:pt idx="25">
                  <c:v>ScreenProtectors</c:v>
                </c:pt>
                <c:pt idx="26">
                  <c:v>SandwichMakers</c:v>
                </c:pt>
                <c:pt idx="27">
                  <c:v>WaterPurifierAccessories</c:v>
                </c:pt>
                <c:pt idx="28">
                  <c:v>Stands</c:v>
                </c:pt>
                <c:pt idx="29">
                  <c:v>CeilingFans</c:v>
                </c:pt>
                <c:pt idx="30">
                  <c:v>GraphicTablets</c:v>
                </c:pt>
                <c:pt idx="31">
                  <c:v>EggBoilers</c:v>
                </c:pt>
                <c:pt idx="32">
                  <c:v>PowerBanks</c:v>
                </c:pt>
              </c:strCache>
            </c:strRef>
          </c:cat>
          <c:val>
            <c:numRef>
              <c:f>last_category!$B$2:$B$34</c:f>
              <c:numCache>
                <c:formatCode>General</c:formatCode>
                <c:ptCount val="33"/>
                <c:pt idx="0">
                  <c:v>161</c:v>
                </c:pt>
                <c:pt idx="1">
                  <c:v>68</c:v>
                </c:pt>
                <c:pt idx="2">
                  <c:v>62</c:v>
                </c:pt>
                <c:pt idx="3">
                  <c:v>60</c:v>
                </c:pt>
                <c:pt idx="4">
                  <c:v>51</c:v>
                </c:pt>
                <c:pt idx="5">
                  <c:v>49</c:v>
                </c:pt>
                <c:pt idx="6">
                  <c:v>27</c:v>
                </c:pt>
                <c:pt idx="7">
                  <c:v>24</c:v>
                </c:pt>
                <c:pt idx="8">
                  <c:v>24</c:v>
                </c:pt>
                <c:pt idx="9">
                  <c:v>23</c:v>
                </c:pt>
                <c:pt idx="10">
                  <c:v>22</c:v>
                </c:pt>
                <c:pt idx="11">
                  <c:v>21</c:v>
                </c:pt>
                <c:pt idx="12">
                  <c:v>20</c:v>
                </c:pt>
                <c:pt idx="13">
                  <c:v>20</c:v>
                </c:pt>
                <c:pt idx="14">
                  <c:v>19</c:v>
                </c:pt>
                <c:pt idx="15">
                  <c:v>19</c:v>
                </c:pt>
                <c:pt idx="16">
                  <c:v>15</c:v>
                </c:pt>
                <c:pt idx="17">
                  <c:v>14</c:v>
                </c:pt>
                <c:pt idx="18">
                  <c:v>14</c:v>
                </c:pt>
                <c:pt idx="19">
                  <c:v>13</c:v>
                </c:pt>
                <c:pt idx="20">
                  <c:v>13</c:v>
                </c:pt>
                <c:pt idx="21">
                  <c:v>12</c:v>
                </c:pt>
                <c:pt idx="22">
                  <c:v>12</c:v>
                </c:pt>
                <c:pt idx="23">
                  <c:v>12</c:v>
                </c:pt>
                <c:pt idx="24">
                  <c:v>12</c:v>
                </c:pt>
                <c:pt idx="25">
                  <c:v>12</c:v>
                </c:pt>
                <c:pt idx="26">
                  <c:v>11</c:v>
                </c:pt>
                <c:pt idx="27">
                  <c:v>11</c:v>
                </c:pt>
                <c:pt idx="28">
                  <c:v>11</c:v>
                </c:pt>
                <c:pt idx="29">
                  <c:v>11</c:v>
                </c:pt>
                <c:pt idx="30">
                  <c:v>11</c:v>
                </c:pt>
                <c:pt idx="31">
                  <c:v>11</c:v>
                </c:pt>
                <c:pt idx="32">
                  <c:v>11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934D-4072-8F7C-EB0DD5FA1896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219"/>
        <c:overlap val="-27"/>
        <c:axId val="673427704"/>
        <c:axId val="673432744"/>
      </c:barChart>
      <c:catAx>
        <c:axId val="673427704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bg1">
                    <a:lumMod val="10000"/>
                  </a:schemeClr>
                </a:solidFill>
                <a:latin typeface="+mn-lt"/>
                <a:ea typeface="+mn-ea"/>
                <a:cs typeface="+mn-cs"/>
              </a:defRPr>
            </a:pPr>
            <a:endParaRPr lang="ko-KR"/>
          </a:p>
        </c:txPr>
        <c:crossAx val="673432744"/>
        <c:crosses val="autoZero"/>
        <c:auto val="1"/>
        <c:lblAlgn val="ctr"/>
        <c:lblOffset val="100"/>
        <c:noMultiLvlLbl val="0"/>
      </c:catAx>
      <c:valAx>
        <c:axId val="673432744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bg1">
                    <a:lumMod val="10000"/>
                  </a:schemeClr>
                </a:solidFill>
                <a:latin typeface="+mn-lt"/>
                <a:ea typeface="+mn-ea"/>
                <a:cs typeface="+mn-cs"/>
              </a:defRPr>
            </a:pPr>
            <a:endParaRPr lang="ko-KR"/>
          </a:p>
        </c:txPr>
        <c:crossAx val="67342770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ko-KR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2">
  <a:schemeClr val="accent2"/>
  <a:schemeClr val="accent4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.xml><?xml version="1.0" encoding="utf-8"?>
<cs:colorStyle xmlns:cs="http://schemas.microsoft.com/office/drawing/2012/chartStyle" xmlns:a="http://schemas.openxmlformats.org/drawingml/2006/main" meth="cycle" id="12">
  <a:schemeClr val="accent2"/>
  <a:schemeClr val="accent4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B848D07-2AC7-4984-8434-D7F402BE3D39}" type="datetimeFigureOut">
              <a:rPr lang="ko-KR" altLang="en-US" smtClean="0"/>
              <a:t>2026-09-02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BC8BC5A-7CEA-4E64-B90B-448B865CFD7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8435418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hyperlink" Target="http://bit.ly/2TtBDfr" TargetMode="External"/><Relationship Id="rId2" Type="http://schemas.openxmlformats.org/officeDocument/2006/relationships/hyperlink" Target="https://bit.ly/3A1uf1Q" TargetMode="External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"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713160" y="897120"/>
            <a:ext cx="6651360" cy="156168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noAutofit/>
          </a:bodyPr>
          <a:lstStyle/>
          <a:p>
            <a:pPr indent="0">
              <a:buNone/>
            </a:pPr>
            <a:r>
              <a:rPr lang="fr-FR" sz="50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Click to edit the title text format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fr-FR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fr-FR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fr-FR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fr-FR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fr-F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fr-F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fr-F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TITLE_AND_BODY_1_1"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ceHolder 1"/>
          <p:cNvSpPr>
            <a:spLocks noGrp="1"/>
          </p:cNvSpPr>
          <p:nvPr>
            <p:ph type="title"/>
          </p:nvPr>
        </p:nvSpPr>
        <p:spPr>
          <a:xfrm>
            <a:off x="713160" y="666360"/>
            <a:ext cx="6922800" cy="75060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b">
            <a:noAutofit/>
          </a:bodyPr>
          <a:lstStyle/>
          <a:p>
            <a:pPr indent="0">
              <a:buNone/>
            </a:pPr>
            <a:r>
              <a:rPr lang="fr-FR" sz="30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Click to edit the title text format</a:t>
            </a:r>
          </a:p>
        </p:txBody>
      </p:sp>
      <p:grpSp>
        <p:nvGrpSpPr>
          <p:cNvPr id="5" name="Google Shape;129;p17"/>
          <p:cNvGrpSpPr/>
          <p:nvPr/>
        </p:nvGrpSpPr>
        <p:grpSpPr>
          <a:xfrm>
            <a:off x="0" y="0"/>
            <a:ext cx="9143640" cy="481320"/>
            <a:chOff x="0" y="0"/>
            <a:chExt cx="9143640" cy="481320"/>
          </a:xfrm>
        </p:grpSpPr>
        <p:sp>
          <p:nvSpPr>
            <p:cNvPr id="6" name="Google Shape;130;p17"/>
            <p:cNvSpPr/>
            <p:nvPr/>
          </p:nvSpPr>
          <p:spPr>
            <a:xfrm>
              <a:off x="0" y="321120"/>
              <a:ext cx="9143640" cy="160200"/>
            </a:xfrm>
            <a:prstGeom prst="rect">
              <a:avLst/>
            </a:prstGeom>
            <a:solidFill>
              <a:schemeClr val="accen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80280" bIns="80280" anchor="ctr">
              <a:noAutofit/>
            </a:bodyPr>
            <a:lstStyle/>
            <a:p>
              <a:pPr algn="ctr"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7" name="Google Shape;131;p17"/>
            <p:cNvSpPr/>
            <p:nvPr/>
          </p:nvSpPr>
          <p:spPr>
            <a:xfrm>
              <a:off x="0" y="160560"/>
              <a:ext cx="9143640" cy="160200"/>
            </a:xfrm>
            <a:prstGeom prst="rect">
              <a:avLst/>
            </a:prstGeom>
            <a:solidFill>
              <a:schemeClr val="accent1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80280" bIns="80280" anchor="ctr">
              <a:noAutofit/>
            </a:bodyPr>
            <a:lstStyle/>
            <a:p>
              <a:pPr algn="ctr"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8" name="Google Shape;132;p17"/>
            <p:cNvSpPr/>
            <p:nvPr/>
          </p:nvSpPr>
          <p:spPr>
            <a:xfrm>
              <a:off x="0" y="0"/>
              <a:ext cx="9143640" cy="160200"/>
            </a:xfrm>
            <a:prstGeom prst="rect">
              <a:avLst/>
            </a:pr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80280" bIns="80280" anchor="ctr">
              <a:noAutofit/>
            </a:bodyPr>
            <a:lstStyle/>
            <a:p>
              <a:pPr algn="ctr"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</p:grpSp>
      <p:sp>
        <p:nvSpPr>
          <p:cNvPr id="9" name="Google Shape;133;p17"/>
          <p:cNvSpPr/>
          <p:nvPr/>
        </p:nvSpPr>
        <p:spPr>
          <a:xfrm>
            <a:off x="713160" y="4764240"/>
            <a:ext cx="1449720" cy="160200"/>
          </a:xfrm>
          <a:prstGeom prst="rect">
            <a:avLst/>
          </a:prstGeom>
          <a:solidFill>
            <a:schemeClr val="dk2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tIns="80280" bIns="8028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OpenSymbol"/>
            </a:endParaRPr>
          </a:p>
        </p:txBody>
      </p:sp>
      <p:sp>
        <p:nvSpPr>
          <p:cNvPr id="10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fr-FR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fr-FR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fr-FR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fr-FR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fr-F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fr-F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fr-F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TITLE_ONLY_1"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laceHolder 1"/>
          <p:cNvSpPr>
            <a:spLocks noGrp="1"/>
          </p:cNvSpPr>
          <p:nvPr>
            <p:ph type="title"/>
          </p:nvPr>
        </p:nvSpPr>
        <p:spPr>
          <a:xfrm>
            <a:off x="720000" y="539640"/>
            <a:ext cx="7703640" cy="57240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noAutofit/>
          </a:bodyPr>
          <a:lstStyle/>
          <a:p>
            <a:pPr indent="0">
              <a:buNone/>
            </a:pPr>
            <a:r>
              <a:rPr lang="fr-FR" sz="30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Click to edit the title text format</a:t>
            </a:r>
          </a:p>
        </p:txBody>
      </p:sp>
      <p:grpSp>
        <p:nvGrpSpPr>
          <p:cNvPr id="12" name="Google Shape;198;p22"/>
          <p:cNvGrpSpPr/>
          <p:nvPr/>
        </p:nvGrpSpPr>
        <p:grpSpPr>
          <a:xfrm>
            <a:off x="0" y="275040"/>
            <a:ext cx="9143640" cy="4868280"/>
            <a:chOff x="0" y="275040"/>
            <a:chExt cx="9143640" cy="4868280"/>
          </a:xfrm>
        </p:grpSpPr>
        <p:sp>
          <p:nvSpPr>
            <p:cNvPr id="13" name="Google Shape;199;p22"/>
            <p:cNvSpPr/>
            <p:nvPr/>
          </p:nvSpPr>
          <p:spPr>
            <a:xfrm>
              <a:off x="713160" y="275040"/>
              <a:ext cx="1449720" cy="160200"/>
            </a:xfrm>
            <a:prstGeom prst="rect">
              <a:avLst/>
            </a:prstGeom>
            <a:solidFill>
              <a:schemeClr val="dk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80280" bIns="80280" anchor="ctr">
              <a:noAutofit/>
            </a:bodyPr>
            <a:lstStyle/>
            <a:p>
              <a:pPr algn="ctr"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grpSp>
          <p:nvGrpSpPr>
            <p:cNvPr id="14" name="Google Shape;200;p22"/>
            <p:cNvGrpSpPr/>
            <p:nvPr/>
          </p:nvGrpSpPr>
          <p:grpSpPr>
            <a:xfrm>
              <a:off x="0" y="4822560"/>
              <a:ext cx="9143640" cy="320760"/>
              <a:chOff x="0" y="4822560"/>
              <a:chExt cx="9143640" cy="320760"/>
            </a:xfrm>
          </p:grpSpPr>
          <p:sp>
            <p:nvSpPr>
              <p:cNvPr id="15" name="Google Shape;201;p22"/>
              <p:cNvSpPr/>
              <p:nvPr/>
            </p:nvSpPr>
            <p:spPr>
              <a:xfrm>
                <a:off x="0" y="4983120"/>
                <a:ext cx="9143640" cy="160200"/>
              </a:xfrm>
              <a:prstGeom prst="rect">
                <a:avLst/>
              </a:prstGeom>
              <a:solidFill>
                <a:schemeClr val="accent1"/>
              </a:soli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tIns="80280" bIns="80280" anchor="ctr">
                <a:noAutofit/>
              </a:bodyPr>
              <a:lstStyle/>
              <a:p>
                <a:pPr algn="ctr"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0" u="none" strike="noStrike">
                  <a:solidFill>
                    <a:srgbClr val="FFFFFF"/>
                  </a:solidFill>
                  <a:effectLst/>
                  <a:uFillTx/>
                  <a:latin typeface="OpenSymbol"/>
                </a:endParaRPr>
              </a:p>
            </p:txBody>
          </p:sp>
          <p:sp>
            <p:nvSpPr>
              <p:cNvPr id="16" name="Google Shape;202;p22"/>
              <p:cNvSpPr/>
              <p:nvPr/>
            </p:nvSpPr>
            <p:spPr>
              <a:xfrm>
                <a:off x="0" y="4822560"/>
                <a:ext cx="9143640" cy="160200"/>
              </a:xfrm>
              <a:prstGeom prst="rect">
                <a:avLst/>
              </a:prstGeom>
              <a:solidFill>
                <a:schemeClr val="lt2"/>
              </a:soli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tIns="80280" bIns="80280" anchor="ctr">
                <a:noAutofit/>
              </a:bodyPr>
              <a:lstStyle/>
              <a:p>
                <a:pPr algn="ctr"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0" u="none" strike="noStrike">
                  <a:solidFill>
                    <a:srgbClr val="FFFFFF"/>
                  </a:solidFill>
                  <a:effectLst/>
                  <a:uFillTx/>
                  <a:latin typeface="OpenSymbol"/>
                </a:endParaRPr>
              </a:p>
            </p:txBody>
          </p:sp>
        </p:grpSp>
      </p:grpSp>
      <p:grpSp>
        <p:nvGrpSpPr>
          <p:cNvPr id="17" name="Google Shape;203;p22"/>
          <p:cNvGrpSpPr/>
          <p:nvPr/>
        </p:nvGrpSpPr>
        <p:grpSpPr>
          <a:xfrm>
            <a:off x="8431200" y="360"/>
            <a:ext cx="712800" cy="856800"/>
            <a:chOff x="8431200" y="360"/>
            <a:chExt cx="712800" cy="856800"/>
          </a:xfrm>
        </p:grpSpPr>
        <p:sp>
          <p:nvSpPr>
            <p:cNvPr id="18" name="Google Shape;204;p22"/>
            <p:cNvSpPr/>
            <p:nvPr/>
          </p:nvSpPr>
          <p:spPr>
            <a:xfrm rot="10800000" flipH="1">
              <a:off x="8787600" y="360"/>
              <a:ext cx="356400" cy="856800"/>
            </a:xfrm>
            <a:prstGeom prst="rect">
              <a:avLst/>
            </a:pr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algn="ctr"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9" name="Google Shape;205;p22"/>
            <p:cNvSpPr/>
            <p:nvPr/>
          </p:nvSpPr>
          <p:spPr>
            <a:xfrm rot="10800000" flipH="1">
              <a:off x="8431200" y="360"/>
              <a:ext cx="356400" cy="856800"/>
            </a:xfrm>
            <a:prstGeom prst="rect">
              <a:avLst/>
            </a:prstGeom>
            <a:solidFill>
              <a:schemeClr val="accent1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algn="ctr"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</p:grpSp>
      <p:sp>
        <p:nvSpPr>
          <p:cNvPr id="20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fr-FR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fr-FR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fr-FR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fr-FR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fr-F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fr-F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fr-F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CUSTOM_3_1"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PlaceHolder 1"/>
          <p:cNvSpPr>
            <a:spLocks noGrp="1"/>
          </p:cNvSpPr>
          <p:nvPr>
            <p:ph type="title"/>
          </p:nvPr>
        </p:nvSpPr>
        <p:spPr>
          <a:xfrm>
            <a:off x="4253760" y="769320"/>
            <a:ext cx="3683520" cy="105840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noAutofit/>
          </a:bodyPr>
          <a:lstStyle/>
          <a:p>
            <a:pPr indent="0">
              <a:buNone/>
            </a:pPr>
            <a:r>
              <a:rPr lang="fr-FR" sz="72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Click to edit the title text format</a:t>
            </a:r>
          </a:p>
        </p:txBody>
      </p:sp>
      <p:sp>
        <p:nvSpPr>
          <p:cNvPr id="22" name="Google Shape;264;p29"/>
          <p:cNvSpPr/>
          <p:nvPr/>
        </p:nvSpPr>
        <p:spPr>
          <a:xfrm>
            <a:off x="4253760" y="3320280"/>
            <a:ext cx="3683520" cy="7642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tIns="91440" bIns="91440" anchor="t">
            <a:noAutofit/>
          </a:bodyPr>
          <a:lstStyle/>
          <a:p>
            <a:pPr defTabSz="914400">
              <a:lnSpc>
                <a:spcPct val="100000"/>
              </a:lnSpc>
              <a:spcBef>
                <a:spcPts val="300"/>
              </a:spcBef>
              <a:tabLst>
                <a:tab pos="0" algn="l"/>
              </a:tabLst>
            </a:pPr>
            <a:r>
              <a:rPr lang="en" sz="1200" b="0" u="none" strike="noStrike">
                <a:solidFill>
                  <a:schemeClr val="dk1"/>
                </a:solidFill>
                <a:effectLst/>
                <a:uFillTx/>
                <a:latin typeface="Raleway Medium"/>
                <a:ea typeface="Raleway Medium"/>
              </a:rPr>
              <a:t>CREDITS: This presentation template was created by </a:t>
            </a:r>
            <a:r>
              <a:rPr lang="en" sz="1200" b="1" u="sng" strike="noStrike">
                <a:solidFill>
                  <a:schemeClr val="hlink"/>
                </a:solidFill>
                <a:effectLst/>
                <a:uFillTx/>
                <a:latin typeface="Raleway"/>
                <a:ea typeface="Raleway"/>
                <a:hlinkClick r:id="rId2"/>
              </a:rPr>
              <a:t>Slidesgo</a:t>
            </a:r>
            <a:r>
              <a:rPr lang="en" sz="1200" b="0" u="none" strike="noStrike">
                <a:solidFill>
                  <a:schemeClr val="dk1"/>
                </a:solidFill>
                <a:effectLst/>
                <a:uFillTx/>
                <a:latin typeface="Raleway Medium"/>
                <a:ea typeface="Raleway Medium"/>
              </a:rPr>
              <a:t>, and includes icons, infographics &amp; images by </a:t>
            </a:r>
            <a:r>
              <a:rPr lang="en" sz="1200" b="1" u="sng" strike="noStrike">
                <a:solidFill>
                  <a:schemeClr val="dk1"/>
                </a:solidFill>
                <a:effectLst/>
                <a:uFillTx/>
                <a:latin typeface="Raleway"/>
                <a:ea typeface="Raleway"/>
                <a:hlinkClick r:id="rId3"/>
              </a:rPr>
              <a:t>Freepik</a:t>
            </a:r>
            <a:r>
              <a:rPr lang="en" sz="1200" b="0" u="sng" strike="noStrike">
                <a:solidFill>
                  <a:schemeClr val="dk1"/>
                </a:solidFill>
                <a:effectLst/>
                <a:uFillTx/>
                <a:latin typeface="Raleway Medium"/>
                <a:ea typeface="Raleway Medium"/>
              </a:rPr>
              <a:t> 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OpenSymbol"/>
            </a:endParaRPr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theme" Target="../theme/theme1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hdr="0" ftr="0" dt="0"/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hyperlink" Target="https://www.kaggle.com/datasets/karkavelrajaj/amazon-sales-dataset" TargetMode="Externa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chart" Target="../charts/chart2.xml"/><Relationship Id="rId2" Type="http://schemas.openxmlformats.org/officeDocument/2006/relationships/chart" Target="../charts/chart1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png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3" name="Google Shape;292;p35"/>
          <p:cNvGrpSpPr/>
          <p:nvPr/>
        </p:nvGrpSpPr>
        <p:grpSpPr>
          <a:xfrm>
            <a:off x="9043560" y="2520"/>
            <a:ext cx="100800" cy="5138640"/>
            <a:chOff x="9043560" y="2520"/>
            <a:chExt cx="100800" cy="5138640"/>
          </a:xfrm>
        </p:grpSpPr>
        <p:grpSp>
          <p:nvGrpSpPr>
            <p:cNvPr id="24" name="Google Shape;293;p35"/>
            <p:cNvGrpSpPr/>
            <p:nvPr/>
          </p:nvGrpSpPr>
          <p:grpSpPr>
            <a:xfrm>
              <a:off x="9043560" y="2520"/>
              <a:ext cx="100800" cy="5138640"/>
              <a:chOff x="9043560" y="2520"/>
              <a:chExt cx="100800" cy="5138640"/>
            </a:xfrm>
          </p:grpSpPr>
          <p:sp>
            <p:nvSpPr>
              <p:cNvPr id="25" name="Google Shape;294;p35"/>
              <p:cNvSpPr/>
              <p:nvPr/>
            </p:nvSpPr>
            <p:spPr>
              <a:xfrm>
                <a:off x="9043560" y="3467160"/>
                <a:ext cx="100080" cy="816480"/>
              </a:xfrm>
              <a:prstGeom prst="rect">
                <a:avLst/>
              </a:prstGeom>
              <a:solidFill>
                <a:schemeClr val="accent1"/>
              </a:soli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tIns="91440" bIns="91440" anchor="ctr">
                <a:noAutofit/>
              </a:bodyPr>
              <a:lstStyle/>
              <a:p>
                <a:pPr algn="ctr"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0" u="none" strike="noStrike">
                  <a:solidFill>
                    <a:srgbClr val="FFFFFF"/>
                  </a:solidFill>
                  <a:effectLst/>
                  <a:uFillTx/>
                  <a:latin typeface="OpenSymbol"/>
                </a:endParaRPr>
              </a:p>
            </p:txBody>
          </p:sp>
          <p:sp>
            <p:nvSpPr>
              <p:cNvPr id="26" name="Google Shape;295;p35"/>
              <p:cNvSpPr/>
              <p:nvPr/>
            </p:nvSpPr>
            <p:spPr>
              <a:xfrm>
                <a:off x="9043560" y="4284360"/>
                <a:ext cx="100080" cy="856800"/>
              </a:xfrm>
              <a:prstGeom prst="rect">
                <a:avLst/>
              </a:prstGeom>
              <a:solidFill>
                <a:schemeClr val="lt2"/>
              </a:soli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tIns="91440" bIns="91440" anchor="ctr">
                <a:noAutofit/>
              </a:bodyPr>
              <a:lstStyle/>
              <a:p>
                <a:pPr algn="ctr"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0" u="none" strike="noStrike">
                  <a:solidFill>
                    <a:srgbClr val="FFFFFF"/>
                  </a:solidFill>
                  <a:effectLst/>
                  <a:uFillTx/>
                  <a:latin typeface="OpenSymbol"/>
                </a:endParaRPr>
              </a:p>
            </p:txBody>
          </p:sp>
          <p:sp>
            <p:nvSpPr>
              <p:cNvPr id="27" name="Google Shape;296;p35"/>
              <p:cNvSpPr/>
              <p:nvPr/>
            </p:nvSpPr>
            <p:spPr>
              <a:xfrm>
                <a:off x="9043560" y="2649960"/>
                <a:ext cx="100080" cy="816480"/>
              </a:xfrm>
              <a:prstGeom prst="rect">
                <a:avLst/>
              </a:prstGeom>
              <a:solidFill>
                <a:schemeClr val="accent2"/>
              </a:soli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tIns="91440" bIns="91440" anchor="ctr">
                <a:noAutofit/>
              </a:bodyPr>
              <a:lstStyle/>
              <a:p>
                <a:pPr algn="ctr"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0" u="none" strike="noStrike">
                  <a:solidFill>
                    <a:srgbClr val="FFFFFF"/>
                  </a:solidFill>
                  <a:effectLst/>
                  <a:uFillTx/>
                  <a:latin typeface="OpenSymbol"/>
                </a:endParaRPr>
              </a:p>
            </p:txBody>
          </p:sp>
          <p:sp>
            <p:nvSpPr>
              <p:cNvPr id="28" name="Google Shape;297;p35"/>
              <p:cNvSpPr/>
              <p:nvPr/>
            </p:nvSpPr>
            <p:spPr>
              <a:xfrm rot="10800000" flipH="1">
                <a:off x="9044280" y="860040"/>
                <a:ext cx="100080" cy="816480"/>
              </a:xfrm>
              <a:prstGeom prst="rect">
                <a:avLst/>
              </a:prstGeom>
              <a:solidFill>
                <a:schemeClr val="accent1"/>
              </a:soli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tIns="91440" bIns="91440" anchor="ctr">
                <a:noAutofit/>
              </a:bodyPr>
              <a:lstStyle/>
              <a:p>
                <a:pPr algn="ctr"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0" u="none" strike="noStrike">
                  <a:solidFill>
                    <a:srgbClr val="FFFFFF"/>
                  </a:solidFill>
                  <a:effectLst/>
                  <a:uFillTx/>
                  <a:latin typeface="OpenSymbol"/>
                </a:endParaRPr>
              </a:p>
            </p:txBody>
          </p:sp>
          <p:sp>
            <p:nvSpPr>
              <p:cNvPr id="29" name="Google Shape;298;p35"/>
              <p:cNvSpPr/>
              <p:nvPr/>
            </p:nvSpPr>
            <p:spPr>
              <a:xfrm rot="10800000" flipH="1">
                <a:off x="9044280" y="2520"/>
                <a:ext cx="100080" cy="856800"/>
              </a:xfrm>
              <a:prstGeom prst="rect">
                <a:avLst/>
              </a:prstGeom>
              <a:solidFill>
                <a:schemeClr val="lt2"/>
              </a:soli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tIns="91440" bIns="91440" anchor="ctr">
                <a:noAutofit/>
              </a:bodyPr>
              <a:lstStyle/>
              <a:p>
                <a:pPr algn="ctr"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0" u="none" strike="noStrike">
                  <a:solidFill>
                    <a:srgbClr val="FFFFFF"/>
                  </a:solidFill>
                  <a:effectLst/>
                  <a:uFillTx/>
                  <a:latin typeface="OpenSymbol"/>
                </a:endParaRPr>
              </a:p>
            </p:txBody>
          </p:sp>
          <p:sp>
            <p:nvSpPr>
              <p:cNvPr id="30" name="Google Shape;299;p35"/>
              <p:cNvSpPr/>
              <p:nvPr/>
            </p:nvSpPr>
            <p:spPr>
              <a:xfrm rot="10800000" flipH="1">
                <a:off x="9044280" y="1676880"/>
                <a:ext cx="100080" cy="816480"/>
              </a:xfrm>
              <a:prstGeom prst="rect">
                <a:avLst/>
              </a:prstGeom>
              <a:solidFill>
                <a:schemeClr val="accent2"/>
              </a:soli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tIns="91440" bIns="91440" anchor="ctr">
                <a:noAutofit/>
              </a:bodyPr>
              <a:lstStyle/>
              <a:p>
                <a:pPr algn="ctr"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0" u="none" strike="noStrike">
                  <a:solidFill>
                    <a:srgbClr val="FFFFFF"/>
                  </a:solidFill>
                  <a:effectLst/>
                  <a:uFillTx/>
                  <a:latin typeface="OpenSymbol"/>
                </a:endParaRPr>
              </a:p>
            </p:txBody>
          </p:sp>
        </p:grpSp>
        <p:sp>
          <p:nvSpPr>
            <p:cNvPr id="31" name="Google Shape;300;p35"/>
            <p:cNvSpPr/>
            <p:nvPr/>
          </p:nvSpPr>
          <p:spPr>
            <a:xfrm>
              <a:off x="9043560" y="2493720"/>
              <a:ext cx="100080" cy="160200"/>
            </a:xfrm>
            <a:prstGeom prst="rect">
              <a:avLst/>
            </a:prstGeom>
            <a:solidFill>
              <a:schemeClr val="dk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80280" bIns="80280" anchor="ctr">
              <a:noAutofit/>
            </a:bodyPr>
            <a:lstStyle/>
            <a:p>
              <a:pPr algn="ctr" defTabSz="914400">
                <a:lnSpc>
                  <a:spcPct val="100000"/>
                </a:lnSpc>
                <a:tabLst>
                  <a:tab pos="0" algn="l"/>
                </a:tabLst>
              </a:pPr>
              <a:r>
                <a:rPr lang="en" sz="1800" b="0" u="none" strike="noStrike">
                  <a:solidFill>
                    <a:schemeClr val="dk1"/>
                  </a:solidFill>
                  <a:effectLst/>
                  <a:uFillTx/>
                  <a:latin typeface="Open Sans"/>
                  <a:ea typeface="Open Sans"/>
                </a:rPr>
                <a:t> </a:t>
              </a: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</p:grpSp>
      <p:sp>
        <p:nvSpPr>
          <p:cNvPr id="32" name="Google Shape;303;p35"/>
          <p:cNvSpPr/>
          <p:nvPr/>
        </p:nvSpPr>
        <p:spPr>
          <a:xfrm>
            <a:off x="828720" y="771480"/>
            <a:ext cx="1447560" cy="47160"/>
          </a:xfrm>
          <a:prstGeom prst="rect">
            <a:avLst/>
          </a:prstGeom>
          <a:solidFill>
            <a:schemeClr val="accent1">
              <a:alpha val="100000"/>
            </a:schemeClr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870823080" tIns="23760" rIns="870823080" bIns="23760" anchor="ctr">
            <a:sp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endParaRPr lang="fr-FR" sz="18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33" name="직사각형 32"/>
          <p:cNvSpPr/>
          <p:nvPr/>
        </p:nvSpPr>
        <p:spPr>
          <a:xfrm>
            <a:off x="714239" y="895320"/>
            <a:ext cx="7638264" cy="6379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anchor="t">
            <a:norm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altLang="ko-KR" sz="2400" b="1" u="none" strike="noStrike" dirty="0">
                <a:solidFill>
                  <a:srgbClr val="0E1D35"/>
                </a:solidFill>
                <a:effectLst/>
                <a:uFillTx/>
                <a:latin typeface="맑은 고딕" panose="020B0503020000020004" pitchFamily="50" charset="-127"/>
                <a:ea typeface="맑은 고딕" panose="020B0503020000020004" pitchFamily="50" charset="-127"/>
              </a:rPr>
              <a:t>[</a:t>
            </a:r>
            <a:r>
              <a:rPr lang="ko-KR" altLang="en-US" sz="2400" b="1" u="none" strike="noStrike" dirty="0">
                <a:solidFill>
                  <a:srgbClr val="0E1D35"/>
                </a:solidFill>
                <a:effectLst/>
                <a:uFillTx/>
                <a:latin typeface="맑은 고딕" panose="020B0503020000020004" pitchFamily="50" charset="-127"/>
                <a:ea typeface="맑은 고딕" panose="020B0503020000020004" pitchFamily="50" charset="-127"/>
              </a:rPr>
              <a:t>과제</a:t>
            </a:r>
            <a:r>
              <a:rPr lang="en-US" altLang="ko-KR" sz="2400" b="1" u="none" strike="noStrike" dirty="0">
                <a:solidFill>
                  <a:srgbClr val="0E1D35"/>
                </a:solidFill>
                <a:effectLst/>
                <a:uFillTx/>
                <a:latin typeface="맑은 고딕" panose="020B0503020000020004" pitchFamily="50" charset="-127"/>
                <a:ea typeface="맑은 고딕" panose="020B0503020000020004" pitchFamily="50" charset="-127"/>
              </a:rPr>
              <a:t>] Amazon </a:t>
            </a:r>
            <a:r>
              <a:rPr lang="ko-KR" altLang="en-US" sz="2400" b="1" u="none" strike="noStrike" dirty="0">
                <a:solidFill>
                  <a:srgbClr val="0E1D35"/>
                </a:solidFill>
                <a:effectLst/>
                <a:uFillTx/>
                <a:latin typeface="맑은 고딕" panose="020B0503020000020004" pitchFamily="50" charset="-127"/>
                <a:ea typeface="맑은 고딕" panose="020B0503020000020004" pitchFamily="50" charset="-127"/>
              </a:rPr>
              <a:t>판매 데이터로 추천 시스템 설계하기</a:t>
            </a:r>
            <a:endParaRPr lang="en-US" sz="2400" b="0" u="none" strike="noStrike" dirty="0">
              <a:solidFill>
                <a:srgbClr val="000000"/>
              </a:solidFill>
              <a:effectLst/>
              <a:uFillTx/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34" name="직사각형 33"/>
          <p:cNvSpPr/>
          <p:nvPr/>
        </p:nvSpPr>
        <p:spPr>
          <a:xfrm>
            <a:off x="828720" y="3905280"/>
            <a:ext cx="6067080" cy="418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anchor="t">
            <a:normAutofit/>
          </a:bodyPr>
          <a:lstStyle/>
          <a:p>
            <a:pPr defTabSz="914400">
              <a:lnSpc>
                <a:spcPct val="150000"/>
              </a:lnSpc>
              <a:tabLst>
                <a:tab pos="0" algn="l"/>
              </a:tabLst>
            </a:pPr>
            <a:r>
              <a:rPr lang="ko-KR" altLang="en-US" sz="1400" b="1" u="none" strike="noStrike" dirty="0">
                <a:solidFill>
                  <a:srgbClr val="000000"/>
                </a:solidFill>
                <a:effectLst/>
                <a:uFillTx/>
                <a:latin typeface="맑은 고딕" panose="020B0503020000020004" pitchFamily="50" charset="-127"/>
                <a:ea typeface="맑은 고딕" panose="020B0503020000020004" pitchFamily="50" charset="-127"/>
              </a:rPr>
              <a:t>데이터 </a:t>
            </a:r>
            <a:r>
              <a:rPr lang="ko-KR" altLang="en-US" sz="1400" b="1" u="none" strike="noStrike" dirty="0" err="1">
                <a:solidFill>
                  <a:srgbClr val="000000"/>
                </a:solidFill>
                <a:effectLst/>
                <a:uFillTx/>
                <a:latin typeface="맑은 고딕" panose="020B0503020000020004" pitchFamily="50" charset="-127"/>
                <a:ea typeface="맑은 고딕" panose="020B0503020000020004" pitchFamily="50" charset="-127"/>
              </a:rPr>
              <a:t>인텔리전스</a:t>
            </a:r>
            <a:r>
              <a:rPr lang="ko-KR" altLang="en-US" sz="1400" b="1" u="none" strike="noStrike" dirty="0">
                <a:solidFill>
                  <a:srgbClr val="000000"/>
                </a:solidFill>
                <a:effectLst/>
                <a:uFillTx/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en-US" altLang="ko-KR" sz="1400" b="1" u="none" strike="noStrike" dirty="0">
                <a:solidFill>
                  <a:srgbClr val="000000"/>
                </a:solidFill>
                <a:effectLst/>
                <a:uFillTx/>
                <a:latin typeface="맑은 고딕" panose="020B0503020000020004" pitchFamily="50" charset="-127"/>
                <a:ea typeface="맑은 고딕" panose="020B0503020000020004" pitchFamily="50" charset="-127"/>
              </a:rPr>
              <a:t>1</a:t>
            </a:r>
            <a:r>
              <a:rPr lang="ko-KR" altLang="en-US" sz="1400" b="1" u="none" strike="noStrike" dirty="0">
                <a:solidFill>
                  <a:srgbClr val="000000"/>
                </a:solidFill>
                <a:effectLst/>
                <a:uFillTx/>
                <a:latin typeface="맑은 고딕" panose="020B0503020000020004" pitchFamily="50" charset="-127"/>
                <a:ea typeface="맑은 고딕" panose="020B0503020000020004" pitchFamily="50" charset="-127"/>
              </a:rPr>
              <a:t>기 </a:t>
            </a:r>
            <a:r>
              <a:rPr lang="ko-KR" altLang="en-US" sz="1400" b="1" u="none" strike="noStrike" dirty="0" err="1">
                <a:solidFill>
                  <a:srgbClr val="000000"/>
                </a:solidFill>
                <a:effectLst/>
                <a:uFillTx/>
                <a:latin typeface="맑은 고딕" panose="020B0503020000020004" pitchFamily="50" charset="-127"/>
                <a:ea typeface="맑은 고딕" panose="020B0503020000020004" pitchFamily="50" charset="-127"/>
              </a:rPr>
              <a:t>표시철</a:t>
            </a:r>
            <a:endParaRPr lang="en-US" sz="1400" b="1" u="none" strike="noStrike" dirty="0">
              <a:solidFill>
                <a:srgbClr val="000000"/>
              </a:solidFill>
              <a:effectLst/>
              <a:uFillTx/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직사각형 34"/>
          <p:cNvSpPr/>
          <p:nvPr/>
        </p:nvSpPr>
        <p:spPr>
          <a:xfrm>
            <a:off x="714240" y="666720"/>
            <a:ext cx="6924240" cy="380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anchor="b">
            <a:normAutofit fontScale="77500" lnSpcReduction="20000"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ko-KR" altLang="en-US" sz="3000" b="1" u="none" strike="noStrike" dirty="0">
                <a:solidFill>
                  <a:srgbClr val="0E1D35"/>
                </a:solidFill>
                <a:effectLst/>
                <a:uFillTx/>
                <a:latin typeface="맑은 고딕" panose="020B0503020000020004" pitchFamily="50" charset="-127"/>
                <a:ea typeface="맑은 고딕" panose="020B0503020000020004" pitchFamily="50" charset="-127"/>
              </a:rPr>
              <a:t>프로젝트 개요</a:t>
            </a:r>
            <a:endParaRPr lang="en-US" sz="3000" b="0" u="none" strike="noStrike" dirty="0">
              <a:solidFill>
                <a:srgbClr val="000000"/>
              </a:solidFill>
              <a:effectLst/>
              <a:uFillTx/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36" name="직사각형 35"/>
          <p:cNvSpPr/>
          <p:nvPr/>
        </p:nvSpPr>
        <p:spPr>
          <a:xfrm>
            <a:off x="714239" y="1562039"/>
            <a:ext cx="7628431" cy="1436799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anchor="t">
            <a:normAutofit/>
          </a:bodyPr>
          <a:lstStyle/>
          <a:p>
            <a:pPr defTabSz="914400">
              <a:lnSpc>
                <a:spcPct val="150000"/>
              </a:lnSpc>
              <a:tabLst>
                <a:tab pos="0" algn="l"/>
              </a:tabLst>
            </a:pPr>
            <a:r>
              <a:rPr lang="ko-KR" altLang="en-US" sz="1200" b="0" u="none" strike="noStrike" dirty="0">
                <a:solidFill>
                  <a:srgbClr val="0E1D35"/>
                </a:solidFill>
                <a:effectLst/>
                <a:uFillTx/>
                <a:latin typeface="맑은 고딕" panose="020B0503020000020004" pitchFamily="50" charset="-127"/>
                <a:ea typeface="맑은 고딕" panose="020B0503020000020004" pitchFamily="50" charset="-127"/>
              </a:rPr>
              <a:t>이번 프로젝트는 </a:t>
            </a:r>
            <a:r>
              <a:rPr lang="en-US" altLang="ko-KR" sz="1200" b="0" u="none" strike="noStrike" dirty="0">
                <a:solidFill>
                  <a:srgbClr val="0E1D35"/>
                </a:solidFill>
                <a:effectLst/>
                <a:uFillTx/>
                <a:latin typeface="맑은 고딕" panose="020B0503020000020004" pitchFamily="50" charset="-127"/>
                <a:ea typeface="맑은 고딕" panose="020B0503020000020004" pitchFamily="50" charset="-127"/>
              </a:rPr>
              <a:t>Amazon </a:t>
            </a:r>
            <a:r>
              <a:rPr lang="ko-KR" altLang="en-US" sz="1200" b="0" u="none" strike="noStrike" dirty="0">
                <a:solidFill>
                  <a:srgbClr val="0E1D35"/>
                </a:solidFill>
                <a:effectLst/>
                <a:uFillTx/>
                <a:latin typeface="맑은 고딕" panose="020B0503020000020004" pitchFamily="50" charset="-127"/>
                <a:ea typeface="맑은 고딕" panose="020B0503020000020004" pitchFamily="50" charset="-127"/>
              </a:rPr>
              <a:t>데이터셋을 기반으로 고객 맞춤형 추천 시스템을 설계하고 구현하는 작업입니다</a:t>
            </a:r>
            <a:r>
              <a:rPr lang="en-US" altLang="ko-KR" sz="1200" b="0" u="none" strike="noStrike" dirty="0">
                <a:solidFill>
                  <a:srgbClr val="0E1D35"/>
                </a:solidFill>
                <a:effectLst/>
                <a:uFillTx/>
                <a:latin typeface="맑은 고딕" panose="020B0503020000020004" pitchFamily="50" charset="-127"/>
                <a:ea typeface="맑은 고딕" panose="020B0503020000020004" pitchFamily="50" charset="-127"/>
              </a:rPr>
              <a:t>.</a:t>
            </a:r>
          </a:p>
          <a:p>
            <a:pPr defTabSz="914400">
              <a:lnSpc>
                <a:spcPct val="150000"/>
              </a:lnSpc>
              <a:tabLst>
                <a:tab pos="0" algn="l"/>
              </a:tabLst>
            </a:pPr>
            <a:r>
              <a:rPr lang="en-US" altLang="ko-KR" sz="1200" b="0" u="none" strike="noStrike" dirty="0">
                <a:solidFill>
                  <a:srgbClr val="0E1D35"/>
                </a:solidFill>
                <a:effectLst/>
                <a:uFillTx/>
                <a:latin typeface="맑은 고딕" panose="020B0503020000020004" pitchFamily="50" charset="-127"/>
                <a:ea typeface="맑은 고딕" panose="020B0503020000020004" pitchFamily="50" charset="-127"/>
              </a:rPr>
              <a:t>Amazon</a:t>
            </a:r>
            <a:r>
              <a:rPr lang="ko-KR" altLang="en-US" sz="1200" b="0" u="none" strike="noStrike" dirty="0">
                <a:solidFill>
                  <a:srgbClr val="0E1D35"/>
                </a:solidFill>
                <a:effectLst/>
                <a:uFillTx/>
                <a:latin typeface="맑은 고딕" panose="020B0503020000020004" pitchFamily="50" charset="-127"/>
                <a:ea typeface="맑은 고딕" panose="020B0503020000020004" pitchFamily="50" charset="-127"/>
              </a:rPr>
              <a:t>은 전 세계적으로 가장 큰 전자상거래 플랫폼 중 하나로</a:t>
            </a:r>
            <a:r>
              <a:rPr lang="en-US" altLang="ko-KR" sz="1200" b="0" u="none" strike="noStrike" dirty="0">
                <a:solidFill>
                  <a:srgbClr val="0E1D35"/>
                </a:solidFill>
                <a:effectLst/>
                <a:uFillTx/>
                <a:latin typeface="맑은 고딕" panose="020B0503020000020004" pitchFamily="50" charset="-127"/>
                <a:ea typeface="맑은 고딕" panose="020B0503020000020004" pitchFamily="50" charset="-127"/>
              </a:rPr>
              <a:t>, </a:t>
            </a:r>
            <a:r>
              <a:rPr lang="ko-KR" altLang="en-US" sz="1200" b="0" u="none" strike="noStrike" dirty="0">
                <a:solidFill>
                  <a:srgbClr val="0E1D35"/>
                </a:solidFill>
                <a:effectLst/>
                <a:uFillTx/>
                <a:latin typeface="맑은 고딕" panose="020B0503020000020004" pitchFamily="50" charset="-127"/>
                <a:ea typeface="맑은 고딕" panose="020B0503020000020004" pitchFamily="50" charset="-127"/>
              </a:rPr>
              <a:t>방대한 고객 리뷰와 제품 데이터를 보유하고 있습니다</a:t>
            </a:r>
            <a:r>
              <a:rPr lang="en-US" altLang="ko-KR" sz="1200" b="0" u="none" strike="noStrike" dirty="0">
                <a:solidFill>
                  <a:srgbClr val="0E1D35"/>
                </a:solidFill>
                <a:effectLst/>
                <a:uFillTx/>
                <a:latin typeface="맑은 고딕" panose="020B0503020000020004" pitchFamily="50" charset="-127"/>
                <a:ea typeface="맑은 고딕" panose="020B0503020000020004" pitchFamily="50" charset="-127"/>
              </a:rPr>
              <a:t>. </a:t>
            </a:r>
            <a:r>
              <a:rPr lang="ko-KR" altLang="en-US" sz="1200" b="0" u="none" strike="noStrike" dirty="0">
                <a:solidFill>
                  <a:srgbClr val="0E1D35"/>
                </a:solidFill>
                <a:effectLst/>
                <a:uFillTx/>
                <a:latin typeface="맑은 고딕" panose="020B0503020000020004" pitchFamily="50" charset="-127"/>
                <a:ea typeface="맑은 고딕" panose="020B0503020000020004" pitchFamily="50" charset="-127"/>
              </a:rPr>
              <a:t>이번 프로젝트에서는 이러한 데이터를 </a:t>
            </a:r>
            <a:r>
              <a:rPr lang="en-US" altLang="ko-KR" sz="1200" b="0" u="none" strike="noStrike" dirty="0">
                <a:solidFill>
                  <a:srgbClr val="0E1D35"/>
                </a:solidFill>
                <a:effectLst/>
                <a:uFillTx/>
                <a:latin typeface="맑은 고딕" panose="020B0503020000020004" pitchFamily="50" charset="-127"/>
                <a:ea typeface="맑은 고딕" panose="020B0503020000020004" pitchFamily="50" charset="-127"/>
              </a:rPr>
              <a:t>SQL</a:t>
            </a:r>
            <a:r>
              <a:rPr lang="ko-KR" altLang="en-US" sz="1200" b="0" u="none" strike="noStrike" dirty="0">
                <a:solidFill>
                  <a:srgbClr val="0E1D35"/>
                </a:solidFill>
                <a:effectLst/>
                <a:uFillTx/>
                <a:latin typeface="맑은 고딕" panose="020B0503020000020004" pitchFamily="50" charset="-127"/>
                <a:ea typeface="맑은 고딕" panose="020B0503020000020004" pitchFamily="50" charset="-127"/>
              </a:rPr>
              <a:t>만을 사용하여 분석하고</a:t>
            </a:r>
            <a:r>
              <a:rPr lang="en-US" altLang="ko-KR" sz="1200" b="0" u="none" strike="noStrike" dirty="0">
                <a:solidFill>
                  <a:srgbClr val="0E1D35"/>
                </a:solidFill>
                <a:effectLst/>
                <a:uFillTx/>
                <a:latin typeface="맑은 고딕" panose="020B0503020000020004" pitchFamily="50" charset="-127"/>
                <a:ea typeface="맑은 고딕" panose="020B0503020000020004" pitchFamily="50" charset="-127"/>
              </a:rPr>
              <a:t>, </a:t>
            </a:r>
            <a:r>
              <a:rPr lang="ko-KR" altLang="en-US" sz="1200" b="0" u="none" strike="noStrike" dirty="0">
                <a:solidFill>
                  <a:srgbClr val="0E1D35"/>
                </a:solidFill>
                <a:effectLst/>
                <a:uFillTx/>
                <a:latin typeface="맑은 고딕" panose="020B0503020000020004" pitchFamily="50" charset="-127"/>
                <a:ea typeface="맑은 고딕" panose="020B0503020000020004" pitchFamily="50" charset="-127"/>
              </a:rPr>
              <a:t>고객의 구매 경험을 향상시킬 수 있는 추천 시스템의 기초를 설계하는 것이 목표입니다</a:t>
            </a:r>
            <a:r>
              <a:rPr lang="en-US" altLang="ko-KR" sz="1200" b="0" u="none" strike="noStrike" dirty="0">
                <a:solidFill>
                  <a:srgbClr val="0E1D35"/>
                </a:solidFill>
                <a:effectLst/>
                <a:uFillTx/>
                <a:latin typeface="맑은 고딕" panose="020B0503020000020004" pitchFamily="50" charset="-127"/>
                <a:ea typeface="맑은 고딕" panose="020B0503020000020004" pitchFamily="50" charset="-127"/>
              </a:rPr>
              <a:t>.</a:t>
            </a:r>
            <a:endParaRPr lang="en-US" sz="1200" b="0" u="none" strike="noStrike" dirty="0">
              <a:solidFill>
                <a:srgbClr val="000000"/>
              </a:solidFill>
              <a:effectLst/>
              <a:uFillTx/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9AD679A-41C2-439A-CE49-3712FC882B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직사각형 34">
            <a:extLst>
              <a:ext uri="{FF2B5EF4-FFF2-40B4-BE49-F238E27FC236}">
                <a16:creationId xmlns:a16="http://schemas.microsoft.com/office/drawing/2014/main" id="{CFECE461-8726-277E-E04F-CDB6DDE5D82E}"/>
              </a:ext>
            </a:extLst>
          </p:cNvPr>
          <p:cNvSpPr/>
          <p:nvPr/>
        </p:nvSpPr>
        <p:spPr>
          <a:xfrm>
            <a:off x="714240" y="666720"/>
            <a:ext cx="6924240" cy="380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anchor="b">
            <a:normAutofit fontScale="77500" lnSpcReduction="20000"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ko-KR" altLang="en-US" sz="3000" b="1" u="none" strike="noStrike" dirty="0">
                <a:solidFill>
                  <a:srgbClr val="0E1D35"/>
                </a:solidFill>
                <a:effectLst/>
                <a:uFillTx/>
                <a:latin typeface="맑은 고딕" panose="020B0503020000020004" pitchFamily="50" charset="-127"/>
                <a:ea typeface="맑은 고딕" panose="020B0503020000020004" pitchFamily="50" charset="-127"/>
              </a:rPr>
              <a:t>학습 목표</a:t>
            </a:r>
            <a:endParaRPr lang="en-US" sz="3000" b="0" u="none" strike="noStrike" dirty="0">
              <a:solidFill>
                <a:srgbClr val="000000"/>
              </a:solidFill>
              <a:effectLst/>
              <a:uFillTx/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36" name="직사각형 35">
            <a:extLst>
              <a:ext uri="{FF2B5EF4-FFF2-40B4-BE49-F238E27FC236}">
                <a16:creationId xmlns:a16="http://schemas.microsoft.com/office/drawing/2014/main" id="{E6DDC731-7A27-9E65-1021-87FDACB6BAB6}"/>
              </a:ext>
            </a:extLst>
          </p:cNvPr>
          <p:cNvSpPr/>
          <p:nvPr/>
        </p:nvSpPr>
        <p:spPr>
          <a:xfrm>
            <a:off x="714239" y="1562039"/>
            <a:ext cx="7628431" cy="3093535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anchor="t">
            <a:normAutofit/>
          </a:bodyPr>
          <a:lstStyle/>
          <a:p>
            <a:pPr defTabSz="914400">
              <a:lnSpc>
                <a:spcPct val="150000"/>
              </a:lnSpc>
              <a:tabLst>
                <a:tab pos="0" algn="l"/>
              </a:tabLst>
            </a:pPr>
            <a:r>
              <a:rPr lang="ko-KR" altLang="en-US" sz="1200" b="1" u="none" strike="noStrike" dirty="0">
                <a:solidFill>
                  <a:srgbClr val="0E1D35"/>
                </a:solidFill>
                <a:effectLst/>
                <a:uFillTx/>
                <a:latin typeface="맑은 고딕" panose="020B0503020000020004" pitchFamily="50" charset="-127"/>
                <a:ea typeface="맑은 고딕" panose="020B0503020000020004" pitchFamily="50" charset="-127"/>
              </a:rPr>
              <a:t>데이터 이해 및 탐색</a:t>
            </a:r>
          </a:p>
          <a:p>
            <a:pPr defTabSz="914400">
              <a:lnSpc>
                <a:spcPct val="150000"/>
              </a:lnSpc>
              <a:tabLst>
                <a:tab pos="0" algn="l"/>
              </a:tabLst>
            </a:pPr>
            <a:r>
              <a:rPr lang="ko-KR" altLang="en-US" sz="1200" b="0" u="none" strike="noStrike" dirty="0">
                <a:solidFill>
                  <a:srgbClr val="0E1D35"/>
                </a:solidFill>
                <a:effectLst/>
                <a:uFillTx/>
                <a:latin typeface="맑은 고딕" panose="020B0503020000020004" pitchFamily="50" charset="-127"/>
                <a:ea typeface="맑은 고딕" panose="020B0503020000020004" pitchFamily="50" charset="-127"/>
              </a:rPr>
              <a:t>먼저 </a:t>
            </a:r>
            <a:r>
              <a:rPr lang="en-US" altLang="ko-KR" sz="1200" b="0" u="none" strike="noStrike" dirty="0">
                <a:solidFill>
                  <a:srgbClr val="0E1D35"/>
                </a:solidFill>
                <a:effectLst/>
                <a:uFillTx/>
                <a:latin typeface="맑은 고딕" panose="020B0503020000020004" pitchFamily="50" charset="-127"/>
                <a:ea typeface="맑은 고딕" panose="020B0503020000020004" pitchFamily="50" charset="-127"/>
              </a:rPr>
              <a:t>Amazon </a:t>
            </a:r>
            <a:r>
              <a:rPr lang="ko-KR" altLang="en-US" sz="1200" b="0" u="none" strike="noStrike" dirty="0">
                <a:solidFill>
                  <a:srgbClr val="0E1D35"/>
                </a:solidFill>
                <a:effectLst/>
                <a:uFillTx/>
                <a:latin typeface="맑은 고딕" panose="020B0503020000020004" pitchFamily="50" charset="-127"/>
                <a:ea typeface="맑은 고딕" panose="020B0503020000020004" pitchFamily="50" charset="-127"/>
              </a:rPr>
              <a:t>데이터셋을 분석하여 고객과 제품 간의 상호작용 데이터를 이해합니다</a:t>
            </a:r>
            <a:r>
              <a:rPr lang="en-US" altLang="ko-KR" sz="1200" b="0" u="none" strike="noStrike" dirty="0">
                <a:solidFill>
                  <a:srgbClr val="0E1D35"/>
                </a:solidFill>
                <a:effectLst/>
                <a:uFillTx/>
                <a:latin typeface="맑은 고딕" panose="020B0503020000020004" pitchFamily="50" charset="-127"/>
                <a:ea typeface="맑은 고딕" panose="020B0503020000020004" pitchFamily="50" charset="-127"/>
              </a:rPr>
              <a:t>. </a:t>
            </a:r>
            <a:r>
              <a:rPr lang="ko-KR" altLang="en-US" sz="1200" b="0" u="none" strike="noStrike" dirty="0">
                <a:solidFill>
                  <a:srgbClr val="0E1D35"/>
                </a:solidFill>
                <a:effectLst/>
                <a:uFillTx/>
                <a:latin typeface="맑은 고딕" panose="020B0503020000020004" pitchFamily="50" charset="-127"/>
                <a:ea typeface="맑은 고딕" panose="020B0503020000020004" pitchFamily="50" charset="-127"/>
              </a:rPr>
              <a:t>고객 리뷰</a:t>
            </a:r>
            <a:r>
              <a:rPr lang="en-US" altLang="ko-KR" sz="1200" b="0" u="none" strike="noStrike" dirty="0">
                <a:solidFill>
                  <a:srgbClr val="0E1D35"/>
                </a:solidFill>
                <a:effectLst/>
                <a:uFillTx/>
                <a:latin typeface="맑은 고딕" panose="020B0503020000020004" pitchFamily="50" charset="-127"/>
                <a:ea typeface="맑은 고딕" panose="020B0503020000020004" pitchFamily="50" charset="-127"/>
              </a:rPr>
              <a:t>, </a:t>
            </a:r>
            <a:r>
              <a:rPr lang="ko-KR" altLang="en-US" sz="1200" b="0" u="none" strike="noStrike" dirty="0">
                <a:solidFill>
                  <a:srgbClr val="0E1D35"/>
                </a:solidFill>
                <a:effectLst/>
                <a:uFillTx/>
                <a:latin typeface="맑은 고딕" panose="020B0503020000020004" pitchFamily="50" charset="-127"/>
                <a:ea typeface="맑은 고딕" panose="020B0503020000020004" pitchFamily="50" charset="-127"/>
              </a:rPr>
              <a:t>평점</a:t>
            </a:r>
            <a:r>
              <a:rPr lang="en-US" altLang="ko-KR" sz="1200" b="0" u="none" strike="noStrike" dirty="0">
                <a:solidFill>
                  <a:srgbClr val="0E1D35"/>
                </a:solidFill>
                <a:effectLst/>
                <a:uFillTx/>
                <a:latin typeface="맑은 고딕" panose="020B0503020000020004" pitchFamily="50" charset="-127"/>
                <a:ea typeface="맑은 고딕" panose="020B0503020000020004" pitchFamily="50" charset="-127"/>
              </a:rPr>
              <a:t>, </a:t>
            </a:r>
            <a:r>
              <a:rPr lang="ko-KR" altLang="en-US" sz="1200" b="0" u="none" strike="noStrike" dirty="0">
                <a:solidFill>
                  <a:srgbClr val="0E1D35"/>
                </a:solidFill>
                <a:effectLst/>
                <a:uFillTx/>
                <a:latin typeface="맑은 고딕" panose="020B0503020000020004" pitchFamily="50" charset="-127"/>
                <a:ea typeface="맑은 고딕" panose="020B0503020000020004" pitchFamily="50" charset="-127"/>
              </a:rPr>
              <a:t>제품 카테고리 등 다양한 데이터를 활용해 주요 인사이트를 도출합니다</a:t>
            </a:r>
            <a:r>
              <a:rPr lang="en-US" altLang="ko-KR" sz="1200" b="0" u="none" strike="noStrike" dirty="0">
                <a:solidFill>
                  <a:srgbClr val="0E1D35"/>
                </a:solidFill>
                <a:effectLst/>
                <a:uFillTx/>
                <a:latin typeface="맑은 고딕" panose="020B0503020000020004" pitchFamily="50" charset="-127"/>
                <a:ea typeface="맑은 고딕" panose="020B0503020000020004" pitchFamily="50" charset="-127"/>
              </a:rPr>
              <a:t>.</a:t>
            </a:r>
          </a:p>
          <a:p>
            <a:pPr defTabSz="914400">
              <a:lnSpc>
                <a:spcPct val="150000"/>
              </a:lnSpc>
              <a:tabLst>
                <a:tab pos="0" algn="l"/>
              </a:tabLst>
            </a:pPr>
            <a:endParaRPr lang="en-US" altLang="ko-KR" sz="1200" b="0" u="none" strike="noStrike" dirty="0">
              <a:solidFill>
                <a:srgbClr val="0E1D35"/>
              </a:solidFill>
              <a:effectLst/>
              <a:uFillTx/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defTabSz="914400">
              <a:lnSpc>
                <a:spcPct val="150000"/>
              </a:lnSpc>
              <a:tabLst>
                <a:tab pos="0" algn="l"/>
              </a:tabLst>
            </a:pPr>
            <a:r>
              <a:rPr lang="ko-KR" altLang="en-US" sz="1200" b="1" u="none" strike="noStrike" dirty="0">
                <a:solidFill>
                  <a:srgbClr val="0E1D35"/>
                </a:solidFill>
                <a:effectLst/>
                <a:uFillTx/>
                <a:latin typeface="맑은 고딕" panose="020B0503020000020004" pitchFamily="50" charset="-127"/>
                <a:ea typeface="맑은 고딕" panose="020B0503020000020004" pitchFamily="50" charset="-127"/>
              </a:rPr>
              <a:t>추천 시스템 설계 및 구현</a:t>
            </a:r>
          </a:p>
          <a:p>
            <a:pPr defTabSz="914400">
              <a:lnSpc>
                <a:spcPct val="150000"/>
              </a:lnSpc>
              <a:tabLst>
                <a:tab pos="0" algn="l"/>
              </a:tabLst>
            </a:pPr>
            <a:r>
              <a:rPr lang="en-US" altLang="ko-KR" sz="1200" b="0" u="none" strike="noStrike" dirty="0">
                <a:solidFill>
                  <a:srgbClr val="0E1D35"/>
                </a:solidFill>
                <a:effectLst/>
                <a:uFillTx/>
                <a:latin typeface="맑은 고딕" panose="020B0503020000020004" pitchFamily="50" charset="-127"/>
                <a:ea typeface="맑은 고딕" panose="020B0503020000020004" pitchFamily="50" charset="-127"/>
              </a:rPr>
              <a:t>SQL</a:t>
            </a:r>
            <a:r>
              <a:rPr lang="ko-KR" altLang="en-US" sz="1200" b="0" u="none" strike="noStrike" dirty="0">
                <a:solidFill>
                  <a:srgbClr val="0E1D35"/>
                </a:solidFill>
                <a:effectLst/>
                <a:uFillTx/>
                <a:latin typeface="맑은 고딕" panose="020B0503020000020004" pitchFamily="50" charset="-127"/>
                <a:ea typeface="맑은 고딕" panose="020B0503020000020004" pitchFamily="50" charset="-127"/>
              </a:rPr>
              <a:t>을 사용해 인기 제품 추천</a:t>
            </a:r>
            <a:r>
              <a:rPr lang="en-US" altLang="ko-KR" sz="1200" b="0" u="none" strike="noStrike" dirty="0">
                <a:solidFill>
                  <a:srgbClr val="0E1D35"/>
                </a:solidFill>
                <a:effectLst/>
                <a:uFillTx/>
                <a:latin typeface="맑은 고딕" panose="020B0503020000020004" pitchFamily="50" charset="-127"/>
                <a:ea typeface="맑은 고딕" panose="020B0503020000020004" pitchFamily="50" charset="-127"/>
              </a:rPr>
              <a:t>, </a:t>
            </a:r>
            <a:r>
              <a:rPr lang="ko-KR" altLang="en-US" sz="1200" b="0" u="none" strike="noStrike" dirty="0">
                <a:solidFill>
                  <a:srgbClr val="0E1D35"/>
                </a:solidFill>
                <a:effectLst/>
                <a:uFillTx/>
                <a:latin typeface="맑은 고딕" panose="020B0503020000020004" pitchFamily="50" charset="-127"/>
                <a:ea typeface="맑은 고딕" panose="020B0503020000020004" pitchFamily="50" charset="-127"/>
              </a:rPr>
              <a:t>고객 선호도를 기반으로 한 추천</a:t>
            </a:r>
            <a:r>
              <a:rPr lang="en-US" altLang="ko-KR" sz="1200" b="0" u="none" strike="noStrike" dirty="0">
                <a:solidFill>
                  <a:srgbClr val="0E1D35"/>
                </a:solidFill>
                <a:effectLst/>
                <a:uFillTx/>
                <a:latin typeface="맑은 고딕" panose="020B0503020000020004" pitchFamily="50" charset="-127"/>
                <a:ea typeface="맑은 고딕" panose="020B0503020000020004" pitchFamily="50" charset="-127"/>
              </a:rPr>
              <a:t>, </a:t>
            </a:r>
            <a:r>
              <a:rPr lang="ko-KR" altLang="en-US" sz="1200" b="0" u="none" strike="noStrike" dirty="0">
                <a:solidFill>
                  <a:srgbClr val="0E1D35"/>
                </a:solidFill>
                <a:effectLst/>
                <a:uFillTx/>
                <a:latin typeface="맑은 고딕" panose="020B0503020000020004" pitchFamily="50" charset="-127"/>
                <a:ea typeface="맑은 고딕" panose="020B0503020000020004" pitchFamily="50" charset="-127"/>
              </a:rPr>
              <a:t>유사 제품 추천 등 다양한 추천 셋을 </a:t>
            </a:r>
            <a:r>
              <a:rPr lang="ko-KR" altLang="en-US" sz="1200" b="0" u="none" strike="noStrike" dirty="0" err="1">
                <a:solidFill>
                  <a:srgbClr val="0E1D35"/>
                </a:solidFill>
                <a:effectLst/>
                <a:uFillTx/>
                <a:latin typeface="맑은 고딕" panose="020B0503020000020004" pitchFamily="50" charset="-127"/>
                <a:ea typeface="맑은 고딕" panose="020B0503020000020004" pitchFamily="50" charset="-127"/>
              </a:rPr>
              <a:t>제안할겁니다</a:t>
            </a:r>
            <a:r>
              <a:rPr lang="en-US" altLang="ko-KR" sz="1200" b="0" u="none" strike="noStrike" dirty="0">
                <a:solidFill>
                  <a:srgbClr val="0E1D35"/>
                </a:solidFill>
                <a:effectLst/>
                <a:uFillTx/>
                <a:latin typeface="맑은 고딕" panose="020B0503020000020004" pitchFamily="50" charset="-127"/>
                <a:ea typeface="맑은 고딕" panose="020B0503020000020004" pitchFamily="50" charset="-127"/>
              </a:rPr>
              <a:t>. </a:t>
            </a:r>
            <a:r>
              <a:rPr lang="ko-KR" altLang="en-US" sz="1200" b="0" u="none" strike="noStrike" dirty="0">
                <a:solidFill>
                  <a:srgbClr val="0E1D35"/>
                </a:solidFill>
                <a:effectLst/>
                <a:uFillTx/>
                <a:latin typeface="맑은 고딕" panose="020B0503020000020004" pitchFamily="50" charset="-127"/>
                <a:ea typeface="맑은 고딕" panose="020B0503020000020004" pitchFamily="50" charset="-127"/>
              </a:rPr>
              <a:t>여러분은 동일한 데이터를 다양한 각도에서 분석해보면서 새로운 서비스에 활용할 수 있는 가능성을 분석적으로 보여주시면 됩니다</a:t>
            </a:r>
            <a:r>
              <a:rPr lang="en-US" altLang="ko-KR" sz="1200" b="0" u="none" strike="noStrike" dirty="0">
                <a:solidFill>
                  <a:srgbClr val="0E1D35"/>
                </a:solidFill>
                <a:effectLst/>
                <a:uFillTx/>
                <a:latin typeface="맑은 고딕" panose="020B0503020000020004" pitchFamily="50" charset="-127"/>
                <a:ea typeface="맑은 고딕" panose="020B0503020000020004" pitchFamily="50" charset="-127"/>
              </a:rPr>
              <a:t>.</a:t>
            </a:r>
            <a:endParaRPr lang="en-US" sz="1200" b="0" u="none" strike="noStrike" dirty="0">
              <a:solidFill>
                <a:srgbClr val="000000"/>
              </a:solidFill>
              <a:effectLst/>
              <a:uFillTx/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04183038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A72C2A-4F08-FAC1-E703-B293636FE5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직사각형 34">
            <a:extLst>
              <a:ext uri="{FF2B5EF4-FFF2-40B4-BE49-F238E27FC236}">
                <a16:creationId xmlns:a16="http://schemas.microsoft.com/office/drawing/2014/main" id="{2AAF61F1-1BDA-8F90-DD0B-A784DD9E9091}"/>
              </a:ext>
            </a:extLst>
          </p:cNvPr>
          <p:cNvSpPr/>
          <p:nvPr/>
        </p:nvSpPr>
        <p:spPr>
          <a:xfrm>
            <a:off x="714240" y="666720"/>
            <a:ext cx="6924240" cy="380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anchor="b">
            <a:normAutofit fontScale="77500" lnSpcReduction="20000"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altLang="ko-KR" sz="3000" b="1" u="none" strike="noStrike" dirty="0">
                <a:solidFill>
                  <a:srgbClr val="0E1D35"/>
                </a:solidFill>
                <a:effectLst/>
                <a:uFillTx/>
                <a:latin typeface="맑은 고딕" panose="020B0503020000020004" pitchFamily="50" charset="-127"/>
                <a:ea typeface="맑은 고딕" panose="020B0503020000020004" pitchFamily="50" charset="-127"/>
              </a:rPr>
              <a:t>0. </a:t>
            </a:r>
            <a:r>
              <a:rPr lang="ko-KR" altLang="en-US" sz="3000" b="1" u="none" strike="noStrike" dirty="0">
                <a:solidFill>
                  <a:srgbClr val="0E1D35"/>
                </a:solidFill>
                <a:effectLst/>
                <a:uFillTx/>
                <a:latin typeface="맑은 고딕" panose="020B0503020000020004" pitchFamily="50" charset="-127"/>
                <a:ea typeface="맑은 고딕" panose="020B0503020000020004" pitchFamily="50" charset="-127"/>
              </a:rPr>
              <a:t>데이터셋 정보</a:t>
            </a:r>
            <a:endParaRPr lang="en-US" sz="3000" b="0" u="none" strike="noStrike" dirty="0">
              <a:solidFill>
                <a:srgbClr val="000000"/>
              </a:solidFill>
              <a:effectLst/>
              <a:uFillTx/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36" name="직사각형 35">
            <a:extLst>
              <a:ext uri="{FF2B5EF4-FFF2-40B4-BE49-F238E27FC236}">
                <a16:creationId xmlns:a16="http://schemas.microsoft.com/office/drawing/2014/main" id="{251A1FF4-0BB0-DF47-3B38-A1F5FA606235}"/>
              </a:ext>
            </a:extLst>
          </p:cNvPr>
          <p:cNvSpPr/>
          <p:nvPr/>
        </p:nvSpPr>
        <p:spPr>
          <a:xfrm>
            <a:off x="714239" y="1204452"/>
            <a:ext cx="7938148" cy="3559277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anchor="t">
            <a:noAutofit/>
          </a:bodyPr>
          <a:lstStyle/>
          <a:p>
            <a:pPr defTabSz="914400">
              <a:lnSpc>
                <a:spcPct val="150000"/>
              </a:lnSpc>
              <a:tabLst>
                <a:tab pos="0" algn="l"/>
              </a:tabLst>
            </a:pPr>
            <a:r>
              <a:rPr lang="ko-KR" altLang="en-US" sz="1000" b="1" u="none" strike="noStrike" dirty="0">
                <a:solidFill>
                  <a:srgbClr val="0E1D35"/>
                </a:solidFill>
                <a:effectLst/>
                <a:uFillTx/>
                <a:latin typeface="맑은 고딕" panose="020B0503020000020004" pitchFamily="50" charset="-127"/>
                <a:ea typeface="맑은 고딕" panose="020B0503020000020004" pitchFamily="50" charset="-127"/>
              </a:rPr>
              <a:t>데이터셋 링크</a:t>
            </a:r>
            <a:r>
              <a:rPr lang="en-US" altLang="ko-KR" sz="1000" b="1" u="none" strike="noStrike" dirty="0">
                <a:solidFill>
                  <a:srgbClr val="0E1D35"/>
                </a:solidFill>
                <a:effectLst/>
                <a:uFillTx/>
                <a:latin typeface="맑은 고딕" panose="020B0503020000020004" pitchFamily="50" charset="-127"/>
                <a:ea typeface="맑은 고딕" panose="020B0503020000020004" pitchFamily="50" charset="-127"/>
              </a:rPr>
              <a:t>: </a:t>
            </a:r>
            <a:r>
              <a:rPr lang="en-US" altLang="ko-KR" sz="1000" b="1" u="none" strike="noStrike" dirty="0">
                <a:solidFill>
                  <a:srgbClr val="0E1D35"/>
                </a:solidFill>
                <a:effectLst/>
                <a:uFillTx/>
                <a:latin typeface="맑은 고딕" panose="020B0503020000020004" pitchFamily="50" charset="-127"/>
                <a:ea typeface="맑은 고딕" panose="020B0503020000020004" pitchFamily="50" charset="-127"/>
                <a:hlinkClick r:id="rId2"/>
              </a:rPr>
              <a:t>Amazon Sales Dataset</a:t>
            </a:r>
            <a:endParaRPr lang="en-US" altLang="ko-KR" sz="1000" b="1" u="none" strike="noStrike" dirty="0">
              <a:solidFill>
                <a:srgbClr val="0E1D35"/>
              </a:solidFill>
              <a:effectLst/>
              <a:uFillTx/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defTabSz="914400">
              <a:lnSpc>
                <a:spcPct val="150000"/>
              </a:lnSpc>
              <a:tabLst>
                <a:tab pos="0" algn="l"/>
              </a:tabLst>
            </a:pPr>
            <a:endParaRPr lang="en-US" altLang="ko-KR" sz="1000" b="1" u="none" strike="noStrike" dirty="0">
              <a:solidFill>
                <a:srgbClr val="0E1D35"/>
              </a:solidFill>
              <a:effectLst/>
              <a:uFillTx/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defTabSz="914400">
              <a:lnSpc>
                <a:spcPct val="150000"/>
              </a:lnSpc>
              <a:tabLst>
                <a:tab pos="0" algn="l"/>
              </a:tabLst>
            </a:pPr>
            <a:r>
              <a:rPr lang="en-US" altLang="ko-KR" sz="1000" b="1" u="none" strike="noStrike" dirty="0">
                <a:solidFill>
                  <a:srgbClr val="0E1D35"/>
                </a:solidFill>
                <a:effectLst/>
                <a:uFillTx/>
                <a:latin typeface="맑은 고딕" panose="020B0503020000020004" pitchFamily="50" charset="-127"/>
                <a:ea typeface="맑은 고딕" panose="020B0503020000020004" pitchFamily="50" charset="-127"/>
              </a:rPr>
              <a:t>1. </a:t>
            </a:r>
            <a:r>
              <a:rPr lang="ko-KR" altLang="en-US" sz="1000" b="1" u="none" strike="noStrike" dirty="0">
                <a:solidFill>
                  <a:srgbClr val="0E1D35"/>
                </a:solidFill>
                <a:effectLst/>
                <a:uFillTx/>
                <a:latin typeface="맑은 고딕" panose="020B0503020000020004" pitchFamily="50" charset="-127"/>
                <a:ea typeface="맑은 고딕" panose="020B0503020000020004" pitchFamily="50" charset="-127"/>
              </a:rPr>
              <a:t>데이터 개요</a:t>
            </a:r>
            <a:endParaRPr lang="en-US" altLang="ko-KR" sz="1000" b="1" u="none" strike="noStrike" dirty="0">
              <a:solidFill>
                <a:srgbClr val="0E1D35"/>
              </a:solidFill>
              <a:effectLst/>
              <a:uFillTx/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defTabSz="914400">
              <a:lnSpc>
                <a:spcPct val="150000"/>
              </a:lnSpc>
              <a:tabLst>
                <a:tab pos="0" algn="l"/>
              </a:tabLst>
            </a:pPr>
            <a:r>
              <a:rPr lang="en-US" altLang="ko-KR" sz="1000" b="1" u="none" strike="noStrike" dirty="0">
                <a:solidFill>
                  <a:srgbClr val="0E1D35"/>
                </a:solidFill>
                <a:effectLst/>
                <a:uFillTx/>
                <a:latin typeface="맑은 고딕" panose="020B0503020000020004" pitchFamily="50" charset="-127"/>
                <a:ea typeface="맑은 고딕" panose="020B0503020000020004" pitchFamily="50" charset="-127"/>
              </a:rPr>
              <a:t>- </a:t>
            </a:r>
            <a:r>
              <a:rPr lang="ko-KR" altLang="en-US" sz="1000" b="1" u="none" strike="noStrike" dirty="0">
                <a:solidFill>
                  <a:srgbClr val="0E1D35"/>
                </a:solidFill>
                <a:effectLst/>
                <a:uFillTx/>
                <a:latin typeface="맑은 고딕" panose="020B0503020000020004" pitchFamily="50" charset="-127"/>
                <a:ea typeface="맑은 고딕" panose="020B0503020000020004" pitchFamily="50" charset="-127"/>
              </a:rPr>
              <a:t>행</a:t>
            </a:r>
            <a:r>
              <a:rPr lang="en-US" altLang="ko-KR" sz="1000" b="1" u="none" strike="noStrike" dirty="0">
                <a:solidFill>
                  <a:srgbClr val="0E1D35"/>
                </a:solidFill>
                <a:effectLst/>
                <a:uFillTx/>
                <a:latin typeface="맑은 고딕" panose="020B0503020000020004" pitchFamily="50" charset="-127"/>
                <a:ea typeface="맑은 고딕" panose="020B0503020000020004" pitchFamily="50" charset="-127"/>
              </a:rPr>
              <a:t>/</a:t>
            </a:r>
            <a:r>
              <a:rPr lang="ko-KR" altLang="en-US" sz="1000" b="1" u="none" strike="noStrike" dirty="0">
                <a:solidFill>
                  <a:srgbClr val="0E1D35"/>
                </a:solidFill>
                <a:effectLst/>
                <a:uFillTx/>
                <a:latin typeface="맑은 고딕" panose="020B0503020000020004" pitchFamily="50" charset="-127"/>
                <a:ea typeface="맑은 고딕" panose="020B0503020000020004" pitchFamily="50" charset="-127"/>
              </a:rPr>
              <a:t>열</a:t>
            </a:r>
            <a:r>
              <a:rPr lang="en-US" altLang="ko-KR" sz="1000" b="1" u="none" strike="noStrike" dirty="0">
                <a:solidFill>
                  <a:srgbClr val="0E1D35"/>
                </a:solidFill>
                <a:effectLst/>
                <a:uFillTx/>
                <a:latin typeface="맑은 고딕" panose="020B0503020000020004" pitchFamily="50" charset="-127"/>
                <a:ea typeface="맑은 고딕" panose="020B0503020000020004" pitchFamily="50" charset="-127"/>
              </a:rPr>
              <a:t>: 1,465 × 16</a:t>
            </a:r>
          </a:p>
          <a:p>
            <a:pPr marL="171450" indent="-171450" defTabSz="914400">
              <a:lnSpc>
                <a:spcPct val="150000"/>
              </a:lnSpc>
              <a:buFontTx/>
              <a:buChar char="-"/>
              <a:tabLst>
                <a:tab pos="0" algn="l"/>
              </a:tabLst>
            </a:pPr>
            <a:r>
              <a:rPr lang="ko-KR" altLang="en-US" sz="1000" b="1" u="none" strike="noStrike" dirty="0">
                <a:solidFill>
                  <a:srgbClr val="0E1D35"/>
                </a:solidFill>
                <a:effectLst/>
                <a:uFillTx/>
                <a:latin typeface="맑은 고딕" panose="020B0503020000020004" pitchFamily="50" charset="-127"/>
                <a:ea typeface="맑은 고딕" panose="020B0503020000020004" pitchFamily="50" charset="-127"/>
              </a:rPr>
              <a:t>주요 컬럼</a:t>
            </a:r>
            <a:r>
              <a:rPr lang="en-US" altLang="ko-KR" sz="1000" b="1" u="none" strike="noStrike" dirty="0">
                <a:solidFill>
                  <a:srgbClr val="0E1D35"/>
                </a:solidFill>
                <a:effectLst/>
                <a:uFillTx/>
                <a:latin typeface="맑은 고딕" panose="020B0503020000020004" pitchFamily="50" charset="-127"/>
                <a:ea typeface="맑은 고딕" panose="020B0503020000020004" pitchFamily="50" charset="-127"/>
              </a:rPr>
              <a:t>: </a:t>
            </a:r>
            <a:r>
              <a:rPr lang="en-US" altLang="ko-KR" sz="1000" b="1" u="none" strike="noStrike" dirty="0" err="1">
                <a:solidFill>
                  <a:srgbClr val="0E1D35"/>
                </a:solidFill>
                <a:effectLst/>
                <a:uFillTx/>
                <a:latin typeface="맑은 고딕" panose="020B0503020000020004" pitchFamily="50" charset="-127"/>
                <a:ea typeface="맑은 고딕" panose="020B0503020000020004" pitchFamily="50" charset="-127"/>
              </a:rPr>
              <a:t>product_id</a:t>
            </a:r>
            <a:r>
              <a:rPr lang="en-US" altLang="ko-KR" sz="1000" b="1" u="none" strike="noStrike" dirty="0">
                <a:solidFill>
                  <a:srgbClr val="0E1D35"/>
                </a:solidFill>
                <a:effectLst/>
                <a:uFillTx/>
                <a:latin typeface="맑은 고딕" panose="020B0503020000020004" pitchFamily="50" charset="-127"/>
                <a:ea typeface="맑은 고딕" panose="020B0503020000020004" pitchFamily="50" charset="-127"/>
              </a:rPr>
              <a:t>, </a:t>
            </a:r>
            <a:r>
              <a:rPr lang="en-US" altLang="ko-KR" sz="1000" b="1" u="none" strike="noStrike" dirty="0" err="1">
                <a:solidFill>
                  <a:srgbClr val="0E1D35"/>
                </a:solidFill>
                <a:effectLst/>
                <a:uFillTx/>
                <a:latin typeface="맑은 고딕" panose="020B0503020000020004" pitchFamily="50" charset="-127"/>
                <a:ea typeface="맑은 고딕" panose="020B0503020000020004" pitchFamily="50" charset="-127"/>
              </a:rPr>
              <a:t>product_name</a:t>
            </a:r>
            <a:r>
              <a:rPr lang="en-US" altLang="ko-KR" sz="1000" b="1" u="none" strike="noStrike" dirty="0">
                <a:solidFill>
                  <a:srgbClr val="0E1D35"/>
                </a:solidFill>
                <a:effectLst/>
                <a:uFillTx/>
                <a:latin typeface="맑은 고딕" panose="020B0503020000020004" pitchFamily="50" charset="-127"/>
                <a:ea typeface="맑은 고딕" panose="020B0503020000020004" pitchFamily="50" charset="-127"/>
              </a:rPr>
              <a:t>, category, </a:t>
            </a:r>
            <a:r>
              <a:rPr lang="en-US" altLang="ko-KR" sz="1000" b="1" u="none" strike="noStrike" dirty="0" err="1">
                <a:solidFill>
                  <a:srgbClr val="0E1D35"/>
                </a:solidFill>
                <a:effectLst/>
                <a:uFillTx/>
                <a:latin typeface="맑은 고딕" panose="020B0503020000020004" pitchFamily="50" charset="-127"/>
                <a:ea typeface="맑은 고딕" panose="020B0503020000020004" pitchFamily="50" charset="-127"/>
              </a:rPr>
              <a:t>discounted_price</a:t>
            </a:r>
            <a:r>
              <a:rPr lang="en-US" altLang="ko-KR" sz="1000" b="1" u="none" strike="noStrike" dirty="0">
                <a:solidFill>
                  <a:srgbClr val="0E1D35"/>
                </a:solidFill>
                <a:effectLst/>
                <a:uFillTx/>
                <a:latin typeface="맑은 고딕" panose="020B0503020000020004" pitchFamily="50" charset="-127"/>
                <a:ea typeface="맑은 고딕" panose="020B0503020000020004" pitchFamily="50" charset="-127"/>
              </a:rPr>
              <a:t>, </a:t>
            </a:r>
            <a:r>
              <a:rPr lang="en-US" altLang="ko-KR" sz="1000" b="1" u="none" strike="noStrike" dirty="0" err="1">
                <a:solidFill>
                  <a:srgbClr val="0E1D35"/>
                </a:solidFill>
                <a:effectLst/>
                <a:uFillTx/>
                <a:latin typeface="맑은 고딕" panose="020B0503020000020004" pitchFamily="50" charset="-127"/>
                <a:ea typeface="맑은 고딕" panose="020B0503020000020004" pitchFamily="50" charset="-127"/>
              </a:rPr>
              <a:t>actual_price</a:t>
            </a:r>
            <a:r>
              <a:rPr lang="en-US" altLang="ko-KR" sz="1000" b="1" u="none" strike="noStrike" dirty="0">
                <a:solidFill>
                  <a:srgbClr val="0E1D35"/>
                </a:solidFill>
                <a:effectLst/>
                <a:uFillTx/>
                <a:latin typeface="맑은 고딕" panose="020B0503020000020004" pitchFamily="50" charset="-127"/>
                <a:ea typeface="맑은 고딕" panose="020B0503020000020004" pitchFamily="50" charset="-127"/>
              </a:rPr>
              <a:t>, </a:t>
            </a:r>
            <a:r>
              <a:rPr lang="en-US" altLang="ko-KR" sz="1000" b="1" u="none" strike="noStrike" dirty="0" err="1">
                <a:solidFill>
                  <a:srgbClr val="0E1D35"/>
                </a:solidFill>
                <a:effectLst/>
                <a:uFillTx/>
                <a:latin typeface="맑은 고딕" panose="020B0503020000020004" pitchFamily="50" charset="-127"/>
                <a:ea typeface="맑은 고딕" panose="020B0503020000020004" pitchFamily="50" charset="-127"/>
              </a:rPr>
              <a:t>discount_percentage</a:t>
            </a:r>
            <a:r>
              <a:rPr lang="en-US" altLang="ko-KR" sz="1000" b="1" u="none" strike="noStrike" dirty="0">
                <a:solidFill>
                  <a:srgbClr val="0E1D35"/>
                </a:solidFill>
                <a:effectLst/>
                <a:uFillTx/>
                <a:latin typeface="맑은 고딕" panose="020B0503020000020004" pitchFamily="50" charset="-127"/>
                <a:ea typeface="맑은 고딕" panose="020B0503020000020004" pitchFamily="50" charset="-127"/>
              </a:rPr>
              <a:t>, </a:t>
            </a:r>
            <a:r>
              <a:rPr lang="en-US" altLang="ko-KR" sz="1000" b="1" u="none" strike="noStrike" dirty="0" err="1">
                <a:solidFill>
                  <a:srgbClr val="0E1D35"/>
                </a:solidFill>
                <a:effectLst/>
                <a:uFillTx/>
                <a:latin typeface="맑은 고딕" panose="020B0503020000020004" pitchFamily="50" charset="-127"/>
                <a:ea typeface="맑은 고딕" panose="020B0503020000020004" pitchFamily="50" charset="-127"/>
              </a:rPr>
              <a:t>rating,rating_count</a:t>
            </a:r>
            <a:r>
              <a:rPr lang="en-US" altLang="ko-KR" sz="1000" b="1" u="none" strike="noStrike" dirty="0">
                <a:solidFill>
                  <a:srgbClr val="0E1D35"/>
                </a:solidFill>
                <a:effectLst/>
                <a:uFillTx/>
                <a:latin typeface="맑은 고딕" panose="020B0503020000020004" pitchFamily="50" charset="-127"/>
                <a:ea typeface="맑은 고딕" panose="020B0503020000020004" pitchFamily="50" charset="-127"/>
              </a:rPr>
              <a:t>, </a:t>
            </a:r>
            <a:r>
              <a:rPr lang="en-US" altLang="ko-KR" sz="1000" b="1" u="none" strike="noStrike" dirty="0" err="1">
                <a:solidFill>
                  <a:srgbClr val="0E1D35"/>
                </a:solidFill>
                <a:effectLst/>
                <a:uFillTx/>
                <a:latin typeface="맑은 고딕" panose="020B0503020000020004" pitchFamily="50" charset="-127"/>
                <a:ea typeface="맑은 고딕" panose="020B0503020000020004" pitchFamily="50" charset="-127"/>
              </a:rPr>
              <a:t>about_product</a:t>
            </a:r>
            <a:r>
              <a:rPr lang="en-US" altLang="ko-KR" sz="1000" b="1" u="none" strike="noStrike" dirty="0">
                <a:solidFill>
                  <a:srgbClr val="0E1D35"/>
                </a:solidFill>
                <a:effectLst/>
                <a:uFillTx/>
                <a:latin typeface="맑은 고딕" panose="020B0503020000020004" pitchFamily="50" charset="-127"/>
                <a:ea typeface="맑은 고딕" panose="020B0503020000020004" pitchFamily="50" charset="-127"/>
              </a:rPr>
              <a:t>, </a:t>
            </a:r>
            <a:r>
              <a:rPr lang="en-US" altLang="ko-KR" sz="1000" b="1" u="none" strike="noStrike" dirty="0" err="1">
                <a:solidFill>
                  <a:srgbClr val="0E1D35"/>
                </a:solidFill>
                <a:effectLst/>
                <a:uFillTx/>
                <a:latin typeface="맑은 고딕" panose="020B0503020000020004" pitchFamily="50" charset="-127"/>
                <a:ea typeface="맑은 고딕" panose="020B0503020000020004" pitchFamily="50" charset="-127"/>
              </a:rPr>
              <a:t>user_id</a:t>
            </a:r>
            <a:r>
              <a:rPr lang="en-US" altLang="ko-KR" sz="1000" b="1" u="none" strike="noStrike" dirty="0">
                <a:solidFill>
                  <a:srgbClr val="0E1D35"/>
                </a:solidFill>
                <a:effectLst/>
                <a:uFillTx/>
                <a:latin typeface="맑은 고딕" panose="020B0503020000020004" pitchFamily="50" charset="-127"/>
                <a:ea typeface="맑은 고딕" panose="020B0503020000020004" pitchFamily="50" charset="-127"/>
              </a:rPr>
              <a:t>, </a:t>
            </a:r>
            <a:r>
              <a:rPr lang="en-US" altLang="ko-KR" sz="1000" b="1" u="none" strike="noStrike" dirty="0" err="1">
                <a:solidFill>
                  <a:srgbClr val="0E1D35"/>
                </a:solidFill>
                <a:effectLst/>
                <a:uFillTx/>
                <a:latin typeface="맑은 고딕" panose="020B0503020000020004" pitchFamily="50" charset="-127"/>
                <a:ea typeface="맑은 고딕" panose="020B0503020000020004" pitchFamily="50" charset="-127"/>
              </a:rPr>
              <a:t>user_name</a:t>
            </a:r>
            <a:r>
              <a:rPr lang="en-US" altLang="ko-KR" sz="1000" b="1" u="none" strike="noStrike" dirty="0">
                <a:solidFill>
                  <a:srgbClr val="0E1D35"/>
                </a:solidFill>
                <a:effectLst/>
                <a:uFillTx/>
                <a:latin typeface="맑은 고딕" panose="020B0503020000020004" pitchFamily="50" charset="-127"/>
                <a:ea typeface="맑은 고딕" panose="020B0503020000020004" pitchFamily="50" charset="-127"/>
              </a:rPr>
              <a:t>, </a:t>
            </a:r>
            <a:r>
              <a:rPr lang="en-US" altLang="ko-KR" sz="1000" b="1" u="none" strike="noStrike" dirty="0" err="1">
                <a:solidFill>
                  <a:srgbClr val="0E1D35"/>
                </a:solidFill>
                <a:effectLst/>
                <a:uFillTx/>
                <a:latin typeface="맑은 고딕" panose="020B0503020000020004" pitchFamily="50" charset="-127"/>
                <a:ea typeface="맑은 고딕" panose="020B0503020000020004" pitchFamily="50" charset="-127"/>
              </a:rPr>
              <a:t>review_id</a:t>
            </a:r>
            <a:r>
              <a:rPr lang="en-US" altLang="ko-KR" sz="1000" b="1" u="none" strike="noStrike" dirty="0">
                <a:solidFill>
                  <a:srgbClr val="0E1D35"/>
                </a:solidFill>
                <a:effectLst/>
                <a:uFillTx/>
                <a:latin typeface="맑은 고딕" panose="020B0503020000020004" pitchFamily="50" charset="-127"/>
                <a:ea typeface="맑은 고딕" panose="020B0503020000020004" pitchFamily="50" charset="-127"/>
              </a:rPr>
              <a:t>, </a:t>
            </a:r>
            <a:r>
              <a:rPr lang="en-US" altLang="ko-KR" sz="1000" b="1" u="none" strike="noStrike" dirty="0" err="1">
                <a:solidFill>
                  <a:srgbClr val="0E1D35"/>
                </a:solidFill>
                <a:effectLst/>
                <a:uFillTx/>
                <a:latin typeface="맑은 고딕" panose="020B0503020000020004" pitchFamily="50" charset="-127"/>
                <a:ea typeface="맑은 고딕" panose="020B0503020000020004" pitchFamily="50" charset="-127"/>
              </a:rPr>
              <a:t>review_title</a:t>
            </a:r>
            <a:r>
              <a:rPr lang="en-US" altLang="ko-KR" sz="1000" b="1" u="none" strike="noStrike" dirty="0">
                <a:solidFill>
                  <a:srgbClr val="0E1D35"/>
                </a:solidFill>
                <a:effectLst/>
                <a:uFillTx/>
                <a:latin typeface="맑은 고딕" panose="020B0503020000020004" pitchFamily="50" charset="-127"/>
                <a:ea typeface="맑은 고딕" panose="020B0503020000020004" pitchFamily="50" charset="-127"/>
              </a:rPr>
              <a:t>, </a:t>
            </a:r>
            <a:r>
              <a:rPr lang="en-US" altLang="ko-KR" sz="1000" b="1" u="none" strike="noStrike" dirty="0" err="1">
                <a:solidFill>
                  <a:srgbClr val="0E1D35"/>
                </a:solidFill>
                <a:effectLst/>
                <a:uFillTx/>
                <a:latin typeface="맑은 고딕" panose="020B0503020000020004" pitchFamily="50" charset="-127"/>
                <a:ea typeface="맑은 고딕" panose="020B0503020000020004" pitchFamily="50" charset="-127"/>
              </a:rPr>
              <a:t>review_content</a:t>
            </a:r>
            <a:r>
              <a:rPr lang="en-US" altLang="ko-KR" sz="1000" b="1" u="none" strike="noStrike" dirty="0">
                <a:solidFill>
                  <a:srgbClr val="0E1D35"/>
                </a:solidFill>
                <a:effectLst/>
                <a:uFillTx/>
                <a:latin typeface="맑은 고딕" panose="020B0503020000020004" pitchFamily="50" charset="-127"/>
                <a:ea typeface="맑은 고딕" panose="020B0503020000020004" pitchFamily="50" charset="-127"/>
              </a:rPr>
              <a:t>, </a:t>
            </a:r>
            <a:r>
              <a:rPr lang="en-US" altLang="ko-KR" sz="1000" b="1" u="none" strike="noStrike" dirty="0" err="1">
                <a:solidFill>
                  <a:srgbClr val="0E1D35"/>
                </a:solidFill>
                <a:effectLst/>
                <a:uFillTx/>
                <a:latin typeface="맑은 고딕" panose="020B0503020000020004" pitchFamily="50" charset="-127"/>
                <a:ea typeface="맑은 고딕" panose="020B0503020000020004" pitchFamily="50" charset="-127"/>
              </a:rPr>
              <a:t>img_link</a:t>
            </a:r>
            <a:r>
              <a:rPr lang="en-US" altLang="ko-KR" sz="1000" b="1" u="none" strike="noStrike" dirty="0">
                <a:solidFill>
                  <a:srgbClr val="0E1D35"/>
                </a:solidFill>
                <a:effectLst/>
                <a:uFillTx/>
                <a:latin typeface="맑은 고딕" panose="020B0503020000020004" pitchFamily="50" charset="-127"/>
                <a:ea typeface="맑은 고딕" panose="020B0503020000020004" pitchFamily="50" charset="-127"/>
              </a:rPr>
              <a:t>, </a:t>
            </a:r>
            <a:r>
              <a:rPr lang="en-US" altLang="ko-KR" sz="1000" b="1" u="none" strike="noStrike" dirty="0" err="1">
                <a:solidFill>
                  <a:srgbClr val="0E1D35"/>
                </a:solidFill>
                <a:effectLst/>
                <a:uFillTx/>
                <a:latin typeface="맑은 고딕" panose="020B0503020000020004" pitchFamily="50" charset="-127"/>
                <a:ea typeface="맑은 고딕" panose="020B0503020000020004" pitchFamily="50" charset="-127"/>
              </a:rPr>
              <a:t>product_link</a:t>
            </a:r>
            <a:endParaRPr lang="en-US" altLang="ko-KR" sz="1000" b="1" u="none" strike="noStrike" dirty="0">
              <a:solidFill>
                <a:srgbClr val="0E1D35"/>
              </a:solidFill>
              <a:effectLst/>
              <a:uFillTx/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defTabSz="914400">
              <a:lnSpc>
                <a:spcPct val="150000"/>
              </a:lnSpc>
              <a:tabLst>
                <a:tab pos="0" algn="l"/>
              </a:tabLst>
            </a:pPr>
            <a:endParaRPr lang="en-US" altLang="ko-KR" sz="1000" b="1" dirty="0">
              <a:solidFill>
                <a:srgbClr val="0E1D35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>
              <a:lnSpc>
                <a:spcPct val="150000"/>
              </a:lnSpc>
              <a:tabLst>
                <a:tab pos="0" algn="l"/>
              </a:tabLst>
            </a:pPr>
            <a:r>
              <a:rPr lang="en-US" altLang="ko-KR" sz="1000" b="1" dirty="0">
                <a:solidFill>
                  <a:srgbClr val="0E1D35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2. </a:t>
            </a:r>
            <a:r>
              <a:rPr lang="ko-KR" altLang="en-US" sz="1000" b="1" dirty="0">
                <a:solidFill>
                  <a:srgbClr val="0E1D35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진단 결과</a:t>
            </a:r>
          </a:p>
          <a:p>
            <a:pPr>
              <a:lnSpc>
                <a:spcPct val="150000"/>
              </a:lnSpc>
              <a:tabLst>
                <a:tab pos="0" algn="l"/>
              </a:tabLst>
            </a:pPr>
            <a:r>
              <a:rPr lang="en-US" altLang="ko-KR" sz="1000" b="1" dirty="0">
                <a:solidFill>
                  <a:srgbClr val="0E1D35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- </a:t>
            </a:r>
            <a:r>
              <a:rPr lang="ko-KR" altLang="en-US" sz="1000" b="1" dirty="0">
                <a:solidFill>
                  <a:srgbClr val="0E1D35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결측</a:t>
            </a:r>
            <a:r>
              <a:rPr lang="en-US" altLang="ko-KR" sz="1000" b="1" dirty="0">
                <a:solidFill>
                  <a:srgbClr val="0E1D35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: </a:t>
            </a:r>
            <a:r>
              <a:rPr lang="en-US" altLang="ko-KR" sz="1000" b="1" dirty="0" err="1">
                <a:solidFill>
                  <a:srgbClr val="0E1D35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product_id</a:t>
            </a:r>
            <a:r>
              <a:rPr lang="en-US" altLang="ko-KR" sz="1000" b="1" dirty="0">
                <a:solidFill>
                  <a:srgbClr val="0E1D35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B0B94JPY2N, B0BQRJ3C47</a:t>
            </a:r>
            <a:r>
              <a:rPr lang="ko-KR" altLang="en-US" sz="1000" b="1" dirty="0">
                <a:solidFill>
                  <a:srgbClr val="0E1D35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의 </a:t>
            </a:r>
            <a:r>
              <a:rPr lang="en-US" altLang="ko-KR" sz="1000" b="1" dirty="0" err="1">
                <a:solidFill>
                  <a:srgbClr val="0E1D35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rating_count</a:t>
            </a:r>
            <a:r>
              <a:rPr lang="en-US" altLang="ko-KR" sz="1000" b="1" dirty="0">
                <a:solidFill>
                  <a:srgbClr val="0E1D35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ko-KR" altLang="en-US" sz="1000" b="1" dirty="0">
                <a:solidFill>
                  <a:srgbClr val="0E1D35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결측</a:t>
            </a:r>
          </a:p>
          <a:p>
            <a:pPr>
              <a:lnSpc>
                <a:spcPct val="150000"/>
              </a:lnSpc>
              <a:tabLst>
                <a:tab pos="0" algn="l"/>
              </a:tabLst>
            </a:pPr>
            <a:r>
              <a:rPr lang="en-US" altLang="ko-KR" sz="1000" b="1" dirty="0">
                <a:solidFill>
                  <a:srgbClr val="0E1D35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- </a:t>
            </a:r>
            <a:r>
              <a:rPr lang="ko-KR" altLang="en-US" sz="1000" b="1" dirty="0">
                <a:solidFill>
                  <a:srgbClr val="0E1D35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이상치</a:t>
            </a:r>
            <a:r>
              <a:rPr lang="en-US" altLang="ko-KR" sz="1000" b="1" dirty="0">
                <a:solidFill>
                  <a:srgbClr val="0E1D35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: </a:t>
            </a:r>
            <a:r>
              <a:rPr lang="en-US" altLang="ko-KR" sz="1000" b="1" dirty="0" err="1">
                <a:solidFill>
                  <a:srgbClr val="0E1D35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product_id</a:t>
            </a:r>
            <a:r>
              <a:rPr lang="en-US" altLang="ko-KR" sz="1000" b="1" dirty="0">
                <a:solidFill>
                  <a:srgbClr val="0E1D35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B08L12N5H1</a:t>
            </a:r>
            <a:r>
              <a:rPr lang="ko-KR" altLang="en-US" sz="1000" b="1" dirty="0">
                <a:solidFill>
                  <a:srgbClr val="0E1D35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의 </a:t>
            </a:r>
            <a:r>
              <a:rPr lang="en-US" altLang="ko-KR" sz="1000" b="1" dirty="0">
                <a:solidFill>
                  <a:srgbClr val="0E1D35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rating | </a:t>
            </a:r>
            <a:r>
              <a:rPr lang="ko-KR" altLang="en-US" sz="1000" b="1" dirty="0">
                <a:solidFill>
                  <a:srgbClr val="0E1D35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로 오기</a:t>
            </a:r>
          </a:p>
          <a:p>
            <a:pPr>
              <a:lnSpc>
                <a:spcPct val="150000"/>
              </a:lnSpc>
              <a:tabLst>
                <a:tab pos="0" algn="l"/>
              </a:tabLst>
            </a:pPr>
            <a:r>
              <a:rPr lang="en-US" altLang="ko-KR" sz="1000" b="1" dirty="0">
                <a:solidFill>
                  <a:srgbClr val="0E1D35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- </a:t>
            </a:r>
            <a:r>
              <a:rPr lang="ko-KR" altLang="en-US" sz="1000" b="1" dirty="0">
                <a:solidFill>
                  <a:srgbClr val="0E1D35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중복</a:t>
            </a:r>
            <a:r>
              <a:rPr lang="en-US" altLang="ko-KR" sz="1000" b="1" dirty="0">
                <a:solidFill>
                  <a:srgbClr val="0E1D35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: </a:t>
            </a:r>
            <a:r>
              <a:rPr lang="ko-KR" altLang="en-US" sz="1000" b="1" dirty="0">
                <a:solidFill>
                  <a:srgbClr val="0E1D35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일부 </a:t>
            </a:r>
            <a:r>
              <a:rPr lang="en-US" altLang="ko-KR" sz="1000" b="1" dirty="0" err="1">
                <a:solidFill>
                  <a:srgbClr val="0E1D35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product_id</a:t>
            </a:r>
            <a:r>
              <a:rPr lang="ko-KR" altLang="en-US" sz="1000" b="1" dirty="0">
                <a:solidFill>
                  <a:srgbClr val="0E1D35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에서 </a:t>
            </a:r>
            <a:r>
              <a:rPr lang="en-US" altLang="ko-KR" sz="1000" b="1" dirty="0" err="1">
                <a:solidFill>
                  <a:srgbClr val="0E1D35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img_link</a:t>
            </a:r>
            <a:r>
              <a:rPr lang="ko-KR" altLang="en-US" sz="1000" b="1" dirty="0">
                <a:solidFill>
                  <a:srgbClr val="0E1D35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가 달라 중복 확인됨</a:t>
            </a:r>
            <a:r>
              <a:rPr lang="en-US" altLang="ko-KR" sz="1000" b="1" dirty="0">
                <a:solidFill>
                  <a:srgbClr val="0E1D35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.</a:t>
            </a:r>
          </a:p>
          <a:p>
            <a:pPr defTabSz="914400">
              <a:lnSpc>
                <a:spcPct val="150000"/>
              </a:lnSpc>
              <a:tabLst>
                <a:tab pos="0" algn="l"/>
              </a:tabLst>
            </a:pPr>
            <a:endParaRPr lang="en-US" altLang="ko-KR" sz="800" b="1" dirty="0">
              <a:solidFill>
                <a:srgbClr val="0E1D35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99861454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CD8709-2F97-CD03-E976-F6781F3B45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직사각형 34">
            <a:extLst>
              <a:ext uri="{FF2B5EF4-FFF2-40B4-BE49-F238E27FC236}">
                <a16:creationId xmlns:a16="http://schemas.microsoft.com/office/drawing/2014/main" id="{23BC4248-415F-E556-CDD5-E968350435EF}"/>
              </a:ext>
            </a:extLst>
          </p:cNvPr>
          <p:cNvSpPr/>
          <p:nvPr/>
        </p:nvSpPr>
        <p:spPr>
          <a:xfrm>
            <a:off x="714240" y="666720"/>
            <a:ext cx="6924240" cy="380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anchor="b">
            <a:normAutofit fontScale="77500" lnSpcReduction="20000"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altLang="ko-KR" sz="3000" b="1" u="none" strike="noStrike" dirty="0">
                <a:solidFill>
                  <a:srgbClr val="0E1D35"/>
                </a:solidFill>
                <a:effectLst/>
                <a:uFillTx/>
                <a:latin typeface="맑은 고딕" panose="020B0503020000020004" pitchFamily="50" charset="-127"/>
                <a:ea typeface="맑은 고딕" panose="020B0503020000020004" pitchFamily="50" charset="-127"/>
              </a:rPr>
              <a:t>0. </a:t>
            </a:r>
            <a:r>
              <a:rPr lang="ko-KR" altLang="en-US" sz="3000" b="1" u="none" strike="noStrike" dirty="0">
                <a:solidFill>
                  <a:srgbClr val="0E1D35"/>
                </a:solidFill>
                <a:effectLst/>
                <a:uFillTx/>
                <a:latin typeface="맑은 고딕" panose="020B0503020000020004" pitchFamily="50" charset="-127"/>
                <a:ea typeface="맑은 고딕" panose="020B0503020000020004" pitchFamily="50" charset="-127"/>
              </a:rPr>
              <a:t>데이터셋 정보</a:t>
            </a:r>
            <a:endParaRPr lang="en-US" sz="3000" b="0" u="none" strike="noStrike" dirty="0">
              <a:solidFill>
                <a:srgbClr val="000000"/>
              </a:solidFill>
              <a:effectLst/>
              <a:uFillTx/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36" name="직사각형 35">
            <a:extLst>
              <a:ext uri="{FF2B5EF4-FFF2-40B4-BE49-F238E27FC236}">
                <a16:creationId xmlns:a16="http://schemas.microsoft.com/office/drawing/2014/main" id="{832296D3-96A9-6516-5E8D-5B93C8E83A91}"/>
              </a:ext>
            </a:extLst>
          </p:cNvPr>
          <p:cNvSpPr/>
          <p:nvPr/>
        </p:nvSpPr>
        <p:spPr>
          <a:xfrm>
            <a:off x="714239" y="1204452"/>
            <a:ext cx="7938148" cy="3559277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anchor="t">
            <a:normAutofit fontScale="92500" lnSpcReduction="10000"/>
          </a:bodyPr>
          <a:lstStyle/>
          <a:p>
            <a:pPr defTabSz="914400">
              <a:lnSpc>
                <a:spcPct val="150000"/>
              </a:lnSpc>
              <a:tabLst>
                <a:tab pos="0" algn="l"/>
              </a:tabLst>
            </a:pPr>
            <a:r>
              <a:rPr lang="en-US" altLang="ko-KR" sz="1000" b="1" u="none" strike="noStrike" dirty="0">
                <a:solidFill>
                  <a:srgbClr val="0E1D35"/>
                </a:solidFill>
                <a:effectLst/>
                <a:uFillTx/>
                <a:latin typeface="맑은 고딕" panose="020B0503020000020004" pitchFamily="50" charset="-127"/>
                <a:ea typeface="맑은 고딕" panose="020B0503020000020004" pitchFamily="50" charset="-127"/>
              </a:rPr>
              <a:t>3. </a:t>
            </a:r>
            <a:r>
              <a:rPr lang="ko-KR" altLang="en-US" sz="1000" b="1" u="none" strike="noStrike" dirty="0">
                <a:solidFill>
                  <a:srgbClr val="0E1D35"/>
                </a:solidFill>
                <a:effectLst/>
                <a:uFillTx/>
                <a:latin typeface="맑은 고딕" panose="020B0503020000020004" pitchFamily="50" charset="-127"/>
                <a:ea typeface="맑은 고딕" panose="020B0503020000020004" pitchFamily="50" charset="-127"/>
              </a:rPr>
              <a:t>처리 결정과 근거</a:t>
            </a:r>
          </a:p>
          <a:p>
            <a:pPr defTabSz="914400">
              <a:lnSpc>
                <a:spcPct val="150000"/>
              </a:lnSpc>
              <a:tabLst>
                <a:tab pos="0" algn="l"/>
              </a:tabLst>
            </a:pPr>
            <a:r>
              <a:rPr lang="en-US" altLang="ko-KR" sz="1000" b="1" u="none" strike="noStrike" dirty="0">
                <a:solidFill>
                  <a:srgbClr val="0E1D35"/>
                </a:solidFill>
                <a:effectLst/>
                <a:uFillTx/>
                <a:latin typeface="맑은 고딕" panose="020B0503020000020004" pitchFamily="50" charset="-127"/>
                <a:ea typeface="맑은 고딕" panose="020B0503020000020004" pitchFamily="50" charset="-127"/>
              </a:rPr>
              <a:t>(1)</a:t>
            </a:r>
            <a:r>
              <a:rPr lang="en-US" altLang="ko-KR" sz="1000" b="1" u="none" strike="noStrike" dirty="0" err="1">
                <a:solidFill>
                  <a:srgbClr val="0E1D35"/>
                </a:solidFill>
                <a:effectLst/>
                <a:uFillTx/>
                <a:latin typeface="맑은 고딕" panose="020B0503020000020004" pitchFamily="50" charset="-127"/>
                <a:ea typeface="맑은 고딕" panose="020B0503020000020004" pitchFamily="50" charset="-127"/>
              </a:rPr>
              <a:t>discounted_price</a:t>
            </a:r>
            <a:r>
              <a:rPr lang="en-US" altLang="ko-KR" sz="1000" b="1" u="none" strike="noStrike" dirty="0">
                <a:solidFill>
                  <a:srgbClr val="0E1D35"/>
                </a:solidFill>
                <a:effectLst/>
                <a:uFillTx/>
                <a:latin typeface="맑은 고딕" panose="020B0503020000020004" pitchFamily="50" charset="-127"/>
                <a:ea typeface="맑은 고딕" panose="020B0503020000020004" pitchFamily="50" charset="-127"/>
              </a:rPr>
              <a:t>, </a:t>
            </a:r>
            <a:r>
              <a:rPr lang="en-US" altLang="ko-KR" sz="1000" b="1" u="none" strike="noStrike" dirty="0" err="1">
                <a:solidFill>
                  <a:srgbClr val="0E1D35"/>
                </a:solidFill>
                <a:effectLst/>
                <a:uFillTx/>
                <a:latin typeface="맑은 고딕" panose="020B0503020000020004" pitchFamily="50" charset="-127"/>
                <a:ea typeface="맑은 고딕" panose="020B0503020000020004" pitchFamily="50" charset="-127"/>
              </a:rPr>
              <a:t>actual_price</a:t>
            </a:r>
            <a:r>
              <a:rPr lang="en-US" altLang="ko-KR" sz="1000" b="1" u="none" strike="noStrike" dirty="0">
                <a:solidFill>
                  <a:srgbClr val="0E1D35"/>
                </a:solidFill>
                <a:effectLst/>
                <a:uFillTx/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ko-KR" altLang="en-US" sz="1000" b="1" u="none" strike="noStrike" dirty="0">
                <a:solidFill>
                  <a:srgbClr val="0E1D35"/>
                </a:solidFill>
                <a:effectLst/>
                <a:uFillTx/>
                <a:latin typeface="맑은 고딕" panose="020B0503020000020004" pitchFamily="50" charset="-127"/>
                <a:ea typeface="맑은 고딕" panose="020B0503020000020004" pitchFamily="50" charset="-127"/>
              </a:rPr>
              <a:t>루피 기호</a:t>
            </a:r>
            <a:r>
              <a:rPr lang="en-US" altLang="ko-KR" sz="1000" b="1" u="none" strike="noStrike" dirty="0">
                <a:solidFill>
                  <a:srgbClr val="0E1D35"/>
                </a:solidFill>
                <a:effectLst/>
                <a:uFillTx/>
                <a:latin typeface="맑은 고딕" panose="020B0503020000020004" pitchFamily="50" charset="-127"/>
                <a:ea typeface="맑은 고딕" panose="020B0503020000020004" pitchFamily="50" charset="-127"/>
              </a:rPr>
              <a:t>(₹) </a:t>
            </a:r>
            <a:r>
              <a:rPr lang="ko-KR" altLang="en-US" sz="1000" b="1" u="none" strike="noStrike" dirty="0">
                <a:solidFill>
                  <a:srgbClr val="0E1D35"/>
                </a:solidFill>
                <a:effectLst/>
                <a:uFillTx/>
                <a:latin typeface="맑은 고딕" panose="020B0503020000020004" pitchFamily="50" charset="-127"/>
                <a:ea typeface="맑은 고딕" panose="020B0503020000020004" pitchFamily="50" charset="-127"/>
              </a:rPr>
              <a:t>삭제 및 </a:t>
            </a:r>
            <a:r>
              <a:rPr lang="en-US" altLang="ko-KR" sz="1000" b="1" u="none" strike="noStrike" dirty="0">
                <a:solidFill>
                  <a:srgbClr val="0E1D35"/>
                </a:solidFill>
                <a:effectLst/>
                <a:uFillTx/>
                <a:latin typeface="맑은 고딕" panose="020B0503020000020004" pitchFamily="50" charset="-127"/>
                <a:ea typeface="맑은 고딕" panose="020B0503020000020004" pitchFamily="50" charset="-127"/>
              </a:rPr>
              <a:t>type </a:t>
            </a:r>
            <a:r>
              <a:rPr lang="ko-KR" altLang="en-US" sz="1000" b="1" u="none" strike="noStrike" dirty="0">
                <a:solidFill>
                  <a:srgbClr val="0E1D35"/>
                </a:solidFill>
                <a:effectLst/>
                <a:uFillTx/>
                <a:latin typeface="맑은 고딕" panose="020B0503020000020004" pitchFamily="50" charset="-127"/>
                <a:ea typeface="맑은 고딕" panose="020B0503020000020004" pitchFamily="50" charset="-127"/>
              </a:rPr>
              <a:t>변경</a:t>
            </a:r>
          </a:p>
          <a:p>
            <a:pPr defTabSz="914400">
              <a:lnSpc>
                <a:spcPct val="150000"/>
              </a:lnSpc>
              <a:tabLst>
                <a:tab pos="0" algn="l"/>
              </a:tabLst>
            </a:pPr>
            <a:r>
              <a:rPr lang="en-US" altLang="ko-KR" sz="1000" b="1" u="none" strike="noStrike" dirty="0">
                <a:solidFill>
                  <a:srgbClr val="0E1D35"/>
                </a:solidFill>
                <a:effectLst/>
                <a:uFillTx/>
                <a:latin typeface="맑은 고딕" panose="020B0503020000020004" pitchFamily="50" charset="-127"/>
                <a:ea typeface="맑은 고딕" panose="020B0503020000020004" pitchFamily="50" charset="-127"/>
              </a:rPr>
              <a:t>| </a:t>
            </a:r>
            <a:r>
              <a:rPr lang="ko-KR" altLang="en-US" sz="1000" b="1" u="none" strike="noStrike" dirty="0">
                <a:solidFill>
                  <a:srgbClr val="0E1D35"/>
                </a:solidFill>
                <a:effectLst/>
                <a:uFillTx/>
                <a:latin typeface="맑은 고딕" panose="020B0503020000020004" pitchFamily="50" charset="-127"/>
                <a:ea typeface="맑은 고딕" panose="020B0503020000020004" pitchFamily="50" charset="-127"/>
              </a:rPr>
              <a:t>이슈 </a:t>
            </a:r>
            <a:r>
              <a:rPr lang="en-US" altLang="ko-KR" sz="1000" b="1" u="none" strike="noStrike" dirty="0">
                <a:solidFill>
                  <a:srgbClr val="0E1D35"/>
                </a:solidFill>
                <a:effectLst/>
                <a:uFillTx/>
                <a:latin typeface="맑은 고딕" panose="020B0503020000020004" pitchFamily="50" charset="-127"/>
                <a:ea typeface="맑은 고딕" panose="020B0503020000020004" pitchFamily="50" charset="-127"/>
              </a:rPr>
              <a:t>: </a:t>
            </a:r>
            <a:r>
              <a:rPr lang="en-US" altLang="ko-KR" sz="1000" b="1" u="none" strike="noStrike" dirty="0" err="1">
                <a:solidFill>
                  <a:srgbClr val="0E1D35"/>
                </a:solidFill>
                <a:effectLst/>
                <a:uFillTx/>
                <a:latin typeface="맑은 고딕" panose="020B0503020000020004" pitchFamily="50" charset="-127"/>
                <a:ea typeface="맑은 고딕" panose="020B0503020000020004" pitchFamily="50" charset="-127"/>
              </a:rPr>
              <a:t>discounted_price</a:t>
            </a:r>
            <a:r>
              <a:rPr lang="en-US" altLang="ko-KR" sz="1000" b="1" u="none" strike="noStrike" dirty="0">
                <a:solidFill>
                  <a:srgbClr val="0E1D35"/>
                </a:solidFill>
                <a:effectLst/>
                <a:uFillTx/>
                <a:latin typeface="맑은 고딕" panose="020B0503020000020004" pitchFamily="50" charset="-127"/>
                <a:ea typeface="맑은 고딕" panose="020B0503020000020004" pitchFamily="50" charset="-127"/>
              </a:rPr>
              <a:t>, </a:t>
            </a:r>
            <a:r>
              <a:rPr lang="en-US" altLang="ko-KR" sz="1000" b="1" u="none" strike="noStrike" dirty="0" err="1">
                <a:solidFill>
                  <a:srgbClr val="0E1D35"/>
                </a:solidFill>
                <a:effectLst/>
                <a:uFillTx/>
                <a:latin typeface="맑은 고딕" panose="020B0503020000020004" pitchFamily="50" charset="-127"/>
                <a:ea typeface="맑은 고딕" panose="020B0503020000020004" pitchFamily="50" charset="-127"/>
              </a:rPr>
              <a:t>actual_price</a:t>
            </a:r>
            <a:r>
              <a:rPr lang="ko-KR" altLang="en-US" sz="1000" b="1" u="none" strike="noStrike" dirty="0">
                <a:solidFill>
                  <a:srgbClr val="0E1D35"/>
                </a:solidFill>
                <a:effectLst/>
                <a:uFillTx/>
                <a:latin typeface="맑은 고딕" panose="020B0503020000020004" pitchFamily="50" charset="-127"/>
                <a:ea typeface="맑은 고딕" panose="020B0503020000020004" pitchFamily="50" charset="-127"/>
              </a:rPr>
              <a:t>에 루피 기호</a:t>
            </a:r>
            <a:r>
              <a:rPr lang="en-US" altLang="ko-KR" sz="1000" b="1" u="none" strike="noStrike" dirty="0">
                <a:solidFill>
                  <a:srgbClr val="0E1D35"/>
                </a:solidFill>
                <a:effectLst/>
                <a:uFillTx/>
                <a:latin typeface="맑은 고딕" panose="020B0503020000020004" pitchFamily="50" charset="-127"/>
                <a:ea typeface="맑은 고딕" panose="020B0503020000020004" pitchFamily="50" charset="-127"/>
              </a:rPr>
              <a:t>(₹)</a:t>
            </a:r>
            <a:r>
              <a:rPr lang="ko-KR" altLang="en-US" sz="1000" b="1" u="none" strike="noStrike" dirty="0">
                <a:solidFill>
                  <a:srgbClr val="0E1D35"/>
                </a:solidFill>
                <a:effectLst/>
                <a:uFillTx/>
                <a:latin typeface="맑은 고딕" panose="020B0503020000020004" pitchFamily="50" charset="-127"/>
                <a:ea typeface="맑은 고딕" panose="020B0503020000020004" pitchFamily="50" charset="-127"/>
              </a:rPr>
              <a:t>로 인하여 계산식 설정이 불가함</a:t>
            </a:r>
            <a:r>
              <a:rPr lang="en-US" altLang="ko-KR" sz="1000" b="1" u="none" strike="noStrike" dirty="0">
                <a:solidFill>
                  <a:srgbClr val="0E1D35"/>
                </a:solidFill>
                <a:effectLst/>
                <a:uFillTx/>
                <a:latin typeface="맑은 고딕" panose="020B0503020000020004" pitchFamily="50" charset="-127"/>
                <a:ea typeface="맑은 고딕" panose="020B0503020000020004" pitchFamily="50" charset="-127"/>
              </a:rPr>
              <a:t>.</a:t>
            </a:r>
          </a:p>
          <a:p>
            <a:pPr defTabSz="914400">
              <a:lnSpc>
                <a:spcPct val="150000"/>
              </a:lnSpc>
              <a:tabLst>
                <a:tab pos="0" algn="l"/>
              </a:tabLst>
            </a:pPr>
            <a:r>
              <a:rPr lang="en-US" altLang="ko-KR" sz="1000" b="1" u="none" strike="noStrike" dirty="0">
                <a:solidFill>
                  <a:srgbClr val="0E1D35"/>
                </a:solidFill>
                <a:effectLst/>
                <a:uFillTx/>
                <a:latin typeface="맑은 고딕" panose="020B0503020000020004" pitchFamily="50" charset="-127"/>
                <a:ea typeface="맑은 고딕" panose="020B0503020000020004" pitchFamily="50" charset="-127"/>
              </a:rPr>
              <a:t>| </a:t>
            </a:r>
            <a:r>
              <a:rPr lang="ko-KR" altLang="en-US" sz="1000" b="1" u="none" strike="noStrike" dirty="0">
                <a:solidFill>
                  <a:srgbClr val="0E1D35"/>
                </a:solidFill>
                <a:effectLst/>
                <a:uFillTx/>
                <a:latin typeface="맑은 고딕" panose="020B0503020000020004" pitchFamily="50" charset="-127"/>
                <a:ea typeface="맑은 고딕" panose="020B0503020000020004" pitchFamily="50" charset="-127"/>
              </a:rPr>
              <a:t>결정 </a:t>
            </a:r>
            <a:r>
              <a:rPr lang="en-US" altLang="ko-KR" sz="1000" b="1" u="none" strike="noStrike" dirty="0">
                <a:solidFill>
                  <a:srgbClr val="0E1D35"/>
                </a:solidFill>
                <a:effectLst/>
                <a:uFillTx/>
                <a:latin typeface="맑은 고딕" panose="020B0503020000020004" pitchFamily="50" charset="-127"/>
                <a:ea typeface="맑은 고딕" panose="020B0503020000020004" pitchFamily="50" charset="-127"/>
              </a:rPr>
              <a:t>: </a:t>
            </a:r>
            <a:r>
              <a:rPr lang="ko-KR" altLang="en-US" sz="1000" b="1" u="none" strike="noStrike" dirty="0">
                <a:solidFill>
                  <a:srgbClr val="0E1D35"/>
                </a:solidFill>
                <a:effectLst/>
                <a:uFillTx/>
                <a:latin typeface="맑은 고딕" panose="020B0503020000020004" pitchFamily="50" charset="-127"/>
                <a:ea typeface="맑은 고딕" panose="020B0503020000020004" pitchFamily="50" charset="-127"/>
              </a:rPr>
              <a:t>루피 기호</a:t>
            </a:r>
            <a:r>
              <a:rPr lang="en-US" altLang="ko-KR" sz="1000" b="1" u="none" strike="noStrike" dirty="0">
                <a:solidFill>
                  <a:srgbClr val="0E1D35"/>
                </a:solidFill>
                <a:effectLst/>
                <a:uFillTx/>
                <a:latin typeface="맑은 고딕" panose="020B0503020000020004" pitchFamily="50" charset="-127"/>
                <a:ea typeface="맑은 고딕" panose="020B0503020000020004" pitchFamily="50" charset="-127"/>
              </a:rPr>
              <a:t>(₹) </a:t>
            </a:r>
            <a:r>
              <a:rPr lang="ko-KR" altLang="en-US" sz="1000" b="1" u="none" strike="noStrike" dirty="0">
                <a:solidFill>
                  <a:srgbClr val="0E1D35"/>
                </a:solidFill>
                <a:effectLst/>
                <a:uFillTx/>
                <a:latin typeface="맑은 고딕" panose="020B0503020000020004" pitchFamily="50" charset="-127"/>
                <a:ea typeface="맑은 고딕" panose="020B0503020000020004" pitchFamily="50" charset="-127"/>
              </a:rPr>
              <a:t>삭제 및 </a:t>
            </a:r>
            <a:r>
              <a:rPr lang="en-US" altLang="ko-KR" sz="1000" b="1" u="none" strike="noStrike" dirty="0">
                <a:solidFill>
                  <a:srgbClr val="0E1D35"/>
                </a:solidFill>
                <a:effectLst/>
                <a:uFillTx/>
                <a:latin typeface="맑은 고딕" panose="020B0503020000020004" pitchFamily="50" charset="-127"/>
                <a:ea typeface="맑은 고딕" panose="020B0503020000020004" pitchFamily="50" charset="-127"/>
              </a:rPr>
              <a:t>TEXT Type</a:t>
            </a:r>
            <a:r>
              <a:rPr lang="ko-KR" altLang="en-US" sz="1000" b="1" u="none" strike="noStrike" dirty="0">
                <a:solidFill>
                  <a:srgbClr val="0E1D35"/>
                </a:solidFill>
                <a:effectLst/>
                <a:uFillTx/>
                <a:latin typeface="맑은 고딕" panose="020B0503020000020004" pitchFamily="50" charset="-127"/>
                <a:ea typeface="맑은 고딕" panose="020B0503020000020004" pitchFamily="50" charset="-127"/>
              </a:rPr>
              <a:t>을 </a:t>
            </a:r>
            <a:r>
              <a:rPr lang="en-US" altLang="ko-KR" sz="1000" b="1" u="none" strike="noStrike" dirty="0">
                <a:solidFill>
                  <a:srgbClr val="0E1D35"/>
                </a:solidFill>
                <a:effectLst/>
                <a:uFillTx/>
                <a:latin typeface="맑은 고딕" panose="020B0503020000020004" pitchFamily="50" charset="-127"/>
                <a:ea typeface="맑은 고딕" panose="020B0503020000020004" pitchFamily="50" charset="-127"/>
              </a:rPr>
              <a:t>DECIMAL(10,2)</a:t>
            </a:r>
            <a:r>
              <a:rPr lang="ko-KR" altLang="en-US" sz="1000" b="1" u="none" strike="noStrike" dirty="0">
                <a:solidFill>
                  <a:srgbClr val="0E1D35"/>
                </a:solidFill>
                <a:effectLst/>
                <a:uFillTx/>
                <a:latin typeface="맑은 고딕" panose="020B0503020000020004" pitchFamily="50" charset="-127"/>
                <a:ea typeface="맑은 고딕" panose="020B0503020000020004" pitchFamily="50" charset="-127"/>
              </a:rPr>
              <a:t>로 변경함</a:t>
            </a:r>
            <a:r>
              <a:rPr lang="en-US" altLang="ko-KR" sz="1000" b="1" u="none" strike="noStrike" dirty="0">
                <a:solidFill>
                  <a:srgbClr val="0E1D35"/>
                </a:solidFill>
                <a:effectLst/>
                <a:uFillTx/>
                <a:latin typeface="맑은 고딕" panose="020B0503020000020004" pitchFamily="50" charset="-127"/>
                <a:ea typeface="맑은 고딕" panose="020B0503020000020004" pitchFamily="50" charset="-127"/>
              </a:rPr>
              <a:t>.</a:t>
            </a:r>
          </a:p>
          <a:p>
            <a:pPr defTabSz="914400">
              <a:lnSpc>
                <a:spcPct val="150000"/>
              </a:lnSpc>
              <a:tabLst>
                <a:tab pos="0" algn="l"/>
              </a:tabLst>
            </a:pPr>
            <a:r>
              <a:rPr lang="en-US" altLang="ko-KR" sz="1000" b="1" u="none" strike="noStrike" dirty="0">
                <a:solidFill>
                  <a:srgbClr val="0E1D35"/>
                </a:solidFill>
                <a:effectLst/>
                <a:uFillTx/>
                <a:latin typeface="맑은 고딕" panose="020B0503020000020004" pitchFamily="50" charset="-127"/>
                <a:ea typeface="맑은 고딕" panose="020B0503020000020004" pitchFamily="50" charset="-127"/>
              </a:rPr>
              <a:t>| </a:t>
            </a:r>
            <a:r>
              <a:rPr lang="ko-KR" altLang="en-US" sz="1000" b="1" u="none" strike="noStrike" dirty="0">
                <a:solidFill>
                  <a:srgbClr val="0E1D35"/>
                </a:solidFill>
                <a:effectLst/>
                <a:uFillTx/>
                <a:latin typeface="맑은 고딕" panose="020B0503020000020004" pitchFamily="50" charset="-127"/>
                <a:ea typeface="맑은 고딕" panose="020B0503020000020004" pitchFamily="50" charset="-127"/>
              </a:rPr>
              <a:t>근거 </a:t>
            </a:r>
            <a:r>
              <a:rPr lang="en-US" altLang="ko-KR" sz="1000" b="1" u="none" strike="noStrike" dirty="0">
                <a:solidFill>
                  <a:srgbClr val="0E1D35"/>
                </a:solidFill>
                <a:effectLst/>
                <a:uFillTx/>
                <a:latin typeface="맑은 고딕" panose="020B0503020000020004" pitchFamily="50" charset="-127"/>
                <a:ea typeface="맑은 고딕" panose="020B0503020000020004" pitchFamily="50" charset="-127"/>
              </a:rPr>
              <a:t>: </a:t>
            </a:r>
            <a:r>
              <a:rPr lang="ko-KR" altLang="en-US" sz="1000" b="1" u="none" strike="noStrike" dirty="0">
                <a:solidFill>
                  <a:srgbClr val="0E1D35"/>
                </a:solidFill>
                <a:effectLst/>
                <a:uFillTx/>
                <a:latin typeface="맑은 고딕" panose="020B0503020000020004" pitchFamily="50" charset="-127"/>
                <a:ea typeface="맑은 고딕" panose="020B0503020000020004" pitchFamily="50" charset="-127"/>
              </a:rPr>
              <a:t>해당 데이터 기준 지표 및 분석을 위하여 변경함</a:t>
            </a:r>
            <a:r>
              <a:rPr lang="en-US" altLang="ko-KR" sz="1000" b="1" u="none" strike="noStrike" dirty="0">
                <a:solidFill>
                  <a:srgbClr val="0E1D35"/>
                </a:solidFill>
                <a:effectLst/>
                <a:uFillTx/>
                <a:latin typeface="맑은 고딕" panose="020B0503020000020004" pitchFamily="50" charset="-127"/>
                <a:ea typeface="맑은 고딕" panose="020B0503020000020004" pitchFamily="50" charset="-127"/>
              </a:rPr>
              <a:t>.</a:t>
            </a:r>
          </a:p>
          <a:p>
            <a:pPr defTabSz="914400">
              <a:lnSpc>
                <a:spcPct val="150000"/>
              </a:lnSpc>
              <a:tabLst>
                <a:tab pos="0" algn="l"/>
              </a:tabLst>
            </a:pPr>
            <a:r>
              <a:rPr lang="en-US" altLang="ko-KR" sz="1000" b="1" u="none" strike="noStrike" dirty="0">
                <a:solidFill>
                  <a:srgbClr val="0E1D35"/>
                </a:solidFill>
                <a:effectLst/>
                <a:uFillTx/>
                <a:latin typeface="맑은 고딕" panose="020B0503020000020004" pitchFamily="50" charset="-127"/>
                <a:ea typeface="맑은 고딕" panose="020B0503020000020004" pitchFamily="50" charset="-127"/>
              </a:rPr>
              <a:t>| </a:t>
            </a:r>
            <a:r>
              <a:rPr lang="ko-KR" altLang="en-US" sz="1000" b="1" u="none" strike="noStrike" dirty="0">
                <a:solidFill>
                  <a:srgbClr val="0E1D35"/>
                </a:solidFill>
                <a:effectLst/>
                <a:uFillTx/>
                <a:latin typeface="맑은 고딕" panose="020B0503020000020004" pitchFamily="50" charset="-127"/>
                <a:ea typeface="맑은 고딕" panose="020B0503020000020004" pitchFamily="50" charset="-127"/>
              </a:rPr>
              <a:t>한계 </a:t>
            </a:r>
            <a:r>
              <a:rPr lang="en-US" altLang="ko-KR" sz="1000" b="1" u="none" strike="noStrike" dirty="0">
                <a:solidFill>
                  <a:srgbClr val="0E1D35"/>
                </a:solidFill>
                <a:effectLst/>
                <a:uFillTx/>
                <a:latin typeface="맑은 고딕" panose="020B0503020000020004" pitchFamily="50" charset="-127"/>
                <a:ea typeface="맑은 고딕" panose="020B0503020000020004" pitchFamily="50" charset="-127"/>
              </a:rPr>
              <a:t>: </a:t>
            </a:r>
            <a:r>
              <a:rPr lang="ko-KR" altLang="en-US" sz="1000" b="1" u="none" strike="noStrike" dirty="0">
                <a:solidFill>
                  <a:srgbClr val="0E1D35"/>
                </a:solidFill>
                <a:effectLst/>
                <a:uFillTx/>
                <a:latin typeface="맑은 고딕" panose="020B0503020000020004" pitchFamily="50" charset="-127"/>
                <a:ea typeface="맑은 고딕" panose="020B0503020000020004" pitchFamily="50" charset="-127"/>
              </a:rPr>
              <a:t>루피 기호</a:t>
            </a:r>
            <a:r>
              <a:rPr lang="en-US" altLang="ko-KR" sz="1000" b="1" u="none" strike="noStrike" dirty="0">
                <a:solidFill>
                  <a:srgbClr val="0E1D35"/>
                </a:solidFill>
                <a:effectLst/>
                <a:uFillTx/>
                <a:latin typeface="맑은 고딕" panose="020B0503020000020004" pitchFamily="50" charset="-127"/>
                <a:ea typeface="맑은 고딕" panose="020B0503020000020004" pitchFamily="50" charset="-127"/>
              </a:rPr>
              <a:t>(₹)</a:t>
            </a:r>
            <a:r>
              <a:rPr lang="ko-KR" altLang="en-US" sz="1000" b="1" u="none" strike="noStrike" dirty="0">
                <a:solidFill>
                  <a:srgbClr val="0E1D35"/>
                </a:solidFill>
                <a:effectLst/>
                <a:uFillTx/>
                <a:latin typeface="맑은 고딕" panose="020B0503020000020004" pitchFamily="50" charset="-127"/>
                <a:ea typeface="맑은 고딕" panose="020B0503020000020004" pitchFamily="50" charset="-127"/>
              </a:rPr>
              <a:t>의 경우 데이터에 직접 수집하지 않고 컬럼명에 명시하는 방법으로 추후 수정하여 분석 및 리뷰에 용이하도록 조치가 필요함</a:t>
            </a:r>
            <a:r>
              <a:rPr lang="en-US" altLang="ko-KR" sz="1000" b="1" u="none" strike="noStrike" dirty="0">
                <a:solidFill>
                  <a:srgbClr val="0E1D35"/>
                </a:solidFill>
                <a:effectLst/>
                <a:uFillTx/>
                <a:latin typeface="맑은 고딕" panose="020B0503020000020004" pitchFamily="50" charset="-127"/>
                <a:ea typeface="맑은 고딕" panose="020B0503020000020004" pitchFamily="50" charset="-127"/>
              </a:rPr>
              <a:t>.</a:t>
            </a:r>
          </a:p>
          <a:p>
            <a:pPr defTabSz="914400">
              <a:lnSpc>
                <a:spcPct val="150000"/>
              </a:lnSpc>
              <a:tabLst>
                <a:tab pos="0" algn="l"/>
              </a:tabLst>
            </a:pPr>
            <a:endParaRPr lang="en-US" altLang="ko-KR" sz="1000" b="1" u="none" strike="noStrike" dirty="0">
              <a:solidFill>
                <a:srgbClr val="0E1D35"/>
              </a:solidFill>
              <a:effectLst/>
              <a:uFillTx/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defTabSz="914400">
              <a:lnSpc>
                <a:spcPct val="150000"/>
              </a:lnSpc>
              <a:tabLst>
                <a:tab pos="0" algn="l"/>
              </a:tabLst>
            </a:pPr>
            <a:r>
              <a:rPr lang="en-US" altLang="ko-KR" sz="1000" b="1" u="none" strike="noStrike" dirty="0">
                <a:solidFill>
                  <a:srgbClr val="0E1D35"/>
                </a:solidFill>
                <a:effectLst/>
                <a:uFillTx/>
                <a:latin typeface="맑은 고딕" panose="020B0503020000020004" pitchFamily="50" charset="-127"/>
                <a:ea typeface="맑은 고딕" panose="020B0503020000020004" pitchFamily="50" charset="-127"/>
              </a:rPr>
              <a:t>(2)</a:t>
            </a:r>
            <a:r>
              <a:rPr lang="en-US" altLang="ko-KR" sz="1000" b="1" u="none" strike="noStrike" dirty="0" err="1">
                <a:solidFill>
                  <a:srgbClr val="0E1D35"/>
                </a:solidFill>
                <a:effectLst/>
                <a:uFillTx/>
                <a:latin typeface="맑은 고딕" panose="020B0503020000020004" pitchFamily="50" charset="-127"/>
                <a:ea typeface="맑은 고딕" panose="020B0503020000020004" pitchFamily="50" charset="-127"/>
              </a:rPr>
              <a:t>discount_percentage</a:t>
            </a:r>
            <a:r>
              <a:rPr lang="en-US" altLang="ko-KR" sz="1000" b="1" u="none" strike="noStrike" dirty="0">
                <a:solidFill>
                  <a:srgbClr val="0E1D35"/>
                </a:solidFill>
                <a:effectLst/>
                <a:uFillTx/>
                <a:latin typeface="맑은 고딕" panose="020B0503020000020004" pitchFamily="50" charset="-127"/>
                <a:ea typeface="맑은 고딕" panose="020B0503020000020004" pitchFamily="50" charset="-127"/>
              </a:rPr>
              <a:t> % </a:t>
            </a:r>
            <a:r>
              <a:rPr lang="ko-KR" altLang="en-US" sz="1000" b="1" u="none" strike="noStrike" dirty="0">
                <a:solidFill>
                  <a:srgbClr val="0E1D35"/>
                </a:solidFill>
                <a:effectLst/>
                <a:uFillTx/>
                <a:latin typeface="맑은 고딕" panose="020B0503020000020004" pitchFamily="50" charset="-127"/>
                <a:ea typeface="맑은 고딕" panose="020B0503020000020004" pitchFamily="50" charset="-127"/>
              </a:rPr>
              <a:t>기호 삭제 및 </a:t>
            </a:r>
            <a:r>
              <a:rPr lang="en-US" altLang="ko-KR" sz="1000" b="1" u="none" strike="noStrike" dirty="0">
                <a:solidFill>
                  <a:srgbClr val="0E1D35"/>
                </a:solidFill>
                <a:effectLst/>
                <a:uFillTx/>
                <a:latin typeface="맑은 고딕" panose="020B0503020000020004" pitchFamily="50" charset="-127"/>
                <a:ea typeface="맑은 고딕" panose="020B0503020000020004" pitchFamily="50" charset="-127"/>
              </a:rPr>
              <a:t>type </a:t>
            </a:r>
            <a:r>
              <a:rPr lang="ko-KR" altLang="en-US" sz="1000" b="1" u="none" strike="noStrike" dirty="0">
                <a:solidFill>
                  <a:srgbClr val="0E1D35"/>
                </a:solidFill>
                <a:effectLst/>
                <a:uFillTx/>
                <a:latin typeface="맑은 고딕" panose="020B0503020000020004" pitchFamily="50" charset="-127"/>
                <a:ea typeface="맑은 고딕" panose="020B0503020000020004" pitchFamily="50" charset="-127"/>
              </a:rPr>
              <a:t>변경</a:t>
            </a:r>
          </a:p>
          <a:p>
            <a:pPr defTabSz="914400">
              <a:lnSpc>
                <a:spcPct val="150000"/>
              </a:lnSpc>
              <a:tabLst>
                <a:tab pos="0" algn="l"/>
              </a:tabLst>
            </a:pPr>
            <a:r>
              <a:rPr lang="en-US" altLang="ko-KR" sz="1000" b="1" u="none" strike="noStrike" dirty="0">
                <a:solidFill>
                  <a:srgbClr val="0E1D35"/>
                </a:solidFill>
                <a:effectLst/>
                <a:uFillTx/>
                <a:latin typeface="맑은 고딕" panose="020B0503020000020004" pitchFamily="50" charset="-127"/>
                <a:ea typeface="맑은 고딕" panose="020B0503020000020004" pitchFamily="50" charset="-127"/>
              </a:rPr>
              <a:t>| </a:t>
            </a:r>
            <a:r>
              <a:rPr lang="ko-KR" altLang="en-US" sz="1000" b="1" u="none" strike="noStrike" dirty="0">
                <a:solidFill>
                  <a:srgbClr val="0E1D35"/>
                </a:solidFill>
                <a:effectLst/>
                <a:uFillTx/>
                <a:latin typeface="맑은 고딕" panose="020B0503020000020004" pitchFamily="50" charset="-127"/>
                <a:ea typeface="맑은 고딕" panose="020B0503020000020004" pitchFamily="50" charset="-127"/>
              </a:rPr>
              <a:t>이슈</a:t>
            </a:r>
            <a:r>
              <a:rPr lang="en-US" altLang="ko-KR" sz="1000" b="1" u="none" strike="noStrike" dirty="0">
                <a:solidFill>
                  <a:srgbClr val="0E1D35"/>
                </a:solidFill>
                <a:effectLst/>
                <a:uFillTx/>
                <a:latin typeface="맑은 고딕" panose="020B0503020000020004" pitchFamily="50" charset="-127"/>
                <a:ea typeface="맑은 고딕" panose="020B0503020000020004" pitchFamily="50" charset="-127"/>
              </a:rPr>
              <a:t>: % </a:t>
            </a:r>
            <a:r>
              <a:rPr lang="ko-KR" altLang="en-US" sz="1000" b="1" u="none" strike="noStrike" dirty="0">
                <a:solidFill>
                  <a:srgbClr val="0E1D35"/>
                </a:solidFill>
                <a:effectLst/>
                <a:uFillTx/>
                <a:latin typeface="맑은 고딕" panose="020B0503020000020004" pitchFamily="50" charset="-127"/>
                <a:ea typeface="맑은 고딕" panose="020B0503020000020004" pitchFamily="50" charset="-127"/>
              </a:rPr>
              <a:t>기호로 인하여 계산식 설정이 불가함</a:t>
            </a:r>
            <a:r>
              <a:rPr lang="en-US" altLang="ko-KR" sz="1000" b="1" u="none" strike="noStrike" dirty="0">
                <a:solidFill>
                  <a:srgbClr val="0E1D35"/>
                </a:solidFill>
                <a:effectLst/>
                <a:uFillTx/>
                <a:latin typeface="맑은 고딕" panose="020B0503020000020004" pitchFamily="50" charset="-127"/>
                <a:ea typeface="맑은 고딕" panose="020B0503020000020004" pitchFamily="50" charset="-127"/>
              </a:rPr>
              <a:t>.</a:t>
            </a:r>
          </a:p>
          <a:p>
            <a:pPr defTabSz="914400">
              <a:lnSpc>
                <a:spcPct val="150000"/>
              </a:lnSpc>
              <a:tabLst>
                <a:tab pos="0" algn="l"/>
              </a:tabLst>
            </a:pPr>
            <a:r>
              <a:rPr lang="en-US" altLang="ko-KR" sz="1000" b="1" u="none" strike="noStrike" dirty="0">
                <a:solidFill>
                  <a:srgbClr val="0E1D35"/>
                </a:solidFill>
                <a:effectLst/>
                <a:uFillTx/>
                <a:latin typeface="맑은 고딕" panose="020B0503020000020004" pitchFamily="50" charset="-127"/>
                <a:ea typeface="맑은 고딕" panose="020B0503020000020004" pitchFamily="50" charset="-127"/>
              </a:rPr>
              <a:t>| </a:t>
            </a:r>
            <a:r>
              <a:rPr lang="ko-KR" altLang="en-US" sz="1000" b="1" u="none" strike="noStrike" dirty="0">
                <a:solidFill>
                  <a:srgbClr val="0E1D35"/>
                </a:solidFill>
                <a:effectLst/>
                <a:uFillTx/>
                <a:latin typeface="맑은 고딕" panose="020B0503020000020004" pitchFamily="50" charset="-127"/>
                <a:ea typeface="맑은 고딕" panose="020B0503020000020004" pitchFamily="50" charset="-127"/>
              </a:rPr>
              <a:t>결정 </a:t>
            </a:r>
            <a:r>
              <a:rPr lang="en-US" altLang="ko-KR" sz="1000" b="1" u="none" strike="noStrike" dirty="0">
                <a:solidFill>
                  <a:srgbClr val="0E1D35"/>
                </a:solidFill>
                <a:effectLst/>
                <a:uFillTx/>
                <a:latin typeface="맑은 고딕" panose="020B0503020000020004" pitchFamily="50" charset="-127"/>
                <a:ea typeface="맑은 고딕" panose="020B0503020000020004" pitchFamily="50" charset="-127"/>
              </a:rPr>
              <a:t>: % </a:t>
            </a:r>
            <a:r>
              <a:rPr lang="ko-KR" altLang="en-US" sz="1000" b="1" u="none" strike="noStrike" dirty="0">
                <a:solidFill>
                  <a:srgbClr val="0E1D35"/>
                </a:solidFill>
                <a:effectLst/>
                <a:uFillTx/>
                <a:latin typeface="맑은 고딕" panose="020B0503020000020004" pitchFamily="50" charset="-127"/>
                <a:ea typeface="맑은 고딕" panose="020B0503020000020004" pitchFamily="50" charset="-127"/>
              </a:rPr>
              <a:t>기호 삭제 및 </a:t>
            </a:r>
            <a:r>
              <a:rPr lang="en-US" altLang="ko-KR" sz="1000" b="1" u="none" strike="noStrike" dirty="0">
                <a:solidFill>
                  <a:srgbClr val="0E1D35"/>
                </a:solidFill>
                <a:effectLst/>
                <a:uFillTx/>
                <a:latin typeface="맑은 고딕" panose="020B0503020000020004" pitchFamily="50" charset="-127"/>
                <a:ea typeface="맑은 고딕" panose="020B0503020000020004" pitchFamily="50" charset="-127"/>
              </a:rPr>
              <a:t>TEXT Type</a:t>
            </a:r>
            <a:r>
              <a:rPr lang="ko-KR" altLang="en-US" sz="1000" b="1" u="none" strike="noStrike" dirty="0">
                <a:solidFill>
                  <a:srgbClr val="0E1D35"/>
                </a:solidFill>
                <a:effectLst/>
                <a:uFillTx/>
                <a:latin typeface="맑은 고딕" panose="020B0503020000020004" pitchFamily="50" charset="-127"/>
                <a:ea typeface="맑은 고딕" panose="020B0503020000020004" pitchFamily="50" charset="-127"/>
              </a:rPr>
              <a:t>을 </a:t>
            </a:r>
            <a:r>
              <a:rPr lang="en-US" altLang="ko-KR" sz="1000" b="1" u="none" strike="noStrike" dirty="0">
                <a:solidFill>
                  <a:srgbClr val="0E1D35"/>
                </a:solidFill>
                <a:effectLst/>
                <a:uFillTx/>
                <a:latin typeface="맑은 고딕" panose="020B0503020000020004" pitchFamily="50" charset="-127"/>
                <a:ea typeface="맑은 고딕" panose="020B0503020000020004" pitchFamily="50" charset="-127"/>
              </a:rPr>
              <a:t>Int</a:t>
            </a:r>
            <a:r>
              <a:rPr lang="ko-KR" altLang="en-US" sz="1000" b="1" u="none" strike="noStrike" dirty="0">
                <a:solidFill>
                  <a:srgbClr val="0E1D35"/>
                </a:solidFill>
                <a:effectLst/>
                <a:uFillTx/>
                <a:latin typeface="맑은 고딕" panose="020B0503020000020004" pitchFamily="50" charset="-127"/>
                <a:ea typeface="맑은 고딕" panose="020B0503020000020004" pitchFamily="50" charset="-127"/>
              </a:rPr>
              <a:t>로 변경함</a:t>
            </a:r>
            <a:r>
              <a:rPr lang="en-US" altLang="ko-KR" sz="1000" b="1" u="none" strike="noStrike" dirty="0">
                <a:solidFill>
                  <a:srgbClr val="0E1D35"/>
                </a:solidFill>
                <a:effectLst/>
                <a:uFillTx/>
                <a:latin typeface="맑은 고딕" panose="020B0503020000020004" pitchFamily="50" charset="-127"/>
                <a:ea typeface="맑은 고딕" panose="020B0503020000020004" pitchFamily="50" charset="-127"/>
              </a:rPr>
              <a:t>.</a:t>
            </a:r>
          </a:p>
          <a:p>
            <a:pPr defTabSz="914400">
              <a:lnSpc>
                <a:spcPct val="150000"/>
              </a:lnSpc>
              <a:tabLst>
                <a:tab pos="0" algn="l"/>
              </a:tabLst>
            </a:pPr>
            <a:r>
              <a:rPr lang="en-US" altLang="ko-KR" sz="1000" b="1" u="none" strike="noStrike" dirty="0">
                <a:solidFill>
                  <a:srgbClr val="0E1D35"/>
                </a:solidFill>
                <a:effectLst/>
                <a:uFillTx/>
                <a:latin typeface="맑은 고딕" panose="020B0503020000020004" pitchFamily="50" charset="-127"/>
                <a:ea typeface="맑은 고딕" panose="020B0503020000020004" pitchFamily="50" charset="-127"/>
              </a:rPr>
              <a:t>| </a:t>
            </a:r>
            <a:r>
              <a:rPr lang="ko-KR" altLang="en-US" sz="1000" b="1" u="none" strike="noStrike" dirty="0">
                <a:solidFill>
                  <a:srgbClr val="0E1D35"/>
                </a:solidFill>
                <a:effectLst/>
                <a:uFillTx/>
                <a:latin typeface="맑은 고딕" panose="020B0503020000020004" pitchFamily="50" charset="-127"/>
                <a:ea typeface="맑은 고딕" panose="020B0503020000020004" pitchFamily="50" charset="-127"/>
              </a:rPr>
              <a:t>근거 </a:t>
            </a:r>
            <a:r>
              <a:rPr lang="en-US" altLang="ko-KR" sz="1000" b="1" u="none" strike="noStrike" dirty="0">
                <a:solidFill>
                  <a:srgbClr val="0E1D35"/>
                </a:solidFill>
                <a:effectLst/>
                <a:uFillTx/>
                <a:latin typeface="맑은 고딕" panose="020B0503020000020004" pitchFamily="50" charset="-127"/>
                <a:ea typeface="맑은 고딕" panose="020B0503020000020004" pitchFamily="50" charset="-127"/>
              </a:rPr>
              <a:t>: </a:t>
            </a:r>
            <a:r>
              <a:rPr lang="ko-KR" altLang="en-US" sz="1000" b="1" u="none" strike="noStrike" dirty="0">
                <a:solidFill>
                  <a:srgbClr val="0E1D35"/>
                </a:solidFill>
                <a:effectLst/>
                <a:uFillTx/>
                <a:latin typeface="맑은 고딕" panose="020B0503020000020004" pitchFamily="50" charset="-127"/>
                <a:ea typeface="맑은 고딕" panose="020B0503020000020004" pitchFamily="50" charset="-127"/>
              </a:rPr>
              <a:t>해당 데이터 기준 지표 및 분석을 위하여 변경함</a:t>
            </a:r>
            <a:r>
              <a:rPr lang="en-US" altLang="ko-KR" sz="1000" b="1" u="none" strike="noStrike" dirty="0">
                <a:solidFill>
                  <a:srgbClr val="0E1D35"/>
                </a:solidFill>
                <a:effectLst/>
                <a:uFillTx/>
                <a:latin typeface="맑은 고딕" panose="020B0503020000020004" pitchFamily="50" charset="-127"/>
                <a:ea typeface="맑은 고딕" panose="020B0503020000020004" pitchFamily="50" charset="-127"/>
              </a:rPr>
              <a:t>.</a:t>
            </a:r>
          </a:p>
          <a:p>
            <a:pPr defTabSz="914400">
              <a:lnSpc>
                <a:spcPct val="150000"/>
              </a:lnSpc>
              <a:tabLst>
                <a:tab pos="0" algn="l"/>
              </a:tabLst>
            </a:pPr>
            <a:r>
              <a:rPr lang="en-US" altLang="ko-KR" sz="1000" b="1" u="none" strike="noStrike" dirty="0">
                <a:solidFill>
                  <a:srgbClr val="0E1D35"/>
                </a:solidFill>
                <a:effectLst/>
                <a:uFillTx/>
                <a:latin typeface="맑은 고딕" panose="020B0503020000020004" pitchFamily="50" charset="-127"/>
                <a:ea typeface="맑은 고딕" panose="020B0503020000020004" pitchFamily="50" charset="-127"/>
              </a:rPr>
              <a:t>| </a:t>
            </a:r>
            <a:r>
              <a:rPr lang="ko-KR" altLang="en-US" sz="1000" b="1" u="none" strike="noStrike" dirty="0">
                <a:solidFill>
                  <a:srgbClr val="0E1D35"/>
                </a:solidFill>
                <a:effectLst/>
                <a:uFillTx/>
                <a:latin typeface="맑은 고딕" panose="020B0503020000020004" pitchFamily="50" charset="-127"/>
                <a:ea typeface="맑은 고딕" panose="020B0503020000020004" pitchFamily="50" charset="-127"/>
              </a:rPr>
              <a:t>한계 </a:t>
            </a:r>
            <a:r>
              <a:rPr lang="en-US" altLang="ko-KR" sz="1000" b="1" u="none" strike="noStrike" dirty="0">
                <a:solidFill>
                  <a:srgbClr val="0E1D35"/>
                </a:solidFill>
                <a:effectLst/>
                <a:uFillTx/>
                <a:latin typeface="맑은 고딕" panose="020B0503020000020004" pitchFamily="50" charset="-127"/>
                <a:ea typeface="맑은 고딕" panose="020B0503020000020004" pitchFamily="50" charset="-127"/>
              </a:rPr>
              <a:t>: % </a:t>
            </a:r>
            <a:r>
              <a:rPr lang="ko-KR" altLang="en-US" sz="1000" b="1" u="none" strike="noStrike" dirty="0">
                <a:solidFill>
                  <a:srgbClr val="0E1D35"/>
                </a:solidFill>
                <a:effectLst/>
                <a:uFillTx/>
                <a:latin typeface="맑은 고딕" panose="020B0503020000020004" pitchFamily="50" charset="-127"/>
                <a:ea typeface="맑은 고딕" panose="020B0503020000020004" pitchFamily="50" charset="-127"/>
              </a:rPr>
              <a:t>기호의 경우 데이터에 직접 수집하지 않고 컬럼명에 명시하는 방법으로 추후 수정하여 분석 및 리뷰에 용이하도록 조치가 필요함</a:t>
            </a:r>
            <a:r>
              <a:rPr lang="en-US" altLang="ko-KR" sz="1000" b="1" u="none" strike="noStrike" dirty="0">
                <a:solidFill>
                  <a:srgbClr val="0E1D35"/>
                </a:solidFill>
                <a:effectLst/>
                <a:uFillTx/>
                <a:latin typeface="맑은 고딕" panose="020B0503020000020004" pitchFamily="50" charset="-127"/>
                <a:ea typeface="맑은 고딕" panose="020B0503020000020004" pitchFamily="50" charset="-127"/>
              </a:rPr>
              <a:t>.</a:t>
            </a:r>
          </a:p>
          <a:p>
            <a:pPr defTabSz="914400">
              <a:lnSpc>
                <a:spcPct val="150000"/>
              </a:lnSpc>
              <a:tabLst>
                <a:tab pos="0" algn="l"/>
              </a:tabLst>
            </a:pPr>
            <a:endParaRPr lang="en-US" altLang="ko-KR" sz="1000" b="1" u="none" strike="noStrike" dirty="0">
              <a:solidFill>
                <a:srgbClr val="0E1D35"/>
              </a:solidFill>
              <a:effectLst/>
              <a:uFillTx/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defTabSz="914400">
              <a:lnSpc>
                <a:spcPct val="150000"/>
              </a:lnSpc>
              <a:tabLst>
                <a:tab pos="0" algn="l"/>
              </a:tabLst>
            </a:pPr>
            <a:r>
              <a:rPr lang="en-US" altLang="ko-KR" sz="1000" b="1" u="none" strike="noStrike" dirty="0">
                <a:solidFill>
                  <a:srgbClr val="0E1D35"/>
                </a:solidFill>
                <a:effectLst/>
                <a:uFillTx/>
                <a:latin typeface="맑은 고딕" panose="020B0503020000020004" pitchFamily="50" charset="-127"/>
                <a:ea typeface="맑은 고딕" panose="020B0503020000020004" pitchFamily="50" charset="-127"/>
              </a:rPr>
              <a:t>(3)rating "|" </a:t>
            </a:r>
            <a:r>
              <a:rPr lang="ko-KR" altLang="en-US" sz="1000" b="1" u="none" strike="noStrike" dirty="0">
                <a:solidFill>
                  <a:srgbClr val="0E1D35"/>
                </a:solidFill>
                <a:effectLst/>
                <a:uFillTx/>
                <a:latin typeface="맑은 고딕" panose="020B0503020000020004" pitchFamily="50" charset="-127"/>
                <a:ea typeface="맑은 고딕" panose="020B0503020000020004" pitchFamily="50" charset="-127"/>
              </a:rPr>
              <a:t>값 </a:t>
            </a:r>
            <a:r>
              <a:rPr lang="en-US" altLang="ko-KR" sz="1000" b="1" u="none" strike="noStrike" dirty="0">
                <a:solidFill>
                  <a:srgbClr val="0E1D35"/>
                </a:solidFill>
                <a:effectLst/>
                <a:uFillTx/>
                <a:latin typeface="맑은 고딕" panose="020B0503020000020004" pitchFamily="50" charset="-127"/>
                <a:ea typeface="맑은 고딕" panose="020B0503020000020004" pitchFamily="50" charset="-127"/>
              </a:rPr>
              <a:t>Null </a:t>
            </a:r>
            <a:r>
              <a:rPr lang="ko-KR" altLang="en-US" sz="1000" b="1" u="none" strike="noStrike" dirty="0">
                <a:solidFill>
                  <a:srgbClr val="0E1D35"/>
                </a:solidFill>
                <a:effectLst/>
                <a:uFillTx/>
                <a:latin typeface="맑은 고딕" panose="020B0503020000020004" pitchFamily="50" charset="-127"/>
                <a:ea typeface="맑은 고딕" panose="020B0503020000020004" pitchFamily="50" charset="-127"/>
              </a:rPr>
              <a:t>변경</a:t>
            </a:r>
          </a:p>
          <a:p>
            <a:pPr defTabSz="914400">
              <a:lnSpc>
                <a:spcPct val="150000"/>
              </a:lnSpc>
              <a:tabLst>
                <a:tab pos="0" algn="l"/>
              </a:tabLst>
            </a:pPr>
            <a:r>
              <a:rPr lang="en-US" altLang="ko-KR" sz="1000" b="1" u="none" strike="noStrike" dirty="0">
                <a:solidFill>
                  <a:srgbClr val="0E1D35"/>
                </a:solidFill>
                <a:effectLst/>
                <a:uFillTx/>
                <a:latin typeface="맑은 고딕" panose="020B0503020000020004" pitchFamily="50" charset="-127"/>
                <a:ea typeface="맑은 고딕" panose="020B0503020000020004" pitchFamily="50" charset="-127"/>
              </a:rPr>
              <a:t>| </a:t>
            </a:r>
            <a:r>
              <a:rPr lang="ko-KR" altLang="en-US" sz="1000" b="1" u="none" strike="noStrike" dirty="0">
                <a:solidFill>
                  <a:srgbClr val="0E1D35"/>
                </a:solidFill>
                <a:effectLst/>
                <a:uFillTx/>
                <a:latin typeface="맑은 고딕" panose="020B0503020000020004" pitchFamily="50" charset="-127"/>
                <a:ea typeface="맑은 고딕" panose="020B0503020000020004" pitchFamily="50" charset="-127"/>
              </a:rPr>
              <a:t>이슈</a:t>
            </a:r>
            <a:r>
              <a:rPr lang="en-US" altLang="ko-KR" sz="1000" b="1" u="none" strike="noStrike" dirty="0">
                <a:solidFill>
                  <a:srgbClr val="0E1D35"/>
                </a:solidFill>
                <a:effectLst/>
                <a:uFillTx/>
                <a:latin typeface="맑은 고딕" panose="020B0503020000020004" pitchFamily="50" charset="-127"/>
                <a:ea typeface="맑은 고딕" panose="020B0503020000020004" pitchFamily="50" charset="-127"/>
              </a:rPr>
              <a:t>: </a:t>
            </a:r>
            <a:r>
              <a:rPr lang="en-US" altLang="ko-KR" sz="1000" b="1" u="none" strike="noStrike" dirty="0" err="1">
                <a:solidFill>
                  <a:srgbClr val="0E1D35"/>
                </a:solidFill>
                <a:effectLst/>
                <a:uFillTx/>
                <a:latin typeface="맑은 고딕" panose="020B0503020000020004" pitchFamily="50" charset="-127"/>
                <a:ea typeface="맑은 고딕" panose="020B0503020000020004" pitchFamily="50" charset="-127"/>
              </a:rPr>
              <a:t>product_id</a:t>
            </a:r>
            <a:r>
              <a:rPr lang="en-US" altLang="ko-KR" sz="1000" b="1" u="none" strike="noStrike" dirty="0">
                <a:solidFill>
                  <a:srgbClr val="0E1D35"/>
                </a:solidFill>
                <a:effectLst/>
                <a:uFillTx/>
                <a:latin typeface="맑은 고딕" panose="020B0503020000020004" pitchFamily="50" charset="-127"/>
                <a:ea typeface="맑은 고딕" panose="020B0503020000020004" pitchFamily="50" charset="-127"/>
              </a:rPr>
              <a:t> B08L12N5H1</a:t>
            </a:r>
            <a:r>
              <a:rPr lang="ko-KR" altLang="en-US" sz="1000" b="1" u="none" strike="noStrike" dirty="0">
                <a:solidFill>
                  <a:srgbClr val="0E1D35"/>
                </a:solidFill>
                <a:effectLst/>
                <a:uFillTx/>
                <a:latin typeface="맑은 고딕" panose="020B0503020000020004" pitchFamily="50" charset="-127"/>
                <a:ea typeface="맑은 고딕" panose="020B0503020000020004" pitchFamily="50" charset="-127"/>
              </a:rPr>
              <a:t>의 </a:t>
            </a:r>
            <a:r>
              <a:rPr lang="en-US" altLang="ko-KR" sz="1000" b="1" u="none" strike="noStrike" dirty="0">
                <a:solidFill>
                  <a:srgbClr val="0E1D35"/>
                </a:solidFill>
                <a:effectLst/>
                <a:uFillTx/>
                <a:latin typeface="맑은 고딕" panose="020B0503020000020004" pitchFamily="50" charset="-127"/>
                <a:ea typeface="맑은 고딕" panose="020B0503020000020004" pitchFamily="50" charset="-127"/>
              </a:rPr>
              <a:t>rating '|' </a:t>
            </a:r>
            <a:r>
              <a:rPr lang="ko-KR" altLang="en-US" sz="1000" b="1" u="none" strike="noStrike" dirty="0">
                <a:solidFill>
                  <a:srgbClr val="0E1D35"/>
                </a:solidFill>
                <a:effectLst/>
                <a:uFillTx/>
                <a:latin typeface="맑은 고딕" panose="020B0503020000020004" pitchFamily="50" charset="-127"/>
                <a:ea typeface="맑은 고딕" panose="020B0503020000020004" pitchFamily="50" charset="-127"/>
              </a:rPr>
              <a:t>로 오기 확인됨</a:t>
            </a:r>
            <a:r>
              <a:rPr lang="en-US" altLang="ko-KR" sz="1000" b="1" u="none" strike="noStrike" dirty="0">
                <a:solidFill>
                  <a:srgbClr val="0E1D35"/>
                </a:solidFill>
                <a:effectLst/>
                <a:uFillTx/>
                <a:latin typeface="맑은 고딕" panose="020B0503020000020004" pitchFamily="50" charset="-127"/>
                <a:ea typeface="맑은 고딕" panose="020B0503020000020004" pitchFamily="50" charset="-127"/>
              </a:rPr>
              <a:t>.</a:t>
            </a:r>
          </a:p>
          <a:p>
            <a:pPr defTabSz="914400">
              <a:lnSpc>
                <a:spcPct val="150000"/>
              </a:lnSpc>
              <a:tabLst>
                <a:tab pos="0" algn="l"/>
              </a:tabLst>
            </a:pPr>
            <a:r>
              <a:rPr lang="en-US" altLang="ko-KR" sz="1000" b="1" u="none" strike="noStrike" dirty="0">
                <a:solidFill>
                  <a:srgbClr val="0E1D35"/>
                </a:solidFill>
                <a:effectLst/>
                <a:uFillTx/>
                <a:latin typeface="맑은 고딕" panose="020B0503020000020004" pitchFamily="50" charset="-127"/>
                <a:ea typeface="맑은 고딕" panose="020B0503020000020004" pitchFamily="50" charset="-127"/>
              </a:rPr>
              <a:t>| </a:t>
            </a:r>
            <a:r>
              <a:rPr lang="ko-KR" altLang="en-US" sz="1000" b="1" u="none" strike="noStrike" dirty="0">
                <a:solidFill>
                  <a:srgbClr val="0E1D35"/>
                </a:solidFill>
                <a:effectLst/>
                <a:uFillTx/>
                <a:latin typeface="맑은 고딕" panose="020B0503020000020004" pitchFamily="50" charset="-127"/>
                <a:ea typeface="맑은 고딕" panose="020B0503020000020004" pitchFamily="50" charset="-127"/>
              </a:rPr>
              <a:t>결정 </a:t>
            </a:r>
            <a:r>
              <a:rPr lang="en-US" altLang="ko-KR" sz="1000" b="1" u="none" strike="noStrike" dirty="0">
                <a:solidFill>
                  <a:srgbClr val="0E1D35"/>
                </a:solidFill>
                <a:effectLst/>
                <a:uFillTx/>
                <a:latin typeface="맑은 고딕" panose="020B0503020000020004" pitchFamily="50" charset="-127"/>
                <a:ea typeface="맑은 고딕" panose="020B0503020000020004" pitchFamily="50" charset="-127"/>
              </a:rPr>
              <a:t>: type </a:t>
            </a:r>
            <a:r>
              <a:rPr lang="ko-KR" altLang="en-US" sz="1000" b="1" u="none" strike="noStrike" dirty="0">
                <a:solidFill>
                  <a:srgbClr val="0E1D35"/>
                </a:solidFill>
                <a:effectLst/>
                <a:uFillTx/>
                <a:latin typeface="맑은 고딕" panose="020B0503020000020004" pitchFamily="50" charset="-127"/>
                <a:ea typeface="맑은 고딕" panose="020B0503020000020004" pitchFamily="50" charset="-127"/>
              </a:rPr>
              <a:t>변경 및 분석을 위해 </a:t>
            </a:r>
            <a:r>
              <a:rPr lang="en-US" altLang="ko-KR" sz="1000" b="1" u="none" strike="noStrike" dirty="0">
                <a:solidFill>
                  <a:srgbClr val="0E1D35"/>
                </a:solidFill>
                <a:effectLst/>
                <a:uFillTx/>
                <a:latin typeface="맑은 고딕" panose="020B0503020000020004" pitchFamily="50" charset="-127"/>
                <a:ea typeface="맑은 고딕" panose="020B0503020000020004" pitchFamily="50" charset="-127"/>
              </a:rPr>
              <a:t>'|' Null</a:t>
            </a:r>
            <a:r>
              <a:rPr lang="ko-KR" altLang="en-US" sz="1000" b="1" u="none" strike="noStrike" dirty="0">
                <a:solidFill>
                  <a:srgbClr val="0E1D35"/>
                </a:solidFill>
                <a:effectLst/>
                <a:uFillTx/>
                <a:latin typeface="맑은 고딕" panose="020B0503020000020004" pitchFamily="50" charset="-127"/>
                <a:ea typeface="맑은 고딕" panose="020B0503020000020004" pitchFamily="50" charset="-127"/>
              </a:rPr>
              <a:t>로 변경</a:t>
            </a:r>
            <a:r>
              <a:rPr lang="en-US" altLang="ko-KR" sz="1000" b="1" u="none" strike="noStrike" dirty="0">
                <a:solidFill>
                  <a:srgbClr val="0E1D35"/>
                </a:solidFill>
                <a:effectLst/>
                <a:uFillTx/>
                <a:latin typeface="맑은 고딕" panose="020B0503020000020004" pitchFamily="50" charset="-127"/>
                <a:ea typeface="맑은 고딕" panose="020B0503020000020004" pitchFamily="50" charset="-127"/>
              </a:rPr>
              <a:t>.</a:t>
            </a:r>
          </a:p>
          <a:p>
            <a:pPr defTabSz="914400">
              <a:lnSpc>
                <a:spcPct val="150000"/>
              </a:lnSpc>
              <a:tabLst>
                <a:tab pos="0" algn="l"/>
              </a:tabLst>
            </a:pPr>
            <a:r>
              <a:rPr lang="en-US" altLang="ko-KR" sz="1000" b="1" u="none" strike="noStrike" dirty="0">
                <a:solidFill>
                  <a:srgbClr val="0E1D35"/>
                </a:solidFill>
                <a:effectLst/>
                <a:uFillTx/>
                <a:latin typeface="맑은 고딕" panose="020B0503020000020004" pitchFamily="50" charset="-127"/>
                <a:ea typeface="맑은 고딕" panose="020B0503020000020004" pitchFamily="50" charset="-127"/>
              </a:rPr>
              <a:t>| </a:t>
            </a:r>
            <a:r>
              <a:rPr lang="ko-KR" altLang="en-US" sz="1000" b="1" u="none" strike="noStrike" dirty="0">
                <a:solidFill>
                  <a:srgbClr val="0E1D35"/>
                </a:solidFill>
                <a:effectLst/>
                <a:uFillTx/>
                <a:latin typeface="맑은 고딕" panose="020B0503020000020004" pitchFamily="50" charset="-127"/>
                <a:ea typeface="맑은 고딕" panose="020B0503020000020004" pitchFamily="50" charset="-127"/>
              </a:rPr>
              <a:t>근거 </a:t>
            </a:r>
            <a:r>
              <a:rPr lang="en-US" altLang="ko-KR" sz="1000" b="1" u="none" strike="noStrike" dirty="0">
                <a:solidFill>
                  <a:srgbClr val="0E1D35"/>
                </a:solidFill>
                <a:effectLst/>
                <a:uFillTx/>
                <a:latin typeface="맑은 고딕" panose="020B0503020000020004" pitchFamily="50" charset="-127"/>
                <a:ea typeface="맑은 고딕" panose="020B0503020000020004" pitchFamily="50" charset="-127"/>
              </a:rPr>
              <a:t>: </a:t>
            </a:r>
            <a:r>
              <a:rPr lang="ko-KR" altLang="en-US" sz="1000" b="1" u="none" strike="noStrike" dirty="0">
                <a:solidFill>
                  <a:srgbClr val="0E1D35"/>
                </a:solidFill>
                <a:effectLst/>
                <a:uFillTx/>
                <a:latin typeface="맑은 고딕" panose="020B0503020000020004" pitchFamily="50" charset="-127"/>
                <a:ea typeface="맑은 고딕" panose="020B0503020000020004" pitchFamily="50" charset="-127"/>
              </a:rPr>
              <a:t>해당 데이터 기준 지표 및 분석을 위하여 변경함</a:t>
            </a:r>
            <a:r>
              <a:rPr lang="en-US" altLang="ko-KR" sz="1000" b="1" u="none" strike="noStrike" dirty="0">
                <a:solidFill>
                  <a:srgbClr val="0E1D35"/>
                </a:solidFill>
                <a:effectLst/>
                <a:uFillTx/>
                <a:latin typeface="맑은 고딕" panose="020B0503020000020004" pitchFamily="50" charset="-127"/>
                <a:ea typeface="맑은 고딕" panose="020B0503020000020004" pitchFamily="50" charset="-127"/>
              </a:rPr>
              <a:t>.</a:t>
            </a:r>
          </a:p>
          <a:p>
            <a:pPr defTabSz="914400">
              <a:lnSpc>
                <a:spcPct val="150000"/>
              </a:lnSpc>
              <a:tabLst>
                <a:tab pos="0" algn="l"/>
              </a:tabLst>
            </a:pPr>
            <a:r>
              <a:rPr lang="en-US" altLang="ko-KR" sz="1000" b="1" u="none" strike="noStrike" dirty="0">
                <a:solidFill>
                  <a:srgbClr val="0E1D35"/>
                </a:solidFill>
                <a:effectLst/>
                <a:uFillTx/>
                <a:latin typeface="맑은 고딕" panose="020B0503020000020004" pitchFamily="50" charset="-127"/>
                <a:ea typeface="맑은 고딕" panose="020B0503020000020004" pitchFamily="50" charset="-127"/>
              </a:rPr>
              <a:t>| </a:t>
            </a:r>
            <a:r>
              <a:rPr lang="ko-KR" altLang="en-US" sz="1000" b="1" u="none" strike="noStrike" dirty="0">
                <a:solidFill>
                  <a:srgbClr val="0E1D35"/>
                </a:solidFill>
                <a:effectLst/>
                <a:uFillTx/>
                <a:latin typeface="맑은 고딕" panose="020B0503020000020004" pitchFamily="50" charset="-127"/>
                <a:ea typeface="맑은 고딕" panose="020B0503020000020004" pitchFamily="50" charset="-127"/>
              </a:rPr>
              <a:t>한계 </a:t>
            </a:r>
            <a:r>
              <a:rPr lang="en-US" altLang="ko-KR" sz="1000" b="1" u="none" strike="noStrike" dirty="0">
                <a:solidFill>
                  <a:srgbClr val="0E1D35"/>
                </a:solidFill>
                <a:effectLst/>
                <a:uFillTx/>
                <a:latin typeface="맑은 고딕" panose="020B0503020000020004" pitchFamily="50" charset="-127"/>
                <a:ea typeface="맑은 고딕" panose="020B0503020000020004" pitchFamily="50" charset="-127"/>
              </a:rPr>
              <a:t>: '|' </a:t>
            </a:r>
            <a:r>
              <a:rPr lang="ko-KR" altLang="en-US" sz="1000" b="1" u="none" strike="noStrike" dirty="0">
                <a:solidFill>
                  <a:srgbClr val="0E1D35"/>
                </a:solidFill>
                <a:effectLst/>
                <a:uFillTx/>
                <a:latin typeface="맑은 고딕" panose="020B0503020000020004" pitchFamily="50" charset="-127"/>
                <a:ea typeface="맑은 고딕" panose="020B0503020000020004" pitchFamily="50" charset="-127"/>
              </a:rPr>
              <a:t>데이터의 수집 경위를 파악하고 추가적으로 이상 값이 수집될 수 있는지 점검 필요하며 추후 분석 시에도 해당 </a:t>
            </a:r>
            <a:r>
              <a:rPr lang="ko-KR" altLang="en-US" sz="1000" b="1" u="none" strike="noStrike" dirty="0" err="1">
                <a:solidFill>
                  <a:srgbClr val="0E1D35"/>
                </a:solidFill>
                <a:effectLst/>
                <a:uFillTx/>
                <a:latin typeface="맑은 고딕" panose="020B0503020000020004" pitchFamily="50" charset="-127"/>
                <a:ea typeface="맑은 고딕" panose="020B0503020000020004" pitchFamily="50" charset="-127"/>
              </a:rPr>
              <a:t>전처리</a:t>
            </a:r>
            <a:r>
              <a:rPr lang="ko-KR" altLang="en-US" sz="1000" b="1" u="none" strike="noStrike" dirty="0">
                <a:solidFill>
                  <a:srgbClr val="0E1D35"/>
                </a:solidFill>
                <a:effectLst/>
                <a:uFillTx/>
                <a:latin typeface="맑은 고딕" panose="020B0503020000020004" pitchFamily="50" charset="-127"/>
                <a:ea typeface="맑은 고딕" panose="020B0503020000020004" pitchFamily="50" charset="-127"/>
              </a:rPr>
              <a:t> 작업 필수</a:t>
            </a:r>
            <a:r>
              <a:rPr lang="en-US" altLang="ko-KR" sz="1000" b="1" u="none" strike="noStrike" dirty="0">
                <a:solidFill>
                  <a:srgbClr val="0E1D35"/>
                </a:solidFill>
                <a:effectLst/>
                <a:uFillTx/>
                <a:latin typeface="맑은 고딕" panose="020B0503020000020004" pitchFamily="50" charset="-127"/>
                <a:ea typeface="맑은 고딕" panose="020B0503020000020004" pitchFamily="50" charset="-127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23240131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AEF3107-E836-D5C7-C7C7-EA887967F0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직사각형 34">
            <a:extLst>
              <a:ext uri="{FF2B5EF4-FFF2-40B4-BE49-F238E27FC236}">
                <a16:creationId xmlns:a16="http://schemas.microsoft.com/office/drawing/2014/main" id="{2CCAB2C9-6E1A-05E9-0E49-11EAE5D3252B}"/>
              </a:ext>
            </a:extLst>
          </p:cNvPr>
          <p:cNvSpPr/>
          <p:nvPr/>
        </p:nvSpPr>
        <p:spPr>
          <a:xfrm>
            <a:off x="714240" y="666720"/>
            <a:ext cx="6924240" cy="380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anchor="b">
            <a:normAutofit fontScale="77500" lnSpcReduction="20000"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altLang="ko-KR" sz="3000" b="1" u="none" strike="noStrike" dirty="0">
                <a:solidFill>
                  <a:srgbClr val="0E1D35"/>
                </a:solidFill>
                <a:effectLst/>
                <a:uFillTx/>
                <a:latin typeface="맑은 고딕" panose="020B0503020000020004" pitchFamily="50" charset="-127"/>
                <a:ea typeface="맑은 고딕" panose="020B0503020000020004" pitchFamily="50" charset="-127"/>
              </a:rPr>
              <a:t>0. </a:t>
            </a:r>
            <a:r>
              <a:rPr lang="ko-KR" altLang="en-US" sz="3000" b="1" u="none" strike="noStrike" dirty="0">
                <a:solidFill>
                  <a:srgbClr val="0E1D35"/>
                </a:solidFill>
                <a:effectLst/>
                <a:uFillTx/>
                <a:latin typeface="맑은 고딕" panose="020B0503020000020004" pitchFamily="50" charset="-127"/>
                <a:ea typeface="맑은 고딕" panose="020B0503020000020004" pitchFamily="50" charset="-127"/>
              </a:rPr>
              <a:t>데이터셋 정보</a:t>
            </a:r>
            <a:endParaRPr lang="en-US" sz="3000" b="0" u="none" strike="noStrike" dirty="0">
              <a:solidFill>
                <a:srgbClr val="000000"/>
              </a:solidFill>
              <a:effectLst/>
              <a:uFillTx/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36" name="직사각형 35">
            <a:extLst>
              <a:ext uri="{FF2B5EF4-FFF2-40B4-BE49-F238E27FC236}">
                <a16:creationId xmlns:a16="http://schemas.microsoft.com/office/drawing/2014/main" id="{1E19D18A-3C32-A39B-E0C7-C9A3CAD1D52A}"/>
              </a:ext>
            </a:extLst>
          </p:cNvPr>
          <p:cNvSpPr/>
          <p:nvPr/>
        </p:nvSpPr>
        <p:spPr>
          <a:xfrm>
            <a:off x="714239" y="1204452"/>
            <a:ext cx="7938148" cy="3559277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anchor="t">
            <a:normAutofit/>
          </a:bodyPr>
          <a:lstStyle/>
          <a:p>
            <a:pPr defTabSz="914400">
              <a:lnSpc>
                <a:spcPct val="150000"/>
              </a:lnSpc>
              <a:tabLst>
                <a:tab pos="0" algn="l"/>
              </a:tabLst>
            </a:pPr>
            <a:r>
              <a:rPr lang="en-US" altLang="ko-KR" sz="900" b="1" u="none" strike="noStrike" dirty="0">
                <a:solidFill>
                  <a:srgbClr val="0E1D35"/>
                </a:solidFill>
                <a:effectLst/>
                <a:uFillTx/>
                <a:latin typeface="맑은 고딕" panose="020B0503020000020004" pitchFamily="50" charset="-127"/>
                <a:ea typeface="맑은 고딕" panose="020B0503020000020004" pitchFamily="50" charset="-127"/>
              </a:rPr>
              <a:t>3. </a:t>
            </a:r>
            <a:r>
              <a:rPr lang="ko-KR" altLang="en-US" sz="900" b="1" u="none" strike="noStrike" dirty="0">
                <a:solidFill>
                  <a:srgbClr val="0E1D35"/>
                </a:solidFill>
                <a:effectLst/>
                <a:uFillTx/>
                <a:latin typeface="맑은 고딕" panose="020B0503020000020004" pitchFamily="50" charset="-127"/>
                <a:ea typeface="맑은 고딕" panose="020B0503020000020004" pitchFamily="50" charset="-127"/>
              </a:rPr>
              <a:t>처리 결정과 근거</a:t>
            </a:r>
          </a:p>
          <a:p>
            <a:pPr defTabSz="914400">
              <a:lnSpc>
                <a:spcPct val="150000"/>
              </a:lnSpc>
              <a:tabLst>
                <a:tab pos="0" algn="l"/>
              </a:tabLst>
            </a:pPr>
            <a:r>
              <a:rPr lang="en-US" altLang="ko-KR" sz="900" b="1" u="none" strike="noStrike" dirty="0">
                <a:solidFill>
                  <a:srgbClr val="0E1D35"/>
                </a:solidFill>
                <a:effectLst/>
                <a:uFillTx/>
                <a:latin typeface="맑은 고딕" panose="020B0503020000020004" pitchFamily="50" charset="-127"/>
                <a:ea typeface="맑은 고딕" panose="020B0503020000020004" pitchFamily="50" charset="-127"/>
              </a:rPr>
              <a:t>(4)</a:t>
            </a:r>
            <a:r>
              <a:rPr lang="en-US" altLang="ko-KR" sz="900" b="1" u="none" strike="noStrike" dirty="0" err="1">
                <a:solidFill>
                  <a:srgbClr val="0E1D35"/>
                </a:solidFill>
                <a:effectLst/>
                <a:uFillTx/>
                <a:latin typeface="맑은 고딕" panose="020B0503020000020004" pitchFamily="50" charset="-127"/>
                <a:ea typeface="맑은 고딕" panose="020B0503020000020004" pitchFamily="50" charset="-127"/>
              </a:rPr>
              <a:t>rating_count</a:t>
            </a:r>
            <a:r>
              <a:rPr lang="en-US" altLang="ko-KR" sz="900" b="1" u="none" strike="noStrike" dirty="0">
                <a:solidFill>
                  <a:srgbClr val="0E1D35"/>
                </a:solidFill>
                <a:effectLst/>
                <a:uFillTx/>
                <a:latin typeface="맑은 고딕" panose="020B0503020000020004" pitchFamily="50" charset="-127"/>
                <a:ea typeface="맑은 고딕" panose="020B0503020000020004" pitchFamily="50" charset="-127"/>
              </a:rPr>
              <a:t> "" </a:t>
            </a:r>
            <a:r>
              <a:rPr lang="ko-KR" altLang="en-US" sz="900" b="1" u="none" strike="noStrike" dirty="0">
                <a:solidFill>
                  <a:srgbClr val="0E1D35"/>
                </a:solidFill>
                <a:effectLst/>
                <a:uFillTx/>
                <a:latin typeface="맑은 고딕" panose="020B0503020000020004" pitchFamily="50" charset="-127"/>
                <a:ea typeface="맑은 고딕" panose="020B0503020000020004" pitchFamily="50" charset="-127"/>
              </a:rPr>
              <a:t>값 </a:t>
            </a:r>
            <a:r>
              <a:rPr lang="en-US" altLang="ko-KR" sz="900" b="1" u="none" strike="noStrike" dirty="0">
                <a:solidFill>
                  <a:srgbClr val="0E1D35"/>
                </a:solidFill>
                <a:effectLst/>
                <a:uFillTx/>
                <a:latin typeface="맑은 고딕" panose="020B0503020000020004" pitchFamily="50" charset="-127"/>
                <a:ea typeface="맑은 고딕" panose="020B0503020000020004" pitchFamily="50" charset="-127"/>
              </a:rPr>
              <a:t>Null </a:t>
            </a:r>
            <a:r>
              <a:rPr lang="ko-KR" altLang="en-US" sz="900" b="1" u="none" strike="noStrike" dirty="0">
                <a:solidFill>
                  <a:srgbClr val="0E1D35"/>
                </a:solidFill>
                <a:effectLst/>
                <a:uFillTx/>
                <a:latin typeface="맑은 고딕" panose="020B0503020000020004" pitchFamily="50" charset="-127"/>
                <a:ea typeface="맑은 고딕" panose="020B0503020000020004" pitchFamily="50" charset="-127"/>
              </a:rPr>
              <a:t>변경</a:t>
            </a:r>
          </a:p>
          <a:p>
            <a:pPr defTabSz="914400">
              <a:lnSpc>
                <a:spcPct val="150000"/>
              </a:lnSpc>
              <a:tabLst>
                <a:tab pos="0" algn="l"/>
              </a:tabLst>
            </a:pPr>
            <a:r>
              <a:rPr lang="en-US" altLang="ko-KR" sz="900" b="1" u="none" strike="noStrike" dirty="0">
                <a:solidFill>
                  <a:srgbClr val="0E1D35"/>
                </a:solidFill>
                <a:effectLst/>
                <a:uFillTx/>
                <a:latin typeface="맑은 고딕" panose="020B0503020000020004" pitchFamily="50" charset="-127"/>
                <a:ea typeface="맑은 고딕" panose="020B0503020000020004" pitchFamily="50" charset="-127"/>
              </a:rPr>
              <a:t>| </a:t>
            </a:r>
            <a:r>
              <a:rPr lang="ko-KR" altLang="en-US" sz="900" b="1" u="none" strike="noStrike" dirty="0">
                <a:solidFill>
                  <a:srgbClr val="0E1D35"/>
                </a:solidFill>
                <a:effectLst/>
                <a:uFillTx/>
                <a:latin typeface="맑은 고딕" panose="020B0503020000020004" pitchFamily="50" charset="-127"/>
                <a:ea typeface="맑은 고딕" panose="020B0503020000020004" pitchFamily="50" charset="-127"/>
              </a:rPr>
              <a:t>이슈</a:t>
            </a:r>
            <a:r>
              <a:rPr lang="en-US" altLang="ko-KR" sz="900" b="1" u="none" strike="noStrike" dirty="0">
                <a:solidFill>
                  <a:srgbClr val="0E1D35"/>
                </a:solidFill>
                <a:effectLst/>
                <a:uFillTx/>
                <a:latin typeface="맑은 고딕" panose="020B0503020000020004" pitchFamily="50" charset="-127"/>
                <a:ea typeface="맑은 고딕" panose="020B0503020000020004" pitchFamily="50" charset="-127"/>
              </a:rPr>
              <a:t>: </a:t>
            </a:r>
            <a:r>
              <a:rPr lang="en-US" altLang="ko-KR" sz="900" b="1" u="none" strike="noStrike" dirty="0" err="1">
                <a:solidFill>
                  <a:srgbClr val="0E1D35"/>
                </a:solidFill>
                <a:effectLst/>
                <a:uFillTx/>
                <a:latin typeface="맑은 고딕" panose="020B0503020000020004" pitchFamily="50" charset="-127"/>
                <a:ea typeface="맑은 고딕" panose="020B0503020000020004" pitchFamily="50" charset="-127"/>
              </a:rPr>
              <a:t>product_id</a:t>
            </a:r>
            <a:r>
              <a:rPr lang="en-US" altLang="ko-KR" sz="900" b="1" u="none" strike="noStrike" dirty="0">
                <a:solidFill>
                  <a:srgbClr val="0E1D35"/>
                </a:solidFill>
                <a:effectLst/>
                <a:uFillTx/>
                <a:latin typeface="맑은 고딕" panose="020B0503020000020004" pitchFamily="50" charset="-127"/>
                <a:ea typeface="맑은 고딕" panose="020B0503020000020004" pitchFamily="50" charset="-127"/>
              </a:rPr>
              <a:t> B0B94JPY2N, B0BQRJ3C47</a:t>
            </a:r>
            <a:r>
              <a:rPr lang="ko-KR" altLang="en-US" sz="900" b="1" u="none" strike="noStrike" dirty="0">
                <a:solidFill>
                  <a:srgbClr val="0E1D35"/>
                </a:solidFill>
                <a:effectLst/>
                <a:uFillTx/>
                <a:latin typeface="맑은 고딕" panose="020B0503020000020004" pitchFamily="50" charset="-127"/>
                <a:ea typeface="맑은 고딕" panose="020B0503020000020004" pitchFamily="50" charset="-127"/>
              </a:rPr>
              <a:t>의 </a:t>
            </a:r>
            <a:r>
              <a:rPr lang="en-US" altLang="ko-KR" sz="900" b="1" u="none" strike="noStrike" dirty="0" err="1">
                <a:solidFill>
                  <a:srgbClr val="0E1D35"/>
                </a:solidFill>
                <a:effectLst/>
                <a:uFillTx/>
                <a:latin typeface="맑은 고딕" panose="020B0503020000020004" pitchFamily="50" charset="-127"/>
                <a:ea typeface="맑은 고딕" panose="020B0503020000020004" pitchFamily="50" charset="-127"/>
              </a:rPr>
              <a:t>rating_count</a:t>
            </a:r>
            <a:r>
              <a:rPr lang="en-US" altLang="ko-KR" sz="900" b="1" u="none" strike="noStrike" dirty="0">
                <a:solidFill>
                  <a:srgbClr val="0E1D35"/>
                </a:solidFill>
                <a:effectLst/>
                <a:uFillTx/>
                <a:latin typeface="맑은 고딕" panose="020B0503020000020004" pitchFamily="50" charset="-127"/>
                <a:ea typeface="맑은 고딕" panose="020B0503020000020004" pitchFamily="50" charset="-127"/>
              </a:rPr>
              <a:t> ""</a:t>
            </a:r>
            <a:r>
              <a:rPr lang="ko-KR" altLang="en-US" sz="900" b="1" u="none" strike="noStrike" dirty="0">
                <a:solidFill>
                  <a:srgbClr val="0E1D35"/>
                </a:solidFill>
                <a:effectLst/>
                <a:uFillTx/>
                <a:latin typeface="맑은 고딕" panose="020B0503020000020004" pitchFamily="50" charset="-127"/>
                <a:ea typeface="맑은 고딕" panose="020B0503020000020004" pitchFamily="50" charset="-127"/>
              </a:rPr>
              <a:t>로 결측 확인됨</a:t>
            </a:r>
            <a:r>
              <a:rPr lang="en-US" altLang="ko-KR" sz="900" b="1" u="none" strike="noStrike" dirty="0">
                <a:solidFill>
                  <a:srgbClr val="0E1D35"/>
                </a:solidFill>
                <a:effectLst/>
                <a:uFillTx/>
                <a:latin typeface="맑은 고딕" panose="020B0503020000020004" pitchFamily="50" charset="-127"/>
                <a:ea typeface="맑은 고딕" panose="020B0503020000020004" pitchFamily="50" charset="-127"/>
              </a:rPr>
              <a:t>.</a:t>
            </a:r>
          </a:p>
          <a:p>
            <a:pPr defTabSz="914400">
              <a:lnSpc>
                <a:spcPct val="150000"/>
              </a:lnSpc>
              <a:tabLst>
                <a:tab pos="0" algn="l"/>
              </a:tabLst>
            </a:pPr>
            <a:r>
              <a:rPr lang="en-US" altLang="ko-KR" sz="900" b="1" u="none" strike="noStrike" dirty="0">
                <a:solidFill>
                  <a:srgbClr val="0E1D35"/>
                </a:solidFill>
                <a:effectLst/>
                <a:uFillTx/>
                <a:latin typeface="맑은 고딕" panose="020B0503020000020004" pitchFamily="50" charset="-127"/>
                <a:ea typeface="맑은 고딕" panose="020B0503020000020004" pitchFamily="50" charset="-127"/>
              </a:rPr>
              <a:t>| </a:t>
            </a:r>
            <a:r>
              <a:rPr lang="ko-KR" altLang="en-US" sz="900" b="1" u="none" strike="noStrike" dirty="0">
                <a:solidFill>
                  <a:srgbClr val="0E1D35"/>
                </a:solidFill>
                <a:effectLst/>
                <a:uFillTx/>
                <a:latin typeface="맑은 고딕" panose="020B0503020000020004" pitchFamily="50" charset="-127"/>
                <a:ea typeface="맑은 고딕" panose="020B0503020000020004" pitchFamily="50" charset="-127"/>
              </a:rPr>
              <a:t>결정 </a:t>
            </a:r>
            <a:r>
              <a:rPr lang="en-US" altLang="ko-KR" sz="900" b="1" u="none" strike="noStrike" dirty="0">
                <a:solidFill>
                  <a:srgbClr val="0E1D35"/>
                </a:solidFill>
                <a:effectLst/>
                <a:uFillTx/>
                <a:latin typeface="맑은 고딕" panose="020B0503020000020004" pitchFamily="50" charset="-127"/>
                <a:ea typeface="맑은 고딕" panose="020B0503020000020004" pitchFamily="50" charset="-127"/>
              </a:rPr>
              <a:t>: ""</a:t>
            </a:r>
            <a:r>
              <a:rPr lang="ko-KR" altLang="en-US" sz="900" b="1" u="none" strike="noStrike" dirty="0">
                <a:solidFill>
                  <a:srgbClr val="0E1D35"/>
                </a:solidFill>
                <a:effectLst/>
                <a:uFillTx/>
                <a:latin typeface="맑은 고딕" panose="020B0503020000020004" pitchFamily="50" charset="-127"/>
                <a:ea typeface="맑은 고딕" panose="020B0503020000020004" pitchFamily="50" charset="-127"/>
              </a:rPr>
              <a:t>의 경우 </a:t>
            </a:r>
            <a:r>
              <a:rPr lang="en-US" altLang="ko-KR" sz="900" b="1" u="none" strike="noStrike" dirty="0">
                <a:solidFill>
                  <a:srgbClr val="0E1D35"/>
                </a:solidFill>
                <a:effectLst/>
                <a:uFillTx/>
                <a:latin typeface="맑은 고딕" panose="020B0503020000020004" pitchFamily="50" charset="-127"/>
                <a:ea typeface="맑은 고딕" panose="020B0503020000020004" pitchFamily="50" charset="-127"/>
              </a:rPr>
              <a:t>SQL</a:t>
            </a:r>
            <a:r>
              <a:rPr lang="ko-KR" altLang="en-US" sz="900" b="1" u="none" strike="noStrike" dirty="0">
                <a:solidFill>
                  <a:srgbClr val="0E1D35"/>
                </a:solidFill>
                <a:effectLst/>
                <a:uFillTx/>
                <a:latin typeface="맑은 고딕" panose="020B0503020000020004" pitchFamily="50" charset="-127"/>
                <a:ea typeface="맑은 고딕" panose="020B0503020000020004" pitchFamily="50" charset="-127"/>
              </a:rPr>
              <a:t>상 </a:t>
            </a:r>
            <a:r>
              <a:rPr lang="en-US" altLang="ko-KR" sz="900" b="1" u="none" strike="noStrike" dirty="0">
                <a:solidFill>
                  <a:srgbClr val="0E1D35"/>
                </a:solidFill>
                <a:effectLst/>
                <a:uFillTx/>
                <a:latin typeface="맑은 고딕" panose="020B0503020000020004" pitchFamily="50" charset="-127"/>
                <a:ea typeface="맑은 고딕" panose="020B0503020000020004" pitchFamily="50" charset="-127"/>
              </a:rPr>
              <a:t>Null</a:t>
            </a:r>
            <a:r>
              <a:rPr lang="ko-KR" altLang="en-US" sz="900" b="1" u="none" strike="noStrike" dirty="0">
                <a:solidFill>
                  <a:srgbClr val="0E1D35"/>
                </a:solidFill>
                <a:effectLst/>
                <a:uFillTx/>
                <a:latin typeface="맑은 고딕" panose="020B0503020000020004" pitchFamily="50" charset="-127"/>
                <a:ea typeface="맑은 고딕" panose="020B0503020000020004" pitchFamily="50" charset="-127"/>
              </a:rPr>
              <a:t>로 집계되지 않고 </a:t>
            </a:r>
            <a:r>
              <a:rPr lang="en-US" altLang="ko-KR" sz="900" b="1" u="none" strike="noStrike" dirty="0">
                <a:solidFill>
                  <a:srgbClr val="0E1D35"/>
                </a:solidFill>
                <a:effectLst/>
                <a:uFillTx/>
                <a:latin typeface="맑은 고딕" panose="020B0503020000020004" pitchFamily="50" charset="-127"/>
                <a:ea typeface="맑은 고딕" panose="020B0503020000020004" pitchFamily="50" charset="-127"/>
              </a:rPr>
              <a:t>Type </a:t>
            </a:r>
            <a:r>
              <a:rPr lang="ko-KR" altLang="en-US" sz="900" b="1" u="none" strike="noStrike" dirty="0">
                <a:solidFill>
                  <a:srgbClr val="0E1D35"/>
                </a:solidFill>
                <a:effectLst/>
                <a:uFillTx/>
                <a:latin typeface="맑은 고딕" panose="020B0503020000020004" pitchFamily="50" charset="-127"/>
                <a:ea typeface="맑은 고딕" panose="020B0503020000020004" pitchFamily="50" charset="-127"/>
              </a:rPr>
              <a:t>변경 시 에러가 발생하여 </a:t>
            </a:r>
            <a:r>
              <a:rPr lang="en-US" altLang="ko-KR" sz="900" b="1" u="none" strike="noStrike" dirty="0">
                <a:solidFill>
                  <a:srgbClr val="0E1D35"/>
                </a:solidFill>
                <a:effectLst/>
                <a:uFillTx/>
                <a:latin typeface="맑은 고딕" panose="020B0503020000020004" pitchFamily="50" charset="-127"/>
                <a:ea typeface="맑은 고딕" panose="020B0503020000020004" pitchFamily="50" charset="-127"/>
              </a:rPr>
              <a:t>Null</a:t>
            </a:r>
            <a:r>
              <a:rPr lang="ko-KR" altLang="en-US" sz="900" b="1" u="none" strike="noStrike" dirty="0">
                <a:solidFill>
                  <a:srgbClr val="0E1D35"/>
                </a:solidFill>
                <a:effectLst/>
                <a:uFillTx/>
                <a:latin typeface="맑은 고딕" panose="020B0503020000020004" pitchFamily="50" charset="-127"/>
                <a:ea typeface="맑은 고딕" panose="020B0503020000020004" pitchFamily="50" charset="-127"/>
              </a:rPr>
              <a:t>로 변경</a:t>
            </a:r>
            <a:r>
              <a:rPr lang="en-US" altLang="ko-KR" sz="900" b="1" u="none" strike="noStrike" dirty="0">
                <a:solidFill>
                  <a:srgbClr val="0E1D35"/>
                </a:solidFill>
                <a:effectLst/>
                <a:uFillTx/>
                <a:latin typeface="맑은 고딕" panose="020B0503020000020004" pitchFamily="50" charset="-127"/>
                <a:ea typeface="맑은 고딕" panose="020B0503020000020004" pitchFamily="50" charset="-127"/>
              </a:rPr>
              <a:t>.</a:t>
            </a:r>
          </a:p>
          <a:p>
            <a:pPr defTabSz="914400">
              <a:lnSpc>
                <a:spcPct val="150000"/>
              </a:lnSpc>
              <a:tabLst>
                <a:tab pos="0" algn="l"/>
              </a:tabLst>
            </a:pPr>
            <a:r>
              <a:rPr lang="en-US" altLang="ko-KR" sz="900" b="1" u="none" strike="noStrike" dirty="0">
                <a:solidFill>
                  <a:srgbClr val="0E1D35"/>
                </a:solidFill>
                <a:effectLst/>
                <a:uFillTx/>
                <a:latin typeface="맑은 고딕" panose="020B0503020000020004" pitchFamily="50" charset="-127"/>
                <a:ea typeface="맑은 고딕" panose="020B0503020000020004" pitchFamily="50" charset="-127"/>
              </a:rPr>
              <a:t>| </a:t>
            </a:r>
            <a:r>
              <a:rPr lang="ko-KR" altLang="en-US" sz="900" b="1" u="none" strike="noStrike" dirty="0">
                <a:solidFill>
                  <a:srgbClr val="0E1D35"/>
                </a:solidFill>
                <a:effectLst/>
                <a:uFillTx/>
                <a:latin typeface="맑은 고딕" panose="020B0503020000020004" pitchFamily="50" charset="-127"/>
                <a:ea typeface="맑은 고딕" panose="020B0503020000020004" pitchFamily="50" charset="-127"/>
              </a:rPr>
              <a:t>근거 </a:t>
            </a:r>
            <a:r>
              <a:rPr lang="en-US" altLang="ko-KR" sz="900" b="1" u="none" strike="noStrike" dirty="0">
                <a:solidFill>
                  <a:srgbClr val="0E1D35"/>
                </a:solidFill>
                <a:effectLst/>
                <a:uFillTx/>
                <a:latin typeface="맑은 고딕" panose="020B0503020000020004" pitchFamily="50" charset="-127"/>
                <a:ea typeface="맑은 고딕" panose="020B0503020000020004" pitchFamily="50" charset="-127"/>
              </a:rPr>
              <a:t>: </a:t>
            </a:r>
            <a:r>
              <a:rPr lang="ko-KR" altLang="en-US" sz="900" b="1" u="none" strike="noStrike" dirty="0">
                <a:solidFill>
                  <a:srgbClr val="0E1D35"/>
                </a:solidFill>
                <a:effectLst/>
                <a:uFillTx/>
                <a:latin typeface="맑은 고딕" panose="020B0503020000020004" pitchFamily="50" charset="-127"/>
                <a:ea typeface="맑은 고딕" panose="020B0503020000020004" pitchFamily="50" charset="-127"/>
              </a:rPr>
              <a:t>해당 데이터 기준 지표 및 분석을 위하여 변경함</a:t>
            </a:r>
            <a:r>
              <a:rPr lang="en-US" altLang="ko-KR" sz="900" b="1" u="none" strike="noStrike" dirty="0">
                <a:solidFill>
                  <a:srgbClr val="0E1D35"/>
                </a:solidFill>
                <a:effectLst/>
                <a:uFillTx/>
                <a:latin typeface="맑은 고딕" panose="020B0503020000020004" pitchFamily="50" charset="-127"/>
                <a:ea typeface="맑은 고딕" panose="020B0503020000020004" pitchFamily="50" charset="-127"/>
              </a:rPr>
              <a:t>.</a:t>
            </a:r>
          </a:p>
          <a:p>
            <a:pPr defTabSz="914400">
              <a:lnSpc>
                <a:spcPct val="150000"/>
              </a:lnSpc>
              <a:tabLst>
                <a:tab pos="0" algn="l"/>
              </a:tabLst>
            </a:pPr>
            <a:r>
              <a:rPr lang="en-US" altLang="ko-KR" sz="900" b="1" u="none" strike="noStrike" dirty="0">
                <a:solidFill>
                  <a:srgbClr val="0E1D35"/>
                </a:solidFill>
                <a:effectLst/>
                <a:uFillTx/>
                <a:latin typeface="맑은 고딕" panose="020B0503020000020004" pitchFamily="50" charset="-127"/>
                <a:ea typeface="맑은 고딕" panose="020B0503020000020004" pitchFamily="50" charset="-127"/>
              </a:rPr>
              <a:t>| </a:t>
            </a:r>
            <a:r>
              <a:rPr lang="ko-KR" altLang="en-US" sz="900" b="1" u="none" strike="noStrike" dirty="0">
                <a:solidFill>
                  <a:srgbClr val="0E1D35"/>
                </a:solidFill>
                <a:effectLst/>
                <a:uFillTx/>
                <a:latin typeface="맑은 고딕" panose="020B0503020000020004" pitchFamily="50" charset="-127"/>
                <a:ea typeface="맑은 고딕" panose="020B0503020000020004" pitchFamily="50" charset="-127"/>
              </a:rPr>
              <a:t>한계 </a:t>
            </a:r>
            <a:r>
              <a:rPr lang="en-US" altLang="ko-KR" sz="900" b="1" u="none" strike="noStrike" dirty="0">
                <a:solidFill>
                  <a:srgbClr val="0E1D35"/>
                </a:solidFill>
                <a:effectLst/>
                <a:uFillTx/>
                <a:latin typeface="맑은 고딕" panose="020B0503020000020004" pitchFamily="50" charset="-127"/>
                <a:ea typeface="맑은 고딕" panose="020B0503020000020004" pitchFamily="50" charset="-127"/>
              </a:rPr>
              <a:t>: "" </a:t>
            </a:r>
            <a:r>
              <a:rPr lang="ko-KR" altLang="en-US" sz="900" b="1" u="none" strike="noStrike" dirty="0">
                <a:solidFill>
                  <a:srgbClr val="0E1D35"/>
                </a:solidFill>
                <a:effectLst/>
                <a:uFillTx/>
                <a:latin typeface="맑은 고딕" panose="020B0503020000020004" pitchFamily="50" charset="-127"/>
                <a:ea typeface="맑은 고딕" panose="020B0503020000020004" pitchFamily="50" charset="-127"/>
              </a:rPr>
              <a:t>데이터의 수집 경위를 파악하고 추가적으로 이상 값이 수집될 수 있는지 점검 필요하며 추후 분석 시에도 해당 </a:t>
            </a:r>
            <a:r>
              <a:rPr lang="ko-KR" altLang="en-US" sz="900" b="1" u="none" strike="noStrike" dirty="0" err="1">
                <a:solidFill>
                  <a:srgbClr val="0E1D35"/>
                </a:solidFill>
                <a:effectLst/>
                <a:uFillTx/>
                <a:latin typeface="맑은 고딕" panose="020B0503020000020004" pitchFamily="50" charset="-127"/>
                <a:ea typeface="맑은 고딕" panose="020B0503020000020004" pitchFamily="50" charset="-127"/>
              </a:rPr>
              <a:t>전처리</a:t>
            </a:r>
            <a:r>
              <a:rPr lang="ko-KR" altLang="en-US" sz="900" b="1" u="none" strike="noStrike" dirty="0">
                <a:solidFill>
                  <a:srgbClr val="0E1D35"/>
                </a:solidFill>
                <a:effectLst/>
                <a:uFillTx/>
                <a:latin typeface="맑은 고딕" panose="020B0503020000020004" pitchFamily="50" charset="-127"/>
                <a:ea typeface="맑은 고딕" panose="020B0503020000020004" pitchFamily="50" charset="-127"/>
              </a:rPr>
              <a:t> 작업 필수</a:t>
            </a:r>
            <a:r>
              <a:rPr lang="en-US" altLang="ko-KR" sz="900" b="1" u="none" strike="noStrike" dirty="0">
                <a:solidFill>
                  <a:srgbClr val="0E1D35"/>
                </a:solidFill>
                <a:effectLst/>
                <a:uFillTx/>
                <a:latin typeface="맑은 고딕" panose="020B0503020000020004" pitchFamily="50" charset="-127"/>
                <a:ea typeface="맑은 고딕" panose="020B0503020000020004" pitchFamily="50" charset="-127"/>
              </a:rPr>
              <a:t>.</a:t>
            </a:r>
          </a:p>
          <a:p>
            <a:pPr defTabSz="914400">
              <a:lnSpc>
                <a:spcPct val="150000"/>
              </a:lnSpc>
              <a:tabLst>
                <a:tab pos="0" algn="l"/>
              </a:tabLst>
            </a:pPr>
            <a:endParaRPr lang="en-US" altLang="ko-KR" sz="900" b="1" u="none" strike="noStrike" dirty="0">
              <a:solidFill>
                <a:srgbClr val="0E1D35"/>
              </a:solidFill>
              <a:effectLst/>
              <a:uFillTx/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defTabSz="914400">
              <a:lnSpc>
                <a:spcPct val="150000"/>
              </a:lnSpc>
              <a:tabLst>
                <a:tab pos="0" algn="l"/>
              </a:tabLst>
            </a:pPr>
            <a:r>
              <a:rPr lang="en-US" altLang="ko-KR" sz="900" b="1" u="none" strike="noStrike" dirty="0">
                <a:solidFill>
                  <a:srgbClr val="0E1D35"/>
                </a:solidFill>
                <a:effectLst/>
                <a:uFillTx/>
                <a:latin typeface="맑은 고딕" panose="020B0503020000020004" pitchFamily="50" charset="-127"/>
                <a:ea typeface="맑은 고딕" panose="020B0503020000020004" pitchFamily="50" charset="-127"/>
              </a:rPr>
              <a:t>(5) </a:t>
            </a:r>
            <a:r>
              <a:rPr lang="en-US" altLang="ko-KR" sz="900" b="1" u="none" strike="noStrike" dirty="0" err="1">
                <a:solidFill>
                  <a:srgbClr val="0E1D35"/>
                </a:solidFill>
                <a:effectLst/>
                <a:uFillTx/>
                <a:latin typeface="맑은 고딕" panose="020B0503020000020004" pitchFamily="50" charset="-127"/>
                <a:ea typeface="맑은 고딕" panose="020B0503020000020004" pitchFamily="50" charset="-127"/>
              </a:rPr>
              <a:t>product_id</a:t>
            </a:r>
            <a:r>
              <a:rPr lang="en-US" altLang="ko-KR" sz="900" b="1" u="none" strike="noStrike" dirty="0">
                <a:solidFill>
                  <a:srgbClr val="0E1D35"/>
                </a:solidFill>
                <a:effectLst/>
                <a:uFillTx/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ko-KR" altLang="en-US" sz="900" b="1" u="none" strike="noStrike" dirty="0">
                <a:solidFill>
                  <a:srgbClr val="0E1D35"/>
                </a:solidFill>
                <a:effectLst/>
                <a:uFillTx/>
                <a:latin typeface="맑은 고딕" panose="020B0503020000020004" pitchFamily="50" charset="-127"/>
                <a:ea typeface="맑은 고딕" panose="020B0503020000020004" pitchFamily="50" charset="-127"/>
              </a:rPr>
              <a:t>중복 행 처리</a:t>
            </a:r>
          </a:p>
          <a:p>
            <a:pPr defTabSz="914400">
              <a:lnSpc>
                <a:spcPct val="150000"/>
              </a:lnSpc>
              <a:tabLst>
                <a:tab pos="0" algn="l"/>
              </a:tabLst>
            </a:pPr>
            <a:r>
              <a:rPr lang="en-US" altLang="ko-KR" sz="900" b="1" u="none" strike="noStrike" dirty="0">
                <a:solidFill>
                  <a:srgbClr val="0E1D35"/>
                </a:solidFill>
                <a:effectLst/>
                <a:uFillTx/>
                <a:latin typeface="맑은 고딕" panose="020B0503020000020004" pitchFamily="50" charset="-127"/>
                <a:ea typeface="맑은 고딕" panose="020B0503020000020004" pitchFamily="50" charset="-127"/>
              </a:rPr>
              <a:t>| </a:t>
            </a:r>
            <a:r>
              <a:rPr lang="ko-KR" altLang="en-US" sz="900" b="1" u="none" strike="noStrike" dirty="0">
                <a:solidFill>
                  <a:srgbClr val="0E1D35"/>
                </a:solidFill>
                <a:effectLst/>
                <a:uFillTx/>
                <a:latin typeface="맑은 고딕" panose="020B0503020000020004" pitchFamily="50" charset="-127"/>
                <a:ea typeface="맑은 고딕" panose="020B0503020000020004" pitchFamily="50" charset="-127"/>
              </a:rPr>
              <a:t>이슈</a:t>
            </a:r>
            <a:r>
              <a:rPr lang="en-US" altLang="ko-KR" sz="900" b="1" u="none" strike="noStrike" dirty="0">
                <a:solidFill>
                  <a:srgbClr val="0E1D35"/>
                </a:solidFill>
                <a:effectLst/>
                <a:uFillTx/>
                <a:latin typeface="맑은 고딕" panose="020B0503020000020004" pitchFamily="50" charset="-127"/>
                <a:ea typeface="맑은 고딕" panose="020B0503020000020004" pitchFamily="50" charset="-127"/>
              </a:rPr>
              <a:t>: </a:t>
            </a:r>
            <a:r>
              <a:rPr lang="en-US" altLang="ko-KR" sz="900" b="1" u="none" strike="noStrike" dirty="0" err="1">
                <a:solidFill>
                  <a:srgbClr val="0E1D35"/>
                </a:solidFill>
                <a:effectLst/>
                <a:uFillTx/>
                <a:latin typeface="맑은 고딕" panose="020B0503020000020004" pitchFamily="50" charset="-127"/>
                <a:ea typeface="맑은 고딕" panose="020B0503020000020004" pitchFamily="50" charset="-127"/>
              </a:rPr>
              <a:t>product_id</a:t>
            </a:r>
            <a:r>
              <a:rPr lang="en-US" altLang="ko-KR" sz="900" b="1" u="none" strike="noStrike" dirty="0">
                <a:solidFill>
                  <a:srgbClr val="0E1D35"/>
                </a:solidFill>
                <a:effectLst/>
                <a:uFillTx/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ko-KR" altLang="en-US" sz="900" b="1" u="none" strike="noStrike" dirty="0">
                <a:solidFill>
                  <a:srgbClr val="0E1D35"/>
                </a:solidFill>
                <a:effectLst/>
                <a:uFillTx/>
                <a:latin typeface="맑은 고딕" panose="020B0503020000020004" pitchFamily="50" charset="-127"/>
                <a:ea typeface="맑은 고딕" panose="020B0503020000020004" pitchFamily="50" charset="-127"/>
              </a:rPr>
              <a:t>기준 </a:t>
            </a:r>
            <a:r>
              <a:rPr lang="en-US" altLang="ko-KR" sz="900" b="1" u="none" strike="noStrike" dirty="0" err="1">
                <a:solidFill>
                  <a:srgbClr val="0E1D35"/>
                </a:solidFill>
                <a:effectLst/>
                <a:uFillTx/>
                <a:latin typeface="맑은 고딕" panose="020B0503020000020004" pitchFamily="50" charset="-127"/>
                <a:ea typeface="맑은 고딕" panose="020B0503020000020004" pitchFamily="50" charset="-127"/>
              </a:rPr>
              <a:t>img_link</a:t>
            </a:r>
            <a:r>
              <a:rPr lang="ko-KR" altLang="en-US" sz="900" b="1" u="none" strike="noStrike" dirty="0">
                <a:solidFill>
                  <a:srgbClr val="0E1D35"/>
                </a:solidFill>
                <a:effectLst/>
                <a:uFillTx/>
                <a:latin typeface="맑은 고딕" panose="020B0503020000020004" pitchFamily="50" charset="-127"/>
                <a:ea typeface="맑은 고딕" panose="020B0503020000020004" pitchFamily="50" charset="-127"/>
              </a:rPr>
              <a:t>의 값이 달라 중복된 행이 생성된 것으로 확인됨</a:t>
            </a:r>
            <a:r>
              <a:rPr lang="en-US" altLang="ko-KR" sz="900" b="1" u="none" strike="noStrike" dirty="0">
                <a:solidFill>
                  <a:srgbClr val="0E1D35"/>
                </a:solidFill>
                <a:effectLst/>
                <a:uFillTx/>
                <a:latin typeface="맑은 고딕" panose="020B0503020000020004" pitchFamily="50" charset="-127"/>
                <a:ea typeface="맑은 고딕" panose="020B0503020000020004" pitchFamily="50" charset="-127"/>
              </a:rPr>
              <a:t>.</a:t>
            </a:r>
          </a:p>
          <a:p>
            <a:pPr defTabSz="914400">
              <a:lnSpc>
                <a:spcPct val="150000"/>
              </a:lnSpc>
              <a:tabLst>
                <a:tab pos="0" algn="l"/>
              </a:tabLst>
            </a:pPr>
            <a:r>
              <a:rPr lang="en-US" altLang="ko-KR" sz="900" b="1" u="none" strike="noStrike" dirty="0">
                <a:solidFill>
                  <a:srgbClr val="0E1D35"/>
                </a:solidFill>
                <a:effectLst/>
                <a:uFillTx/>
                <a:latin typeface="맑은 고딕" panose="020B0503020000020004" pitchFamily="50" charset="-127"/>
                <a:ea typeface="맑은 고딕" panose="020B0503020000020004" pitchFamily="50" charset="-127"/>
              </a:rPr>
              <a:t>| </a:t>
            </a:r>
            <a:r>
              <a:rPr lang="ko-KR" altLang="en-US" sz="900" b="1" u="none" strike="noStrike" dirty="0">
                <a:solidFill>
                  <a:srgbClr val="0E1D35"/>
                </a:solidFill>
                <a:effectLst/>
                <a:uFillTx/>
                <a:latin typeface="맑은 고딕" panose="020B0503020000020004" pitchFamily="50" charset="-127"/>
                <a:ea typeface="맑은 고딕" panose="020B0503020000020004" pitchFamily="50" charset="-127"/>
              </a:rPr>
              <a:t>결정 </a:t>
            </a:r>
            <a:r>
              <a:rPr lang="en-US" altLang="ko-KR" sz="900" b="1" u="none" strike="noStrike" dirty="0">
                <a:solidFill>
                  <a:srgbClr val="0E1D35"/>
                </a:solidFill>
                <a:effectLst/>
                <a:uFillTx/>
                <a:latin typeface="맑은 고딕" panose="020B0503020000020004" pitchFamily="50" charset="-127"/>
                <a:ea typeface="맑은 고딕" panose="020B0503020000020004" pitchFamily="50" charset="-127"/>
              </a:rPr>
              <a:t>: </a:t>
            </a:r>
            <a:r>
              <a:rPr lang="en-US" altLang="ko-KR" sz="900" b="1" u="none" strike="noStrike" dirty="0" err="1">
                <a:solidFill>
                  <a:srgbClr val="0E1D35"/>
                </a:solidFill>
                <a:effectLst/>
                <a:uFillTx/>
                <a:latin typeface="맑은 고딕" panose="020B0503020000020004" pitchFamily="50" charset="-127"/>
                <a:ea typeface="맑은 고딕" panose="020B0503020000020004" pitchFamily="50" charset="-127"/>
              </a:rPr>
              <a:t>product_id</a:t>
            </a:r>
            <a:r>
              <a:rPr lang="en-US" altLang="ko-KR" sz="900" b="1" u="none" strike="noStrike" dirty="0">
                <a:solidFill>
                  <a:srgbClr val="0E1D35"/>
                </a:solidFill>
                <a:effectLst/>
                <a:uFillTx/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ko-KR" altLang="en-US" sz="900" b="1" u="none" strike="noStrike" dirty="0">
                <a:solidFill>
                  <a:srgbClr val="0E1D35"/>
                </a:solidFill>
                <a:effectLst/>
                <a:uFillTx/>
                <a:latin typeface="맑은 고딕" panose="020B0503020000020004" pitchFamily="50" charset="-127"/>
                <a:ea typeface="맑은 고딕" panose="020B0503020000020004" pitchFamily="50" charset="-127"/>
              </a:rPr>
              <a:t>기준 </a:t>
            </a:r>
            <a:r>
              <a:rPr lang="en-US" altLang="ko-KR" sz="900" b="1" u="none" strike="noStrike" dirty="0" err="1">
                <a:solidFill>
                  <a:srgbClr val="0E1D35"/>
                </a:solidFill>
                <a:effectLst/>
                <a:uFillTx/>
                <a:latin typeface="맑은 고딕" panose="020B0503020000020004" pitchFamily="50" charset="-127"/>
                <a:ea typeface="맑은 고딕" panose="020B0503020000020004" pitchFamily="50" charset="-127"/>
              </a:rPr>
              <a:t>img_link</a:t>
            </a:r>
            <a:r>
              <a:rPr lang="ko-KR" altLang="en-US" sz="900" b="1" u="none" strike="noStrike" dirty="0">
                <a:solidFill>
                  <a:srgbClr val="0E1D35"/>
                </a:solidFill>
                <a:effectLst/>
                <a:uFillTx/>
                <a:latin typeface="맑은 고딕" panose="020B0503020000020004" pitchFamily="50" charset="-127"/>
                <a:ea typeface="맑은 고딕" panose="020B0503020000020004" pitchFamily="50" charset="-127"/>
              </a:rPr>
              <a:t>가 달라 중복으로 확인된 행은 삭제 처리함</a:t>
            </a:r>
            <a:r>
              <a:rPr lang="en-US" altLang="ko-KR" sz="900" b="1" u="none" strike="noStrike" dirty="0">
                <a:solidFill>
                  <a:srgbClr val="0E1D35"/>
                </a:solidFill>
                <a:effectLst/>
                <a:uFillTx/>
                <a:latin typeface="맑은 고딕" panose="020B0503020000020004" pitchFamily="50" charset="-127"/>
                <a:ea typeface="맑은 고딕" panose="020B0503020000020004" pitchFamily="50" charset="-127"/>
              </a:rPr>
              <a:t>.</a:t>
            </a:r>
          </a:p>
          <a:p>
            <a:pPr defTabSz="914400">
              <a:lnSpc>
                <a:spcPct val="150000"/>
              </a:lnSpc>
              <a:tabLst>
                <a:tab pos="0" algn="l"/>
              </a:tabLst>
            </a:pPr>
            <a:r>
              <a:rPr lang="en-US" altLang="ko-KR" sz="900" b="1" u="none" strike="noStrike" dirty="0">
                <a:solidFill>
                  <a:srgbClr val="0E1D35"/>
                </a:solidFill>
                <a:effectLst/>
                <a:uFillTx/>
                <a:latin typeface="맑은 고딕" panose="020B0503020000020004" pitchFamily="50" charset="-127"/>
                <a:ea typeface="맑은 고딕" panose="020B0503020000020004" pitchFamily="50" charset="-127"/>
              </a:rPr>
              <a:t>| </a:t>
            </a:r>
            <a:r>
              <a:rPr lang="ko-KR" altLang="en-US" sz="900" b="1" u="none" strike="noStrike" dirty="0">
                <a:solidFill>
                  <a:srgbClr val="0E1D35"/>
                </a:solidFill>
                <a:effectLst/>
                <a:uFillTx/>
                <a:latin typeface="맑은 고딕" panose="020B0503020000020004" pitchFamily="50" charset="-127"/>
                <a:ea typeface="맑은 고딕" panose="020B0503020000020004" pitchFamily="50" charset="-127"/>
              </a:rPr>
              <a:t>근거 </a:t>
            </a:r>
            <a:r>
              <a:rPr lang="en-US" altLang="ko-KR" sz="900" b="1" u="none" strike="noStrike" dirty="0">
                <a:solidFill>
                  <a:srgbClr val="0E1D35"/>
                </a:solidFill>
                <a:effectLst/>
                <a:uFillTx/>
                <a:latin typeface="맑은 고딕" panose="020B0503020000020004" pitchFamily="50" charset="-127"/>
                <a:ea typeface="맑은 고딕" panose="020B0503020000020004" pitchFamily="50" charset="-127"/>
              </a:rPr>
              <a:t>: </a:t>
            </a:r>
            <a:r>
              <a:rPr lang="en-US" altLang="ko-KR" sz="900" b="1" u="none" strike="noStrike" dirty="0" err="1">
                <a:solidFill>
                  <a:srgbClr val="0E1D35"/>
                </a:solidFill>
                <a:effectLst/>
                <a:uFillTx/>
                <a:latin typeface="맑은 고딕" panose="020B0503020000020004" pitchFamily="50" charset="-127"/>
                <a:ea typeface="맑은 고딕" panose="020B0503020000020004" pitchFamily="50" charset="-127"/>
              </a:rPr>
              <a:t>img_link</a:t>
            </a:r>
            <a:r>
              <a:rPr lang="ko-KR" altLang="en-US" sz="900" b="1" u="none" strike="noStrike" dirty="0">
                <a:solidFill>
                  <a:srgbClr val="0E1D35"/>
                </a:solidFill>
                <a:effectLst/>
                <a:uFillTx/>
                <a:latin typeface="맑은 고딕" panose="020B0503020000020004" pitchFamily="50" charset="-127"/>
                <a:ea typeface="맑은 고딕" panose="020B0503020000020004" pitchFamily="50" charset="-127"/>
              </a:rPr>
              <a:t>의 경우 지표 및 분석에 활용되지 않으며</a:t>
            </a:r>
            <a:r>
              <a:rPr lang="en-US" altLang="ko-KR" sz="900" b="1" u="none" strike="noStrike" dirty="0">
                <a:solidFill>
                  <a:srgbClr val="0E1D35"/>
                </a:solidFill>
                <a:effectLst/>
                <a:uFillTx/>
                <a:latin typeface="맑은 고딕" panose="020B0503020000020004" pitchFamily="50" charset="-127"/>
                <a:ea typeface="맑은 고딕" panose="020B0503020000020004" pitchFamily="50" charset="-127"/>
              </a:rPr>
              <a:t>, </a:t>
            </a:r>
            <a:r>
              <a:rPr lang="ko-KR" altLang="en-US" sz="900" b="1" u="none" strike="noStrike" dirty="0">
                <a:solidFill>
                  <a:srgbClr val="0E1D35"/>
                </a:solidFill>
                <a:effectLst/>
                <a:uFillTx/>
                <a:latin typeface="맑은 고딕" panose="020B0503020000020004" pitchFamily="50" charset="-127"/>
                <a:ea typeface="맑은 고딕" panose="020B0503020000020004" pitchFamily="50" charset="-127"/>
              </a:rPr>
              <a:t>값 부풀림이 예상되어 중복 행 삭제함</a:t>
            </a:r>
            <a:r>
              <a:rPr lang="en-US" altLang="ko-KR" sz="900" b="1" u="none" strike="noStrike" dirty="0">
                <a:solidFill>
                  <a:srgbClr val="0E1D35"/>
                </a:solidFill>
                <a:effectLst/>
                <a:uFillTx/>
                <a:latin typeface="맑은 고딕" panose="020B0503020000020004" pitchFamily="50" charset="-127"/>
                <a:ea typeface="맑은 고딕" panose="020B0503020000020004" pitchFamily="50" charset="-127"/>
              </a:rPr>
              <a:t>.</a:t>
            </a:r>
          </a:p>
          <a:p>
            <a:pPr defTabSz="914400">
              <a:lnSpc>
                <a:spcPct val="150000"/>
              </a:lnSpc>
              <a:tabLst>
                <a:tab pos="0" algn="l"/>
              </a:tabLst>
            </a:pPr>
            <a:r>
              <a:rPr lang="en-US" altLang="ko-KR" sz="900" b="1" u="none" strike="noStrike" dirty="0">
                <a:solidFill>
                  <a:srgbClr val="0E1D35"/>
                </a:solidFill>
                <a:effectLst/>
                <a:uFillTx/>
                <a:latin typeface="맑은 고딕" panose="020B0503020000020004" pitchFamily="50" charset="-127"/>
                <a:ea typeface="맑은 고딕" panose="020B0503020000020004" pitchFamily="50" charset="-127"/>
              </a:rPr>
              <a:t>| </a:t>
            </a:r>
            <a:r>
              <a:rPr lang="ko-KR" altLang="en-US" sz="900" b="1" u="none" strike="noStrike" dirty="0">
                <a:solidFill>
                  <a:srgbClr val="0E1D35"/>
                </a:solidFill>
                <a:effectLst/>
                <a:uFillTx/>
                <a:latin typeface="맑은 고딕" panose="020B0503020000020004" pitchFamily="50" charset="-127"/>
                <a:ea typeface="맑은 고딕" panose="020B0503020000020004" pitchFamily="50" charset="-127"/>
              </a:rPr>
              <a:t>한계 </a:t>
            </a:r>
            <a:r>
              <a:rPr lang="en-US" altLang="ko-KR" sz="900" b="1" u="none" strike="noStrike" dirty="0">
                <a:solidFill>
                  <a:srgbClr val="0E1D35"/>
                </a:solidFill>
                <a:effectLst/>
                <a:uFillTx/>
                <a:latin typeface="맑은 고딕" panose="020B0503020000020004" pitchFamily="50" charset="-127"/>
                <a:ea typeface="맑은 고딕" panose="020B0503020000020004" pitchFamily="50" charset="-127"/>
              </a:rPr>
              <a:t>: </a:t>
            </a:r>
            <a:r>
              <a:rPr lang="ko-KR" altLang="en-US" sz="900" b="1" u="none" strike="noStrike" dirty="0">
                <a:solidFill>
                  <a:srgbClr val="0E1D35"/>
                </a:solidFill>
                <a:effectLst/>
                <a:uFillTx/>
                <a:latin typeface="맑은 고딕" panose="020B0503020000020004" pitchFamily="50" charset="-127"/>
                <a:ea typeface="맑은 고딕" panose="020B0503020000020004" pitchFamily="50" charset="-127"/>
              </a:rPr>
              <a:t>다른 컬럼과 동일하게 </a:t>
            </a:r>
            <a:r>
              <a:rPr lang="en-US" altLang="ko-KR" sz="900" b="1" u="none" strike="noStrike" dirty="0">
                <a:solidFill>
                  <a:srgbClr val="0E1D35"/>
                </a:solidFill>
                <a:effectLst/>
                <a:uFillTx/>
                <a:latin typeface="맑은 고딕" panose="020B0503020000020004" pitchFamily="50" charset="-127"/>
                <a:ea typeface="맑은 고딕" panose="020B0503020000020004" pitchFamily="50" charset="-127"/>
              </a:rPr>
              <a:t>|</a:t>
            </a:r>
            <a:r>
              <a:rPr lang="ko-KR" altLang="en-US" sz="900" b="1" u="none" strike="noStrike" dirty="0">
                <a:solidFill>
                  <a:srgbClr val="0E1D35"/>
                </a:solidFill>
                <a:effectLst/>
                <a:uFillTx/>
                <a:latin typeface="맑은 고딕" panose="020B0503020000020004" pitchFamily="50" charset="-127"/>
                <a:ea typeface="맑은 고딕" panose="020B0503020000020004" pitchFamily="50" charset="-127"/>
              </a:rPr>
              <a:t>와 같이 하나의 행에 데이터가 수집되어 있지 않아 전체적인 데이터 형식의 통일이 필요함</a:t>
            </a:r>
            <a:r>
              <a:rPr lang="en-US" altLang="ko-KR" sz="900" b="1" u="none" strike="noStrike" dirty="0">
                <a:solidFill>
                  <a:srgbClr val="0E1D35"/>
                </a:solidFill>
                <a:effectLst/>
                <a:uFillTx/>
                <a:latin typeface="맑은 고딕" panose="020B0503020000020004" pitchFamily="50" charset="-127"/>
                <a:ea typeface="맑은 고딕" panose="020B0503020000020004" pitchFamily="50" charset="-127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64505851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FC883C-DF22-40C4-22D7-92D69E95BD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직사각형 34">
            <a:extLst>
              <a:ext uri="{FF2B5EF4-FFF2-40B4-BE49-F238E27FC236}">
                <a16:creationId xmlns:a16="http://schemas.microsoft.com/office/drawing/2014/main" id="{07ED6BA8-7471-6094-ABF4-92712B245E6C}"/>
              </a:ext>
            </a:extLst>
          </p:cNvPr>
          <p:cNvSpPr/>
          <p:nvPr/>
        </p:nvSpPr>
        <p:spPr>
          <a:xfrm>
            <a:off x="714240" y="666720"/>
            <a:ext cx="6924240" cy="380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anchor="b">
            <a:normAutofit fontScale="77500" lnSpcReduction="20000"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altLang="ko-KR" sz="3000" b="1" u="none" strike="noStrike" dirty="0">
                <a:solidFill>
                  <a:srgbClr val="0E1D35"/>
                </a:solidFill>
                <a:effectLst/>
                <a:uFillTx/>
                <a:latin typeface="맑은 고딕" panose="020B0503020000020004" pitchFamily="50" charset="-127"/>
                <a:ea typeface="맑은 고딕" panose="020B0503020000020004" pitchFamily="50" charset="-127"/>
              </a:rPr>
              <a:t>0. </a:t>
            </a:r>
            <a:r>
              <a:rPr lang="ko-KR" altLang="en-US" sz="3000" b="1" u="none" strike="noStrike" dirty="0">
                <a:solidFill>
                  <a:srgbClr val="0E1D35"/>
                </a:solidFill>
                <a:effectLst/>
                <a:uFillTx/>
                <a:latin typeface="맑은 고딕" panose="020B0503020000020004" pitchFamily="50" charset="-127"/>
                <a:ea typeface="맑은 고딕" panose="020B0503020000020004" pitchFamily="50" charset="-127"/>
              </a:rPr>
              <a:t>데이터셋 정보</a:t>
            </a:r>
            <a:endParaRPr lang="en-US" sz="3000" b="0" u="none" strike="noStrike" dirty="0">
              <a:solidFill>
                <a:srgbClr val="000000"/>
              </a:solidFill>
              <a:effectLst/>
              <a:uFillTx/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36" name="직사각형 35">
            <a:extLst>
              <a:ext uri="{FF2B5EF4-FFF2-40B4-BE49-F238E27FC236}">
                <a16:creationId xmlns:a16="http://schemas.microsoft.com/office/drawing/2014/main" id="{3D74625C-4DD0-433A-048C-5E288645A810}"/>
              </a:ext>
            </a:extLst>
          </p:cNvPr>
          <p:cNvSpPr/>
          <p:nvPr/>
        </p:nvSpPr>
        <p:spPr>
          <a:xfrm>
            <a:off x="714239" y="1204452"/>
            <a:ext cx="7938148" cy="3559277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anchor="t">
            <a:normAutofit/>
          </a:bodyPr>
          <a:lstStyle/>
          <a:p>
            <a:pPr defTabSz="914400">
              <a:lnSpc>
                <a:spcPct val="150000"/>
              </a:lnSpc>
              <a:tabLst>
                <a:tab pos="0" algn="l"/>
              </a:tabLst>
            </a:pPr>
            <a:r>
              <a:rPr lang="en-US" altLang="ko-KR" sz="1000" b="1" u="none" strike="noStrike" dirty="0">
                <a:solidFill>
                  <a:srgbClr val="0E1D35"/>
                </a:solidFill>
                <a:effectLst/>
                <a:uFillTx/>
                <a:latin typeface="맑은 고딕" panose="020B0503020000020004" pitchFamily="50" charset="-127"/>
                <a:ea typeface="맑은 고딕" panose="020B0503020000020004" pitchFamily="50" charset="-127"/>
              </a:rPr>
              <a:t>4. </a:t>
            </a:r>
            <a:r>
              <a:rPr lang="ko-KR" altLang="en-US" sz="1000" b="1" u="none" strike="noStrike" dirty="0">
                <a:solidFill>
                  <a:srgbClr val="0E1D35"/>
                </a:solidFill>
                <a:effectLst/>
                <a:uFillTx/>
                <a:latin typeface="맑은 고딕" panose="020B0503020000020004" pitchFamily="50" charset="-127"/>
                <a:ea typeface="맑은 고딕" panose="020B0503020000020004" pitchFamily="50" charset="-127"/>
              </a:rPr>
              <a:t>처리 후 검증</a:t>
            </a:r>
          </a:p>
          <a:p>
            <a:pPr defTabSz="914400">
              <a:lnSpc>
                <a:spcPct val="150000"/>
              </a:lnSpc>
              <a:tabLst>
                <a:tab pos="0" algn="l"/>
              </a:tabLst>
            </a:pPr>
            <a:r>
              <a:rPr lang="en-US" altLang="ko-KR" sz="1000" b="1" u="none" strike="noStrike" dirty="0">
                <a:solidFill>
                  <a:srgbClr val="0E1D35"/>
                </a:solidFill>
                <a:effectLst/>
                <a:uFillTx/>
                <a:latin typeface="맑은 고딕" panose="020B0503020000020004" pitchFamily="50" charset="-127"/>
                <a:ea typeface="맑은 고딕" panose="020B0503020000020004" pitchFamily="50" charset="-127"/>
              </a:rPr>
              <a:t>- </a:t>
            </a:r>
            <a:r>
              <a:rPr lang="en-US" altLang="ko-KR" sz="1000" b="1" u="none" strike="noStrike" dirty="0" err="1">
                <a:solidFill>
                  <a:srgbClr val="0E1D35"/>
                </a:solidFill>
                <a:effectLst/>
                <a:uFillTx/>
                <a:latin typeface="맑은 고딕" panose="020B0503020000020004" pitchFamily="50" charset="-127"/>
                <a:ea typeface="맑은 고딕" panose="020B0503020000020004" pitchFamily="50" charset="-127"/>
              </a:rPr>
              <a:t>product_id</a:t>
            </a:r>
            <a:r>
              <a:rPr lang="en-US" altLang="ko-KR" sz="1000" b="1" u="none" strike="noStrike" dirty="0">
                <a:solidFill>
                  <a:srgbClr val="0E1D35"/>
                </a:solidFill>
                <a:effectLst/>
                <a:uFillTx/>
                <a:latin typeface="맑은 고딕" panose="020B0503020000020004" pitchFamily="50" charset="-127"/>
                <a:ea typeface="맑은 고딕" panose="020B0503020000020004" pitchFamily="50" charset="-127"/>
              </a:rPr>
              <a:t> B0B94JPY2N, B0BQRJ3C47</a:t>
            </a:r>
            <a:r>
              <a:rPr lang="ko-KR" altLang="en-US" sz="1000" b="1" u="none" strike="noStrike" dirty="0">
                <a:solidFill>
                  <a:srgbClr val="0E1D35"/>
                </a:solidFill>
                <a:effectLst/>
                <a:uFillTx/>
                <a:latin typeface="맑은 고딕" panose="020B0503020000020004" pitchFamily="50" charset="-127"/>
                <a:ea typeface="맑은 고딕" panose="020B0503020000020004" pitchFamily="50" charset="-127"/>
              </a:rPr>
              <a:t>의 </a:t>
            </a:r>
            <a:r>
              <a:rPr lang="en-US" altLang="ko-KR" sz="1000" b="1" u="none" strike="noStrike" dirty="0" err="1">
                <a:solidFill>
                  <a:srgbClr val="0E1D35"/>
                </a:solidFill>
                <a:effectLst/>
                <a:uFillTx/>
                <a:latin typeface="맑은 고딕" panose="020B0503020000020004" pitchFamily="50" charset="-127"/>
                <a:ea typeface="맑은 고딕" panose="020B0503020000020004" pitchFamily="50" charset="-127"/>
              </a:rPr>
              <a:t>rating_count</a:t>
            </a:r>
            <a:r>
              <a:rPr lang="en-US" altLang="ko-KR" sz="1000" b="1" u="none" strike="noStrike" dirty="0">
                <a:solidFill>
                  <a:srgbClr val="0E1D35"/>
                </a:solidFill>
                <a:effectLst/>
                <a:uFillTx/>
                <a:latin typeface="맑은 고딕" panose="020B0503020000020004" pitchFamily="50" charset="-127"/>
                <a:ea typeface="맑은 고딕" panose="020B0503020000020004" pitchFamily="50" charset="-127"/>
              </a:rPr>
              <a:t> 2</a:t>
            </a:r>
            <a:r>
              <a:rPr lang="ko-KR" altLang="en-US" sz="1000" b="1" u="none" strike="noStrike" dirty="0">
                <a:solidFill>
                  <a:srgbClr val="0E1D35"/>
                </a:solidFill>
                <a:effectLst/>
                <a:uFillTx/>
                <a:latin typeface="맑은 고딕" panose="020B0503020000020004" pitchFamily="50" charset="-127"/>
                <a:ea typeface="맑은 고딕" panose="020B0503020000020004" pitchFamily="50" charset="-127"/>
              </a:rPr>
              <a:t>건 </a:t>
            </a:r>
            <a:r>
              <a:rPr lang="en-US" altLang="ko-KR" sz="1000" b="1" u="none" strike="noStrike" dirty="0">
                <a:solidFill>
                  <a:srgbClr val="0E1D35"/>
                </a:solidFill>
                <a:effectLst/>
                <a:uFillTx/>
                <a:latin typeface="맑은 고딕" panose="020B0503020000020004" pitchFamily="50" charset="-127"/>
                <a:ea typeface="맑은 고딕" panose="020B0503020000020004" pitchFamily="50" charset="-127"/>
              </a:rPr>
              <a:t>Null</a:t>
            </a:r>
          </a:p>
          <a:p>
            <a:pPr defTabSz="914400">
              <a:lnSpc>
                <a:spcPct val="150000"/>
              </a:lnSpc>
              <a:tabLst>
                <a:tab pos="0" algn="l"/>
              </a:tabLst>
            </a:pPr>
            <a:r>
              <a:rPr lang="en-US" altLang="ko-KR" sz="1000" b="1" u="none" strike="noStrike" dirty="0">
                <a:solidFill>
                  <a:srgbClr val="0E1D35"/>
                </a:solidFill>
                <a:effectLst/>
                <a:uFillTx/>
                <a:latin typeface="맑은 고딕" panose="020B0503020000020004" pitchFamily="50" charset="-127"/>
                <a:ea typeface="맑은 고딕" panose="020B0503020000020004" pitchFamily="50" charset="-127"/>
              </a:rPr>
              <a:t>- </a:t>
            </a:r>
            <a:r>
              <a:rPr lang="en-US" altLang="ko-KR" sz="1000" b="1" u="none" strike="noStrike" dirty="0" err="1">
                <a:solidFill>
                  <a:srgbClr val="0E1D35"/>
                </a:solidFill>
                <a:effectLst/>
                <a:uFillTx/>
                <a:latin typeface="맑은 고딕" panose="020B0503020000020004" pitchFamily="50" charset="-127"/>
                <a:ea typeface="맑은 고딕" panose="020B0503020000020004" pitchFamily="50" charset="-127"/>
              </a:rPr>
              <a:t>product_id</a:t>
            </a:r>
            <a:r>
              <a:rPr lang="en-US" altLang="ko-KR" sz="1000" b="1" u="none" strike="noStrike" dirty="0">
                <a:solidFill>
                  <a:srgbClr val="0E1D35"/>
                </a:solidFill>
                <a:effectLst/>
                <a:uFillTx/>
                <a:latin typeface="맑은 고딕" panose="020B0503020000020004" pitchFamily="50" charset="-127"/>
                <a:ea typeface="맑은 고딕" panose="020B0503020000020004" pitchFamily="50" charset="-127"/>
              </a:rPr>
              <a:t> B08L12N5H1</a:t>
            </a:r>
            <a:r>
              <a:rPr lang="ko-KR" altLang="en-US" sz="1000" b="1" u="none" strike="noStrike" dirty="0">
                <a:solidFill>
                  <a:srgbClr val="0E1D35"/>
                </a:solidFill>
                <a:effectLst/>
                <a:uFillTx/>
                <a:latin typeface="맑은 고딕" panose="020B0503020000020004" pitchFamily="50" charset="-127"/>
                <a:ea typeface="맑은 고딕" panose="020B0503020000020004" pitchFamily="50" charset="-127"/>
              </a:rPr>
              <a:t>의 </a:t>
            </a:r>
            <a:r>
              <a:rPr lang="en-US" altLang="ko-KR" sz="1000" b="1" u="none" strike="noStrike" dirty="0">
                <a:solidFill>
                  <a:srgbClr val="0E1D35"/>
                </a:solidFill>
                <a:effectLst/>
                <a:uFillTx/>
                <a:latin typeface="맑은 고딕" panose="020B0503020000020004" pitchFamily="50" charset="-127"/>
                <a:ea typeface="맑은 고딕" panose="020B0503020000020004" pitchFamily="50" charset="-127"/>
              </a:rPr>
              <a:t>rating 1</a:t>
            </a:r>
            <a:r>
              <a:rPr lang="ko-KR" altLang="en-US" sz="1000" b="1" u="none" strike="noStrike" dirty="0">
                <a:solidFill>
                  <a:srgbClr val="0E1D35"/>
                </a:solidFill>
                <a:effectLst/>
                <a:uFillTx/>
                <a:latin typeface="맑은 고딕" panose="020B0503020000020004" pitchFamily="50" charset="-127"/>
                <a:ea typeface="맑은 고딕" panose="020B0503020000020004" pitchFamily="50" charset="-127"/>
              </a:rPr>
              <a:t>건 </a:t>
            </a:r>
            <a:r>
              <a:rPr lang="en-US" altLang="ko-KR" sz="1000" b="1" u="none" strike="noStrike" dirty="0">
                <a:solidFill>
                  <a:srgbClr val="0E1D35"/>
                </a:solidFill>
                <a:effectLst/>
                <a:uFillTx/>
                <a:latin typeface="맑은 고딕" panose="020B0503020000020004" pitchFamily="50" charset="-127"/>
                <a:ea typeface="맑은 고딕" panose="020B0503020000020004" pitchFamily="50" charset="-127"/>
              </a:rPr>
              <a:t>Null</a:t>
            </a:r>
          </a:p>
          <a:p>
            <a:pPr defTabSz="914400">
              <a:lnSpc>
                <a:spcPct val="150000"/>
              </a:lnSpc>
              <a:tabLst>
                <a:tab pos="0" algn="l"/>
              </a:tabLst>
            </a:pPr>
            <a:r>
              <a:rPr lang="en-US" altLang="ko-KR" sz="1000" b="1" u="none" strike="noStrike" dirty="0">
                <a:solidFill>
                  <a:srgbClr val="0E1D35"/>
                </a:solidFill>
                <a:effectLst/>
                <a:uFillTx/>
                <a:latin typeface="맑은 고딕" panose="020B0503020000020004" pitchFamily="50" charset="-127"/>
                <a:ea typeface="맑은 고딕" panose="020B0503020000020004" pitchFamily="50" charset="-127"/>
              </a:rPr>
              <a:t>- </a:t>
            </a:r>
            <a:r>
              <a:rPr lang="ko-KR" altLang="en-US" sz="1000" b="1" u="none" strike="noStrike" dirty="0">
                <a:solidFill>
                  <a:srgbClr val="0E1D35"/>
                </a:solidFill>
                <a:effectLst/>
                <a:uFillTx/>
                <a:latin typeface="맑은 고딕" panose="020B0503020000020004" pitchFamily="50" charset="-127"/>
                <a:ea typeface="맑은 고딕" panose="020B0503020000020004" pitchFamily="50" charset="-127"/>
              </a:rPr>
              <a:t>중복 행 삭제하여 전체 행 </a:t>
            </a:r>
            <a:r>
              <a:rPr lang="en-US" altLang="ko-KR" sz="1000" b="1" u="none" strike="noStrike" dirty="0">
                <a:solidFill>
                  <a:srgbClr val="0E1D35"/>
                </a:solidFill>
                <a:effectLst/>
                <a:uFillTx/>
                <a:latin typeface="맑은 고딕" panose="020B0503020000020004" pitchFamily="50" charset="-127"/>
                <a:ea typeface="맑은 고딕" panose="020B0503020000020004" pitchFamily="50" charset="-127"/>
              </a:rPr>
              <a:t>1,465 -&gt; 1,351</a:t>
            </a:r>
            <a:r>
              <a:rPr lang="ko-KR" altLang="en-US" sz="1000" b="1" u="none" strike="noStrike" dirty="0">
                <a:solidFill>
                  <a:srgbClr val="0E1D35"/>
                </a:solidFill>
                <a:effectLst/>
                <a:uFillTx/>
                <a:latin typeface="맑은 고딕" panose="020B0503020000020004" pitchFamily="50" charset="-127"/>
                <a:ea typeface="맑은 고딕" panose="020B0503020000020004" pitchFamily="50" charset="-127"/>
              </a:rPr>
              <a:t>로 수정됨</a:t>
            </a:r>
          </a:p>
          <a:p>
            <a:pPr defTabSz="914400">
              <a:lnSpc>
                <a:spcPct val="150000"/>
              </a:lnSpc>
              <a:tabLst>
                <a:tab pos="0" algn="l"/>
              </a:tabLst>
            </a:pPr>
            <a:endParaRPr lang="en-US" altLang="ko-KR" sz="1000" b="1" dirty="0">
              <a:solidFill>
                <a:srgbClr val="0E1D35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defTabSz="914400">
              <a:lnSpc>
                <a:spcPct val="150000"/>
              </a:lnSpc>
              <a:tabLst>
                <a:tab pos="0" algn="l"/>
              </a:tabLst>
            </a:pPr>
            <a:r>
              <a:rPr lang="en-US" altLang="ko-KR" sz="1000" b="1" u="none" strike="noStrike" dirty="0">
                <a:solidFill>
                  <a:srgbClr val="0E1D35"/>
                </a:solidFill>
                <a:effectLst/>
                <a:uFillTx/>
                <a:latin typeface="맑은 고딕" panose="020B0503020000020004" pitchFamily="50" charset="-127"/>
                <a:ea typeface="맑은 고딕" panose="020B0503020000020004" pitchFamily="50" charset="-127"/>
              </a:rPr>
              <a:t>5. </a:t>
            </a:r>
            <a:r>
              <a:rPr lang="ko-KR" altLang="en-US" sz="1000" b="1" u="none" strike="noStrike" dirty="0">
                <a:solidFill>
                  <a:srgbClr val="0E1D35"/>
                </a:solidFill>
                <a:effectLst/>
                <a:uFillTx/>
                <a:latin typeface="맑은 고딕" panose="020B0503020000020004" pitchFamily="50" charset="-127"/>
                <a:ea typeface="맑은 고딕" panose="020B0503020000020004" pitchFamily="50" charset="-127"/>
              </a:rPr>
              <a:t>후속 권고</a:t>
            </a:r>
          </a:p>
          <a:p>
            <a:pPr defTabSz="914400">
              <a:lnSpc>
                <a:spcPct val="150000"/>
              </a:lnSpc>
              <a:tabLst>
                <a:tab pos="0" algn="l"/>
              </a:tabLst>
            </a:pPr>
            <a:r>
              <a:rPr lang="en-US" altLang="ko-KR" sz="1000" b="1" u="none" strike="noStrike" dirty="0">
                <a:solidFill>
                  <a:srgbClr val="0E1D35"/>
                </a:solidFill>
                <a:effectLst/>
                <a:uFillTx/>
                <a:latin typeface="맑은 고딕" panose="020B0503020000020004" pitchFamily="50" charset="-127"/>
                <a:ea typeface="맑은 고딕" panose="020B0503020000020004" pitchFamily="50" charset="-127"/>
              </a:rPr>
              <a:t>- category</a:t>
            </a:r>
            <a:r>
              <a:rPr lang="ko-KR" altLang="en-US" sz="1000" b="1" u="none" strike="noStrike" dirty="0">
                <a:solidFill>
                  <a:srgbClr val="0E1D35"/>
                </a:solidFill>
                <a:effectLst/>
                <a:uFillTx/>
                <a:latin typeface="맑은 고딕" panose="020B0503020000020004" pitchFamily="50" charset="-127"/>
                <a:ea typeface="맑은 고딕" panose="020B0503020000020004" pitchFamily="50" charset="-127"/>
              </a:rPr>
              <a:t>의 경우 대분류부터 시작하여 세부 </a:t>
            </a:r>
            <a:r>
              <a:rPr lang="en-US" altLang="ko-KR" sz="1000" b="1" u="none" strike="noStrike" dirty="0">
                <a:solidFill>
                  <a:srgbClr val="0E1D35"/>
                </a:solidFill>
                <a:effectLst/>
                <a:uFillTx/>
                <a:latin typeface="맑은 고딕" panose="020B0503020000020004" pitchFamily="50" charset="-127"/>
                <a:ea typeface="맑은 고딕" panose="020B0503020000020004" pitchFamily="50" charset="-127"/>
              </a:rPr>
              <a:t>6</a:t>
            </a:r>
            <a:r>
              <a:rPr lang="ko-KR" altLang="en-US" sz="1000" b="1" u="none" strike="noStrike" dirty="0">
                <a:solidFill>
                  <a:srgbClr val="0E1D35"/>
                </a:solidFill>
                <a:effectLst/>
                <a:uFillTx/>
                <a:latin typeface="맑은 고딕" panose="020B0503020000020004" pitchFamily="50" charset="-127"/>
                <a:ea typeface="맑은 고딕" panose="020B0503020000020004" pitchFamily="50" charset="-127"/>
              </a:rPr>
              <a:t>개 분류까지 나눠지는데 추후 정확한 데이터 관리 및 분석을 위해 컬럼 분리 필요</a:t>
            </a:r>
            <a:r>
              <a:rPr lang="en-US" altLang="ko-KR" sz="1000" b="1" u="none" strike="noStrike" dirty="0">
                <a:solidFill>
                  <a:srgbClr val="0E1D35"/>
                </a:solidFill>
                <a:effectLst/>
                <a:uFillTx/>
                <a:latin typeface="맑은 고딕" panose="020B0503020000020004" pitchFamily="50" charset="-127"/>
                <a:ea typeface="맑은 고딕" panose="020B0503020000020004" pitchFamily="50" charset="-127"/>
              </a:rPr>
              <a:t>. </a:t>
            </a:r>
          </a:p>
          <a:p>
            <a:pPr defTabSz="914400">
              <a:lnSpc>
                <a:spcPct val="150000"/>
              </a:lnSpc>
              <a:tabLst>
                <a:tab pos="0" algn="l"/>
              </a:tabLst>
            </a:pPr>
            <a:r>
              <a:rPr lang="en-US" altLang="ko-KR" sz="1000" b="1" u="none" strike="noStrike" dirty="0">
                <a:solidFill>
                  <a:srgbClr val="0E1D35"/>
                </a:solidFill>
                <a:effectLst/>
                <a:uFillTx/>
                <a:latin typeface="맑은 고딕" panose="020B0503020000020004" pitchFamily="50" charset="-127"/>
                <a:ea typeface="맑은 고딕" panose="020B0503020000020004" pitchFamily="50" charset="-127"/>
              </a:rPr>
              <a:t>- rating</a:t>
            </a:r>
            <a:r>
              <a:rPr lang="ko-KR" altLang="en-US" sz="1000" b="1" u="none" strike="noStrike" dirty="0">
                <a:solidFill>
                  <a:srgbClr val="0E1D35"/>
                </a:solidFill>
                <a:effectLst/>
                <a:uFillTx/>
                <a:latin typeface="맑은 고딕" panose="020B0503020000020004" pitchFamily="50" charset="-127"/>
                <a:ea typeface="맑은 고딕" panose="020B0503020000020004" pitchFamily="50" charset="-127"/>
              </a:rPr>
              <a:t>의 </a:t>
            </a:r>
            <a:r>
              <a:rPr lang="en-US" altLang="ko-KR" sz="1000" b="1" u="none" strike="noStrike" dirty="0">
                <a:solidFill>
                  <a:srgbClr val="0E1D35"/>
                </a:solidFill>
                <a:effectLst/>
                <a:uFillTx/>
                <a:latin typeface="맑은 고딕" panose="020B0503020000020004" pitchFamily="50" charset="-127"/>
                <a:ea typeface="맑은 고딕" panose="020B0503020000020004" pitchFamily="50" charset="-127"/>
              </a:rPr>
              <a:t>'|' </a:t>
            </a:r>
            <a:r>
              <a:rPr lang="ko-KR" altLang="en-US" sz="1000" b="1" u="none" strike="noStrike" dirty="0">
                <a:solidFill>
                  <a:srgbClr val="0E1D35"/>
                </a:solidFill>
                <a:effectLst/>
                <a:uFillTx/>
                <a:latin typeface="맑은 고딕" panose="020B0503020000020004" pitchFamily="50" charset="-127"/>
                <a:ea typeface="맑은 고딕" panose="020B0503020000020004" pitchFamily="50" charset="-127"/>
              </a:rPr>
              <a:t>데이터의 수집 경위를 파악하고 추가적으로 이상 값이 수집될 수 있는지 점검 필요</a:t>
            </a:r>
            <a:r>
              <a:rPr lang="en-US" altLang="ko-KR" sz="1000" b="1" u="none" strike="noStrike" dirty="0">
                <a:solidFill>
                  <a:srgbClr val="0E1D35"/>
                </a:solidFill>
                <a:effectLst/>
                <a:uFillTx/>
                <a:latin typeface="맑은 고딕" panose="020B0503020000020004" pitchFamily="50" charset="-127"/>
                <a:ea typeface="맑은 고딕" panose="020B0503020000020004" pitchFamily="50" charset="-127"/>
              </a:rPr>
              <a:t>.</a:t>
            </a:r>
          </a:p>
          <a:p>
            <a:pPr defTabSz="914400">
              <a:lnSpc>
                <a:spcPct val="150000"/>
              </a:lnSpc>
              <a:tabLst>
                <a:tab pos="0" algn="l"/>
              </a:tabLst>
            </a:pPr>
            <a:r>
              <a:rPr lang="en-US" altLang="ko-KR" sz="1000" b="1" u="none" strike="noStrike" dirty="0">
                <a:solidFill>
                  <a:srgbClr val="0E1D35"/>
                </a:solidFill>
                <a:effectLst/>
                <a:uFillTx/>
                <a:latin typeface="맑은 고딕" panose="020B0503020000020004" pitchFamily="50" charset="-127"/>
                <a:ea typeface="맑은 고딕" panose="020B0503020000020004" pitchFamily="50" charset="-127"/>
              </a:rPr>
              <a:t>- </a:t>
            </a:r>
            <a:r>
              <a:rPr lang="en-US" altLang="ko-KR" sz="1000" b="1" u="none" strike="noStrike" dirty="0" err="1">
                <a:solidFill>
                  <a:srgbClr val="0E1D35"/>
                </a:solidFill>
                <a:effectLst/>
                <a:uFillTx/>
                <a:latin typeface="맑은 고딕" panose="020B0503020000020004" pitchFamily="50" charset="-127"/>
                <a:ea typeface="맑은 고딕" panose="020B0503020000020004" pitchFamily="50" charset="-127"/>
              </a:rPr>
              <a:t>rating_count</a:t>
            </a:r>
            <a:r>
              <a:rPr lang="ko-KR" altLang="en-US" sz="1000" b="1" u="none" strike="noStrike" dirty="0">
                <a:solidFill>
                  <a:srgbClr val="0E1D35"/>
                </a:solidFill>
                <a:effectLst/>
                <a:uFillTx/>
                <a:latin typeface="맑은 고딕" panose="020B0503020000020004" pitchFamily="50" charset="-127"/>
                <a:ea typeface="맑은 고딕" panose="020B0503020000020004" pitchFamily="50" charset="-127"/>
              </a:rPr>
              <a:t>의 </a:t>
            </a:r>
            <a:r>
              <a:rPr lang="en-US" altLang="ko-KR" sz="1000" b="1" u="none" strike="noStrike" dirty="0">
                <a:solidFill>
                  <a:srgbClr val="0E1D35"/>
                </a:solidFill>
                <a:effectLst/>
                <a:uFillTx/>
                <a:latin typeface="맑은 고딕" panose="020B0503020000020004" pitchFamily="50" charset="-127"/>
                <a:ea typeface="맑은 고딕" panose="020B0503020000020004" pitchFamily="50" charset="-127"/>
              </a:rPr>
              <a:t>"" </a:t>
            </a:r>
            <a:r>
              <a:rPr lang="ko-KR" altLang="en-US" sz="1000" b="1" u="none" strike="noStrike" dirty="0">
                <a:solidFill>
                  <a:srgbClr val="0E1D35"/>
                </a:solidFill>
                <a:effectLst/>
                <a:uFillTx/>
                <a:latin typeface="맑은 고딕" panose="020B0503020000020004" pitchFamily="50" charset="-127"/>
                <a:ea typeface="맑은 고딕" panose="020B0503020000020004" pitchFamily="50" charset="-127"/>
              </a:rPr>
              <a:t>데이터의 수집 경위를 파악하고 추가적으로 이상 값이 수집될 수 있는지 점검 필요</a:t>
            </a:r>
            <a:r>
              <a:rPr lang="en-US" altLang="ko-KR" sz="1000" b="1" u="none" strike="noStrike" dirty="0">
                <a:solidFill>
                  <a:srgbClr val="0E1D35"/>
                </a:solidFill>
                <a:effectLst/>
                <a:uFillTx/>
                <a:latin typeface="맑은 고딕" panose="020B0503020000020004" pitchFamily="50" charset="-127"/>
                <a:ea typeface="맑은 고딕" panose="020B0503020000020004" pitchFamily="50" charset="-127"/>
              </a:rPr>
              <a:t>.</a:t>
            </a:r>
          </a:p>
          <a:p>
            <a:pPr defTabSz="914400">
              <a:lnSpc>
                <a:spcPct val="150000"/>
              </a:lnSpc>
              <a:tabLst>
                <a:tab pos="0" algn="l"/>
              </a:tabLst>
            </a:pPr>
            <a:r>
              <a:rPr lang="en-US" altLang="ko-KR" sz="1000" b="1" u="none" strike="noStrike" dirty="0">
                <a:solidFill>
                  <a:srgbClr val="0E1D35"/>
                </a:solidFill>
                <a:effectLst/>
                <a:uFillTx/>
                <a:latin typeface="맑은 고딕" panose="020B0503020000020004" pitchFamily="50" charset="-127"/>
                <a:ea typeface="맑은 고딕" panose="020B0503020000020004" pitchFamily="50" charset="-127"/>
              </a:rPr>
              <a:t>- product </a:t>
            </a:r>
            <a:r>
              <a:rPr lang="ko-KR" altLang="en-US" sz="1000" b="1" u="none" strike="noStrike" dirty="0">
                <a:solidFill>
                  <a:srgbClr val="0E1D35"/>
                </a:solidFill>
                <a:effectLst/>
                <a:uFillTx/>
                <a:latin typeface="맑은 고딕" panose="020B0503020000020004" pitchFamily="50" charset="-127"/>
                <a:ea typeface="맑은 고딕" panose="020B0503020000020004" pitchFamily="50" charset="-127"/>
              </a:rPr>
              <a:t>관련 테이블만 수집되어 </a:t>
            </a:r>
            <a:r>
              <a:rPr lang="en-US" altLang="ko-KR" sz="1000" b="1" u="none" strike="noStrike" dirty="0">
                <a:solidFill>
                  <a:srgbClr val="0E1D35"/>
                </a:solidFill>
                <a:effectLst/>
                <a:uFillTx/>
                <a:latin typeface="맑은 고딕" panose="020B0503020000020004" pitchFamily="50" charset="-127"/>
                <a:ea typeface="맑은 고딕" panose="020B0503020000020004" pitchFamily="50" charset="-127"/>
              </a:rPr>
              <a:t>customer </a:t>
            </a:r>
            <a:r>
              <a:rPr lang="ko-KR" altLang="en-US" sz="1000" b="1" u="none" strike="noStrike" dirty="0">
                <a:solidFill>
                  <a:srgbClr val="0E1D35"/>
                </a:solidFill>
                <a:effectLst/>
                <a:uFillTx/>
                <a:latin typeface="맑은 고딕" panose="020B0503020000020004" pitchFamily="50" charset="-127"/>
                <a:ea typeface="맑은 고딕" panose="020B0503020000020004" pitchFamily="50" charset="-127"/>
              </a:rPr>
              <a:t>테이블을 추가 수집하여 성별</a:t>
            </a:r>
            <a:r>
              <a:rPr lang="en-US" altLang="ko-KR" sz="1000" b="1" u="none" strike="noStrike" dirty="0">
                <a:solidFill>
                  <a:srgbClr val="0E1D35"/>
                </a:solidFill>
                <a:effectLst/>
                <a:uFillTx/>
                <a:latin typeface="맑은 고딕" panose="020B0503020000020004" pitchFamily="50" charset="-127"/>
                <a:ea typeface="맑은 고딕" panose="020B0503020000020004" pitchFamily="50" charset="-127"/>
              </a:rPr>
              <a:t>, </a:t>
            </a:r>
            <a:r>
              <a:rPr lang="ko-KR" altLang="en-US" sz="1000" b="1" u="none" strike="noStrike" dirty="0">
                <a:solidFill>
                  <a:srgbClr val="0E1D35"/>
                </a:solidFill>
                <a:effectLst/>
                <a:uFillTx/>
                <a:latin typeface="맑은 고딕" panose="020B0503020000020004" pitchFamily="50" charset="-127"/>
                <a:ea typeface="맑은 고딕" panose="020B0503020000020004" pitchFamily="50" charset="-127"/>
              </a:rPr>
              <a:t>나이 등에 대한 정보로 연령별 또는 성별에 따른 구매 분석도 진행 필요함</a:t>
            </a:r>
            <a:r>
              <a:rPr lang="en-US" altLang="ko-KR" sz="1000" b="1" u="none" strike="noStrike" dirty="0">
                <a:solidFill>
                  <a:srgbClr val="0E1D35"/>
                </a:solidFill>
                <a:effectLst/>
                <a:uFillTx/>
                <a:latin typeface="맑은 고딕" panose="020B0503020000020004" pitchFamily="50" charset="-127"/>
                <a:ea typeface="맑은 고딕" panose="020B0503020000020004" pitchFamily="50" charset="-127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24349049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C219E1-7D69-1D32-8CEE-5D3CD8DDA0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차트 5">
            <a:extLst>
              <a:ext uri="{FF2B5EF4-FFF2-40B4-BE49-F238E27FC236}">
                <a16:creationId xmlns:a16="http://schemas.microsoft.com/office/drawing/2014/main" id="{AEA15B81-7589-6AD7-4E6C-FFEDE073B3D2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919118294"/>
              </p:ext>
            </p:extLst>
          </p:nvPr>
        </p:nvGraphicFramePr>
        <p:xfrm>
          <a:off x="714239" y="1364554"/>
          <a:ext cx="7634892" cy="3399175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35" name="직사각형 34">
            <a:extLst>
              <a:ext uri="{FF2B5EF4-FFF2-40B4-BE49-F238E27FC236}">
                <a16:creationId xmlns:a16="http://schemas.microsoft.com/office/drawing/2014/main" id="{C007E780-5C32-A9B1-1563-ED20B33B62E1}"/>
              </a:ext>
            </a:extLst>
          </p:cNvPr>
          <p:cNvSpPr/>
          <p:nvPr/>
        </p:nvSpPr>
        <p:spPr>
          <a:xfrm>
            <a:off x="714240" y="666720"/>
            <a:ext cx="6924240" cy="380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anchor="b">
            <a:normAutofit fontScale="77500" lnSpcReduction="20000"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altLang="ko-KR" sz="3000" b="1" u="none" strike="noStrike" dirty="0">
                <a:solidFill>
                  <a:srgbClr val="0E1D35"/>
                </a:solidFill>
                <a:effectLst/>
                <a:uFillTx/>
                <a:latin typeface="맑은 고딕" panose="020B0503020000020004" pitchFamily="50" charset="-127"/>
                <a:ea typeface="맑은 고딕" panose="020B0503020000020004" pitchFamily="50" charset="-127"/>
              </a:rPr>
              <a:t>0. </a:t>
            </a:r>
            <a:r>
              <a:rPr lang="ko-KR" altLang="en-US" sz="3000" b="1" u="none" strike="noStrike" dirty="0">
                <a:solidFill>
                  <a:srgbClr val="0E1D35"/>
                </a:solidFill>
                <a:effectLst/>
                <a:uFillTx/>
                <a:latin typeface="맑은 고딕" panose="020B0503020000020004" pitchFamily="50" charset="-127"/>
                <a:ea typeface="맑은 고딕" panose="020B0503020000020004" pitchFamily="50" charset="-127"/>
              </a:rPr>
              <a:t>데이터셋 정보</a:t>
            </a:r>
            <a:endParaRPr lang="en-US" sz="3000" b="0" u="none" strike="noStrike" dirty="0">
              <a:solidFill>
                <a:srgbClr val="000000"/>
              </a:solidFill>
              <a:effectLst/>
              <a:uFillTx/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36" name="직사각형 35">
            <a:extLst>
              <a:ext uri="{FF2B5EF4-FFF2-40B4-BE49-F238E27FC236}">
                <a16:creationId xmlns:a16="http://schemas.microsoft.com/office/drawing/2014/main" id="{03133563-CBD6-3888-E10D-84EF2C2720F9}"/>
              </a:ext>
            </a:extLst>
          </p:cNvPr>
          <p:cNvSpPr/>
          <p:nvPr/>
        </p:nvSpPr>
        <p:spPr>
          <a:xfrm>
            <a:off x="714239" y="1204452"/>
            <a:ext cx="7938148" cy="3559277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anchor="t">
            <a:normAutofit/>
          </a:bodyPr>
          <a:lstStyle/>
          <a:p>
            <a:pPr defTabSz="914400">
              <a:lnSpc>
                <a:spcPct val="150000"/>
              </a:lnSpc>
              <a:tabLst>
                <a:tab pos="0" algn="l"/>
              </a:tabLst>
            </a:pPr>
            <a:r>
              <a:rPr lang="en-US" altLang="ko-KR" sz="1000" b="1" u="none" strike="noStrike" dirty="0">
                <a:solidFill>
                  <a:srgbClr val="0E1D35"/>
                </a:solidFill>
                <a:effectLst/>
                <a:uFillTx/>
                <a:latin typeface="맑은 고딕" panose="020B0503020000020004" pitchFamily="50" charset="-127"/>
                <a:ea typeface="맑은 고딕" panose="020B0503020000020004" pitchFamily="50" charset="-127"/>
              </a:rPr>
              <a:t>5. Last category count</a:t>
            </a:r>
            <a:endParaRPr lang="ko-KR" altLang="en-US" sz="1000" b="1" u="none" strike="noStrike" dirty="0">
              <a:solidFill>
                <a:srgbClr val="0E1D35"/>
              </a:solidFill>
              <a:effectLst/>
              <a:uFillTx/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graphicFrame>
        <p:nvGraphicFramePr>
          <p:cNvPr id="5" name="차트 4">
            <a:extLst>
              <a:ext uri="{FF2B5EF4-FFF2-40B4-BE49-F238E27FC236}">
                <a16:creationId xmlns:a16="http://schemas.microsoft.com/office/drawing/2014/main" id="{0B37372B-AB0F-2DA3-A5C8-6B118FEFCB58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428934642"/>
              </p:ext>
            </p:extLst>
          </p:nvPr>
        </p:nvGraphicFramePr>
        <p:xfrm>
          <a:off x="714239" y="1364554"/>
          <a:ext cx="7634892" cy="3399175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</p:spTree>
    <p:extLst>
      <p:ext uri="{BB962C8B-B14F-4D97-AF65-F5344CB8AC3E}">
        <p14:creationId xmlns:p14="http://schemas.microsoft.com/office/powerpoint/2010/main" val="188441937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Graphic spid="5" grpId="0">
        <p:bldAsOne/>
      </p:bldGraphic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4C4BEF-D726-332B-FDD5-22EEC8F522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직사각형 34">
            <a:extLst>
              <a:ext uri="{FF2B5EF4-FFF2-40B4-BE49-F238E27FC236}">
                <a16:creationId xmlns:a16="http://schemas.microsoft.com/office/drawing/2014/main" id="{C8E87913-EE95-AE53-40EC-EFB75B179EF9}"/>
              </a:ext>
            </a:extLst>
          </p:cNvPr>
          <p:cNvSpPr/>
          <p:nvPr/>
        </p:nvSpPr>
        <p:spPr>
          <a:xfrm>
            <a:off x="714240" y="666720"/>
            <a:ext cx="6924240" cy="380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anchor="b">
            <a:normAutofit fontScale="77500" lnSpcReduction="20000"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altLang="ko-KR" sz="3000" b="1" dirty="0">
                <a:solidFill>
                  <a:srgbClr val="0E1D35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1</a:t>
            </a:r>
            <a:r>
              <a:rPr lang="en-US" altLang="ko-KR" sz="3000" b="1" u="none" strike="noStrike" dirty="0">
                <a:solidFill>
                  <a:srgbClr val="0E1D35"/>
                </a:solidFill>
                <a:effectLst/>
                <a:uFillTx/>
                <a:latin typeface="맑은 고딕" panose="020B0503020000020004" pitchFamily="50" charset="-127"/>
                <a:ea typeface="맑은 고딕" panose="020B0503020000020004" pitchFamily="50" charset="-127"/>
              </a:rPr>
              <a:t>. </a:t>
            </a:r>
            <a:r>
              <a:rPr lang="ko-KR" altLang="en-US" sz="3000" b="1" u="none" strike="noStrike" dirty="0">
                <a:solidFill>
                  <a:srgbClr val="0E1D35"/>
                </a:solidFill>
                <a:effectLst/>
                <a:uFillTx/>
                <a:latin typeface="맑은 고딕" panose="020B0503020000020004" pitchFamily="50" charset="-127"/>
                <a:ea typeface="맑은 고딕" panose="020B0503020000020004" pitchFamily="50" charset="-127"/>
              </a:rPr>
              <a:t>추천 시스템</a:t>
            </a:r>
            <a:r>
              <a:rPr lang="en-US" altLang="ko-KR" sz="3000" b="1" u="none" strike="noStrike" dirty="0">
                <a:solidFill>
                  <a:srgbClr val="0E1D35"/>
                </a:solidFill>
                <a:effectLst/>
                <a:uFillTx/>
                <a:latin typeface="맑은 고딕" panose="020B0503020000020004" pitchFamily="50" charset="-127"/>
                <a:ea typeface="맑은 고딕" panose="020B0503020000020004" pitchFamily="50" charset="-127"/>
              </a:rPr>
              <a:t>(</a:t>
            </a:r>
            <a:r>
              <a:rPr lang="en-US" altLang="ko-KR" sz="3000" b="1" u="none" strike="noStrike" dirty="0" err="1">
                <a:solidFill>
                  <a:srgbClr val="0E1D35"/>
                </a:solidFill>
                <a:effectLst/>
                <a:uFillTx/>
                <a:latin typeface="맑은 고딕" panose="020B0503020000020004" pitchFamily="50" charset="-127"/>
                <a:ea typeface="맑은 고딕" panose="020B0503020000020004" pitchFamily="50" charset="-127"/>
              </a:rPr>
              <a:t>GoodPick</a:t>
            </a:r>
            <a:r>
              <a:rPr lang="en-US" altLang="ko-KR" sz="3000" b="1" u="none" strike="noStrike" dirty="0">
                <a:solidFill>
                  <a:srgbClr val="0E1D35"/>
                </a:solidFill>
                <a:effectLst/>
                <a:uFillTx/>
                <a:latin typeface="맑은 고딕" panose="020B0503020000020004" pitchFamily="50" charset="-127"/>
                <a:ea typeface="맑은 고딕" panose="020B0503020000020004" pitchFamily="50" charset="-127"/>
              </a:rPr>
              <a:t>)</a:t>
            </a:r>
            <a:endParaRPr lang="en-US" sz="3000" b="0" u="none" strike="noStrike" dirty="0">
              <a:solidFill>
                <a:srgbClr val="000000"/>
              </a:solidFill>
              <a:effectLst/>
              <a:uFillTx/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36" name="직사각형 35">
            <a:extLst>
              <a:ext uri="{FF2B5EF4-FFF2-40B4-BE49-F238E27FC236}">
                <a16:creationId xmlns:a16="http://schemas.microsoft.com/office/drawing/2014/main" id="{1F6D4810-71DA-DBBB-9E47-87239D56D2CE}"/>
              </a:ext>
            </a:extLst>
          </p:cNvPr>
          <p:cNvSpPr/>
          <p:nvPr/>
        </p:nvSpPr>
        <p:spPr>
          <a:xfrm>
            <a:off x="714239" y="1204452"/>
            <a:ext cx="7938148" cy="3559277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anchor="t">
            <a:normAutofit/>
          </a:bodyPr>
          <a:lstStyle/>
          <a:p>
            <a:pPr defTabSz="914400">
              <a:lnSpc>
                <a:spcPct val="150000"/>
              </a:lnSpc>
              <a:tabLst>
                <a:tab pos="0" algn="l"/>
              </a:tabLst>
            </a:pPr>
            <a:r>
              <a:rPr lang="ko-KR" altLang="en-US" sz="1000" b="1" u="none" strike="noStrike" dirty="0">
                <a:solidFill>
                  <a:srgbClr val="0E1D35"/>
                </a:solidFill>
                <a:effectLst/>
                <a:uFillTx/>
                <a:latin typeface="맑은 고딕" panose="020B0503020000020004" pitchFamily="50" charset="-127"/>
                <a:ea typeface="맑은 고딕" panose="020B0503020000020004" pitchFamily="50" charset="-127"/>
              </a:rPr>
              <a:t>추천 시스템의 테마</a:t>
            </a:r>
            <a:endParaRPr lang="en-US" altLang="ko-KR" sz="1000" b="1" dirty="0">
              <a:solidFill>
                <a:srgbClr val="0E1D35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defTabSz="914400">
              <a:lnSpc>
                <a:spcPct val="150000"/>
              </a:lnSpc>
              <a:tabLst>
                <a:tab pos="0" algn="l"/>
              </a:tabLst>
            </a:pPr>
            <a:r>
              <a:rPr lang="en-US" altLang="ko-KR" sz="1000" b="1" u="none" strike="noStrike" dirty="0">
                <a:solidFill>
                  <a:srgbClr val="0E1D35"/>
                </a:solidFill>
                <a:effectLst/>
                <a:uFillTx/>
                <a:latin typeface="맑은 고딕" panose="020B0503020000020004" pitchFamily="50" charset="-127"/>
                <a:ea typeface="맑은 고딕" panose="020B0503020000020004" pitchFamily="50" charset="-127"/>
              </a:rPr>
              <a:t>rating</a:t>
            </a:r>
            <a:r>
              <a:rPr lang="ko-KR" altLang="en-US" sz="1000" b="1" u="none" strike="noStrike" dirty="0">
                <a:solidFill>
                  <a:srgbClr val="0E1D35"/>
                </a:solidFill>
                <a:effectLst/>
                <a:uFillTx/>
                <a:latin typeface="맑은 고딕" panose="020B0503020000020004" pitchFamily="50" charset="-127"/>
                <a:ea typeface="맑은 고딕" panose="020B0503020000020004" pitchFamily="50" charset="-127"/>
              </a:rPr>
              <a:t>의 경우 사용 전 평가를 하는 경우도 많아 </a:t>
            </a:r>
            <a:r>
              <a:rPr lang="en-US" altLang="ko-KR" sz="1000" b="1" u="none" strike="noStrike" dirty="0" err="1">
                <a:solidFill>
                  <a:srgbClr val="0E1D35"/>
                </a:solidFill>
                <a:effectLst/>
                <a:uFillTx/>
                <a:latin typeface="맑은 고딕" panose="020B0503020000020004" pitchFamily="50" charset="-127"/>
                <a:ea typeface="맑은 고딕" panose="020B0503020000020004" pitchFamily="50" charset="-127"/>
              </a:rPr>
              <a:t>review_content</a:t>
            </a:r>
            <a:r>
              <a:rPr lang="ko-KR" altLang="en-US" sz="1000" b="1" u="none" strike="noStrike" dirty="0">
                <a:solidFill>
                  <a:srgbClr val="0E1D35"/>
                </a:solidFill>
                <a:effectLst/>
                <a:uFillTx/>
                <a:latin typeface="맑은 고딕" panose="020B0503020000020004" pitchFamily="50" charset="-127"/>
                <a:ea typeface="맑은 고딕" panose="020B0503020000020004" pitchFamily="50" charset="-127"/>
              </a:rPr>
              <a:t>의 </a:t>
            </a:r>
            <a:r>
              <a:rPr lang="en-US" altLang="ko-KR" sz="1000" b="1" u="none" strike="noStrike" dirty="0">
                <a:solidFill>
                  <a:srgbClr val="0E1D35"/>
                </a:solidFill>
                <a:effectLst/>
                <a:uFillTx/>
                <a:latin typeface="맑은 고딕" panose="020B0503020000020004" pitchFamily="50" charset="-127"/>
                <a:ea typeface="맑은 고딕" panose="020B0503020000020004" pitchFamily="50" charset="-127"/>
              </a:rPr>
              <a:t>good, great, excellent, recommend, worth, best</a:t>
            </a:r>
            <a:r>
              <a:rPr lang="ko-KR" altLang="en-US" sz="1000" b="1" u="none" strike="noStrike" dirty="0">
                <a:solidFill>
                  <a:srgbClr val="0E1D35"/>
                </a:solidFill>
                <a:effectLst/>
                <a:uFillTx/>
                <a:latin typeface="맑은 고딕" panose="020B0503020000020004" pitchFamily="50" charset="-127"/>
                <a:ea typeface="맑은 고딕" panose="020B0503020000020004" pitchFamily="50" charset="-127"/>
              </a:rPr>
              <a:t>의 개수를 평가하여 고객이 좋은 상품을 선택할 수 있도록 추천을 제공</a:t>
            </a:r>
            <a:endParaRPr lang="en-US" altLang="ko-KR" sz="1000" b="1" u="none" strike="noStrike" dirty="0">
              <a:solidFill>
                <a:srgbClr val="0E1D35"/>
              </a:solidFill>
              <a:effectLst/>
              <a:uFillTx/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defTabSz="914400">
              <a:lnSpc>
                <a:spcPct val="150000"/>
              </a:lnSpc>
              <a:tabLst>
                <a:tab pos="0" algn="l"/>
              </a:tabLst>
            </a:pPr>
            <a:endParaRPr lang="en-US" altLang="ko-KR" sz="1000" b="1" dirty="0">
              <a:solidFill>
                <a:srgbClr val="0E1D35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defTabSz="914400">
              <a:lnSpc>
                <a:spcPct val="150000"/>
              </a:lnSpc>
              <a:tabLst>
                <a:tab pos="0" algn="l"/>
              </a:tabLst>
            </a:pPr>
            <a:r>
              <a:rPr lang="ko-KR" altLang="en-US" sz="1000" b="1" u="none" strike="noStrike" dirty="0">
                <a:solidFill>
                  <a:srgbClr val="0E1D35"/>
                </a:solidFill>
                <a:effectLst/>
                <a:uFillTx/>
                <a:latin typeface="맑은 고딕" panose="020B0503020000020004" pitchFamily="50" charset="-127"/>
                <a:ea typeface="맑은 고딕" panose="020B0503020000020004" pitchFamily="50" charset="-127"/>
              </a:rPr>
              <a:t>구현 로직</a:t>
            </a:r>
            <a:endParaRPr lang="en-US" altLang="ko-KR" sz="1000" b="1" u="none" strike="noStrike" dirty="0">
              <a:solidFill>
                <a:srgbClr val="0E1D35"/>
              </a:solidFill>
              <a:effectLst/>
              <a:uFillTx/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114E1888-42E7-8378-C837-3C7FB525F3D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14570" y="2427993"/>
            <a:ext cx="6937486" cy="23357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2276114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96049F-5A63-6FDA-B802-D49BD112BA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직사각형 34">
            <a:extLst>
              <a:ext uri="{FF2B5EF4-FFF2-40B4-BE49-F238E27FC236}">
                <a16:creationId xmlns:a16="http://schemas.microsoft.com/office/drawing/2014/main" id="{25711B92-2B19-D424-76F1-9E37D1A38F64}"/>
              </a:ext>
            </a:extLst>
          </p:cNvPr>
          <p:cNvSpPr/>
          <p:nvPr/>
        </p:nvSpPr>
        <p:spPr>
          <a:xfrm>
            <a:off x="714240" y="666720"/>
            <a:ext cx="6924240" cy="380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anchor="b">
            <a:normAutofit fontScale="77500" lnSpcReduction="20000"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altLang="ko-KR" sz="3000" b="1" dirty="0">
                <a:solidFill>
                  <a:srgbClr val="0E1D35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1</a:t>
            </a:r>
            <a:r>
              <a:rPr lang="en-US" altLang="ko-KR" sz="3000" b="1" u="none" strike="noStrike" dirty="0">
                <a:solidFill>
                  <a:srgbClr val="0E1D35"/>
                </a:solidFill>
                <a:effectLst/>
                <a:uFillTx/>
                <a:latin typeface="맑은 고딕" panose="020B0503020000020004" pitchFamily="50" charset="-127"/>
                <a:ea typeface="맑은 고딕" panose="020B0503020000020004" pitchFamily="50" charset="-127"/>
              </a:rPr>
              <a:t>. </a:t>
            </a:r>
            <a:r>
              <a:rPr lang="ko-KR" altLang="en-US" sz="3000" b="1" u="none" strike="noStrike" dirty="0">
                <a:solidFill>
                  <a:srgbClr val="0E1D35"/>
                </a:solidFill>
                <a:effectLst/>
                <a:uFillTx/>
                <a:latin typeface="맑은 고딕" panose="020B0503020000020004" pitchFamily="50" charset="-127"/>
                <a:ea typeface="맑은 고딕" panose="020B0503020000020004" pitchFamily="50" charset="-127"/>
              </a:rPr>
              <a:t>추천 시스템</a:t>
            </a:r>
            <a:r>
              <a:rPr lang="en-US" altLang="ko-KR" sz="3000" b="1" u="none" strike="noStrike" dirty="0">
                <a:solidFill>
                  <a:srgbClr val="0E1D35"/>
                </a:solidFill>
                <a:effectLst/>
                <a:uFillTx/>
                <a:latin typeface="맑은 고딕" panose="020B0503020000020004" pitchFamily="50" charset="-127"/>
                <a:ea typeface="맑은 고딕" panose="020B0503020000020004" pitchFamily="50" charset="-127"/>
              </a:rPr>
              <a:t>(</a:t>
            </a:r>
            <a:r>
              <a:rPr lang="en-US" altLang="ko-KR" sz="3000" b="1" u="none" strike="noStrike" dirty="0" err="1">
                <a:solidFill>
                  <a:srgbClr val="0E1D35"/>
                </a:solidFill>
                <a:effectLst/>
                <a:uFillTx/>
                <a:latin typeface="맑은 고딕" panose="020B0503020000020004" pitchFamily="50" charset="-127"/>
                <a:ea typeface="맑은 고딕" panose="020B0503020000020004" pitchFamily="50" charset="-127"/>
              </a:rPr>
              <a:t>GoodPick</a:t>
            </a:r>
            <a:r>
              <a:rPr lang="en-US" altLang="ko-KR" sz="3000" b="1" u="none" strike="noStrike" dirty="0">
                <a:solidFill>
                  <a:srgbClr val="0E1D35"/>
                </a:solidFill>
                <a:effectLst/>
                <a:uFillTx/>
                <a:latin typeface="맑은 고딕" panose="020B0503020000020004" pitchFamily="50" charset="-127"/>
                <a:ea typeface="맑은 고딕" panose="020B0503020000020004" pitchFamily="50" charset="-127"/>
              </a:rPr>
              <a:t>)</a:t>
            </a:r>
            <a:endParaRPr lang="en-US" sz="3000" b="0" u="none" strike="noStrike" dirty="0">
              <a:solidFill>
                <a:srgbClr val="000000"/>
              </a:solidFill>
              <a:effectLst/>
              <a:uFillTx/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36" name="직사각형 35">
            <a:extLst>
              <a:ext uri="{FF2B5EF4-FFF2-40B4-BE49-F238E27FC236}">
                <a16:creationId xmlns:a16="http://schemas.microsoft.com/office/drawing/2014/main" id="{27166324-1489-BCBB-9B12-CB044B869ADB}"/>
              </a:ext>
            </a:extLst>
          </p:cNvPr>
          <p:cNvSpPr/>
          <p:nvPr/>
        </p:nvSpPr>
        <p:spPr>
          <a:xfrm>
            <a:off x="714239" y="1204452"/>
            <a:ext cx="7938148" cy="3559277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anchor="t">
            <a:normAutofit/>
          </a:bodyPr>
          <a:lstStyle/>
          <a:p>
            <a:pPr defTabSz="914400">
              <a:lnSpc>
                <a:spcPct val="150000"/>
              </a:lnSpc>
              <a:tabLst>
                <a:tab pos="0" algn="l"/>
              </a:tabLst>
            </a:pPr>
            <a:endParaRPr lang="en-US" altLang="ko-KR" sz="1000" b="1" dirty="0">
              <a:solidFill>
                <a:srgbClr val="0E1D35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graphicFrame>
        <p:nvGraphicFramePr>
          <p:cNvPr id="6" name="표 5">
            <a:extLst>
              <a:ext uri="{FF2B5EF4-FFF2-40B4-BE49-F238E27FC236}">
                <a16:creationId xmlns:a16="http://schemas.microsoft.com/office/drawing/2014/main" id="{FA5F4B2A-183F-894A-4ACC-F46EE0CF5A5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84869434"/>
              </p:ext>
            </p:extLst>
          </p:nvPr>
        </p:nvGraphicFramePr>
        <p:xfrm>
          <a:off x="714238" y="1132705"/>
          <a:ext cx="7715523" cy="3631023"/>
        </p:xfrm>
        <a:graphic>
          <a:graphicData uri="http://schemas.openxmlformats.org/drawingml/2006/table">
            <a:tbl>
              <a:tblPr/>
              <a:tblGrid>
                <a:gridCol w="736925">
                  <a:extLst>
                    <a:ext uri="{9D8B030D-6E8A-4147-A177-3AD203B41FA5}">
                      <a16:colId xmlns:a16="http://schemas.microsoft.com/office/drawing/2014/main" val="190375715"/>
                    </a:ext>
                  </a:extLst>
                </a:gridCol>
                <a:gridCol w="799076">
                  <a:extLst>
                    <a:ext uri="{9D8B030D-6E8A-4147-A177-3AD203B41FA5}">
                      <a16:colId xmlns:a16="http://schemas.microsoft.com/office/drawing/2014/main" val="101500139"/>
                    </a:ext>
                  </a:extLst>
                </a:gridCol>
                <a:gridCol w="461688">
                  <a:extLst>
                    <a:ext uri="{9D8B030D-6E8A-4147-A177-3AD203B41FA5}">
                      <a16:colId xmlns:a16="http://schemas.microsoft.com/office/drawing/2014/main" val="473923773"/>
                    </a:ext>
                  </a:extLst>
                </a:gridCol>
                <a:gridCol w="772441">
                  <a:extLst>
                    <a:ext uri="{9D8B030D-6E8A-4147-A177-3AD203B41FA5}">
                      <a16:colId xmlns:a16="http://schemas.microsoft.com/office/drawing/2014/main" val="3889737638"/>
                    </a:ext>
                  </a:extLst>
                </a:gridCol>
                <a:gridCol w="745805">
                  <a:extLst>
                    <a:ext uri="{9D8B030D-6E8A-4147-A177-3AD203B41FA5}">
                      <a16:colId xmlns:a16="http://schemas.microsoft.com/office/drawing/2014/main" val="1725669668"/>
                    </a:ext>
                  </a:extLst>
                </a:gridCol>
                <a:gridCol w="736925">
                  <a:extLst>
                    <a:ext uri="{9D8B030D-6E8A-4147-A177-3AD203B41FA5}">
                      <a16:colId xmlns:a16="http://schemas.microsoft.com/office/drawing/2014/main" val="3667643628"/>
                    </a:ext>
                  </a:extLst>
                </a:gridCol>
                <a:gridCol w="923377">
                  <a:extLst>
                    <a:ext uri="{9D8B030D-6E8A-4147-A177-3AD203B41FA5}">
                      <a16:colId xmlns:a16="http://schemas.microsoft.com/office/drawing/2014/main" val="220457713"/>
                    </a:ext>
                  </a:extLst>
                </a:gridCol>
                <a:gridCol w="1074313">
                  <a:extLst>
                    <a:ext uri="{9D8B030D-6E8A-4147-A177-3AD203B41FA5}">
                      <a16:colId xmlns:a16="http://schemas.microsoft.com/office/drawing/2014/main" val="4143459841"/>
                    </a:ext>
                  </a:extLst>
                </a:gridCol>
                <a:gridCol w="772441">
                  <a:extLst>
                    <a:ext uri="{9D8B030D-6E8A-4147-A177-3AD203B41FA5}">
                      <a16:colId xmlns:a16="http://schemas.microsoft.com/office/drawing/2014/main" val="123354883"/>
                    </a:ext>
                  </a:extLst>
                </a:gridCol>
                <a:gridCol w="692532">
                  <a:extLst>
                    <a:ext uri="{9D8B030D-6E8A-4147-A177-3AD203B41FA5}">
                      <a16:colId xmlns:a16="http://schemas.microsoft.com/office/drawing/2014/main" val="829422028"/>
                    </a:ext>
                  </a:extLst>
                </a:gridCol>
              </a:tblGrid>
              <a:tr h="110031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600" b="1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product_id</a:t>
                      </a:r>
                      <a:endParaRPr lang="en-US" sz="600" b="1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600" b="1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last_category</a:t>
                      </a:r>
                      <a:endParaRPr lang="en-US" sz="600" b="1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rating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600" b="1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rating_count</a:t>
                      </a:r>
                      <a:endParaRPr lang="en-US" sz="600" b="1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good_count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600" b="1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great_count</a:t>
                      </a:r>
                      <a:endParaRPr lang="en-US" sz="600" b="1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excellent_count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600" b="1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recommend_count</a:t>
                      </a:r>
                      <a:endParaRPr lang="en-US" sz="600" b="1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600" b="1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worth_count</a:t>
                      </a:r>
                      <a:endParaRPr lang="en-US" sz="600" b="1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600" b="1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best_count</a:t>
                      </a:r>
                      <a:endParaRPr lang="en-US" sz="600" b="1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82929568"/>
                  </a:ext>
                </a:extLst>
              </a:tr>
              <a:tr h="110031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6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B01DEWVZ2C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In-Ear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6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4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192590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6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0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6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0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6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6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0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6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0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22517381"/>
                  </a:ext>
                </a:extLst>
              </a:tr>
              <a:tr h="110031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B01DF26V7A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6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In-Ear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6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4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192589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0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0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0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0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77371500"/>
                  </a:ext>
                </a:extLst>
              </a:tr>
              <a:tr h="110031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B01F25X6RQ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6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In-Ear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4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31539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3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0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0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0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0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83239125"/>
                  </a:ext>
                </a:extLst>
              </a:tr>
              <a:tr h="110031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B01F262EUU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In-Ear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4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31539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3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0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0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0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0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04625375"/>
                  </a:ext>
                </a:extLst>
              </a:tr>
              <a:tr h="110031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6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B01MF8MB65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D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6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In-Ear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D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6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4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D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273189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D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6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17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D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6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3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D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6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D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6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3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D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6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0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D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6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D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44827758"/>
                  </a:ext>
                </a:extLst>
              </a:tr>
              <a:tr h="110031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6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B071Z8M4KX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In-Ear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6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4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6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363711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5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6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0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6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0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6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0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0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0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04846805"/>
                  </a:ext>
                </a:extLst>
              </a:tr>
              <a:tr h="110031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B07CD2BN46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In-Ear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4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119466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4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2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0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0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0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0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38397841"/>
                  </a:ext>
                </a:extLst>
              </a:tr>
              <a:tr h="110031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B07DFYJRQV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In-Ear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6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4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53648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4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0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0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0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6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0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18494865"/>
                  </a:ext>
                </a:extLst>
              </a:tr>
              <a:tr h="110031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B07GPXXNNG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In-Ear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6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4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363713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6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5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0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0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0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0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0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36331371"/>
                  </a:ext>
                </a:extLst>
              </a:tr>
              <a:tr h="110031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B07GQD4K6L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In-Ear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4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6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363713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6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5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0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0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0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0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0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75007848"/>
                  </a:ext>
                </a:extLst>
              </a:tr>
              <a:tr h="110031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B08TV2P1N8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In-Ear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4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141841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6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0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0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0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2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58422129"/>
                  </a:ext>
                </a:extLst>
              </a:tr>
              <a:tr h="110031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B07KY3FNQP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In-Ear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4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91770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6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0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0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0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2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74108945"/>
                  </a:ext>
                </a:extLst>
              </a:tr>
              <a:tr h="110031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B07XJWTYM2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In-Ear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6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4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6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72563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6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4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2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0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2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0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15556261"/>
                  </a:ext>
                </a:extLst>
              </a:tr>
              <a:tr h="110031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B07QZ3CZ48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In-Ear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4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206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0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0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0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0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2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52441514"/>
                  </a:ext>
                </a:extLst>
              </a:tr>
              <a:tr h="110031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B07S9S86BF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6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In-Ear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4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161679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6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8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0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0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0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0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00254140"/>
                  </a:ext>
                </a:extLst>
              </a:tr>
              <a:tr h="110031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6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B083T5G5PM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D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6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In-Ear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D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4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D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98250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D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6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12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D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4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D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0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D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0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D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6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2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D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6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4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D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00873614"/>
                  </a:ext>
                </a:extLst>
              </a:tr>
              <a:tr h="110031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6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B08FN6WGDQ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D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In-Ear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D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6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4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D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6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4390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D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6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19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D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6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0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D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6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D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6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0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D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6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2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D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6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D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88961396"/>
                  </a:ext>
                </a:extLst>
              </a:tr>
              <a:tr h="110031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B08G28Z33M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6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In-Ear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4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6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37817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6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4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6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0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6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0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6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0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0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36796048"/>
                  </a:ext>
                </a:extLst>
              </a:tr>
              <a:tr h="110031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B08H9Z3XQW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In-Ear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6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4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161677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8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0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0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0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0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67595508"/>
                  </a:ext>
                </a:extLst>
              </a:tr>
              <a:tr h="110031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B08MTLLSL8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In-Ear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4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76042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2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0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0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0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96029655"/>
                  </a:ext>
                </a:extLst>
              </a:tr>
              <a:tr h="110031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6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B092X94QNQ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D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6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In-Ear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D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4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D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6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109864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D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6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8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D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6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11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D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6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D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6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2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D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6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0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D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6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2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D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57436001"/>
                  </a:ext>
                </a:extLst>
              </a:tr>
              <a:tr h="110031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B0B5GJRTHB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In-Ear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6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4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6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2284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6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7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6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0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6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0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6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2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6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0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6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95709024"/>
                  </a:ext>
                </a:extLst>
              </a:tr>
              <a:tr h="110031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B08D11DZ2W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In-Ear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3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28324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5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6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2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0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6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0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0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0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43637000"/>
                  </a:ext>
                </a:extLst>
              </a:tr>
              <a:tr h="110031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B08D75R3Z1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In-Ear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6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3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18202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4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2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0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6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0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0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12786481"/>
                  </a:ext>
                </a:extLst>
              </a:tr>
              <a:tr h="110031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B08D77XZX5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In-Ear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6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3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58162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4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0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6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0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6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0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94695005"/>
                  </a:ext>
                </a:extLst>
              </a:tr>
              <a:tr h="110031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B085W8CFLH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In-Ear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6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3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83996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6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3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0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0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0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0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0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56334406"/>
                  </a:ext>
                </a:extLst>
              </a:tr>
              <a:tr h="110031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B07JQKQ91F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In-Ear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6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3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92995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3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2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0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6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0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6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0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5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13131463"/>
                  </a:ext>
                </a:extLst>
              </a:tr>
              <a:tr h="110031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6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B07LG59NPV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D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6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In-Ear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D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6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3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D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6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103052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D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21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D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6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5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D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6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2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D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6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2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D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6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2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D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6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2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D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08696043"/>
                  </a:ext>
                </a:extLst>
              </a:tr>
              <a:tr h="110031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B07T5DKR5D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In-Ear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3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21764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4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0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0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0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6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0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6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0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47447065"/>
                  </a:ext>
                </a:extLst>
              </a:tr>
              <a:tr h="110031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B08JQN8DGZ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In-Ear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3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180998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8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0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0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6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0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6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92601421"/>
                  </a:ext>
                </a:extLst>
              </a:tr>
              <a:tr h="110031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B07TCN5VR9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In-Ear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3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77027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8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0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0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2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0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6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06245643"/>
                  </a:ext>
                </a:extLst>
              </a:tr>
              <a:tr h="110031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6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B08FB2LNSZ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In-Ear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3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87798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11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0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0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0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6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0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30988070"/>
                  </a:ext>
                </a:extLst>
              </a:tr>
            </a:tbl>
          </a:graphicData>
        </a:graphic>
      </p:graphicFrame>
      <p:graphicFrame>
        <p:nvGraphicFramePr>
          <p:cNvPr id="2" name="표 1">
            <a:extLst>
              <a:ext uri="{FF2B5EF4-FFF2-40B4-BE49-F238E27FC236}">
                <a16:creationId xmlns:a16="http://schemas.microsoft.com/office/drawing/2014/main" id="{91095315-67F5-A13E-9E37-B5F85931188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51864694"/>
              </p:ext>
            </p:extLst>
          </p:nvPr>
        </p:nvGraphicFramePr>
        <p:xfrm>
          <a:off x="714239" y="1132705"/>
          <a:ext cx="7715523" cy="3631023"/>
        </p:xfrm>
        <a:graphic>
          <a:graphicData uri="http://schemas.openxmlformats.org/drawingml/2006/table">
            <a:tbl>
              <a:tblPr/>
              <a:tblGrid>
                <a:gridCol w="736925">
                  <a:extLst>
                    <a:ext uri="{9D8B030D-6E8A-4147-A177-3AD203B41FA5}">
                      <a16:colId xmlns:a16="http://schemas.microsoft.com/office/drawing/2014/main" val="190375715"/>
                    </a:ext>
                  </a:extLst>
                </a:gridCol>
                <a:gridCol w="799076">
                  <a:extLst>
                    <a:ext uri="{9D8B030D-6E8A-4147-A177-3AD203B41FA5}">
                      <a16:colId xmlns:a16="http://schemas.microsoft.com/office/drawing/2014/main" val="101500139"/>
                    </a:ext>
                  </a:extLst>
                </a:gridCol>
                <a:gridCol w="461688">
                  <a:extLst>
                    <a:ext uri="{9D8B030D-6E8A-4147-A177-3AD203B41FA5}">
                      <a16:colId xmlns:a16="http://schemas.microsoft.com/office/drawing/2014/main" val="473923773"/>
                    </a:ext>
                  </a:extLst>
                </a:gridCol>
                <a:gridCol w="772441">
                  <a:extLst>
                    <a:ext uri="{9D8B030D-6E8A-4147-A177-3AD203B41FA5}">
                      <a16:colId xmlns:a16="http://schemas.microsoft.com/office/drawing/2014/main" val="3889737638"/>
                    </a:ext>
                  </a:extLst>
                </a:gridCol>
                <a:gridCol w="745805">
                  <a:extLst>
                    <a:ext uri="{9D8B030D-6E8A-4147-A177-3AD203B41FA5}">
                      <a16:colId xmlns:a16="http://schemas.microsoft.com/office/drawing/2014/main" val="1725669668"/>
                    </a:ext>
                  </a:extLst>
                </a:gridCol>
                <a:gridCol w="736925">
                  <a:extLst>
                    <a:ext uri="{9D8B030D-6E8A-4147-A177-3AD203B41FA5}">
                      <a16:colId xmlns:a16="http://schemas.microsoft.com/office/drawing/2014/main" val="3667643628"/>
                    </a:ext>
                  </a:extLst>
                </a:gridCol>
                <a:gridCol w="923377">
                  <a:extLst>
                    <a:ext uri="{9D8B030D-6E8A-4147-A177-3AD203B41FA5}">
                      <a16:colId xmlns:a16="http://schemas.microsoft.com/office/drawing/2014/main" val="220457713"/>
                    </a:ext>
                  </a:extLst>
                </a:gridCol>
                <a:gridCol w="1074313">
                  <a:extLst>
                    <a:ext uri="{9D8B030D-6E8A-4147-A177-3AD203B41FA5}">
                      <a16:colId xmlns:a16="http://schemas.microsoft.com/office/drawing/2014/main" val="4143459841"/>
                    </a:ext>
                  </a:extLst>
                </a:gridCol>
                <a:gridCol w="772441">
                  <a:extLst>
                    <a:ext uri="{9D8B030D-6E8A-4147-A177-3AD203B41FA5}">
                      <a16:colId xmlns:a16="http://schemas.microsoft.com/office/drawing/2014/main" val="123354883"/>
                    </a:ext>
                  </a:extLst>
                </a:gridCol>
                <a:gridCol w="692532">
                  <a:extLst>
                    <a:ext uri="{9D8B030D-6E8A-4147-A177-3AD203B41FA5}">
                      <a16:colId xmlns:a16="http://schemas.microsoft.com/office/drawing/2014/main" val="829422028"/>
                    </a:ext>
                  </a:extLst>
                </a:gridCol>
              </a:tblGrid>
              <a:tr h="110031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600" b="1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product_id</a:t>
                      </a:r>
                      <a:endParaRPr lang="en-US" sz="600" b="1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600" b="1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last_category</a:t>
                      </a:r>
                      <a:endParaRPr lang="en-US" sz="600" b="1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rating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600" b="1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rating_count</a:t>
                      </a:r>
                      <a:endParaRPr lang="en-US" sz="600" b="1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good_count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600" b="1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great_count</a:t>
                      </a:r>
                      <a:endParaRPr lang="en-US" sz="600" b="1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excellent_count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600" b="1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recommend_count</a:t>
                      </a:r>
                      <a:endParaRPr lang="en-US" sz="600" b="1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600" b="1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worth_count</a:t>
                      </a:r>
                      <a:endParaRPr lang="en-US" sz="600" b="1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600" b="1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best_count</a:t>
                      </a:r>
                      <a:endParaRPr lang="en-US" sz="600" b="1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82929568"/>
                  </a:ext>
                </a:extLst>
              </a:tr>
              <a:tr h="110031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6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B01DEWVZ2C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In-Ear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6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4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192590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6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0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6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0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6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6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0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6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0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22517381"/>
                  </a:ext>
                </a:extLst>
              </a:tr>
              <a:tr h="110031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B01DF26V7A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6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In-Ear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6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4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192589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0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0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0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0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77371500"/>
                  </a:ext>
                </a:extLst>
              </a:tr>
              <a:tr h="110031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B01F25X6RQ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6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In-Ear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4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31539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3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0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0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0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0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83239125"/>
                  </a:ext>
                </a:extLst>
              </a:tr>
              <a:tr h="110031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B01F262EUU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In-Ear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4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31539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3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0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0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0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0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04625375"/>
                  </a:ext>
                </a:extLst>
              </a:tr>
              <a:tr h="110031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6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B01MF8MB65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6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In-Ear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6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4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273189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6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17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6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3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6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6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3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6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0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6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44827758"/>
                  </a:ext>
                </a:extLst>
              </a:tr>
              <a:tr h="110031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B071Z8M4KX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In-Ear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6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4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363711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5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0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0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0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0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0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04846805"/>
                  </a:ext>
                </a:extLst>
              </a:tr>
              <a:tr h="110031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B07CD2BN46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In-Ear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4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119466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4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2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0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0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0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0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38397841"/>
                  </a:ext>
                </a:extLst>
              </a:tr>
              <a:tr h="110031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B07DFYJRQV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In-Ear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6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4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53648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4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0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0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0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6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0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18494865"/>
                  </a:ext>
                </a:extLst>
              </a:tr>
              <a:tr h="110031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B07GPXXNNG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In-Ear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6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4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363713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6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5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0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0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0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0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0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36331371"/>
                  </a:ext>
                </a:extLst>
              </a:tr>
              <a:tr h="110031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B07GQD4K6L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In-Ear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4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6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363713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5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0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0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0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0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0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75007848"/>
                  </a:ext>
                </a:extLst>
              </a:tr>
              <a:tr h="110031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B08TV2P1N8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In-Ear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4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141841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6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0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0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0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2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58422129"/>
                  </a:ext>
                </a:extLst>
              </a:tr>
              <a:tr h="110031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B07KY3FNQP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In-Ear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4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91770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6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0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0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0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2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74108945"/>
                  </a:ext>
                </a:extLst>
              </a:tr>
              <a:tr h="110031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B07XJWTYM2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In-Ear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6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4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72563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6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4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2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0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2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0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15556261"/>
                  </a:ext>
                </a:extLst>
              </a:tr>
              <a:tr h="110031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B07QZ3CZ48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In-Ear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4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206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0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0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0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0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2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52441514"/>
                  </a:ext>
                </a:extLst>
              </a:tr>
              <a:tr h="110031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B07S9S86BF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6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In-Ear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4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161679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6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8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0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0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0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0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00254140"/>
                  </a:ext>
                </a:extLst>
              </a:tr>
              <a:tr h="110031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6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B083T5G5PM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6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In-Ear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4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98250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6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12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4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0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0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6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2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6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4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300873614"/>
                  </a:ext>
                </a:extLst>
              </a:tr>
              <a:tr h="110031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6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B08FN6WGDQ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In-Ear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6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4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6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4390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6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19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6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0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6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6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0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6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2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6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88961396"/>
                  </a:ext>
                </a:extLst>
              </a:tr>
              <a:tr h="110031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B08G28Z33M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6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In-Ear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4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6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37817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6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4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6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0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6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0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6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0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0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36796048"/>
                  </a:ext>
                </a:extLst>
              </a:tr>
              <a:tr h="110031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B08H9Z3XQW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In-Ear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6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4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161677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8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0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0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0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0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67595508"/>
                  </a:ext>
                </a:extLst>
              </a:tr>
              <a:tr h="110031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B08MTLLSL8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In-Ear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4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76042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2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0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0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0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96029655"/>
                  </a:ext>
                </a:extLst>
              </a:tr>
              <a:tr h="110031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B092X94QNQ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In-Ear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4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109864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8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6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11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6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2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0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2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57436001"/>
                  </a:ext>
                </a:extLst>
              </a:tr>
              <a:tr h="110031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B0B5GJRTHB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In-Ear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6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4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6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2284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6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7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6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0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6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0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6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2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6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0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6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95709024"/>
                  </a:ext>
                </a:extLst>
              </a:tr>
              <a:tr h="110031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B08D11DZ2W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In-Ear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3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28324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5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2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0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6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0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0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0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43637000"/>
                  </a:ext>
                </a:extLst>
              </a:tr>
              <a:tr h="110031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B08D75R3Z1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In-Ear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6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3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18202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4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2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0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6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0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0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12786481"/>
                  </a:ext>
                </a:extLst>
              </a:tr>
              <a:tr h="110031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B08D77XZX5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In-Ear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6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3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58162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4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0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6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0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6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0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94695005"/>
                  </a:ext>
                </a:extLst>
              </a:tr>
              <a:tr h="110031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B085W8CFLH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In-Ear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6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3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83996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3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0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0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0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0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0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56334406"/>
                  </a:ext>
                </a:extLst>
              </a:tr>
              <a:tr h="110031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B07JQKQ91F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In-Ear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6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3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92995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3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2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0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6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0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6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0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5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13131463"/>
                  </a:ext>
                </a:extLst>
              </a:tr>
              <a:tr h="110031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B07LG59NPV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In-Ear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6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3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103052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21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5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2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2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2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6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2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08696043"/>
                  </a:ext>
                </a:extLst>
              </a:tr>
              <a:tr h="110031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B07T5DKR5D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In-Ear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3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21764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4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0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0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0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6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0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6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0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47447065"/>
                  </a:ext>
                </a:extLst>
              </a:tr>
              <a:tr h="110031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B08JQN8DGZ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In-Ear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3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180998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8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0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0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6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0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6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92601421"/>
                  </a:ext>
                </a:extLst>
              </a:tr>
              <a:tr h="110031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B07TCN5VR9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In-Ear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3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77027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8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0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0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2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0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6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06245643"/>
                  </a:ext>
                </a:extLst>
              </a:tr>
              <a:tr h="110031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6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B08FB2LNSZ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In-Ear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3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87798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11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0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0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0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6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0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3098807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9075603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C7A155-0804-540F-C97D-625943879E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직사각형 34">
            <a:extLst>
              <a:ext uri="{FF2B5EF4-FFF2-40B4-BE49-F238E27FC236}">
                <a16:creationId xmlns:a16="http://schemas.microsoft.com/office/drawing/2014/main" id="{33793494-1D37-CA27-0F0C-D0C826CDED4F}"/>
              </a:ext>
            </a:extLst>
          </p:cNvPr>
          <p:cNvSpPr/>
          <p:nvPr/>
        </p:nvSpPr>
        <p:spPr>
          <a:xfrm>
            <a:off x="714240" y="666720"/>
            <a:ext cx="6924240" cy="380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anchor="b">
            <a:normAutofit fontScale="77500" lnSpcReduction="20000"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altLang="ko-KR" sz="3000" b="1" dirty="0">
                <a:solidFill>
                  <a:srgbClr val="0E1D35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2</a:t>
            </a:r>
            <a:r>
              <a:rPr lang="en-US" altLang="ko-KR" sz="3000" b="1" u="none" strike="noStrike" dirty="0">
                <a:solidFill>
                  <a:srgbClr val="0E1D35"/>
                </a:solidFill>
                <a:effectLst/>
                <a:uFillTx/>
                <a:latin typeface="맑은 고딕" panose="020B0503020000020004" pitchFamily="50" charset="-127"/>
                <a:ea typeface="맑은 고딕" panose="020B0503020000020004" pitchFamily="50" charset="-127"/>
              </a:rPr>
              <a:t>. </a:t>
            </a:r>
            <a:r>
              <a:rPr lang="ko-KR" altLang="en-US" sz="3000" b="1" u="none" strike="noStrike" dirty="0">
                <a:solidFill>
                  <a:srgbClr val="0E1D35"/>
                </a:solidFill>
                <a:effectLst/>
                <a:uFillTx/>
                <a:latin typeface="맑은 고딕" panose="020B0503020000020004" pitchFamily="50" charset="-127"/>
                <a:ea typeface="맑은 고딕" panose="020B0503020000020004" pitchFamily="50" charset="-127"/>
              </a:rPr>
              <a:t>추천 시스템</a:t>
            </a:r>
            <a:r>
              <a:rPr lang="en-US" altLang="ko-KR" sz="3000" b="1" u="none" strike="noStrike" dirty="0">
                <a:solidFill>
                  <a:srgbClr val="0E1D35"/>
                </a:solidFill>
                <a:effectLst/>
                <a:uFillTx/>
                <a:latin typeface="맑은 고딕" panose="020B0503020000020004" pitchFamily="50" charset="-127"/>
                <a:ea typeface="맑은 고딕" panose="020B0503020000020004" pitchFamily="50" charset="-127"/>
              </a:rPr>
              <a:t>(</a:t>
            </a:r>
            <a:r>
              <a:rPr lang="en-US" altLang="ko-KR" sz="3000" b="1" u="none" strike="noStrike" dirty="0" err="1">
                <a:solidFill>
                  <a:srgbClr val="0E1D35"/>
                </a:solidFill>
                <a:effectLst/>
                <a:uFillTx/>
                <a:latin typeface="맑은 고딕" panose="020B0503020000020004" pitchFamily="50" charset="-127"/>
                <a:ea typeface="맑은 고딕" panose="020B0503020000020004" pitchFamily="50" charset="-127"/>
              </a:rPr>
              <a:t>PreViral</a:t>
            </a:r>
            <a:r>
              <a:rPr lang="en-US" altLang="ko-KR" sz="3000" b="1" u="none" strike="noStrike" dirty="0">
                <a:solidFill>
                  <a:srgbClr val="0E1D35"/>
                </a:solidFill>
                <a:effectLst/>
                <a:uFillTx/>
                <a:latin typeface="맑은 고딕" panose="020B0503020000020004" pitchFamily="50" charset="-127"/>
                <a:ea typeface="맑은 고딕" panose="020B0503020000020004" pitchFamily="50" charset="-127"/>
              </a:rPr>
              <a:t>)</a:t>
            </a:r>
            <a:endParaRPr lang="en-US" sz="3000" b="0" u="none" strike="noStrike" dirty="0">
              <a:solidFill>
                <a:srgbClr val="000000"/>
              </a:solidFill>
              <a:effectLst/>
              <a:uFillTx/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36" name="직사각형 35">
            <a:extLst>
              <a:ext uri="{FF2B5EF4-FFF2-40B4-BE49-F238E27FC236}">
                <a16:creationId xmlns:a16="http://schemas.microsoft.com/office/drawing/2014/main" id="{11E0C8A6-8422-0DC2-042B-2AE69D6D7A8C}"/>
              </a:ext>
            </a:extLst>
          </p:cNvPr>
          <p:cNvSpPr/>
          <p:nvPr/>
        </p:nvSpPr>
        <p:spPr>
          <a:xfrm>
            <a:off x="714239" y="1204452"/>
            <a:ext cx="7938148" cy="3559277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anchor="t">
            <a:normAutofit/>
          </a:bodyPr>
          <a:lstStyle/>
          <a:p>
            <a:pPr defTabSz="914400">
              <a:lnSpc>
                <a:spcPct val="150000"/>
              </a:lnSpc>
              <a:tabLst>
                <a:tab pos="0" algn="l"/>
              </a:tabLst>
            </a:pPr>
            <a:r>
              <a:rPr lang="ko-KR" altLang="en-US" sz="1000" b="1" u="none" strike="noStrike" dirty="0">
                <a:solidFill>
                  <a:srgbClr val="0E1D35"/>
                </a:solidFill>
                <a:effectLst/>
                <a:uFillTx/>
                <a:latin typeface="맑은 고딕" panose="020B0503020000020004" pitchFamily="50" charset="-127"/>
                <a:ea typeface="맑은 고딕" panose="020B0503020000020004" pitchFamily="50" charset="-127"/>
              </a:rPr>
              <a:t>추천 시스템의 테마</a:t>
            </a:r>
            <a:endParaRPr lang="en-US" altLang="ko-KR" sz="1000" b="1" dirty="0">
              <a:solidFill>
                <a:srgbClr val="0E1D35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defTabSz="914400">
              <a:lnSpc>
                <a:spcPct val="150000"/>
              </a:lnSpc>
              <a:tabLst>
                <a:tab pos="0" algn="l"/>
              </a:tabLst>
            </a:pPr>
            <a:r>
              <a:rPr lang="en-US" altLang="ko-KR" sz="1000" b="1" u="none" strike="noStrike" dirty="0" err="1">
                <a:solidFill>
                  <a:srgbClr val="0E1D35"/>
                </a:solidFill>
                <a:effectLst/>
                <a:uFillTx/>
                <a:latin typeface="맑은 고딕" panose="020B0503020000020004" pitchFamily="50" charset="-127"/>
                <a:ea typeface="맑은 고딕" panose="020B0503020000020004" pitchFamily="50" charset="-127"/>
              </a:rPr>
              <a:t>rating_count</a:t>
            </a:r>
            <a:r>
              <a:rPr lang="ko-KR" altLang="en-US" sz="1000" b="1" u="none" strike="noStrike" dirty="0">
                <a:solidFill>
                  <a:srgbClr val="0E1D35"/>
                </a:solidFill>
                <a:effectLst/>
                <a:uFillTx/>
                <a:latin typeface="맑은 고딕" panose="020B0503020000020004" pitchFamily="50" charset="-127"/>
                <a:ea typeface="맑은 고딕" panose="020B0503020000020004" pitchFamily="50" charset="-127"/>
              </a:rPr>
              <a:t>를 </a:t>
            </a:r>
            <a:r>
              <a:rPr lang="en-US" altLang="ko-KR" sz="1000" b="1" u="none" strike="noStrike" dirty="0">
                <a:solidFill>
                  <a:srgbClr val="0E1D35"/>
                </a:solidFill>
                <a:effectLst/>
                <a:uFillTx/>
                <a:latin typeface="맑은 고딕" panose="020B0503020000020004" pitchFamily="50" charset="-127"/>
                <a:ea typeface="맑은 고딕" panose="020B0503020000020004" pitchFamily="50" charset="-127"/>
              </a:rPr>
              <a:t>4</a:t>
            </a:r>
            <a:r>
              <a:rPr lang="ko-KR" altLang="en-US" sz="1000" b="1" u="none" strike="noStrike" dirty="0">
                <a:solidFill>
                  <a:srgbClr val="0E1D35"/>
                </a:solidFill>
                <a:effectLst/>
                <a:uFillTx/>
                <a:latin typeface="맑은 고딕" panose="020B0503020000020004" pitchFamily="50" charset="-127"/>
                <a:ea typeface="맑은 고딕" panose="020B0503020000020004" pitchFamily="50" charset="-127"/>
              </a:rPr>
              <a:t>분위로 나눈 후 아직 리뷰가 많이 없는 </a:t>
            </a:r>
            <a:r>
              <a:rPr lang="en-US" altLang="ko-KR" sz="1000" b="1" u="none" strike="noStrike" dirty="0">
                <a:solidFill>
                  <a:srgbClr val="0E1D35"/>
                </a:solidFill>
                <a:effectLst/>
                <a:uFillTx/>
                <a:latin typeface="맑은 고딕" panose="020B0503020000020004" pitchFamily="50" charset="-127"/>
                <a:ea typeface="맑은 고딕" panose="020B0503020000020004" pitchFamily="50" charset="-127"/>
              </a:rPr>
              <a:t>4</a:t>
            </a:r>
            <a:r>
              <a:rPr lang="ko-KR" altLang="en-US" sz="1000" b="1" u="none" strike="noStrike" dirty="0">
                <a:solidFill>
                  <a:srgbClr val="0E1D35"/>
                </a:solidFill>
                <a:effectLst/>
                <a:uFillTx/>
                <a:latin typeface="맑은 고딕" panose="020B0503020000020004" pitchFamily="50" charset="-127"/>
                <a:ea typeface="맑은 고딕" panose="020B0503020000020004" pitchFamily="50" charset="-127"/>
              </a:rPr>
              <a:t>분위의 아이템 리스트와 카테고리별 평균 가격 정보를 같이 보여주어 이미 많이 알려진 아이템 보다는 숨겨진 </a:t>
            </a:r>
            <a:r>
              <a:rPr lang="ko-KR" altLang="en-US" sz="1000" b="1" u="none" strike="noStrike" dirty="0" err="1">
                <a:solidFill>
                  <a:srgbClr val="0E1D35"/>
                </a:solidFill>
                <a:effectLst/>
                <a:uFillTx/>
                <a:latin typeface="맑은 고딕" panose="020B0503020000020004" pitchFamily="50" charset="-127"/>
                <a:ea typeface="맑은 고딕" panose="020B0503020000020004" pitchFamily="50" charset="-127"/>
              </a:rPr>
              <a:t>꿀템을</a:t>
            </a:r>
            <a:r>
              <a:rPr lang="ko-KR" altLang="en-US" sz="1000" b="1" u="none" strike="noStrike" dirty="0">
                <a:solidFill>
                  <a:srgbClr val="0E1D35"/>
                </a:solidFill>
                <a:effectLst/>
                <a:uFillTx/>
                <a:latin typeface="맑은 고딕" panose="020B0503020000020004" pitchFamily="50" charset="-127"/>
                <a:ea typeface="맑은 고딕" panose="020B0503020000020004" pitchFamily="50" charset="-127"/>
              </a:rPr>
              <a:t> 찾아 추천해주는 시스템</a:t>
            </a:r>
            <a:endParaRPr lang="en-US" altLang="ko-KR" sz="1000" b="1" u="none" strike="noStrike" dirty="0">
              <a:solidFill>
                <a:srgbClr val="0E1D35"/>
              </a:solidFill>
              <a:effectLst/>
              <a:uFillTx/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defTabSz="914400">
              <a:lnSpc>
                <a:spcPct val="150000"/>
              </a:lnSpc>
              <a:tabLst>
                <a:tab pos="0" algn="l"/>
              </a:tabLst>
            </a:pPr>
            <a:endParaRPr lang="en-US" altLang="ko-KR" sz="1000" b="1" dirty="0">
              <a:solidFill>
                <a:srgbClr val="0E1D35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defTabSz="914400">
              <a:lnSpc>
                <a:spcPct val="150000"/>
              </a:lnSpc>
              <a:tabLst>
                <a:tab pos="0" algn="l"/>
              </a:tabLst>
            </a:pPr>
            <a:r>
              <a:rPr lang="ko-KR" altLang="en-US" sz="1000" b="1" u="none" strike="noStrike" dirty="0">
                <a:solidFill>
                  <a:srgbClr val="0E1D35"/>
                </a:solidFill>
                <a:effectLst/>
                <a:uFillTx/>
                <a:latin typeface="맑은 고딕" panose="020B0503020000020004" pitchFamily="50" charset="-127"/>
                <a:ea typeface="맑은 고딕" panose="020B0503020000020004" pitchFamily="50" charset="-127"/>
              </a:rPr>
              <a:t>구현 로직</a:t>
            </a:r>
            <a:endParaRPr lang="en-US" altLang="ko-KR" sz="1000" b="1" u="none" strike="noStrike" dirty="0">
              <a:solidFill>
                <a:srgbClr val="0E1D35"/>
              </a:solidFill>
              <a:effectLst/>
              <a:uFillTx/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1EDF4BD9-80DB-9E8E-F600-007382B390E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4239" y="2512410"/>
            <a:ext cx="5759746" cy="15050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4477153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B1645C-2440-008B-F0CD-B2AE5C1C6C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표 4">
            <a:extLst>
              <a:ext uri="{FF2B5EF4-FFF2-40B4-BE49-F238E27FC236}">
                <a16:creationId xmlns:a16="http://schemas.microsoft.com/office/drawing/2014/main" id="{3FC84094-5257-81F7-30CB-A73805C392E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9985290"/>
              </p:ext>
            </p:extLst>
          </p:nvPr>
        </p:nvGraphicFramePr>
        <p:xfrm>
          <a:off x="1209550" y="1106129"/>
          <a:ext cx="6724899" cy="3583866"/>
        </p:xfrm>
        <a:graphic>
          <a:graphicData uri="http://schemas.openxmlformats.org/drawingml/2006/table">
            <a:tbl>
              <a:tblPr/>
              <a:tblGrid>
                <a:gridCol w="759400">
                  <a:extLst>
                    <a:ext uri="{9D8B030D-6E8A-4147-A177-3AD203B41FA5}">
                      <a16:colId xmlns:a16="http://schemas.microsoft.com/office/drawing/2014/main" val="3990446263"/>
                    </a:ext>
                  </a:extLst>
                </a:gridCol>
                <a:gridCol w="1940686">
                  <a:extLst>
                    <a:ext uri="{9D8B030D-6E8A-4147-A177-3AD203B41FA5}">
                      <a16:colId xmlns:a16="http://schemas.microsoft.com/office/drawing/2014/main" val="2647260769"/>
                    </a:ext>
                  </a:extLst>
                </a:gridCol>
                <a:gridCol w="700335">
                  <a:extLst>
                    <a:ext uri="{9D8B030D-6E8A-4147-A177-3AD203B41FA5}">
                      <a16:colId xmlns:a16="http://schemas.microsoft.com/office/drawing/2014/main" val="3034264743"/>
                    </a:ext>
                  </a:extLst>
                </a:gridCol>
                <a:gridCol w="582206">
                  <a:extLst>
                    <a:ext uri="{9D8B030D-6E8A-4147-A177-3AD203B41FA5}">
                      <a16:colId xmlns:a16="http://schemas.microsoft.com/office/drawing/2014/main" val="2824515869"/>
                    </a:ext>
                  </a:extLst>
                </a:gridCol>
                <a:gridCol w="582206">
                  <a:extLst>
                    <a:ext uri="{9D8B030D-6E8A-4147-A177-3AD203B41FA5}">
                      <a16:colId xmlns:a16="http://schemas.microsoft.com/office/drawing/2014/main" val="2316462122"/>
                    </a:ext>
                  </a:extLst>
                </a:gridCol>
                <a:gridCol w="438763">
                  <a:extLst>
                    <a:ext uri="{9D8B030D-6E8A-4147-A177-3AD203B41FA5}">
                      <a16:colId xmlns:a16="http://schemas.microsoft.com/office/drawing/2014/main" val="70523958"/>
                    </a:ext>
                  </a:extLst>
                </a:gridCol>
                <a:gridCol w="734085">
                  <a:extLst>
                    <a:ext uri="{9D8B030D-6E8A-4147-A177-3AD203B41FA5}">
                      <a16:colId xmlns:a16="http://schemas.microsoft.com/office/drawing/2014/main" val="3489318419"/>
                    </a:ext>
                  </a:extLst>
                </a:gridCol>
                <a:gridCol w="987218">
                  <a:extLst>
                    <a:ext uri="{9D8B030D-6E8A-4147-A177-3AD203B41FA5}">
                      <a16:colId xmlns:a16="http://schemas.microsoft.com/office/drawing/2014/main" val="1786543472"/>
                    </a:ext>
                  </a:extLst>
                </a:gridCol>
              </a:tblGrid>
              <a:tr h="108602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600" b="1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product_id</a:t>
                      </a:r>
                      <a:endParaRPr lang="en-US" sz="600" b="1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last_category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actual_price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평균 가격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평균 비교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rating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rating_count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rating_count_ntile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61648645"/>
                  </a:ext>
                </a:extLst>
              </a:tr>
              <a:tr h="108602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B0BQRJ3C47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USBCables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999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938.7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평균 이하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5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6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4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05085750"/>
                  </a:ext>
                </a:extLst>
              </a:tr>
              <a:tr h="108602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B0B94JPY2N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6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USBCables</a:t>
                      </a:r>
                      <a:endParaRPr lang="en-US" sz="6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999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938.7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평균 이하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3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6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4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58713206"/>
                  </a:ext>
                </a:extLst>
              </a:tr>
              <a:tr h="108602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B0BPJBTB3F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FanHeaters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2495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4236.25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평균 이하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2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2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6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4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49373826"/>
                  </a:ext>
                </a:extLst>
              </a:tr>
              <a:tr h="108602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B0B3JSWG81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LintShavers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999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1061.64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평균 이하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3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2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4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77694303"/>
                  </a:ext>
                </a:extLst>
              </a:tr>
              <a:tr h="108602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B0BNLFQDG2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ElectricHeaters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2199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3280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평균 이하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3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4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4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87091012"/>
                  </a:ext>
                </a:extLst>
              </a:tr>
              <a:tr h="108602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B0BGPN4GGH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ElectricHeaters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2400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3280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평균 이하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3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4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6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4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72991627"/>
                  </a:ext>
                </a:extLst>
              </a:tr>
              <a:tr h="108602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B0BL3R4RGS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6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JuicerMixerGrinders</a:t>
                      </a:r>
                      <a:endParaRPr lang="en-US" sz="6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999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4466.33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평균 이하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3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4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4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14615050"/>
                  </a:ext>
                </a:extLst>
              </a:tr>
              <a:tr h="108602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B0BP7XLX48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USBCables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1999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938.7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평균 이하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5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5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4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48436883"/>
                  </a:ext>
                </a:extLst>
              </a:tr>
              <a:tr h="108602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B0BN2576GQ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LintShavers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1599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1061.64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평균 이하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3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6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6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4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86277031"/>
                  </a:ext>
                </a:extLst>
              </a:tr>
              <a:tr h="108602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B0B4SJKRDF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6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DigitalScales</a:t>
                      </a:r>
                      <a:endParaRPr lang="en-US" sz="6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239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869.5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평균 이하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4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7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4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03983013"/>
                  </a:ext>
                </a:extLst>
              </a:tr>
              <a:tr h="108602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B0BNDD9TN6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Projectors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28900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18293.33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평균 이하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4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7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4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21325076"/>
                  </a:ext>
                </a:extLst>
              </a:tr>
              <a:tr h="108602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B09ZVJXN5L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FanHeaters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999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4236.25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평균 이하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3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8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4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40259820"/>
                  </a:ext>
                </a:extLst>
              </a:tr>
              <a:tr h="108602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B09P1MFKG1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FanHeaters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2999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4236.25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평균 이하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4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9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6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4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45479049"/>
                  </a:ext>
                </a:extLst>
              </a:tr>
              <a:tr h="108602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B0BMTZ4T1D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FanHeaters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1599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4236.25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평균 이하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4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11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4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22271796"/>
                  </a:ext>
                </a:extLst>
              </a:tr>
              <a:tr h="108602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B09XJ1LM7R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RemoteControls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799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1170.45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평균 이하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4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12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4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66557492"/>
                  </a:ext>
                </a:extLst>
              </a:tr>
              <a:tr h="108602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B0BMFD94VD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VacuumSealers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499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580.57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평균 이하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3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12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6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4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23907727"/>
                  </a:ext>
                </a:extLst>
              </a:tr>
              <a:tr h="108602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B0BFBNXS94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HandBlenders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1499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1570.84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평균 이하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2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13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4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18389389"/>
                  </a:ext>
                </a:extLst>
              </a:tr>
              <a:tr h="108602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B09VGKFM7Y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WallChargers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499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6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1219.87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평균 이하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4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14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4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56890581"/>
                  </a:ext>
                </a:extLst>
              </a:tr>
              <a:tr h="108602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B0BMZ6SY89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FanHeaters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1599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4236.25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평균 이하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3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15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6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4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35259672"/>
                  </a:ext>
                </a:extLst>
              </a:tr>
              <a:tr h="108602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B0BPBG712X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FanHeaters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1199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4236.25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평균 이하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4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17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4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00839026"/>
                  </a:ext>
                </a:extLst>
              </a:tr>
              <a:tr h="108602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B08QW937WV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InstantWaterHeaters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2999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4563.35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평균 이하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4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19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6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4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17881475"/>
                  </a:ext>
                </a:extLst>
              </a:tr>
              <a:tr h="108602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B07H8W9PB6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GraphicTablets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499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1320.82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평균 이하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4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21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4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69063556"/>
                  </a:ext>
                </a:extLst>
              </a:tr>
              <a:tr h="108602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B09ZHCJDP1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Mice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1000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1055.79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평균 이하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5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23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4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54704528"/>
                  </a:ext>
                </a:extLst>
              </a:tr>
              <a:tr h="108602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B09LV13JFB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RemoteControls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999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1170.45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평균 이하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3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6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23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4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34186909"/>
                  </a:ext>
                </a:extLst>
              </a:tr>
              <a:tr h="108602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B09NFSHCWN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ElectricHeaters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1899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3280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평균 이하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3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24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4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89875860"/>
                  </a:ext>
                </a:extLst>
              </a:tr>
              <a:tr h="108602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B07VSG5SXZ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HDMICables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1499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1252.76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평균 이하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4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24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6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4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20157645"/>
                  </a:ext>
                </a:extLst>
              </a:tr>
              <a:tr h="108602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B0B7L86YCB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VacuumSealers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300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580.57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평균 이하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2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24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4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61634571"/>
                  </a:ext>
                </a:extLst>
              </a:tr>
              <a:tr h="108602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B0B7NWGXS6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ElectricHeaters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2545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3280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평균 이하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4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25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6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4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80754113"/>
                  </a:ext>
                </a:extLst>
              </a:tr>
              <a:tr h="108602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B016MDK4F4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HDMICables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499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1252.76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평균 이하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4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25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6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4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88036000"/>
                  </a:ext>
                </a:extLst>
              </a:tr>
              <a:tr h="108602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B0BLV1GNLN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Projectors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9990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18293.33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평균 이하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4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27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6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4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71051664"/>
                  </a:ext>
                </a:extLst>
              </a:tr>
              <a:tr h="108602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B0BQ3K23Y1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HandBlenders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499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1570.84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평균 이하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4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28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6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4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6355557"/>
                  </a:ext>
                </a:extLst>
              </a:tr>
              <a:tr h="108602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6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B0B9F9PT8R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ElectricHeaters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6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2999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3280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평균 이하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3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29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6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4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82032410"/>
                  </a:ext>
                </a:extLst>
              </a:tr>
            </a:tbl>
          </a:graphicData>
        </a:graphic>
      </p:graphicFrame>
      <p:sp>
        <p:nvSpPr>
          <p:cNvPr id="35" name="직사각형 34">
            <a:extLst>
              <a:ext uri="{FF2B5EF4-FFF2-40B4-BE49-F238E27FC236}">
                <a16:creationId xmlns:a16="http://schemas.microsoft.com/office/drawing/2014/main" id="{B69DA0DF-D54A-D4EF-CD4D-AC2004F167A7}"/>
              </a:ext>
            </a:extLst>
          </p:cNvPr>
          <p:cNvSpPr/>
          <p:nvPr/>
        </p:nvSpPr>
        <p:spPr>
          <a:xfrm>
            <a:off x="714240" y="666720"/>
            <a:ext cx="6924240" cy="380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anchor="b">
            <a:normAutofit fontScale="77500" lnSpcReduction="20000"/>
          </a:bodyPr>
          <a:lstStyle/>
          <a:p>
            <a:pPr>
              <a:tabLst>
                <a:tab pos="0" algn="l"/>
              </a:tabLst>
            </a:pPr>
            <a:r>
              <a:rPr lang="en-US" altLang="ko-KR" sz="3000" b="1" dirty="0">
                <a:solidFill>
                  <a:srgbClr val="0E1D35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2</a:t>
            </a:r>
            <a:r>
              <a:rPr lang="en-US" altLang="ko-KR" sz="3000" b="1" u="none" strike="noStrike" dirty="0">
                <a:solidFill>
                  <a:srgbClr val="0E1D35"/>
                </a:solidFill>
                <a:effectLst/>
                <a:uFillTx/>
                <a:latin typeface="맑은 고딕" panose="020B0503020000020004" pitchFamily="50" charset="-127"/>
                <a:ea typeface="맑은 고딕" panose="020B0503020000020004" pitchFamily="50" charset="-127"/>
              </a:rPr>
              <a:t>. </a:t>
            </a:r>
            <a:r>
              <a:rPr lang="ko-KR" altLang="en-US" sz="3000" b="1" u="none" strike="noStrike" dirty="0">
                <a:solidFill>
                  <a:srgbClr val="0E1D35"/>
                </a:solidFill>
                <a:effectLst/>
                <a:uFillTx/>
                <a:latin typeface="맑은 고딕" panose="020B0503020000020004" pitchFamily="50" charset="-127"/>
                <a:ea typeface="맑은 고딕" panose="020B0503020000020004" pitchFamily="50" charset="-127"/>
              </a:rPr>
              <a:t>추천 시스템</a:t>
            </a:r>
            <a:r>
              <a:rPr lang="en-US" altLang="ko-KR" sz="3000" b="1" dirty="0">
                <a:solidFill>
                  <a:srgbClr val="0E1D35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(</a:t>
            </a:r>
            <a:r>
              <a:rPr lang="en-US" altLang="ko-KR" sz="3000" b="1" dirty="0" err="1">
                <a:solidFill>
                  <a:srgbClr val="0E1D35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PreViral</a:t>
            </a:r>
            <a:r>
              <a:rPr lang="en-US" altLang="ko-KR" sz="3000" b="1" dirty="0">
                <a:solidFill>
                  <a:srgbClr val="0E1D35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)</a:t>
            </a:r>
            <a:endParaRPr lang="en-US" sz="3000" b="0" u="none" strike="noStrike" dirty="0">
              <a:solidFill>
                <a:srgbClr val="000000"/>
              </a:solidFill>
              <a:effectLst/>
              <a:uFillTx/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graphicFrame>
        <p:nvGraphicFramePr>
          <p:cNvPr id="7" name="표 6">
            <a:extLst>
              <a:ext uri="{FF2B5EF4-FFF2-40B4-BE49-F238E27FC236}">
                <a16:creationId xmlns:a16="http://schemas.microsoft.com/office/drawing/2014/main" id="{AABE87CC-8F46-7138-487A-8D8E82A0D11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60676683"/>
              </p:ext>
            </p:extLst>
          </p:nvPr>
        </p:nvGraphicFramePr>
        <p:xfrm>
          <a:off x="1209550" y="1106129"/>
          <a:ext cx="6724899" cy="3583866"/>
        </p:xfrm>
        <a:graphic>
          <a:graphicData uri="http://schemas.openxmlformats.org/drawingml/2006/table">
            <a:tbl>
              <a:tblPr/>
              <a:tblGrid>
                <a:gridCol w="759400">
                  <a:extLst>
                    <a:ext uri="{9D8B030D-6E8A-4147-A177-3AD203B41FA5}">
                      <a16:colId xmlns:a16="http://schemas.microsoft.com/office/drawing/2014/main" val="3990446263"/>
                    </a:ext>
                  </a:extLst>
                </a:gridCol>
                <a:gridCol w="1940686">
                  <a:extLst>
                    <a:ext uri="{9D8B030D-6E8A-4147-A177-3AD203B41FA5}">
                      <a16:colId xmlns:a16="http://schemas.microsoft.com/office/drawing/2014/main" val="2647260769"/>
                    </a:ext>
                  </a:extLst>
                </a:gridCol>
                <a:gridCol w="700335">
                  <a:extLst>
                    <a:ext uri="{9D8B030D-6E8A-4147-A177-3AD203B41FA5}">
                      <a16:colId xmlns:a16="http://schemas.microsoft.com/office/drawing/2014/main" val="3034264743"/>
                    </a:ext>
                  </a:extLst>
                </a:gridCol>
                <a:gridCol w="582206">
                  <a:extLst>
                    <a:ext uri="{9D8B030D-6E8A-4147-A177-3AD203B41FA5}">
                      <a16:colId xmlns:a16="http://schemas.microsoft.com/office/drawing/2014/main" val="2824515869"/>
                    </a:ext>
                  </a:extLst>
                </a:gridCol>
                <a:gridCol w="582206">
                  <a:extLst>
                    <a:ext uri="{9D8B030D-6E8A-4147-A177-3AD203B41FA5}">
                      <a16:colId xmlns:a16="http://schemas.microsoft.com/office/drawing/2014/main" val="2316462122"/>
                    </a:ext>
                  </a:extLst>
                </a:gridCol>
                <a:gridCol w="438763">
                  <a:extLst>
                    <a:ext uri="{9D8B030D-6E8A-4147-A177-3AD203B41FA5}">
                      <a16:colId xmlns:a16="http://schemas.microsoft.com/office/drawing/2014/main" val="70523958"/>
                    </a:ext>
                  </a:extLst>
                </a:gridCol>
                <a:gridCol w="734085">
                  <a:extLst>
                    <a:ext uri="{9D8B030D-6E8A-4147-A177-3AD203B41FA5}">
                      <a16:colId xmlns:a16="http://schemas.microsoft.com/office/drawing/2014/main" val="3489318419"/>
                    </a:ext>
                  </a:extLst>
                </a:gridCol>
                <a:gridCol w="987218">
                  <a:extLst>
                    <a:ext uri="{9D8B030D-6E8A-4147-A177-3AD203B41FA5}">
                      <a16:colId xmlns:a16="http://schemas.microsoft.com/office/drawing/2014/main" val="1786543472"/>
                    </a:ext>
                  </a:extLst>
                </a:gridCol>
              </a:tblGrid>
              <a:tr h="108602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600" b="1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product_id</a:t>
                      </a:r>
                      <a:endParaRPr lang="en-US" sz="600" b="1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600" b="1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last_category</a:t>
                      </a:r>
                      <a:endParaRPr lang="en-US" sz="600" b="1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actual_price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평균 가격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평균 비교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rating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600" b="1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rating_count</a:t>
                      </a:r>
                      <a:endParaRPr lang="en-US" sz="600" b="1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rating_count_ntile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61648645"/>
                  </a:ext>
                </a:extLst>
              </a:tr>
              <a:tr h="108602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B0BQRJ3C47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USBCables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999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938.7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6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평균 이하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5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6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6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4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D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05085750"/>
                  </a:ext>
                </a:extLst>
              </a:tr>
              <a:tr h="108602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B0B94JPY2N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6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USBCables</a:t>
                      </a:r>
                      <a:endParaRPr lang="en-US" sz="6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999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938.7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평균 이하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3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6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4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D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58713206"/>
                  </a:ext>
                </a:extLst>
              </a:tr>
              <a:tr h="108602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B0BPJBTB3F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FanHeaters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2495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4236.25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평균 이하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2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6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2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6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4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D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49373826"/>
                  </a:ext>
                </a:extLst>
              </a:tr>
              <a:tr h="108602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B0B3JSWG81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LintShavers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999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1061.64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평균 이하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3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2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6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4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D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77694303"/>
                  </a:ext>
                </a:extLst>
              </a:tr>
              <a:tr h="108602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B0BNLFQDG2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ElectricHeaters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2199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3280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평균 이하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3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4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4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D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87091012"/>
                  </a:ext>
                </a:extLst>
              </a:tr>
              <a:tr h="108602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6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B0BGPN4GGH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ElectricHeaters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2400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3280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평균 이하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3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6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4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6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4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D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72991627"/>
                  </a:ext>
                </a:extLst>
              </a:tr>
              <a:tr h="108602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B0BL3R4RGS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6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JuicerMixerGrinders</a:t>
                      </a:r>
                      <a:endParaRPr lang="en-US" sz="6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999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4466.33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평균 이하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3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4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4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D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14615050"/>
                  </a:ext>
                </a:extLst>
              </a:tr>
              <a:tr h="108602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B0BP7XLX48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USBCables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1999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938.7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평균 이하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5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5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4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D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48436883"/>
                  </a:ext>
                </a:extLst>
              </a:tr>
              <a:tr h="108602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B0BN2576GQ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LintShavers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1599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1061.64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평균 이하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3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6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6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4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D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86277031"/>
                  </a:ext>
                </a:extLst>
              </a:tr>
              <a:tr h="108602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B0B4SJKRDF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6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DigitalScales</a:t>
                      </a:r>
                      <a:endParaRPr lang="en-US" sz="6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239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869.5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평균 이하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4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6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7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4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D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03983013"/>
                  </a:ext>
                </a:extLst>
              </a:tr>
              <a:tr h="108602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B0BNDD9TN6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Projectors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28900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18293.33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평균 이하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4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7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4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D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21325076"/>
                  </a:ext>
                </a:extLst>
              </a:tr>
              <a:tr h="108602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B09ZVJXN5L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FanHeaters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999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4236.25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평균 이하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3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6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8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4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D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40259820"/>
                  </a:ext>
                </a:extLst>
              </a:tr>
              <a:tr h="108602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B09P1MFKG1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FanHeaters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2999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4236.25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평균 이하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4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9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6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4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D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45479049"/>
                  </a:ext>
                </a:extLst>
              </a:tr>
              <a:tr h="108602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B0BMTZ4T1D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FanHeaters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1599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4236.25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평균 이하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4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6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11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6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4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D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22271796"/>
                  </a:ext>
                </a:extLst>
              </a:tr>
              <a:tr h="108602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B09XJ1LM7R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RemoteControls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799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1170.45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평균 이하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4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12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6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4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D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66557492"/>
                  </a:ext>
                </a:extLst>
              </a:tr>
              <a:tr h="108602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B0BMFD94VD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VacuumSealers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499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580.57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평균 이하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3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6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12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6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4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D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23907727"/>
                  </a:ext>
                </a:extLst>
              </a:tr>
              <a:tr h="108602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B0BFBNXS94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HandBlenders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1499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1570.84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평균 이하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2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13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6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4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D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18389389"/>
                  </a:ext>
                </a:extLst>
              </a:tr>
              <a:tr h="108602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B09VGKFM7Y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WallChargers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499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6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1219.87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평균 이하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4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14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4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D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56890581"/>
                  </a:ext>
                </a:extLst>
              </a:tr>
              <a:tr h="108602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B0BMZ6SY89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FanHeaters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1599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4236.25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평균 이하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3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6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15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6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4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D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35259672"/>
                  </a:ext>
                </a:extLst>
              </a:tr>
              <a:tr h="108602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B0BPBG712X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FanHeaters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1199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4236.25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평균 이하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4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17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4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D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00839026"/>
                  </a:ext>
                </a:extLst>
              </a:tr>
              <a:tr h="108602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B08QW937WV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InstantWaterHeaters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2999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4563.35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평균 이하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4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6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19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6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4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D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17881475"/>
                  </a:ext>
                </a:extLst>
              </a:tr>
              <a:tr h="108602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B07H8W9PB6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GraphicTablets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499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1320.82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평균 이하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4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21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4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D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69063556"/>
                  </a:ext>
                </a:extLst>
              </a:tr>
              <a:tr h="108602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B09ZHCJDP1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Mice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1000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1055.79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평균 이하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5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6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23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4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D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54704528"/>
                  </a:ext>
                </a:extLst>
              </a:tr>
              <a:tr h="108602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B09LV13JFB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RemoteControls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999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1170.45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평균 이하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3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6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23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4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D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34186909"/>
                  </a:ext>
                </a:extLst>
              </a:tr>
              <a:tr h="108602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B09NFSHCWN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ElectricHeaters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1899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3280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평균 이하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3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24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4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D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89875860"/>
                  </a:ext>
                </a:extLst>
              </a:tr>
              <a:tr h="108602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B07VSG5SXZ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HDMICables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1499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1252.76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평균 이하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4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6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24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6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4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D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20157645"/>
                  </a:ext>
                </a:extLst>
              </a:tr>
              <a:tr h="108602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B0B7L86YCB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VacuumSealers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300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580.57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평균 이하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2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6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24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6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4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D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61634571"/>
                  </a:ext>
                </a:extLst>
              </a:tr>
              <a:tr h="108602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B0B7NWGXS6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ElectricHeaters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2545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3280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평균 이하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4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6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25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6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4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D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80754113"/>
                  </a:ext>
                </a:extLst>
              </a:tr>
              <a:tr h="108602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B016MDK4F4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HDMICables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499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1252.76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평균 이하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4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6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25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6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4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D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88036000"/>
                  </a:ext>
                </a:extLst>
              </a:tr>
              <a:tr h="108602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B0BLV1GNLN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Projectors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9990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18293.33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평균 이하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4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27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6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4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D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71051664"/>
                  </a:ext>
                </a:extLst>
              </a:tr>
              <a:tr h="108602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B0BQ3K23Y1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HandBlenders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499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1570.84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평균 이하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4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28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6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4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D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6355557"/>
                  </a:ext>
                </a:extLst>
              </a:tr>
              <a:tr h="108602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6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B0B9F9PT8R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ElectricHeaters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6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2999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3280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평균 이하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3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29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6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4</a:t>
                      </a:r>
                    </a:p>
                  </a:txBody>
                  <a:tcPr marL="2908" marR="2908" marT="29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D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8203241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97771684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96D881-2808-1F72-604A-4BC3F6B89A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직사각형 34">
            <a:extLst>
              <a:ext uri="{FF2B5EF4-FFF2-40B4-BE49-F238E27FC236}">
                <a16:creationId xmlns:a16="http://schemas.microsoft.com/office/drawing/2014/main" id="{E732D19E-63C2-566F-8DF5-4DC2C04553B4}"/>
              </a:ext>
            </a:extLst>
          </p:cNvPr>
          <p:cNvSpPr/>
          <p:nvPr/>
        </p:nvSpPr>
        <p:spPr>
          <a:xfrm>
            <a:off x="714240" y="666720"/>
            <a:ext cx="6924240" cy="380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anchor="b">
            <a:normAutofit fontScale="77500" lnSpcReduction="20000"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altLang="ko-KR" sz="3000" b="1" dirty="0">
                <a:solidFill>
                  <a:srgbClr val="0E1D35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3</a:t>
            </a:r>
            <a:r>
              <a:rPr lang="en-US" altLang="ko-KR" sz="3000" b="1" u="none" strike="noStrike" dirty="0">
                <a:solidFill>
                  <a:srgbClr val="0E1D35"/>
                </a:solidFill>
                <a:effectLst/>
                <a:uFillTx/>
                <a:latin typeface="맑은 고딕" panose="020B0503020000020004" pitchFamily="50" charset="-127"/>
                <a:ea typeface="맑은 고딕" panose="020B0503020000020004" pitchFamily="50" charset="-127"/>
              </a:rPr>
              <a:t>. </a:t>
            </a:r>
            <a:r>
              <a:rPr lang="ko-KR" altLang="en-US" sz="3000" b="1" u="none" strike="noStrike" dirty="0">
                <a:solidFill>
                  <a:srgbClr val="0E1D35"/>
                </a:solidFill>
                <a:effectLst/>
                <a:uFillTx/>
                <a:latin typeface="맑은 고딕" panose="020B0503020000020004" pitchFamily="50" charset="-127"/>
                <a:ea typeface="맑은 고딕" panose="020B0503020000020004" pitchFamily="50" charset="-127"/>
              </a:rPr>
              <a:t>추천 시스템</a:t>
            </a:r>
            <a:r>
              <a:rPr lang="en-US" altLang="ko-KR" sz="3000" b="1" u="none" strike="noStrike" dirty="0">
                <a:solidFill>
                  <a:srgbClr val="0E1D35"/>
                </a:solidFill>
                <a:effectLst/>
                <a:uFillTx/>
                <a:latin typeface="맑은 고딕" panose="020B0503020000020004" pitchFamily="50" charset="-127"/>
                <a:ea typeface="맑은 고딕" panose="020B0503020000020004" pitchFamily="50" charset="-127"/>
              </a:rPr>
              <a:t>(Bestseller)</a:t>
            </a:r>
            <a:endParaRPr lang="en-US" sz="3000" b="0" u="none" strike="noStrike" dirty="0">
              <a:solidFill>
                <a:srgbClr val="000000"/>
              </a:solidFill>
              <a:effectLst/>
              <a:uFillTx/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36" name="직사각형 35">
            <a:extLst>
              <a:ext uri="{FF2B5EF4-FFF2-40B4-BE49-F238E27FC236}">
                <a16:creationId xmlns:a16="http://schemas.microsoft.com/office/drawing/2014/main" id="{01C86BBB-6DE3-9B15-259F-8A32B7702650}"/>
              </a:ext>
            </a:extLst>
          </p:cNvPr>
          <p:cNvSpPr/>
          <p:nvPr/>
        </p:nvSpPr>
        <p:spPr>
          <a:xfrm>
            <a:off x="714239" y="1204452"/>
            <a:ext cx="7938148" cy="3559277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anchor="t">
            <a:normAutofit/>
          </a:bodyPr>
          <a:lstStyle/>
          <a:p>
            <a:pPr defTabSz="914400">
              <a:lnSpc>
                <a:spcPct val="150000"/>
              </a:lnSpc>
              <a:tabLst>
                <a:tab pos="0" algn="l"/>
              </a:tabLst>
            </a:pPr>
            <a:r>
              <a:rPr lang="ko-KR" altLang="en-US" sz="1000" b="1" u="none" strike="noStrike" dirty="0">
                <a:solidFill>
                  <a:srgbClr val="0E1D35"/>
                </a:solidFill>
                <a:effectLst/>
                <a:uFillTx/>
                <a:latin typeface="맑은 고딕" panose="020B0503020000020004" pitchFamily="50" charset="-127"/>
                <a:ea typeface="맑은 고딕" panose="020B0503020000020004" pitchFamily="50" charset="-127"/>
              </a:rPr>
              <a:t>추천 시스템의 테마</a:t>
            </a:r>
            <a:endParaRPr lang="en-US" altLang="ko-KR" sz="1000" b="1" dirty="0">
              <a:solidFill>
                <a:srgbClr val="0E1D35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defTabSz="914400">
              <a:lnSpc>
                <a:spcPct val="150000"/>
              </a:lnSpc>
              <a:tabLst>
                <a:tab pos="0" algn="l"/>
              </a:tabLst>
            </a:pPr>
            <a:r>
              <a:rPr lang="ko-KR" altLang="en-US" sz="1000" b="1" u="none" strike="noStrike" dirty="0">
                <a:solidFill>
                  <a:srgbClr val="0E1D35"/>
                </a:solidFill>
                <a:effectLst/>
                <a:uFillTx/>
                <a:latin typeface="맑은 고딕" panose="020B0503020000020004" pitchFamily="50" charset="-127"/>
                <a:ea typeface="맑은 고딕" panose="020B0503020000020004" pitchFamily="50" charset="-127"/>
              </a:rPr>
              <a:t>평점 </a:t>
            </a:r>
            <a:r>
              <a:rPr lang="ko-KR" altLang="en-US" sz="1000" b="1" dirty="0">
                <a:solidFill>
                  <a:srgbClr val="0E1D35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및 </a:t>
            </a:r>
            <a:r>
              <a:rPr lang="ko-KR" altLang="en-US" sz="1000" b="1" u="none" strike="noStrike" dirty="0">
                <a:solidFill>
                  <a:srgbClr val="0E1D35"/>
                </a:solidFill>
                <a:effectLst/>
                <a:uFillTx/>
                <a:latin typeface="맑은 고딕" panose="020B0503020000020004" pitchFamily="50" charset="-127"/>
                <a:ea typeface="맑은 고딕" panose="020B0503020000020004" pitchFamily="50" charset="-127"/>
              </a:rPr>
              <a:t>가격 비교</a:t>
            </a:r>
            <a:r>
              <a:rPr lang="en-US" altLang="ko-KR" sz="1000" b="1" u="none" strike="noStrike" dirty="0">
                <a:solidFill>
                  <a:srgbClr val="0E1D35"/>
                </a:solidFill>
                <a:effectLst/>
                <a:uFillTx/>
                <a:latin typeface="맑은 고딕" panose="020B0503020000020004" pitchFamily="50" charset="-127"/>
                <a:ea typeface="맑은 고딕" panose="020B0503020000020004" pitchFamily="50" charset="-127"/>
              </a:rPr>
              <a:t>, </a:t>
            </a:r>
            <a:r>
              <a:rPr lang="ko-KR" altLang="en-US" sz="1000" b="1" u="none" strike="noStrike" dirty="0">
                <a:solidFill>
                  <a:srgbClr val="0E1D35"/>
                </a:solidFill>
                <a:effectLst/>
                <a:uFillTx/>
                <a:latin typeface="맑은 고딕" panose="020B0503020000020004" pitchFamily="50" charset="-127"/>
                <a:ea typeface="맑은 고딕" panose="020B0503020000020004" pitchFamily="50" charset="-127"/>
              </a:rPr>
              <a:t>리뷰 찾기 등 귀찮은 작업은 그만</a:t>
            </a:r>
            <a:r>
              <a:rPr lang="en-US" altLang="ko-KR" sz="1000" b="1" u="none" strike="noStrike" dirty="0">
                <a:solidFill>
                  <a:srgbClr val="0E1D35"/>
                </a:solidFill>
                <a:effectLst/>
                <a:uFillTx/>
                <a:latin typeface="맑은 고딕" panose="020B0503020000020004" pitchFamily="50" charset="-127"/>
                <a:ea typeface="맑은 고딕" panose="020B0503020000020004" pitchFamily="50" charset="-127"/>
              </a:rPr>
              <a:t>!</a:t>
            </a:r>
            <a:r>
              <a:rPr lang="ko-KR" altLang="en-US" sz="1000" b="1" u="none" strike="noStrike" dirty="0">
                <a:solidFill>
                  <a:srgbClr val="0E1D35"/>
                </a:solidFill>
                <a:effectLst/>
                <a:uFillTx/>
                <a:latin typeface="맑은 고딕" panose="020B0503020000020004" pitchFamily="50" charset="-127"/>
                <a:ea typeface="맑은 고딕" panose="020B0503020000020004" pitchFamily="50" charset="-127"/>
              </a:rPr>
              <a:t> 자금은 여유로운데 시간이 없는 고객을 위한 카테고리별 베스트셀러 추천 시스템 </a:t>
            </a:r>
            <a:r>
              <a:rPr lang="en-US" altLang="ko-KR" sz="1000" b="1" u="none" strike="noStrike" dirty="0">
                <a:solidFill>
                  <a:srgbClr val="0E1D35"/>
                </a:solidFill>
                <a:effectLst/>
                <a:uFillTx/>
                <a:latin typeface="맑은 고딕" panose="020B0503020000020004" pitchFamily="50" charset="-127"/>
                <a:ea typeface="맑은 고딕" panose="020B0503020000020004" pitchFamily="50" charset="-127"/>
              </a:rPr>
              <a:t>(rating or </a:t>
            </a:r>
            <a:r>
              <a:rPr lang="en-US" altLang="ko-KR" sz="1000" b="1" u="none" strike="noStrike" dirty="0" err="1">
                <a:solidFill>
                  <a:srgbClr val="0E1D35"/>
                </a:solidFill>
                <a:effectLst/>
                <a:uFillTx/>
                <a:latin typeface="맑은 고딕" panose="020B0503020000020004" pitchFamily="50" charset="-127"/>
                <a:ea typeface="맑은 고딕" panose="020B0503020000020004" pitchFamily="50" charset="-127"/>
              </a:rPr>
              <a:t>rating_count</a:t>
            </a:r>
            <a:r>
              <a:rPr lang="ko-KR" altLang="en-US" sz="1000" b="1" u="none" strike="noStrike" dirty="0">
                <a:solidFill>
                  <a:srgbClr val="0E1D35"/>
                </a:solidFill>
                <a:effectLst/>
                <a:uFillTx/>
                <a:latin typeface="맑은 고딕" panose="020B0503020000020004" pitchFamily="50" charset="-127"/>
                <a:ea typeface="맑은 고딕" panose="020B0503020000020004" pitchFamily="50" charset="-127"/>
              </a:rPr>
              <a:t>로 기준 설정 가능</a:t>
            </a:r>
            <a:r>
              <a:rPr lang="en-US" altLang="ko-KR" sz="1000" b="1" u="none" strike="noStrike" dirty="0">
                <a:solidFill>
                  <a:srgbClr val="0E1D35"/>
                </a:solidFill>
                <a:effectLst/>
                <a:uFillTx/>
                <a:latin typeface="맑은 고딕" panose="020B0503020000020004" pitchFamily="50" charset="-127"/>
                <a:ea typeface="맑은 고딕" panose="020B0503020000020004" pitchFamily="50" charset="-127"/>
              </a:rPr>
              <a:t>)</a:t>
            </a:r>
          </a:p>
          <a:p>
            <a:pPr defTabSz="914400">
              <a:lnSpc>
                <a:spcPct val="150000"/>
              </a:lnSpc>
              <a:tabLst>
                <a:tab pos="0" algn="l"/>
              </a:tabLst>
            </a:pPr>
            <a:endParaRPr lang="en-US" altLang="ko-KR" sz="1000" b="1" dirty="0">
              <a:solidFill>
                <a:srgbClr val="0E1D35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defTabSz="914400">
              <a:lnSpc>
                <a:spcPct val="150000"/>
              </a:lnSpc>
              <a:tabLst>
                <a:tab pos="0" algn="l"/>
              </a:tabLst>
            </a:pPr>
            <a:r>
              <a:rPr lang="ko-KR" altLang="en-US" sz="1000" b="1" u="none" strike="noStrike" dirty="0">
                <a:solidFill>
                  <a:srgbClr val="0E1D35"/>
                </a:solidFill>
                <a:effectLst/>
                <a:uFillTx/>
                <a:latin typeface="맑은 고딕" panose="020B0503020000020004" pitchFamily="50" charset="-127"/>
                <a:ea typeface="맑은 고딕" panose="020B0503020000020004" pitchFamily="50" charset="-127"/>
              </a:rPr>
              <a:t>구현 로직</a:t>
            </a:r>
            <a:endParaRPr lang="en-US" altLang="ko-KR" sz="1000" b="1" u="none" strike="noStrike" dirty="0">
              <a:solidFill>
                <a:srgbClr val="0E1D35"/>
              </a:solidFill>
              <a:effectLst/>
              <a:uFillTx/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B2FD354D-8E51-2F06-5128-3F56AC925B7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4239" y="2428828"/>
            <a:ext cx="6483683" cy="18098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483884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0A1122-157F-B92C-CE66-60B5390FD2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직사각형 34">
            <a:extLst>
              <a:ext uri="{FF2B5EF4-FFF2-40B4-BE49-F238E27FC236}">
                <a16:creationId xmlns:a16="http://schemas.microsoft.com/office/drawing/2014/main" id="{117978CE-61BC-96EE-5FAA-C79E730E05CC}"/>
              </a:ext>
            </a:extLst>
          </p:cNvPr>
          <p:cNvSpPr/>
          <p:nvPr/>
        </p:nvSpPr>
        <p:spPr>
          <a:xfrm>
            <a:off x="714240" y="666720"/>
            <a:ext cx="6924240" cy="380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anchor="b">
            <a:normAutofit fontScale="77500" lnSpcReduction="20000"/>
          </a:bodyPr>
          <a:lstStyle/>
          <a:p>
            <a:pPr>
              <a:tabLst>
                <a:tab pos="0" algn="l"/>
              </a:tabLst>
            </a:pPr>
            <a:r>
              <a:rPr lang="en-US" altLang="ko-KR" sz="3000" b="1" dirty="0">
                <a:solidFill>
                  <a:srgbClr val="0E1D35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3</a:t>
            </a:r>
            <a:r>
              <a:rPr lang="en-US" altLang="ko-KR" sz="3000" b="1" u="none" strike="noStrike" dirty="0">
                <a:solidFill>
                  <a:srgbClr val="0E1D35"/>
                </a:solidFill>
                <a:effectLst/>
                <a:uFillTx/>
                <a:latin typeface="맑은 고딕" panose="020B0503020000020004" pitchFamily="50" charset="-127"/>
                <a:ea typeface="맑은 고딕" panose="020B0503020000020004" pitchFamily="50" charset="-127"/>
              </a:rPr>
              <a:t>. </a:t>
            </a:r>
            <a:r>
              <a:rPr lang="ko-KR" altLang="en-US" sz="3000" b="1" u="none" strike="noStrike" dirty="0">
                <a:solidFill>
                  <a:srgbClr val="0E1D35"/>
                </a:solidFill>
                <a:effectLst/>
                <a:uFillTx/>
                <a:latin typeface="맑은 고딕" panose="020B0503020000020004" pitchFamily="50" charset="-127"/>
                <a:ea typeface="맑은 고딕" panose="020B0503020000020004" pitchFamily="50" charset="-127"/>
              </a:rPr>
              <a:t>추천 시스템</a:t>
            </a:r>
            <a:r>
              <a:rPr lang="en-US" altLang="ko-KR" sz="3000" b="1" dirty="0">
                <a:solidFill>
                  <a:srgbClr val="0E1D35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(Bestseller)</a:t>
            </a:r>
            <a:endParaRPr lang="en-US" sz="3000" b="0" u="none" strike="noStrike" dirty="0">
              <a:solidFill>
                <a:srgbClr val="000000"/>
              </a:solidFill>
              <a:effectLst/>
              <a:uFillTx/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graphicFrame>
        <p:nvGraphicFramePr>
          <p:cNvPr id="3" name="표 2">
            <a:extLst>
              <a:ext uri="{FF2B5EF4-FFF2-40B4-BE49-F238E27FC236}">
                <a16:creationId xmlns:a16="http://schemas.microsoft.com/office/drawing/2014/main" id="{2458088C-7764-1010-1613-04AABA83F7F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03052133"/>
              </p:ext>
            </p:extLst>
          </p:nvPr>
        </p:nvGraphicFramePr>
        <p:xfrm>
          <a:off x="1827042" y="1203521"/>
          <a:ext cx="5489915" cy="3506130"/>
        </p:xfrm>
        <a:graphic>
          <a:graphicData uri="http://schemas.openxmlformats.org/drawingml/2006/table">
            <a:tbl>
              <a:tblPr/>
              <a:tblGrid>
                <a:gridCol w="985945">
                  <a:extLst>
                    <a:ext uri="{9D8B030D-6E8A-4147-A177-3AD203B41FA5}">
                      <a16:colId xmlns:a16="http://schemas.microsoft.com/office/drawing/2014/main" val="272598535"/>
                    </a:ext>
                  </a:extLst>
                </a:gridCol>
                <a:gridCol w="2576898">
                  <a:extLst>
                    <a:ext uri="{9D8B030D-6E8A-4147-A177-3AD203B41FA5}">
                      <a16:colId xmlns:a16="http://schemas.microsoft.com/office/drawing/2014/main" val="3689096588"/>
                    </a:ext>
                  </a:extLst>
                </a:gridCol>
                <a:gridCol w="739458">
                  <a:extLst>
                    <a:ext uri="{9D8B030D-6E8A-4147-A177-3AD203B41FA5}">
                      <a16:colId xmlns:a16="http://schemas.microsoft.com/office/drawing/2014/main" val="2566890039"/>
                    </a:ext>
                  </a:extLst>
                </a:gridCol>
                <a:gridCol w="403341">
                  <a:extLst>
                    <a:ext uri="{9D8B030D-6E8A-4147-A177-3AD203B41FA5}">
                      <a16:colId xmlns:a16="http://schemas.microsoft.com/office/drawing/2014/main" val="2040829185"/>
                    </a:ext>
                  </a:extLst>
                </a:gridCol>
                <a:gridCol w="784273">
                  <a:extLst>
                    <a:ext uri="{9D8B030D-6E8A-4147-A177-3AD203B41FA5}">
                      <a16:colId xmlns:a16="http://schemas.microsoft.com/office/drawing/2014/main" val="2036718127"/>
                    </a:ext>
                  </a:extLst>
                </a:gridCol>
              </a:tblGrid>
              <a:tr h="116871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product_id</a:t>
                      </a:r>
                    </a:p>
                  </a:txBody>
                  <a:tcPr marL="3198" marR="3198" marT="319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last_category</a:t>
                      </a:r>
                    </a:p>
                  </a:txBody>
                  <a:tcPr marL="3198" marR="3198" marT="319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actual_price</a:t>
                      </a:r>
                    </a:p>
                  </a:txBody>
                  <a:tcPr marL="3198" marR="3198" marT="319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rating</a:t>
                      </a:r>
                    </a:p>
                  </a:txBody>
                  <a:tcPr marL="3198" marR="3198" marT="319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7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rating_count</a:t>
                      </a:r>
                    </a:p>
                  </a:txBody>
                  <a:tcPr marL="3198" marR="3198" marT="319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72040507"/>
                  </a:ext>
                </a:extLst>
              </a:tr>
              <a:tr h="116871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7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B0B53DS4TF</a:t>
                      </a:r>
                    </a:p>
                  </a:txBody>
                  <a:tcPr marL="3198" marR="3198" marT="319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7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AirFryers</a:t>
                      </a:r>
                    </a:p>
                  </a:txBody>
                  <a:tcPr marL="3198" marR="3198" marT="319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20049</a:t>
                      </a:r>
                    </a:p>
                  </a:txBody>
                  <a:tcPr marL="3198" marR="3198" marT="319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4</a:t>
                      </a:r>
                    </a:p>
                  </a:txBody>
                  <a:tcPr marL="3198" marR="3198" marT="319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3964</a:t>
                      </a:r>
                    </a:p>
                  </a:txBody>
                  <a:tcPr marL="3198" marR="3198" marT="319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92769245"/>
                  </a:ext>
                </a:extLst>
              </a:tr>
              <a:tr h="116871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7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B06XSK3XL6</a:t>
                      </a:r>
                    </a:p>
                  </a:txBody>
                  <a:tcPr marL="3198" marR="3198" marT="319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7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AutomobileChargers</a:t>
                      </a:r>
                    </a:p>
                  </a:txBody>
                  <a:tcPr marL="3198" marR="3198" marT="319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999</a:t>
                      </a:r>
                    </a:p>
                  </a:txBody>
                  <a:tcPr marL="3198" marR="3198" marT="319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4</a:t>
                      </a:r>
                    </a:p>
                  </a:txBody>
                  <a:tcPr marL="3198" marR="3198" marT="319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38221</a:t>
                      </a:r>
                    </a:p>
                  </a:txBody>
                  <a:tcPr marL="3198" marR="3198" marT="319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97885250"/>
                  </a:ext>
                </a:extLst>
              </a:tr>
              <a:tr h="116871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7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B09SJ1FTYV</a:t>
                      </a:r>
                    </a:p>
                  </a:txBody>
                  <a:tcPr marL="3198" marR="3198" marT="319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7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BasicCases</a:t>
                      </a:r>
                    </a:p>
                  </a:txBody>
                  <a:tcPr marL="3198" marR="3198" marT="319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1899</a:t>
                      </a:r>
                    </a:p>
                  </a:txBody>
                  <a:tcPr marL="3198" marR="3198" marT="319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4</a:t>
                      </a:r>
                    </a:p>
                  </a:txBody>
                  <a:tcPr marL="3198" marR="3198" marT="319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4740</a:t>
                      </a:r>
                    </a:p>
                  </a:txBody>
                  <a:tcPr marL="3198" marR="3198" marT="319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04149741"/>
                  </a:ext>
                </a:extLst>
              </a:tr>
              <a:tr h="116871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7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B09YDFDVNS</a:t>
                      </a:r>
                    </a:p>
                  </a:txBody>
                  <a:tcPr marL="3198" marR="3198" marT="319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7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BasicMobiles</a:t>
                      </a:r>
                    </a:p>
                  </a:txBody>
                  <a:tcPr marL="3198" marR="3198" marT="319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1699</a:t>
                      </a:r>
                    </a:p>
                  </a:txBody>
                  <a:tcPr marL="3198" marR="3198" marT="319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4</a:t>
                      </a:r>
                    </a:p>
                  </a:txBody>
                  <a:tcPr marL="3198" marR="3198" marT="319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128311</a:t>
                      </a:r>
                    </a:p>
                  </a:txBody>
                  <a:tcPr marL="3198" marR="3198" marT="319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49963368"/>
                  </a:ext>
                </a:extLst>
              </a:tr>
              <a:tr h="116871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7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B07YNTJ8ZM</a:t>
                      </a:r>
                    </a:p>
                  </a:txBody>
                  <a:tcPr marL="3198" marR="3198" marT="319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7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BluetoothSpeakers</a:t>
                      </a:r>
                    </a:p>
                  </a:txBody>
                  <a:tcPr marL="3198" marR="3198" marT="319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999</a:t>
                      </a:r>
                    </a:p>
                  </a:txBody>
                  <a:tcPr marL="3198" marR="3198" marT="319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3</a:t>
                      </a:r>
                    </a:p>
                  </a:txBody>
                  <a:tcPr marL="3198" marR="3198" marT="319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64705</a:t>
                      </a:r>
                    </a:p>
                  </a:txBody>
                  <a:tcPr marL="3198" marR="3198" marT="319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97502280"/>
                  </a:ext>
                </a:extLst>
              </a:tr>
              <a:tr h="116871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7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B00V9NHDI4</a:t>
                      </a:r>
                    </a:p>
                  </a:txBody>
                  <a:tcPr marL="3198" marR="3198" marT="319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7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CanisterVacuums</a:t>
                      </a:r>
                    </a:p>
                  </a:txBody>
                  <a:tcPr marL="3198" marR="3198" marT="319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3799</a:t>
                      </a:r>
                    </a:p>
                  </a:txBody>
                  <a:tcPr marL="3198" marR="3198" marT="319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3</a:t>
                      </a:r>
                    </a:p>
                  </a:txBody>
                  <a:tcPr marL="3198" marR="3198" marT="319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32931</a:t>
                      </a:r>
                    </a:p>
                  </a:txBody>
                  <a:tcPr marL="3198" marR="3198" marT="319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22756400"/>
                  </a:ext>
                </a:extLst>
              </a:tr>
              <a:tr h="116871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7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B07DKZCZ89</a:t>
                      </a:r>
                    </a:p>
                  </a:txBody>
                  <a:tcPr marL="3198" marR="3198" marT="319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7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Cases</a:t>
                      </a:r>
                    </a:p>
                  </a:txBody>
                  <a:tcPr marL="3198" marR="3198" marT="319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499</a:t>
                      </a:r>
                    </a:p>
                  </a:txBody>
                  <a:tcPr marL="3198" marR="3198" marT="319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4</a:t>
                      </a:r>
                    </a:p>
                  </a:txBody>
                  <a:tcPr marL="3198" marR="3198" marT="319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15032</a:t>
                      </a:r>
                    </a:p>
                  </a:txBody>
                  <a:tcPr marL="3198" marR="3198" marT="319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55414389"/>
                  </a:ext>
                </a:extLst>
              </a:tr>
              <a:tr h="116871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7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B08Y5QJXSR</a:t>
                      </a:r>
                    </a:p>
                  </a:txBody>
                  <a:tcPr marL="3198" marR="3198" marT="319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7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CeilingFans</a:t>
                      </a:r>
                    </a:p>
                  </a:txBody>
                  <a:tcPr marL="3198" marR="3198" marT="319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5190</a:t>
                      </a:r>
                    </a:p>
                  </a:txBody>
                  <a:tcPr marL="3198" marR="3198" marT="319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4</a:t>
                      </a:r>
                    </a:p>
                  </a:txBody>
                  <a:tcPr marL="3198" marR="3198" marT="319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28629</a:t>
                      </a:r>
                    </a:p>
                  </a:txBody>
                  <a:tcPr marL="3198" marR="3198" marT="319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73933680"/>
                  </a:ext>
                </a:extLst>
              </a:tr>
              <a:tr h="116871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7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B00LHZW3XY</a:t>
                      </a:r>
                    </a:p>
                  </a:txBody>
                  <a:tcPr marL="3198" marR="3198" marT="319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7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CompositionNotebooks</a:t>
                      </a:r>
                    </a:p>
                  </a:txBody>
                  <a:tcPr marL="3198" marR="3198" marT="319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180</a:t>
                      </a:r>
                    </a:p>
                  </a:txBody>
                  <a:tcPr marL="3198" marR="3198" marT="319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4</a:t>
                      </a:r>
                    </a:p>
                  </a:txBody>
                  <a:tcPr marL="3198" marR="3198" marT="319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8053</a:t>
                      </a:r>
                    </a:p>
                  </a:txBody>
                  <a:tcPr marL="3198" marR="3198" marT="319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19366661"/>
                  </a:ext>
                </a:extLst>
              </a:tr>
              <a:tr h="116871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7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B0746JGVDS</a:t>
                      </a:r>
                    </a:p>
                  </a:txBody>
                  <a:tcPr marL="3198" marR="3198" marT="319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7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Cradles</a:t>
                      </a:r>
                    </a:p>
                  </a:txBody>
                  <a:tcPr marL="3198" marR="3198" marT="319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999</a:t>
                      </a:r>
                    </a:p>
                  </a:txBody>
                  <a:tcPr marL="3198" marR="3198" marT="319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3</a:t>
                      </a:r>
                    </a:p>
                  </a:txBody>
                  <a:tcPr marL="3198" marR="3198" marT="319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46399</a:t>
                      </a:r>
                    </a:p>
                  </a:txBody>
                  <a:tcPr marL="3198" marR="3198" marT="319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68249974"/>
                  </a:ext>
                </a:extLst>
              </a:tr>
              <a:tr h="116871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7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B08MTCKDYN</a:t>
                      </a:r>
                    </a:p>
                  </a:txBody>
                  <a:tcPr marL="3198" marR="3198" marT="319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7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Décor</a:t>
                      </a:r>
                    </a:p>
                  </a:txBody>
                  <a:tcPr marL="3198" marR="3198" marT="319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299</a:t>
                      </a:r>
                    </a:p>
                  </a:txBody>
                  <a:tcPr marL="3198" marR="3198" marT="319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4</a:t>
                      </a:r>
                    </a:p>
                  </a:txBody>
                  <a:tcPr marL="3198" marR="3198" marT="319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5999</a:t>
                      </a:r>
                    </a:p>
                  </a:txBody>
                  <a:tcPr marL="3198" marR="3198" marT="319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08509654"/>
                  </a:ext>
                </a:extLst>
              </a:tr>
              <a:tr h="116871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7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B07VQGVL68</a:t>
                      </a:r>
                    </a:p>
                  </a:txBody>
                  <a:tcPr marL="3198" marR="3198" marT="319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7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DigitalKitchenScales</a:t>
                      </a:r>
                    </a:p>
                  </a:txBody>
                  <a:tcPr marL="3198" marR="3198" marT="319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499</a:t>
                      </a:r>
                    </a:p>
                  </a:txBody>
                  <a:tcPr marL="3198" marR="3198" marT="319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3</a:t>
                      </a:r>
                    </a:p>
                  </a:txBody>
                  <a:tcPr marL="3198" marR="3198" marT="319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44994</a:t>
                      </a:r>
                    </a:p>
                  </a:txBody>
                  <a:tcPr marL="3198" marR="3198" marT="319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43488391"/>
                  </a:ext>
                </a:extLst>
              </a:tr>
              <a:tr h="116871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7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B00E3DVQFS</a:t>
                      </a:r>
                    </a:p>
                  </a:txBody>
                  <a:tcPr marL="3198" marR="3198" marT="319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7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DisposableBatteries</a:t>
                      </a:r>
                    </a:p>
                  </a:txBody>
                  <a:tcPr marL="3198" marR="3198" marT="319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1109</a:t>
                      </a:r>
                    </a:p>
                  </a:txBody>
                  <a:tcPr marL="3198" marR="3198" marT="319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4</a:t>
                      </a:r>
                    </a:p>
                  </a:txBody>
                  <a:tcPr marL="3198" marR="3198" marT="319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31599</a:t>
                      </a:r>
                    </a:p>
                  </a:txBody>
                  <a:tcPr marL="3198" marR="3198" marT="319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39718820"/>
                  </a:ext>
                </a:extLst>
              </a:tr>
              <a:tr h="116871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7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B07XLML2YS</a:t>
                      </a:r>
                    </a:p>
                  </a:txBody>
                  <a:tcPr marL="3198" marR="3198" marT="319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7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DomeCameras</a:t>
                      </a:r>
                    </a:p>
                  </a:txBody>
                  <a:tcPr marL="3198" marR="3198" marT="319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3299</a:t>
                      </a:r>
                    </a:p>
                  </a:txBody>
                  <a:tcPr marL="3198" marR="3198" marT="319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4</a:t>
                      </a:r>
                    </a:p>
                  </a:txBody>
                  <a:tcPr marL="3198" marR="3198" marT="319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93112</a:t>
                      </a:r>
                    </a:p>
                  </a:txBody>
                  <a:tcPr marL="3198" marR="3198" marT="319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50263794"/>
                  </a:ext>
                </a:extLst>
              </a:tr>
              <a:tr h="116871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7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B00PVT30YI</a:t>
                      </a:r>
                    </a:p>
                  </a:txBody>
                  <a:tcPr marL="3198" marR="3198" marT="319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7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DripCoffeeMachines</a:t>
                      </a:r>
                    </a:p>
                  </a:txBody>
                  <a:tcPr marL="3198" marR="3198" marT="319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499</a:t>
                      </a:r>
                    </a:p>
                  </a:txBody>
                  <a:tcPr marL="3198" marR="3198" marT="319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4</a:t>
                      </a:r>
                    </a:p>
                  </a:txBody>
                  <a:tcPr marL="3198" marR="3198" marT="319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4238</a:t>
                      </a:r>
                    </a:p>
                  </a:txBody>
                  <a:tcPr marL="3198" marR="3198" marT="319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17861752"/>
                  </a:ext>
                </a:extLst>
              </a:tr>
              <a:tr h="116871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7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B008YW8M0G</a:t>
                      </a:r>
                    </a:p>
                  </a:txBody>
                  <a:tcPr marL="3198" marR="3198" marT="319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7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DryIrons</a:t>
                      </a:r>
                    </a:p>
                  </a:txBody>
                  <a:tcPr marL="3198" marR="3198" marT="319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875</a:t>
                      </a:r>
                    </a:p>
                  </a:txBody>
                  <a:tcPr marL="3198" marR="3198" marT="319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4</a:t>
                      </a:r>
                    </a:p>
                  </a:txBody>
                  <a:tcPr marL="3198" marR="3198" marT="319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46647</a:t>
                      </a:r>
                    </a:p>
                  </a:txBody>
                  <a:tcPr marL="3198" marR="3198" marT="319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04411390"/>
                  </a:ext>
                </a:extLst>
              </a:tr>
              <a:tr h="116871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7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B07H3WDC4X</a:t>
                      </a:r>
                    </a:p>
                  </a:txBody>
                  <a:tcPr marL="3198" marR="3198" marT="319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7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EggBoilers</a:t>
                      </a:r>
                    </a:p>
                  </a:txBody>
                  <a:tcPr marL="3198" marR="3198" marT="319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999</a:t>
                      </a:r>
                    </a:p>
                  </a:txBody>
                  <a:tcPr marL="3198" marR="3198" marT="319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4</a:t>
                      </a:r>
                    </a:p>
                  </a:txBody>
                  <a:tcPr marL="3198" marR="3198" marT="319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15646</a:t>
                      </a:r>
                    </a:p>
                  </a:txBody>
                  <a:tcPr marL="3198" marR="3198" marT="319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70127466"/>
                  </a:ext>
                </a:extLst>
              </a:tr>
              <a:tr h="116871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7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B00H47GVGY</a:t>
                      </a:r>
                    </a:p>
                  </a:txBody>
                  <a:tcPr marL="3198" marR="3198" marT="319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7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ElectricHeaters</a:t>
                      </a:r>
                    </a:p>
                  </a:txBody>
                  <a:tcPr marL="3198" marR="3198" marT="319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1695</a:t>
                      </a:r>
                    </a:p>
                  </a:txBody>
                  <a:tcPr marL="3198" marR="3198" marT="319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3</a:t>
                      </a:r>
                    </a:p>
                  </a:txBody>
                  <a:tcPr marL="3198" marR="3198" marT="319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13300</a:t>
                      </a:r>
                    </a:p>
                  </a:txBody>
                  <a:tcPr marL="3198" marR="3198" marT="319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16315750"/>
                  </a:ext>
                </a:extLst>
              </a:tr>
              <a:tr h="116871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7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B07WMS7TWB</a:t>
                      </a:r>
                    </a:p>
                  </a:txBody>
                  <a:tcPr marL="3198" marR="3198" marT="319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7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ElectricKettles</a:t>
                      </a:r>
                    </a:p>
                  </a:txBody>
                  <a:tcPr marL="3198" marR="3198" marT="319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1245</a:t>
                      </a:r>
                    </a:p>
                  </a:txBody>
                  <a:tcPr marL="3198" marR="3198" marT="319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3</a:t>
                      </a:r>
                    </a:p>
                  </a:txBody>
                  <a:tcPr marL="3198" marR="3198" marT="319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123365</a:t>
                      </a:r>
                    </a:p>
                  </a:txBody>
                  <a:tcPr marL="3198" marR="3198" marT="319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11468787"/>
                  </a:ext>
                </a:extLst>
              </a:tr>
              <a:tr h="116871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7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B00O2R38C4</a:t>
                      </a:r>
                    </a:p>
                  </a:txBody>
                  <a:tcPr marL="3198" marR="3198" marT="319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7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ExhaustFans</a:t>
                      </a:r>
                    </a:p>
                  </a:txBody>
                  <a:tcPr marL="3198" marR="3198" marT="319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1490</a:t>
                      </a:r>
                    </a:p>
                  </a:txBody>
                  <a:tcPr marL="3198" marR="3198" marT="319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4</a:t>
                      </a:r>
                    </a:p>
                  </a:txBody>
                  <a:tcPr marL="3198" marR="3198" marT="319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12999</a:t>
                      </a:r>
                    </a:p>
                  </a:txBody>
                  <a:tcPr marL="3198" marR="3198" marT="319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57019032"/>
                  </a:ext>
                </a:extLst>
              </a:tr>
              <a:tr h="116871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7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B07VTFN6HM</a:t>
                      </a:r>
                    </a:p>
                  </a:txBody>
                  <a:tcPr marL="3198" marR="3198" marT="319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7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ExternalHardDisks</a:t>
                      </a:r>
                    </a:p>
                  </a:txBody>
                  <a:tcPr marL="3198" marR="3198" marT="319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7350</a:t>
                      </a:r>
                    </a:p>
                  </a:txBody>
                  <a:tcPr marL="3198" marR="3198" marT="319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4</a:t>
                      </a:r>
                    </a:p>
                  </a:txBody>
                  <a:tcPr marL="3198" marR="3198" marT="319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73005</a:t>
                      </a:r>
                    </a:p>
                  </a:txBody>
                  <a:tcPr marL="3198" marR="3198" marT="319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07499899"/>
                  </a:ext>
                </a:extLst>
              </a:tr>
              <a:tr h="116871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7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B07VX71FZP</a:t>
                      </a:r>
                    </a:p>
                  </a:txBody>
                  <a:tcPr marL="3198" marR="3198" marT="319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7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FanHeaters</a:t>
                      </a:r>
                    </a:p>
                  </a:txBody>
                  <a:tcPr marL="3198" marR="3198" marT="319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2000</a:t>
                      </a:r>
                    </a:p>
                  </a:txBody>
                  <a:tcPr marL="3198" marR="3198" marT="319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4</a:t>
                      </a:r>
                    </a:p>
                  </a:txBody>
                  <a:tcPr marL="3198" marR="3198" marT="319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18543</a:t>
                      </a:r>
                    </a:p>
                  </a:txBody>
                  <a:tcPr marL="3198" marR="3198" marT="319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3548661"/>
                  </a:ext>
                </a:extLst>
              </a:tr>
              <a:tr h="116871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7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B01J1CFO5I</a:t>
                      </a:r>
                    </a:p>
                  </a:txBody>
                  <a:tcPr marL="3198" marR="3198" marT="319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7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Gamepads</a:t>
                      </a:r>
                    </a:p>
                  </a:txBody>
                  <a:tcPr marL="3198" marR="3198" marT="319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550</a:t>
                      </a:r>
                    </a:p>
                  </a:txBody>
                  <a:tcPr marL="3198" marR="3198" marT="319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4</a:t>
                      </a:r>
                    </a:p>
                  </a:txBody>
                  <a:tcPr marL="3198" marR="3198" marT="319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33434</a:t>
                      </a:r>
                    </a:p>
                  </a:txBody>
                  <a:tcPr marL="3198" marR="3198" marT="319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55823480"/>
                  </a:ext>
                </a:extLst>
              </a:tr>
              <a:tr h="116871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7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B08498D67S</a:t>
                      </a:r>
                    </a:p>
                  </a:txBody>
                  <a:tcPr marL="3198" marR="3198" marT="319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7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GamingKeyboards</a:t>
                      </a:r>
                    </a:p>
                  </a:txBody>
                  <a:tcPr marL="3198" marR="3198" marT="319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1800</a:t>
                      </a:r>
                    </a:p>
                  </a:txBody>
                  <a:tcPr marL="3198" marR="3198" marT="319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4</a:t>
                      </a:r>
                    </a:p>
                  </a:txBody>
                  <a:tcPr marL="3198" marR="3198" marT="319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4723</a:t>
                      </a:r>
                    </a:p>
                  </a:txBody>
                  <a:tcPr marL="3198" marR="3198" marT="319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37965687"/>
                  </a:ext>
                </a:extLst>
              </a:tr>
              <a:tr h="116871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7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B0819HZPXL</a:t>
                      </a:r>
                    </a:p>
                  </a:txBody>
                  <a:tcPr marL="3198" marR="3198" marT="319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7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GamingMice</a:t>
                      </a:r>
                    </a:p>
                  </a:txBody>
                  <a:tcPr marL="3198" marR="3198" marT="319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549</a:t>
                      </a:r>
                    </a:p>
                  </a:txBody>
                  <a:tcPr marL="3198" marR="3198" marT="319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4</a:t>
                      </a:r>
                    </a:p>
                  </a:txBody>
                  <a:tcPr marL="3198" marR="3198" marT="319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18139</a:t>
                      </a:r>
                    </a:p>
                  </a:txBody>
                  <a:tcPr marL="3198" marR="3198" marT="319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14652511"/>
                  </a:ext>
                </a:extLst>
              </a:tr>
              <a:tr h="116871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7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B00LVMTA2A</a:t>
                      </a:r>
                    </a:p>
                  </a:txBody>
                  <a:tcPr marL="3198" marR="3198" marT="319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7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GeneralPurposeBatteries&amp;BatteryChargers</a:t>
                      </a:r>
                    </a:p>
                  </a:txBody>
                  <a:tcPr marL="3198" marR="3198" marT="319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250</a:t>
                      </a:r>
                    </a:p>
                  </a:txBody>
                  <a:tcPr marL="3198" marR="3198" marT="319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4</a:t>
                      </a:r>
                    </a:p>
                  </a:txBody>
                  <a:tcPr marL="3198" marR="3198" marT="319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26556</a:t>
                      </a:r>
                    </a:p>
                  </a:txBody>
                  <a:tcPr marL="3198" marR="3198" marT="319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02704259"/>
                  </a:ext>
                </a:extLst>
              </a:tr>
              <a:tr h="116871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7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B078HRR1XV</a:t>
                      </a:r>
                    </a:p>
                  </a:txBody>
                  <a:tcPr marL="3198" marR="3198" marT="319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7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GraphicTablets</a:t>
                      </a:r>
                    </a:p>
                  </a:txBody>
                  <a:tcPr marL="3198" marR="3198" marT="319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4699</a:t>
                      </a:r>
                    </a:p>
                  </a:txBody>
                  <a:tcPr marL="3198" marR="3198" marT="319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4</a:t>
                      </a:r>
                    </a:p>
                  </a:txBody>
                  <a:tcPr marL="3198" marR="3198" marT="319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13544</a:t>
                      </a:r>
                    </a:p>
                  </a:txBody>
                  <a:tcPr marL="3198" marR="3198" marT="319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27137093"/>
                  </a:ext>
                </a:extLst>
              </a:tr>
              <a:tr h="116871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7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B00A7PLVU6</a:t>
                      </a:r>
                    </a:p>
                  </a:txBody>
                  <a:tcPr marL="3198" marR="3198" marT="319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7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HandBlenders</a:t>
                      </a:r>
                    </a:p>
                  </a:txBody>
                  <a:tcPr marL="3198" marR="3198" marT="319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899</a:t>
                      </a:r>
                    </a:p>
                  </a:txBody>
                  <a:tcPr marL="3198" marR="3198" marT="319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4</a:t>
                      </a:r>
                    </a:p>
                  </a:txBody>
                  <a:tcPr marL="3198" marR="3198" marT="319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18462</a:t>
                      </a:r>
                    </a:p>
                  </a:txBody>
                  <a:tcPr marL="3198" marR="3198" marT="319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17038407"/>
                  </a:ext>
                </a:extLst>
              </a:tr>
              <a:tr h="116871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7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B07SRM58TP</a:t>
                      </a:r>
                    </a:p>
                  </a:txBody>
                  <a:tcPr marL="3198" marR="3198" marT="319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7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HandheldVacuums</a:t>
                      </a:r>
                    </a:p>
                  </a:txBody>
                  <a:tcPr marL="3198" marR="3198" marT="319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2099</a:t>
                      </a:r>
                    </a:p>
                  </a:txBody>
                  <a:tcPr marL="3198" marR="3198" marT="319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4</a:t>
                      </a:r>
                    </a:p>
                  </a:txBody>
                  <a:tcPr marL="3198" marR="3198" marT="319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7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14368</a:t>
                      </a:r>
                    </a:p>
                  </a:txBody>
                  <a:tcPr marL="3198" marR="3198" marT="319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8453545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10282018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5C7B08-C415-DD1B-9604-01480B1521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직사각형 34">
            <a:extLst>
              <a:ext uri="{FF2B5EF4-FFF2-40B4-BE49-F238E27FC236}">
                <a16:creationId xmlns:a16="http://schemas.microsoft.com/office/drawing/2014/main" id="{7E6EFAE8-CA04-7EAD-8D72-547C912CF370}"/>
              </a:ext>
            </a:extLst>
          </p:cNvPr>
          <p:cNvSpPr/>
          <p:nvPr/>
        </p:nvSpPr>
        <p:spPr>
          <a:xfrm>
            <a:off x="714240" y="666720"/>
            <a:ext cx="6924240" cy="380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anchor="b">
            <a:normAutofit fontScale="77500" lnSpcReduction="20000"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altLang="ko-KR" sz="3000" b="1" dirty="0">
                <a:solidFill>
                  <a:srgbClr val="0E1D35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4</a:t>
            </a:r>
            <a:r>
              <a:rPr lang="en-US" altLang="ko-KR" sz="3000" b="1" u="none" strike="noStrike" dirty="0">
                <a:solidFill>
                  <a:srgbClr val="0E1D35"/>
                </a:solidFill>
                <a:effectLst/>
                <a:uFillTx/>
                <a:latin typeface="맑은 고딕" panose="020B0503020000020004" pitchFamily="50" charset="-127"/>
                <a:ea typeface="맑은 고딕" panose="020B0503020000020004" pitchFamily="50" charset="-127"/>
              </a:rPr>
              <a:t>. </a:t>
            </a:r>
            <a:r>
              <a:rPr lang="ko-KR" altLang="en-US" sz="3000" b="1" u="none" strike="noStrike" dirty="0">
                <a:solidFill>
                  <a:srgbClr val="0E1D35"/>
                </a:solidFill>
                <a:effectLst/>
                <a:uFillTx/>
                <a:latin typeface="맑은 고딕" panose="020B0503020000020004" pitchFamily="50" charset="-127"/>
                <a:ea typeface="맑은 고딕" panose="020B0503020000020004" pitchFamily="50" charset="-127"/>
              </a:rPr>
              <a:t>추천 시스템</a:t>
            </a:r>
            <a:r>
              <a:rPr lang="en-US" altLang="ko-KR" sz="3000" b="1" u="none" strike="noStrike" dirty="0">
                <a:solidFill>
                  <a:srgbClr val="0E1D35"/>
                </a:solidFill>
                <a:effectLst/>
                <a:uFillTx/>
                <a:latin typeface="맑은 고딕" panose="020B0503020000020004" pitchFamily="50" charset="-127"/>
                <a:ea typeface="맑은 고딕" panose="020B0503020000020004" pitchFamily="50" charset="-127"/>
              </a:rPr>
              <a:t>(</a:t>
            </a:r>
            <a:r>
              <a:rPr lang="en-US" altLang="ko-KR" sz="3000" b="1" u="none" strike="noStrike" dirty="0" err="1">
                <a:solidFill>
                  <a:srgbClr val="0E1D35"/>
                </a:solidFill>
                <a:effectLst/>
                <a:uFillTx/>
                <a:latin typeface="맑은 고딕" panose="020B0503020000020004" pitchFamily="50" charset="-127"/>
                <a:ea typeface="맑은 고딕" panose="020B0503020000020004" pitchFamily="50" charset="-127"/>
              </a:rPr>
              <a:t>DeviceFit</a:t>
            </a:r>
            <a:r>
              <a:rPr lang="en-US" altLang="ko-KR" sz="3000" b="1" u="none" strike="noStrike" dirty="0">
                <a:solidFill>
                  <a:srgbClr val="0E1D35"/>
                </a:solidFill>
                <a:effectLst/>
                <a:uFillTx/>
                <a:latin typeface="맑은 고딕" panose="020B0503020000020004" pitchFamily="50" charset="-127"/>
                <a:ea typeface="맑은 고딕" panose="020B0503020000020004" pitchFamily="50" charset="-127"/>
              </a:rPr>
              <a:t>)</a:t>
            </a:r>
            <a:endParaRPr lang="en-US" sz="3000" b="0" u="none" strike="noStrike" dirty="0">
              <a:solidFill>
                <a:srgbClr val="000000"/>
              </a:solidFill>
              <a:effectLst/>
              <a:uFillTx/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36" name="직사각형 35">
            <a:extLst>
              <a:ext uri="{FF2B5EF4-FFF2-40B4-BE49-F238E27FC236}">
                <a16:creationId xmlns:a16="http://schemas.microsoft.com/office/drawing/2014/main" id="{ECD7454B-A31F-F760-E2D1-6BF2E8901750}"/>
              </a:ext>
            </a:extLst>
          </p:cNvPr>
          <p:cNvSpPr/>
          <p:nvPr/>
        </p:nvSpPr>
        <p:spPr>
          <a:xfrm>
            <a:off x="714239" y="1204452"/>
            <a:ext cx="7938148" cy="3559277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anchor="t">
            <a:normAutofit/>
          </a:bodyPr>
          <a:lstStyle/>
          <a:p>
            <a:pPr defTabSz="914400">
              <a:lnSpc>
                <a:spcPct val="150000"/>
              </a:lnSpc>
              <a:tabLst>
                <a:tab pos="0" algn="l"/>
              </a:tabLst>
            </a:pPr>
            <a:r>
              <a:rPr lang="ko-KR" altLang="en-US" sz="1000" b="1" u="none" strike="noStrike" dirty="0">
                <a:solidFill>
                  <a:srgbClr val="0E1D35"/>
                </a:solidFill>
                <a:effectLst/>
                <a:uFillTx/>
                <a:latin typeface="맑은 고딕" panose="020B0503020000020004" pitchFamily="50" charset="-127"/>
                <a:ea typeface="맑은 고딕" panose="020B0503020000020004" pitchFamily="50" charset="-127"/>
              </a:rPr>
              <a:t>추천 시스템의 테마</a:t>
            </a:r>
            <a:endParaRPr lang="en-US" altLang="ko-KR" sz="1000" b="1" dirty="0">
              <a:solidFill>
                <a:srgbClr val="0E1D35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defTabSz="914400">
              <a:lnSpc>
                <a:spcPct val="150000"/>
              </a:lnSpc>
              <a:tabLst>
                <a:tab pos="0" algn="l"/>
              </a:tabLst>
            </a:pPr>
            <a:r>
              <a:rPr lang="ko-KR" altLang="en-US" sz="1000" b="1" u="none" strike="noStrike" dirty="0">
                <a:solidFill>
                  <a:srgbClr val="0E1D35"/>
                </a:solidFill>
                <a:effectLst/>
                <a:uFillTx/>
                <a:latin typeface="맑은 고딕" panose="020B0503020000020004" pitchFamily="50" charset="-127"/>
                <a:ea typeface="맑은 고딕" panose="020B0503020000020004" pitchFamily="50" charset="-127"/>
              </a:rPr>
              <a:t>내 스마트폰에 호환되는 악세사리 또는 전자기기들을 자동으로 추천해주는 시스템 더 이상 케이블을 잘못 구매</a:t>
            </a:r>
            <a:r>
              <a:rPr lang="ko-KR" altLang="en-US" sz="1000" b="1" dirty="0">
                <a:solidFill>
                  <a:srgbClr val="0E1D35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하여</a:t>
            </a:r>
            <a:r>
              <a:rPr lang="ko-KR" altLang="en-US" sz="1000" b="1" u="none" strike="noStrike" dirty="0">
                <a:solidFill>
                  <a:srgbClr val="0E1D35"/>
                </a:solidFill>
                <a:effectLst/>
                <a:uFillTx/>
                <a:latin typeface="맑은 고딕" panose="020B0503020000020004" pitchFamily="50" charset="-127"/>
                <a:ea typeface="맑은 고딕" panose="020B0503020000020004" pitchFamily="50" charset="-127"/>
              </a:rPr>
              <a:t> 불필요한 교환 및 반품의 추가 택배비용을 줄이세요</a:t>
            </a:r>
            <a:r>
              <a:rPr lang="en-US" altLang="ko-KR" sz="1000" b="1" u="none" strike="noStrike" dirty="0">
                <a:solidFill>
                  <a:srgbClr val="0E1D35"/>
                </a:solidFill>
                <a:effectLst/>
                <a:uFillTx/>
                <a:latin typeface="맑은 고딕" panose="020B0503020000020004" pitchFamily="50" charset="-127"/>
                <a:ea typeface="맑은 고딕" panose="020B0503020000020004" pitchFamily="50" charset="-127"/>
              </a:rPr>
              <a:t>.</a:t>
            </a:r>
            <a:endParaRPr lang="en-US" altLang="ko-KR" sz="1000" b="1" dirty="0">
              <a:solidFill>
                <a:srgbClr val="0E1D35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defTabSz="914400">
              <a:lnSpc>
                <a:spcPct val="150000"/>
              </a:lnSpc>
              <a:tabLst>
                <a:tab pos="0" algn="l"/>
              </a:tabLst>
            </a:pPr>
            <a:endParaRPr lang="en-US" altLang="ko-KR" sz="1000" b="1" u="none" strike="noStrike" dirty="0">
              <a:solidFill>
                <a:srgbClr val="0E1D35"/>
              </a:solidFill>
              <a:effectLst/>
              <a:uFillTx/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defTabSz="914400">
              <a:lnSpc>
                <a:spcPct val="150000"/>
              </a:lnSpc>
              <a:tabLst>
                <a:tab pos="0" algn="l"/>
              </a:tabLst>
            </a:pPr>
            <a:r>
              <a:rPr lang="ko-KR" altLang="en-US" sz="1000" b="1" u="none" strike="noStrike" dirty="0">
                <a:solidFill>
                  <a:srgbClr val="0E1D35"/>
                </a:solidFill>
                <a:effectLst/>
                <a:uFillTx/>
                <a:latin typeface="맑은 고딕" panose="020B0503020000020004" pitchFamily="50" charset="-127"/>
                <a:ea typeface="맑은 고딕" panose="020B0503020000020004" pitchFamily="50" charset="-127"/>
              </a:rPr>
              <a:t>구현 로직</a:t>
            </a:r>
            <a:endParaRPr lang="en-US" altLang="ko-KR" sz="1000" b="1" u="none" strike="noStrike" dirty="0">
              <a:solidFill>
                <a:srgbClr val="0E1D35"/>
              </a:solidFill>
              <a:effectLst/>
              <a:uFillTx/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78712C4E-A530-482E-6BF8-138C40AA6B8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7653" y="2377611"/>
            <a:ext cx="2101958" cy="1949550"/>
          </a:xfrm>
          <a:prstGeom prst="rect">
            <a:avLst/>
          </a:prstGeom>
        </p:spPr>
      </p:pic>
      <p:pic>
        <p:nvPicPr>
          <p:cNvPr id="5" name="그림 4">
            <a:extLst>
              <a:ext uri="{FF2B5EF4-FFF2-40B4-BE49-F238E27FC236}">
                <a16:creationId xmlns:a16="http://schemas.microsoft.com/office/drawing/2014/main" id="{9621D720-A45F-7C97-07B4-16265BF46C5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73393" y="2377611"/>
            <a:ext cx="2197213" cy="1809843"/>
          </a:xfrm>
          <a:prstGeom prst="rect">
            <a:avLst/>
          </a:prstGeo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C5DF97E7-03D9-55E9-7325-9F6AC8735C0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58620" y="2377611"/>
            <a:ext cx="2362321" cy="24448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883154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E801EF-5107-D656-9358-283602D622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표 4">
            <a:extLst>
              <a:ext uri="{FF2B5EF4-FFF2-40B4-BE49-F238E27FC236}">
                <a16:creationId xmlns:a16="http://schemas.microsoft.com/office/drawing/2014/main" id="{EA249A06-CF10-7B7D-8B02-9C807DEEA0A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38872260"/>
              </p:ext>
            </p:extLst>
          </p:nvPr>
        </p:nvGraphicFramePr>
        <p:xfrm>
          <a:off x="1436497" y="1091485"/>
          <a:ext cx="6271005" cy="3720785"/>
        </p:xfrm>
        <a:graphic>
          <a:graphicData uri="http://schemas.openxmlformats.org/drawingml/2006/table">
            <a:tbl>
              <a:tblPr/>
              <a:tblGrid>
                <a:gridCol w="540602">
                  <a:extLst>
                    <a:ext uri="{9D8B030D-6E8A-4147-A177-3AD203B41FA5}">
                      <a16:colId xmlns:a16="http://schemas.microsoft.com/office/drawing/2014/main" val="2754894614"/>
                    </a:ext>
                  </a:extLst>
                </a:gridCol>
                <a:gridCol w="3428067">
                  <a:extLst>
                    <a:ext uri="{9D8B030D-6E8A-4147-A177-3AD203B41FA5}">
                      <a16:colId xmlns:a16="http://schemas.microsoft.com/office/drawing/2014/main" val="1838552276"/>
                    </a:ext>
                  </a:extLst>
                </a:gridCol>
                <a:gridCol w="947647">
                  <a:extLst>
                    <a:ext uri="{9D8B030D-6E8A-4147-A177-3AD203B41FA5}">
                      <a16:colId xmlns:a16="http://schemas.microsoft.com/office/drawing/2014/main" val="272340411"/>
                    </a:ext>
                  </a:extLst>
                </a:gridCol>
                <a:gridCol w="578765">
                  <a:extLst>
                    <a:ext uri="{9D8B030D-6E8A-4147-A177-3AD203B41FA5}">
                      <a16:colId xmlns:a16="http://schemas.microsoft.com/office/drawing/2014/main" val="4093104247"/>
                    </a:ext>
                  </a:extLst>
                </a:gridCol>
                <a:gridCol w="274479">
                  <a:extLst>
                    <a:ext uri="{9D8B030D-6E8A-4147-A177-3AD203B41FA5}">
                      <a16:colId xmlns:a16="http://schemas.microsoft.com/office/drawing/2014/main" val="1847439401"/>
                    </a:ext>
                  </a:extLst>
                </a:gridCol>
                <a:gridCol w="501445">
                  <a:extLst>
                    <a:ext uri="{9D8B030D-6E8A-4147-A177-3AD203B41FA5}">
                      <a16:colId xmlns:a16="http://schemas.microsoft.com/office/drawing/2014/main" val="3808028356"/>
                    </a:ext>
                  </a:extLst>
                </a:gridCol>
              </a:tblGrid>
              <a:tr h="88253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product_id</a:t>
                      </a:r>
                    </a:p>
                  </a:txBody>
                  <a:tcPr marL="2285" marR="2285" marT="228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product_name</a:t>
                      </a:r>
                    </a:p>
                  </a:txBody>
                  <a:tcPr marL="2285" marR="2285" marT="228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last_category</a:t>
                      </a:r>
                    </a:p>
                  </a:txBody>
                  <a:tcPr marL="2285" marR="2285" marT="228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actual_price</a:t>
                      </a:r>
                    </a:p>
                  </a:txBody>
                  <a:tcPr marL="2285" marR="2285" marT="228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rating</a:t>
                      </a:r>
                    </a:p>
                  </a:txBody>
                  <a:tcPr marL="2285" marR="2285" marT="228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rating_count</a:t>
                      </a:r>
                    </a:p>
                  </a:txBody>
                  <a:tcPr marL="2285" marR="2285" marT="228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55813058"/>
                  </a:ext>
                </a:extLst>
              </a:tr>
              <a:tr h="353015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B09FFK1PQG</a:t>
                      </a:r>
                    </a:p>
                  </a:txBody>
                  <a:tcPr marL="2285" marR="2285" marT="228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600" b="0" i="0" u="none" strike="noStrike" dirty="0">
                          <a:solidFill>
                            <a:schemeClr val="bg1">
                              <a:lumMod val="10000"/>
                            </a:schemeClr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Duracell 38W Fast Car Charger Adapter with Dual Output. Quick Charge, Type C PD 20W &amp; Qualcomm Certified 3.0 Compatible for iPhone, All Smartphones, Tablets &amp; More (Copper &amp; Black)</a:t>
                      </a:r>
                    </a:p>
                  </a:txBody>
                  <a:tcPr marL="2285" marR="2285" marT="228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AutomobileChargers</a:t>
                      </a:r>
                    </a:p>
                  </a:txBody>
                  <a:tcPr marL="2285" marR="2285" marT="228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1699</a:t>
                      </a:r>
                    </a:p>
                  </a:txBody>
                  <a:tcPr marL="2285" marR="2285" marT="228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4</a:t>
                      </a:r>
                    </a:p>
                  </a:txBody>
                  <a:tcPr marL="2285" marR="2285" marT="228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6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1680</a:t>
                      </a:r>
                    </a:p>
                  </a:txBody>
                  <a:tcPr marL="2285" marR="2285" marT="228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65137944"/>
                  </a:ext>
                </a:extLst>
              </a:tr>
              <a:tr h="176508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B0B1NX6JTN</a:t>
                      </a:r>
                    </a:p>
                  </a:txBody>
                  <a:tcPr marL="2285" marR="2285" marT="228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600" b="0" i="0" u="none" strike="noStrike" dirty="0" err="1">
                          <a:solidFill>
                            <a:schemeClr val="bg1">
                              <a:lumMod val="10000"/>
                            </a:schemeClr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Spigen</a:t>
                      </a:r>
                      <a:r>
                        <a:rPr lang="en-US" sz="600" b="0" i="0" u="none" strike="noStrike" dirty="0">
                          <a:solidFill>
                            <a:schemeClr val="bg1">
                              <a:lumMod val="10000"/>
                            </a:schemeClr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Ultra Hybrid Back Cover Case Compatible with iPhone 14 Pro max (TPU + Poly Carbonate | Crystal Clear)</a:t>
                      </a:r>
                    </a:p>
                  </a:txBody>
                  <a:tcPr marL="2285" marR="2285" marT="228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BasicCases</a:t>
                      </a:r>
                    </a:p>
                  </a:txBody>
                  <a:tcPr marL="2285" marR="2285" marT="228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2599</a:t>
                      </a:r>
                    </a:p>
                  </a:txBody>
                  <a:tcPr marL="2285" marR="2285" marT="228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4</a:t>
                      </a:r>
                    </a:p>
                  </a:txBody>
                  <a:tcPr marL="2285" marR="2285" marT="228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6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1801</a:t>
                      </a:r>
                    </a:p>
                  </a:txBody>
                  <a:tcPr marL="2285" marR="2285" marT="228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53297664"/>
                  </a:ext>
                </a:extLst>
              </a:tr>
              <a:tr h="264761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B09MY4W73Q</a:t>
                      </a:r>
                    </a:p>
                  </a:txBody>
                  <a:tcPr marL="2285" marR="2285" marT="228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600" b="0" i="0" u="none" strike="noStrike" dirty="0" err="1">
                          <a:solidFill>
                            <a:schemeClr val="bg1">
                              <a:lumMod val="10000"/>
                            </a:schemeClr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Amozo</a:t>
                      </a:r>
                      <a:r>
                        <a:rPr lang="en-US" sz="600" b="0" i="0" u="none" strike="noStrike" dirty="0">
                          <a:solidFill>
                            <a:schemeClr val="bg1">
                              <a:lumMod val="10000"/>
                            </a:schemeClr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Ultra Hybrid Camera and Drop Protection Back Cover Case for iPhone 13 (Polycarbonate| Back Transparent - Sides Black)</a:t>
                      </a:r>
                    </a:p>
                  </a:txBody>
                  <a:tcPr marL="2285" marR="2285" marT="228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BasicCases</a:t>
                      </a:r>
                    </a:p>
                  </a:txBody>
                  <a:tcPr marL="2285" marR="2285" marT="228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1799</a:t>
                      </a:r>
                    </a:p>
                  </a:txBody>
                  <a:tcPr marL="2285" marR="2285" marT="228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4</a:t>
                      </a:r>
                    </a:p>
                  </a:txBody>
                  <a:tcPr marL="2285" marR="2285" marT="228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1454</a:t>
                      </a:r>
                    </a:p>
                  </a:txBody>
                  <a:tcPr marL="2285" marR="2285" marT="228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09705894"/>
                  </a:ext>
                </a:extLst>
              </a:tr>
              <a:tr h="264761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B09J2MM5C6</a:t>
                      </a:r>
                    </a:p>
                  </a:txBody>
                  <a:tcPr marL="2285" marR="2285" marT="228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600" b="0" i="0" u="none" strike="noStrike" dirty="0" err="1">
                          <a:solidFill>
                            <a:schemeClr val="bg1">
                              <a:lumMod val="10000"/>
                            </a:schemeClr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Amozo</a:t>
                      </a:r>
                      <a:r>
                        <a:rPr lang="en-US" sz="600" b="0" i="0" u="none" strike="noStrike" dirty="0">
                          <a:solidFill>
                            <a:schemeClr val="bg1">
                              <a:lumMod val="10000"/>
                            </a:schemeClr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Ultra Hybrid Camera and Drop Protection Back Cover Case for iPhone 13 (TPU + Polycarbonate | Crystal Transparent)</a:t>
                      </a:r>
                    </a:p>
                  </a:txBody>
                  <a:tcPr marL="2285" marR="2285" marT="228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BasicCases</a:t>
                      </a:r>
                    </a:p>
                  </a:txBody>
                  <a:tcPr marL="2285" marR="2285" marT="228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1499</a:t>
                      </a:r>
                    </a:p>
                  </a:txBody>
                  <a:tcPr marL="2285" marR="2285" marT="228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4</a:t>
                      </a:r>
                    </a:p>
                  </a:txBody>
                  <a:tcPr marL="2285" marR="2285" marT="228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2646</a:t>
                      </a:r>
                    </a:p>
                  </a:txBody>
                  <a:tcPr marL="2285" marR="2285" marT="228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50378071"/>
                  </a:ext>
                </a:extLst>
              </a:tr>
              <a:tr h="353015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B085HY1DGR</a:t>
                      </a:r>
                    </a:p>
                  </a:txBody>
                  <a:tcPr marL="2285" marR="2285" marT="228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600" b="0" i="0" u="none" strike="noStrike" dirty="0" err="1">
                          <a:solidFill>
                            <a:schemeClr val="bg1">
                              <a:lumMod val="10000"/>
                            </a:schemeClr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Sounce</a:t>
                      </a:r>
                      <a:r>
                        <a:rPr lang="en-US" sz="600" b="0" i="0" u="none" strike="noStrike" dirty="0">
                          <a:solidFill>
                            <a:schemeClr val="bg1">
                              <a:lumMod val="10000"/>
                            </a:schemeClr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Spiral Charger Cable Protector Data Cable Saver Charging Cord Protective Cable Cover Headphone MacBook Laptop Earphone Cell Phone Set of 3 (Cable Protector (12 Units))</a:t>
                      </a:r>
                    </a:p>
                  </a:txBody>
                  <a:tcPr marL="2285" marR="2285" marT="228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CableConnectionProtectors</a:t>
                      </a:r>
                    </a:p>
                  </a:txBody>
                  <a:tcPr marL="2285" marR="2285" marT="228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999</a:t>
                      </a:r>
                    </a:p>
                  </a:txBody>
                  <a:tcPr marL="2285" marR="2285" marT="228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4</a:t>
                      </a:r>
                    </a:p>
                  </a:txBody>
                  <a:tcPr marL="2285" marR="2285" marT="228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1396</a:t>
                      </a:r>
                    </a:p>
                  </a:txBody>
                  <a:tcPr marL="2285" marR="2285" marT="228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79214228"/>
                  </a:ext>
                </a:extLst>
              </a:tr>
              <a:tr h="264761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B08BQ947H3</a:t>
                      </a:r>
                    </a:p>
                  </a:txBody>
                  <a:tcPr marL="2285" marR="2285" marT="228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600" b="0" i="0" u="none" strike="noStrike" dirty="0">
                          <a:solidFill>
                            <a:schemeClr val="bg1">
                              <a:lumMod val="10000"/>
                            </a:schemeClr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LIRAMARK Webcam Cover Slide, Ultra Thin Laptop Camera Cover Slide Blocker for Computer MacBook Pro iMac PC Tablet (Pack of 3)</a:t>
                      </a:r>
                    </a:p>
                  </a:txBody>
                  <a:tcPr marL="2285" marR="2285" marT="228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CameraPrivacyCovers</a:t>
                      </a:r>
                    </a:p>
                  </a:txBody>
                  <a:tcPr marL="2285" marR="2285" marT="228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149</a:t>
                      </a:r>
                    </a:p>
                  </a:txBody>
                  <a:tcPr marL="2285" marR="2285" marT="228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4</a:t>
                      </a:r>
                    </a:p>
                  </a:txBody>
                  <a:tcPr marL="2285" marR="2285" marT="228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6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10833</a:t>
                      </a:r>
                    </a:p>
                  </a:txBody>
                  <a:tcPr marL="2285" marR="2285" marT="228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61348452"/>
                  </a:ext>
                </a:extLst>
              </a:tr>
              <a:tr h="264761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B07YNHCW6N</a:t>
                      </a:r>
                    </a:p>
                  </a:txBody>
                  <a:tcPr marL="2285" marR="2285" marT="228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600" b="0" i="0" u="none" strike="noStrike" dirty="0" err="1">
                          <a:solidFill>
                            <a:schemeClr val="bg1">
                              <a:lumMod val="10000"/>
                            </a:schemeClr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Robustrion</a:t>
                      </a:r>
                      <a:r>
                        <a:rPr lang="en-US" sz="600" b="0" i="0" u="none" strike="noStrike" dirty="0">
                          <a:solidFill>
                            <a:schemeClr val="bg1">
                              <a:lumMod val="10000"/>
                            </a:schemeClr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Smart Trifold Hard Back Flip Stand Case Cover for Apple iPad 10.2 Cover iPad 9th Generation Cover 2021 8th Gen 2020 7th Gen 2019 Generation Case - Black</a:t>
                      </a:r>
                    </a:p>
                  </a:txBody>
                  <a:tcPr marL="2285" marR="2285" marT="228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Cases</a:t>
                      </a:r>
                    </a:p>
                  </a:txBody>
                  <a:tcPr marL="2285" marR="2285" marT="228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2499</a:t>
                      </a:r>
                    </a:p>
                  </a:txBody>
                  <a:tcPr marL="2285" marR="2285" marT="228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4</a:t>
                      </a:r>
                    </a:p>
                  </a:txBody>
                  <a:tcPr marL="2285" marR="2285" marT="228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5556</a:t>
                      </a:r>
                    </a:p>
                  </a:txBody>
                  <a:tcPr marL="2285" marR="2285" marT="228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12713712"/>
                  </a:ext>
                </a:extLst>
              </a:tr>
              <a:tr h="264761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B07Z53L5QL</a:t>
                      </a:r>
                    </a:p>
                  </a:txBody>
                  <a:tcPr marL="2285" marR="2285" marT="228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ProElite Faux Leather Smart Flip Case Cover for Apple iPad 10.2" 9th Gen (2021) / 8th Gen / 7th Gen with Stylus Pen, Black</a:t>
                      </a:r>
                    </a:p>
                  </a:txBody>
                  <a:tcPr marL="2285" marR="2285" marT="228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Cases</a:t>
                      </a:r>
                    </a:p>
                  </a:txBody>
                  <a:tcPr marL="2285" marR="2285" marT="228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1499</a:t>
                      </a:r>
                    </a:p>
                  </a:txBody>
                  <a:tcPr marL="2285" marR="2285" marT="228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4</a:t>
                      </a:r>
                    </a:p>
                  </a:txBody>
                  <a:tcPr marL="2285" marR="2285" marT="228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11006</a:t>
                      </a:r>
                    </a:p>
                  </a:txBody>
                  <a:tcPr marL="2285" marR="2285" marT="228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58921584"/>
                  </a:ext>
                </a:extLst>
              </a:tr>
              <a:tr h="353015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B08MTCKDYN</a:t>
                      </a:r>
                    </a:p>
                  </a:txBody>
                  <a:tcPr marL="2285" marR="2285" marT="228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Gizga Essentials Spiral Cable Protector Cord Saver for Mac Charger, iPhone Charger, Wire Protector, Lightweight Durable Flexible Wire Winder for Charging Cables, Data Cables, Earphones, Pack of 10</a:t>
                      </a:r>
                    </a:p>
                  </a:txBody>
                  <a:tcPr marL="2285" marR="2285" marT="228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Décor</a:t>
                      </a:r>
                    </a:p>
                  </a:txBody>
                  <a:tcPr marL="2285" marR="2285" marT="228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299</a:t>
                      </a:r>
                    </a:p>
                  </a:txBody>
                  <a:tcPr marL="2285" marR="2285" marT="228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4</a:t>
                      </a:r>
                    </a:p>
                  </a:txBody>
                  <a:tcPr marL="2285" marR="2285" marT="228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5999</a:t>
                      </a:r>
                    </a:p>
                  </a:txBody>
                  <a:tcPr marL="2285" marR="2285" marT="228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368445382"/>
                  </a:ext>
                </a:extLst>
              </a:tr>
              <a:tr h="353015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B00MUTWLW4</a:t>
                      </a:r>
                    </a:p>
                  </a:txBody>
                  <a:tcPr marL="2285" marR="2285" marT="228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Logitech K480 Wireless Multi-Device Keyboard for Windows, macOS, iPadOS, Android or Chrome OS, Bluetooth, Compact, Compatible with PC, Mac, Laptop, Smartphone, Tablet - Black</a:t>
                      </a:r>
                    </a:p>
                  </a:txBody>
                  <a:tcPr marL="2285" marR="2285" marT="228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Keyboards</a:t>
                      </a:r>
                    </a:p>
                  </a:txBody>
                  <a:tcPr marL="2285" marR="2285" marT="228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3295</a:t>
                      </a:r>
                    </a:p>
                  </a:txBody>
                  <a:tcPr marL="2285" marR="2285" marT="228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4</a:t>
                      </a:r>
                    </a:p>
                  </a:txBody>
                  <a:tcPr marL="2285" marR="2285" marT="228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22618</a:t>
                      </a:r>
                    </a:p>
                  </a:txBody>
                  <a:tcPr marL="2285" marR="2285" marT="228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4468391"/>
                  </a:ext>
                </a:extLst>
              </a:tr>
              <a:tr h="353015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B0148NPH9I</a:t>
                      </a:r>
                    </a:p>
                  </a:txBody>
                  <a:tcPr marL="2285" marR="2285" marT="228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Logitech K380 Wireless Multi-Device Keyboard for Windows, Apple iOS, Apple TV Android or Chrome, Bluetooth, Compact Space-Saving Design, PC/Mac/Laptop/Smartphone/Tablet (Dark Grey)</a:t>
                      </a:r>
                    </a:p>
                  </a:txBody>
                  <a:tcPr marL="2285" marR="2285" marT="228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Keyboards</a:t>
                      </a:r>
                    </a:p>
                  </a:txBody>
                  <a:tcPr marL="2285" marR="2285" marT="228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3195</a:t>
                      </a:r>
                    </a:p>
                  </a:txBody>
                  <a:tcPr marL="2285" marR="2285" marT="228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4</a:t>
                      </a:r>
                    </a:p>
                  </a:txBody>
                  <a:tcPr marL="2285" marR="2285" marT="228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16146</a:t>
                      </a:r>
                    </a:p>
                  </a:txBody>
                  <a:tcPr marL="2285" marR="2285" marT="228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28437791"/>
                  </a:ext>
                </a:extLst>
              </a:tr>
              <a:tr h="353015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B09B9SPC7F</a:t>
                      </a:r>
                    </a:p>
                  </a:txBody>
                  <a:tcPr marL="2285" marR="2285" marT="228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6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PC SQUARE Laptop Tabletop Stand/ Computer Tablet Stand 6 Angles Adjustable Aluminum Ergonomic Foldable Portable Desktop Holder Compatible with MacBook, HP, Dell, Lenovo &amp; All Other Notebook (Silver)</a:t>
                      </a:r>
                    </a:p>
                  </a:txBody>
                  <a:tcPr marL="2285" marR="2285" marT="228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Lapdesks</a:t>
                      </a:r>
                    </a:p>
                  </a:txBody>
                  <a:tcPr marL="2285" marR="2285" marT="228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1299</a:t>
                      </a:r>
                    </a:p>
                  </a:txBody>
                  <a:tcPr marL="2285" marR="2285" marT="228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4</a:t>
                      </a:r>
                    </a:p>
                  </a:txBody>
                  <a:tcPr marL="2285" marR="2285" marT="228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6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2740</a:t>
                      </a:r>
                    </a:p>
                  </a:txBody>
                  <a:tcPr marL="2285" marR="2285" marT="228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94829557"/>
                  </a:ext>
                </a:extLst>
              </a:tr>
            </a:tbl>
          </a:graphicData>
        </a:graphic>
      </p:graphicFrame>
      <p:sp>
        <p:nvSpPr>
          <p:cNvPr id="35" name="직사각형 34">
            <a:extLst>
              <a:ext uri="{FF2B5EF4-FFF2-40B4-BE49-F238E27FC236}">
                <a16:creationId xmlns:a16="http://schemas.microsoft.com/office/drawing/2014/main" id="{DB91AE5C-3EE9-A9FA-1E28-9ACD74DC2BBD}"/>
              </a:ext>
            </a:extLst>
          </p:cNvPr>
          <p:cNvSpPr/>
          <p:nvPr/>
        </p:nvSpPr>
        <p:spPr>
          <a:xfrm>
            <a:off x="714240" y="666720"/>
            <a:ext cx="6924240" cy="380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anchor="b">
            <a:normAutofit fontScale="77500" lnSpcReduction="20000"/>
          </a:bodyPr>
          <a:lstStyle/>
          <a:p>
            <a:pPr>
              <a:tabLst>
                <a:tab pos="0" algn="l"/>
              </a:tabLst>
            </a:pPr>
            <a:r>
              <a:rPr lang="en-US" altLang="ko-KR" sz="3000" b="1" dirty="0">
                <a:solidFill>
                  <a:srgbClr val="0E1D35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4</a:t>
            </a:r>
            <a:r>
              <a:rPr lang="en-US" altLang="ko-KR" sz="3000" b="1" u="none" strike="noStrike" dirty="0">
                <a:solidFill>
                  <a:srgbClr val="0E1D35"/>
                </a:solidFill>
                <a:effectLst/>
                <a:uFillTx/>
                <a:latin typeface="맑은 고딕" panose="020B0503020000020004" pitchFamily="50" charset="-127"/>
                <a:ea typeface="맑은 고딕" panose="020B0503020000020004" pitchFamily="50" charset="-127"/>
              </a:rPr>
              <a:t>. </a:t>
            </a:r>
            <a:r>
              <a:rPr lang="ko-KR" altLang="en-US" sz="3000" b="1" u="none" strike="noStrike" dirty="0">
                <a:solidFill>
                  <a:srgbClr val="0E1D35"/>
                </a:solidFill>
                <a:effectLst/>
                <a:uFillTx/>
                <a:latin typeface="맑은 고딕" panose="020B0503020000020004" pitchFamily="50" charset="-127"/>
                <a:ea typeface="맑은 고딕" panose="020B0503020000020004" pitchFamily="50" charset="-127"/>
              </a:rPr>
              <a:t>추천 시스템</a:t>
            </a:r>
            <a:r>
              <a:rPr lang="en-US" altLang="ko-KR" sz="3000" b="1" dirty="0">
                <a:solidFill>
                  <a:srgbClr val="0E1D35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(</a:t>
            </a:r>
            <a:r>
              <a:rPr lang="en-US" altLang="ko-KR" sz="3000" b="1" dirty="0" err="1">
                <a:solidFill>
                  <a:srgbClr val="0E1D35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DeviceFit</a:t>
            </a:r>
            <a:r>
              <a:rPr lang="en-US" altLang="ko-KR" sz="3000" b="1" dirty="0">
                <a:solidFill>
                  <a:srgbClr val="0E1D35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)</a:t>
            </a:r>
            <a:endParaRPr lang="en-US" sz="3000" b="0" u="none" strike="noStrike" dirty="0">
              <a:solidFill>
                <a:srgbClr val="000000"/>
              </a:solidFill>
              <a:effectLst/>
              <a:uFillTx/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graphicFrame>
        <p:nvGraphicFramePr>
          <p:cNvPr id="4" name="표 3">
            <a:extLst>
              <a:ext uri="{FF2B5EF4-FFF2-40B4-BE49-F238E27FC236}">
                <a16:creationId xmlns:a16="http://schemas.microsoft.com/office/drawing/2014/main" id="{0CD25B59-F478-468D-04F5-CC4D7F5B15C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91988303"/>
              </p:ext>
            </p:extLst>
          </p:nvPr>
        </p:nvGraphicFramePr>
        <p:xfrm>
          <a:off x="1436497" y="1091485"/>
          <a:ext cx="6271005" cy="3720785"/>
        </p:xfrm>
        <a:graphic>
          <a:graphicData uri="http://schemas.openxmlformats.org/drawingml/2006/table">
            <a:tbl>
              <a:tblPr/>
              <a:tblGrid>
                <a:gridCol w="540602">
                  <a:extLst>
                    <a:ext uri="{9D8B030D-6E8A-4147-A177-3AD203B41FA5}">
                      <a16:colId xmlns:a16="http://schemas.microsoft.com/office/drawing/2014/main" val="2754894614"/>
                    </a:ext>
                  </a:extLst>
                </a:gridCol>
                <a:gridCol w="3428067">
                  <a:extLst>
                    <a:ext uri="{9D8B030D-6E8A-4147-A177-3AD203B41FA5}">
                      <a16:colId xmlns:a16="http://schemas.microsoft.com/office/drawing/2014/main" val="1838552276"/>
                    </a:ext>
                  </a:extLst>
                </a:gridCol>
                <a:gridCol w="947647">
                  <a:extLst>
                    <a:ext uri="{9D8B030D-6E8A-4147-A177-3AD203B41FA5}">
                      <a16:colId xmlns:a16="http://schemas.microsoft.com/office/drawing/2014/main" val="272340411"/>
                    </a:ext>
                  </a:extLst>
                </a:gridCol>
                <a:gridCol w="578765">
                  <a:extLst>
                    <a:ext uri="{9D8B030D-6E8A-4147-A177-3AD203B41FA5}">
                      <a16:colId xmlns:a16="http://schemas.microsoft.com/office/drawing/2014/main" val="4093104247"/>
                    </a:ext>
                  </a:extLst>
                </a:gridCol>
                <a:gridCol w="274479">
                  <a:extLst>
                    <a:ext uri="{9D8B030D-6E8A-4147-A177-3AD203B41FA5}">
                      <a16:colId xmlns:a16="http://schemas.microsoft.com/office/drawing/2014/main" val="1847439401"/>
                    </a:ext>
                  </a:extLst>
                </a:gridCol>
                <a:gridCol w="501445">
                  <a:extLst>
                    <a:ext uri="{9D8B030D-6E8A-4147-A177-3AD203B41FA5}">
                      <a16:colId xmlns:a16="http://schemas.microsoft.com/office/drawing/2014/main" val="3808028356"/>
                    </a:ext>
                  </a:extLst>
                </a:gridCol>
              </a:tblGrid>
              <a:tr h="88253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product_id</a:t>
                      </a:r>
                    </a:p>
                  </a:txBody>
                  <a:tcPr marL="2285" marR="2285" marT="228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product_name</a:t>
                      </a:r>
                    </a:p>
                  </a:txBody>
                  <a:tcPr marL="2285" marR="2285" marT="228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last_category</a:t>
                      </a:r>
                    </a:p>
                  </a:txBody>
                  <a:tcPr marL="2285" marR="2285" marT="228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actual_price</a:t>
                      </a:r>
                    </a:p>
                  </a:txBody>
                  <a:tcPr marL="2285" marR="2285" marT="228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rating</a:t>
                      </a:r>
                    </a:p>
                  </a:txBody>
                  <a:tcPr marL="2285" marR="2285" marT="228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rating_count</a:t>
                      </a:r>
                    </a:p>
                  </a:txBody>
                  <a:tcPr marL="2285" marR="2285" marT="228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55813058"/>
                  </a:ext>
                </a:extLst>
              </a:tr>
              <a:tr h="353015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B09FFK1PQG</a:t>
                      </a:r>
                    </a:p>
                  </a:txBody>
                  <a:tcPr marL="2285" marR="2285" marT="228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6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Duracell 38W Fast Car Charger Adapter with Dual Output. Quick Charge, Type C PD 20W &amp; Qualcomm Certified 3.0 Compatible for </a:t>
                      </a:r>
                      <a:r>
                        <a:rPr lang="en-US" sz="600" b="0" i="0" u="none" strike="noStrike" dirty="0">
                          <a:solidFill>
                            <a:srgbClr val="FF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iPhone</a:t>
                      </a:r>
                      <a:r>
                        <a:rPr lang="en-US" sz="6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, All Smartphones, Tablets &amp; More (Copper &amp; Black)</a:t>
                      </a:r>
                    </a:p>
                  </a:txBody>
                  <a:tcPr marL="2285" marR="2285" marT="228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AutomobileChargers</a:t>
                      </a:r>
                    </a:p>
                  </a:txBody>
                  <a:tcPr marL="2285" marR="2285" marT="228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1699</a:t>
                      </a:r>
                    </a:p>
                  </a:txBody>
                  <a:tcPr marL="2285" marR="2285" marT="228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4</a:t>
                      </a:r>
                    </a:p>
                  </a:txBody>
                  <a:tcPr marL="2285" marR="2285" marT="228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6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1680</a:t>
                      </a:r>
                    </a:p>
                  </a:txBody>
                  <a:tcPr marL="2285" marR="2285" marT="228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65137944"/>
                  </a:ext>
                </a:extLst>
              </a:tr>
              <a:tr h="176508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B0B1NX6JTN</a:t>
                      </a:r>
                    </a:p>
                  </a:txBody>
                  <a:tcPr marL="2285" marR="2285" marT="228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6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Spigen</a:t>
                      </a:r>
                      <a:r>
                        <a:rPr lang="en-US" sz="6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Ultra Hybrid Back Cover Case Compatible with </a:t>
                      </a:r>
                      <a:r>
                        <a:rPr lang="en-US" sz="600" b="0" i="0" u="none" strike="noStrike" dirty="0">
                          <a:solidFill>
                            <a:srgbClr val="FF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iPhone 14</a:t>
                      </a:r>
                      <a:r>
                        <a:rPr lang="en-US" sz="6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Pro max (TPU + Poly Carbonate | Crystal Clear)</a:t>
                      </a:r>
                    </a:p>
                  </a:txBody>
                  <a:tcPr marL="2285" marR="2285" marT="228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BasicCases</a:t>
                      </a:r>
                    </a:p>
                  </a:txBody>
                  <a:tcPr marL="2285" marR="2285" marT="228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2599</a:t>
                      </a:r>
                    </a:p>
                  </a:txBody>
                  <a:tcPr marL="2285" marR="2285" marT="228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4</a:t>
                      </a:r>
                    </a:p>
                  </a:txBody>
                  <a:tcPr marL="2285" marR="2285" marT="228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1801</a:t>
                      </a:r>
                    </a:p>
                  </a:txBody>
                  <a:tcPr marL="2285" marR="2285" marT="228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53297664"/>
                  </a:ext>
                </a:extLst>
              </a:tr>
              <a:tr h="264761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B09MY4W73Q</a:t>
                      </a:r>
                    </a:p>
                  </a:txBody>
                  <a:tcPr marL="2285" marR="2285" marT="228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6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Amozo</a:t>
                      </a:r>
                      <a:r>
                        <a:rPr lang="en-US" sz="6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Ultra Hybrid Camera and Drop Protection Back Cover Case for </a:t>
                      </a:r>
                      <a:r>
                        <a:rPr lang="en-US" sz="600" b="0" i="0" u="none" strike="noStrike" dirty="0">
                          <a:solidFill>
                            <a:srgbClr val="FF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iPhone 13</a:t>
                      </a:r>
                      <a:r>
                        <a:rPr lang="en-US" sz="6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(Polycarbonate| Back Transparent - Sides Black)</a:t>
                      </a:r>
                    </a:p>
                  </a:txBody>
                  <a:tcPr marL="2285" marR="2285" marT="228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BasicCases</a:t>
                      </a:r>
                    </a:p>
                  </a:txBody>
                  <a:tcPr marL="2285" marR="2285" marT="228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1799</a:t>
                      </a:r>
                    </a:p>
                  </a:txBody>
                  <a:tcPr marL="2285" marR="2285" marT="228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4</a:t>
                      </a:r>
                    </a:p>
                  </a:txBody>
                  <a:tcPr marL="2285" marR="2285" marT="228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1454</a:t>
                      </a:r>
                    </a:p>
                  </a:txBody>
                  <a:tcPr marL="2285" marR="2285" marT="228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09705894"/>
                  </a:ext>
                </a:extLst>
              </a:tr>
              <a:tr h="264761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B09J2MM5C6</a:t>
                      </a:r>
                    </a:p>
                  </a:txBody>
                  <a:tcPr marL="2285" marR="2285" marT="228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6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Amozo</a:t>
                      </a:r>
                      <a:r>
                        <a:rPr lang="en-US" sz="6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Ultra Hybrid Camera and Drop Protection Back Cover Case for </a:t>
                      </a:r>
                      <a:r>
                        <a:rPr lang="en-US" sz="600" b="0" i="0" u="none" strike="noStrike" dirty="0">
                          <a:solidFill>
                            <a:srgbClr val="FF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iPhone 13 </a:t>
                      </a:r>
                      <a:r>
                        <a:rPr lang="en-US" sz="6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(TPU + Polycarbonate | Crystal Transparent)</a:t>
                      </a:r>
                    </a:p>
                  </a:txBody>
                  <a:tcPr marL="2285" marR="2285" marT="228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BasicCases</a:t>
                      </a:r>
                    </a:p>
                  </a:txBody>
                  <a:tcPr marL="2285" marR="2285" marT="228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1499</a:t>
                      </a:r>
                    </a:p>
                  </a:txBody>
                  <a:tcPr marL="2285" marR="2285" marT="228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4</a:t>
                      </a:r>
                    </a:p>
                  </a:txBody>
                  <a:tcPr marL="2285" marR="2285" marT="228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2646</a:t>
                      </a:r>
                    </a:p>
                  </a:txBody>
                  <a:tcPr marL="2285" marR="2285" marT="228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50378071"/>
                  </a:ext>
                </a:extLst>
              </a:tr>
              <a:tr h="353015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B085HY1DGR</a:t>
                      </a:r>
                    </a:p>
                  </a:txBody>
                  <a:tcPr marL="2285" marR="2285" marT="228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6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Sounce</a:t>
                      </a:r>
                      <a:r>
                        <a:rPr lang="en-US" sz="6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Spiral Charger Cable Protector Data Cable Saver Charging Cord Protective Cable Cover Headphone </a:t>
                      </a:r>
                      <a:r>
                        <a:rPr lang="en-US" sz="600" b="0" i="0" u="none" strike="noStrike" dirty="0">
                          <a:solidFill>
                            <a:srgbClr val="FF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MacBook</a:t>
                      </a:r>
                      <a:r>
                        <a:rPr lang="en-US" sz="6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Laptop Earphone Cell Phone Set of 3 (Cable Protector (12 Units))</a:t>
                      </a:r>
                    </a:p>
                  </a:txBody>
                  <a:tcPr marL="2285" marR="2285" marT="228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6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CableConnectionProtectors</a:t>
                      </a:r>
                      <a:endParaRPr lang="en-US" sz="6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2285" marR="2285" marT="228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999</a:t>
                      </a:r>
                    </a:p>
                  </a:txBody>
                  <a:tcPr marL="2285" marR="2285" marT="228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4</a:t>
                      </a:r>
                    </a:p>
                  </a:txBody>
                  <a:tcPr marL="2285" marR="2285" marT="228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1396</a:t>
                      </a:r>
                    </a:p>
                  </a:txBody>
                  <a:tcPr marL="2285" marR="2285" marT="228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79214228"/>
                  </a:ext>
                </a:extLst>
              </a:tr>
              <a:tr h="264761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B08BQ947H3</a:t>
                      </a:r>
                    </a:p>
                  </a:txBody>
                  <a:tcPr marL="2285" marR="2285" marT="228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6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LIRAMARK Webcam Cover Slide, Ultra Thin Laptop Camera Cover Slide Blocker for Computer </a:t>
                      </a:r>
                      <a:r>
                        <a:rPr lang="en-US" sz="600" b="0" i="0" u="none" strike="noStrike" dirty="0">
                          <a:solidFill>
                            <a:srgbClr val="FF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MacBook</a:t>
                      </a:r>
                      <a:r>
                        <a:rPr lang="en-US" sz="6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Pro iMac PC Tablet (Pack of 3)</a:t>
                      </a:r>
                    </a:p>
                  </a:txBody>
                  <a:tcPr marL="2285" marR="2285" marT="228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CameraPrivacyCovers</a:t>
                      </a:r>
                    </a:p>
                  </a:txBody>
                  <a:tcPr marL="2285" marR="2285" marT="228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149</a:t>
                      </a:r>
                    </a:p>
                  </a:txBody>
                  <a:tcPr marL="2285" marR="2285" marT="228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4</a:t>
                      </a:r>
                    </a:p>
                  </a:txBody>
                  <a:tcPr marL="2285" marR="2285" marT="228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6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10833</a:t>
                      </a:r>
                    </a:p>
                  </a:txBody>
                  <a:tcPr marL="2285" marR="2285" marT="228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61348452"/>
                  </a:ext>
                </a:extLst>
              </a:tr>
              <a:tr h="264761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B07YNHCW6N</a:t>
                      </a:r>
                    </a:p>
                  </a:txBody>
                  <a:tcPr marL="2285" marR="2285" marT="228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6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Robustrion</a:t>
                      </a:r>
                      <a:r>
                        <a:rPr lang="en-US" sz="6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Smart Trifold Hard Back Flip Stand Case Cover for </a:t>
                      </a:r>
                      <a:r>
                        <a:rPr lang="en-US" sz="600" b="0" i="0" u="none" strike="noStrike" dirty="0">
                          <a:solidFill>
                            <a:srgbClr val="FF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Apple iPad </a:t>
                      </a:r>
                      <a:r>
                        <a:rPr lang="en-US" sz="6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10.2 Cover iPad 9th Generation Cover 2021 8th Gen 2020 7th Gen 2019 Generation Case - Black</a:t>
                      </a:r>
                    </a:p>
                  </a:txBody>
                  <a:tcPr marL="2285" marR="2285" marT="228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Cases</a:t>
                      </a:r>
                    </a:p>
                  </a:txBody>
                  <a:tcPr marL="2285" marR="2285" marT="228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2499</a:t>
                      </a:r>
                    </a:p>
                  </a:txBody>
                  <a:tcPr marL="2285" marR="2285" marT="228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4</a:t>
                      </a:r>
                    </a:p>
                  </a:txBody>
                  <a:tcPr marL="2285" marR="2285" marT="228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5556</a:t>
                      </a:r>
                    </a:p>
                  </a:txBody>
                  <a:tcPr marL="2285" marR="2285" marT="228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12713712"/>
                  </a:ext>
                </a:extLst>
              </a:tr>
              <a:tr h="264761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B07Z53L5QL</a:t>
                      </a:r>
                    </a:p>
                  </a:txBody>
                  <a:tcPr marL="2285" marR="2285" marT="228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6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ProElite</a:t>
                      </a:r>
                      <a:r>
                        <a:rPr lang="en-US" sz="6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Faux Leather Smart Flip Case Cover for </a:t>
                      </a:r>
                      <a:r>
                        <a:rPr lang="en-US" sz="600" b="0" i="0" u="none" strike="noStrike" dirty="0">
                          <a:solidFill>
                            <a:srgbClr val="FF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Apple iPad </a:t>
                      </a:r>
                      <a:r>
                        <a:rPr lang="en-US" sz="6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10.2" 9th Gen (2021) / 8th Gen / 7th Gen with Stylus Pen, Black</a:t>
                      </a:r>
                    </a:p>
                  </a:txBody>
                  <a:tcPr marL="2285" marR="2285" marT="228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Cases</a:t>
                      </a:r>
                    </a:p>
                  </a:txBody>
                  <a:tcPr marL="2285" marR="2285" marT="228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1499</a:t>
                      </a:r>
                    </a:p>
                  </a:txBody>
                  <a:tcPr marL="2285" marR="2285" marT="228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4</a:t>
                      </a:r>
                    </a:p>
                  </a:txBody>
                  <a:tcPr marL="2285" marR="2285" marT="228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11006</a:t>
                      </a:r>
                    </a:p>
                  </a:txBody>
                  <a:tcPr marL="2285" marR="2285" marT="228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58921584"/>
                  </a:ext>
                </a:extLst>
              </a:tr>
              <a:tr h="353015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B08MTCKDYN</a:t>
                      </a:r>
                    </a:p>
                  </a:txBody>
                  <a:tcPr marL="2285" marR="2285" marT="228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6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Gizga</a:t>
                      </a:r>
                      <a:r>
                        <a:rPr lang="en-US" sz="6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Essentials Spiral Cable Protector Cord Saver for </a:t>
                      </a:r>
                      <a:r>
                        <a:rPr lang="en-US" sz="600" b="0" i="0" u="none" strike="noStrike" dirty="0">
                          <a:solidFill>
                            <a:srgbClr val="FF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Mac</a:t>
                      </a:r>
                      <a:r>
                        <a:rPr lang="en-US" sz="6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Charger, </a:t>
                      </a:r>
                      <a:r>
                        <a:rPr lang="en-US" sz="600" b="0" i="0" u="none" strike="noStrike" dirty="0">
                          <a:solidFill>
                            <a:srgbClr val="FF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iPhone</a:t>
                      </a:r>
                      <a:r>
                        <a:rPr lang="en-US" sz="6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Charger, Wire Protector, Lightweight Durable Flexible Wire Winder for Charging Cables, Data Cables, Earphones, Pack of 10</a:t>
                      </a:r>
                    </a:p>
                  </a:txBody>
                  <a:tcPr marL="2285" marR="2285" marT="228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Décor</a:t>
                      </a:r>
                    </a:p>
                  </a:txBody>
                  <a:tcPr marL="2285" marR="2285" marT="228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299</a:t>
                      </a:r>
                    </a:p>
                  </a:txBody>
                  <a:tcPr marL="2285" marR="2285" marT="228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4</a:t>
                      </a:r>
                    </a:p>
                  </a:txBody>
                  <a:tcPr marL="2285" marR="2285" marT="228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5999</a:t>
                      </a:r>
                    </a:p>
                  </a:txBody>
                  <a:tcPr marL="2285" marR="2285" marT="228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368445382"/>
                  </a:ext>
                </a:extLst>
              </a:tr>
              <a:tr h="353015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B00MUTWLW4</a:t>
                      </a:r>
                    </a:p>
                  </a:txBody>
                  <a:tcPr marL="2285" marR="2285" marT="228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6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Logitech K480 Wireless Multi-Device Keyboard for Windows, macOS, </a:t>
                      </a:r>
                      <a:r>
                        <a:rPr lang="en-US" sz="600" b="0" i="0" u="none" strike="noStrike" dirty="0">
                          <a:solidFill>
                            <a:srgbClr val="FF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iPad</a:t>
                      </a:r>
                      <a:r>
                        <a:rPr lang="en-US" sz="6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OS, Android or Chrome OS, Bluetooth, Compact, Compatible with PC, Mac, Laptop, Smartphone, Tablet - Black</a:t>
                      </a:r>
                    </a:p>
                  </a:txBody>
                  <a:tcPr marL="2285" marR="2285" marT="228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Keyboards</a:t>
                      </a:r>
                    </a:p>
                  </a:txBody>
                  <a:tcPr marL="2285" marR="2285" marT="228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3295</a:t>
                      </a:r>
                    </a:p>
                  </a:txBody>
                  <a:tcPr marL="2285" marR="2285" marT="228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4</a:t>
                      </a:r>
                    </a:p>
                  </a:txBody>
                  <a:tcPr marL="2285" marR="2285" marT="228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22618</a:t>
                      </a:r>
                    </a:p>
                  </a:txBody>
                  <a:tcPr marL="2285" marR="2285" marT="228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4468391"/>
                  </a:ext>
                </a:extLst>
              </a:tr>
              <a:tr h="353015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B0148NPH9I</a:t>
                      </a:r>
                    </a:p>
                  </a:txBody>
                  <a:tcPr marL="2285" marR="2285" marT="228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6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Logitech K380 Wireless Multi-Device Keyboard for Windows, </a:t>
                      </a:r>
                      <a:r>
                        <a:rPr lang="en-US" sz="600" b="0" i="0" u="none" strike="noStrike" dirty="0">
                          <a:solidFill>
                            <a:srgbClr val="FF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Apple</a:t>
                      </a:r>
                      <a:r>
                        <a:rPr lang="en-US" sz="6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iOS, Apple TV Android or Chrome, Bluetooth, Compact Space-Saving Design, PC/Mac/Laptop/Smartphone/Tablet (Dark Grey)</a:t>
                      </a:r>
                    </a:p>
                  </a:txBody>
                  <a:tcPr marL="2285" marR="2285" marT="228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Keyboards</a:t>
                      </a:r>
                    </a:p>
                  </a:txBody>
                  <a:tcPr marL="2285" marR="2285" marT="228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3195</a:t>
                      </a:r>
                    </a:p>
                  </a:txBody>
                  <a:tcPr marL="2285" marR="2285" marT="228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4</a:t>
                      </a:r>
                    </a:p>
                  </a:txBody>
                  <a:tcPr marL="2285" marR="2285" marT="228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16146</a:t>
                      </a:r>
                    </a:p>
                  </a:txBody>
                  <a:tcPr marL="2285" marR="2285" marT="228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28437791"/>
                  </a:ext>
                </a:extLst>
              </a:tr>
              <a:tr h="353015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B09B9SPC7F</a:t>
                      </a:r>
                    </a:p>
                  </a:txBody>
                  <a:tcPr marL="2285" marR="2285" marT="228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6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PC SQUARE Laptop Tabletop Stand/ Computer Tablet Stand 6 Angles Adjustable Aluminum Ergonomic Foldable Portable Desktop Holder Compatible with </a:t>
                      </a:r>
                      <a:r>
                        <a:rPr lang="en-US" sz="600" b="0" i="0" u="none" strike="noStrike" dirty="0">
                          <a:solidFill>
                            <a:srgbClr val="FF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MacBook</a:t>
                      </a:r>
                      <a:r>
                        <a:rPr lang="en-US" sz="6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, HP, Dell, Lenovo &amp; All Other Notebook (Silver)</a:t>
                      </a:r>
                    </a:p>
                  </a:txBody>
                  <a:tcPr marL="2285" marR="2285" marT="228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Lapdesks</a:t>
                      </a:r>
                    </a:p>
                  </a:txBody>
                  <a:tcPr marL="2285" marR="2285" marT="228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1299</a:t>
                      </a:r>
                    </a:p>
                  </a:txBody>
                  <a:tcPr marL="2285" marR="2285" marT="228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4</a:t>
                      </a:r>
                    </a:p>
                  </a:txBody>
                  <a:tcPr marL="2285" marR="2285" marT="228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6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2740</a:t>
                      </a:r>
                    </a:p>
                  </a:txBody>
                  <a:tcPr marL="2285" marR="2285" marT="228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9482955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79487515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400062-59FD-8B03-E4B0-448E5D5839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표 5">
            <a:extLst>
              <a:ext uri="{FF2B5EF4-FFF2-40B4-BE49-F238E27FC236}">
                <a16:creationId xmlns:a16="http://schemas.microsoft.com/office/drawing/2014/main" id="{55574358-EA72-1E6C-BFE1-30A14F1DA7E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48923369"/>
              </p:ext>
            </p:extLst>
          </p:nvPr>
        </p:nvGraphicFramePr>
        <p:xfrm>
          <a:off x="1483627" y="1091589"/>
          <a:ext cx="6176746" cy="3657492"/>
        </p:xfrm>
        <a:graphic>
          <a:graphicData uri="http://schemas.openxmlformats.org/drawingml/2006/table">
            <a:tbl>
              <a:tblPr/>
              <a:tblGrid>
                <a:gridCol w="711414">
                  <a:extLst>
                    <a:ext uri="{9D8B030D-6E8A-4147-A177-3AD203B41FA5}">
                      <a16:colId xmlns:a16="http://schemas.microsoft.com/office/drawing/2014/main" val="3468207241"/>
                    </a:ext>
                  </a:extLst>
                </a:gridCol>
                <a:gridCol w="3239025">
                  <a:extLst>
                    <a:ext uri="{9D8B030D-6E8A-4147-A177-3AD203B41FA5}">
                      <a16:colId xmlns:a16="http://schemas.microsoft.com/office/drawing/2014/main" val="63496591"/>
                    </a:ext>
                  </a:extLst>
                </a:gridCol>
                <a:gridCol w="795110">
                  <a:extLst>
                    <a:ext uri="{9D8B030D-6E8A-4147-A177-3AD203B41FA5}">
                      <a16:colId xmlns:a16="http://schemas.microsoft.com/office/drawing/2014/main" val="186434596"/>
                    </a:ext>
                  </a:extLst>
                </a:gridCol>
                <a:gridCol w="544022">
                  <a:extLst>
                    <a:ext uri="{9D8B030D-6E8A-4147-A177-3AD203B41FA5}">
                      <a16:colId xmlns:a16="http://schemas.microsoft.com/office/drawing/2014/main" val="672220677"/>
                    </a:ext>
                  </a:extLst>
                </a:gridCol>
                <a:gridCol w="301305">
                  <a:extLst>
                    <a:ext uri="{9D8B030D-6E8A-4147-A177-3AD203B41FA5}">
                      <a16:colId xmlns:a16="http://schemas.microsoft.com/office/drawing/2014/main" val="4161701734"/>
                    </a:ext>
                  </a:extLst>
                </a:gridCol>
                <a:gridCol w="585870">
                  <a:extLst>
                    <a:ext uri="{9D8B030D-6E8A-4147-A177-3AD203B41FA5}">
                      <a16:colId xmlns:a16="http://schemas.microsoft.com/office/drawing/2014/main" val="76669467"/>
                    </a:ext>
                  </a:extLst>
                </a:gridCol>
              </a:tblGrid>
              <a:tr h="130625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product_id</a:t>
                      </a:r>
                    </a:p>
                  </a:txBody>
                  <a:tcPr marL="3427" marR="3427" marT="3427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product_name</a:t>
                      </a:r>
                    </a:p>
                  </a:txBody>
                  <a:tcPr marL="3427" marR="3427" marT="3427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last_category</a:t>
                      </a:r>
                    </a:p>
                  </a:txBody>
                  <a:tcPr marL="3427" marR="3427" marT="3427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actual_price</a:t>
                      </a:r>
                    </a:p>
                  </a:txBody>
                  <a:tcPr marL="3427" marR="3427" marT="3427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rating</a:t>
                      </a:r>
                    </a:p>
                  </a:txBody>
                  <a:tcPr marL="3427" marR="3427" marT="3427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rating_count</a:t>
                      </a:r>
                    </a:p>
                  </a:txBody>
                  <a:tcPr marL="3427" marR="3427" marT="3427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22486554"/>
                  </a:ext>
                </a:extLst>
              </a:tr>
              <a:tr h="261249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B08FN6WGDQ</a:t>
                      </a:r>
                    </a:p>
                  </a:txBody>
                  <a:tcPr marL="3427" marR="3427" marT="3427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6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Samsung Galaxy Buds Live Bluetooth Truly Wireless in Ear Earbuds with Mic, </a:t>
                      </a:r>
                      <a:r>
                        <a:rPr lang="en-US" sz="6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Upto</a:t>
                      </a:r>
                      <a:r>
                        <a:rPr lang="en-US" sz="6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21 Hours Playtime, Mystic Black</a:t>
                      </a:r>
                    </a:p>
                  </a:txBody>
                  <a:tcPr marL="3427" marR="3427" marT="3427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In-Ear</a:t>
                      </a:r>
                    </a:p>
                  </a:txBody>
                  <a:tcPr marL="3427" marR="3427" marT="3427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15990</a:t>
                      </a:r>
                    </a:p>
                  </a:txBody>
                  <a:tcPr marL="3427" marR="3427" marT="3427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4</a:t>
                      </a:r>
                    </a:p>
                  </a:txBody>
                  <a:tcPr marL="3427" marR="3427" marT="3427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4390</a:t>
                      </a:r>
                    </a:p>
                  </a:txBody>
                  <a:tcPr marL="3427" marR="3427" marT="3427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97054957"/>
                  </a:ext>
                </a:extLst>
              </a:tr>
              <a:tr h="391874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B00MUTWLW4</a:t>
                      </a:r>
                    </a:p>
                  </a:txBody>
                  <a:tcPr marL="3427" marR="3427" marT="3427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6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Logitech K480 Wireless Multi-Device Keyboard for Windows, macOS, iPadOS, Android or Chrome OS, Bluetooth, Compact, Compatible with PC, Mac, Laptop, Smartphone, Tablet - Black</a:t>
                      </a:r>
                    </a:p>
                  </a:txBody>
                  <a:tcPr marL="3427" marR="3427" marT="3427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Keyboards</a:t>
                      </a:r>
                    </a:p>
                  </a:txBody>
                  <a:tcPr marL="3427" marR="3427" marT="3427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3295</a:t>
                      </a:r>
                    </a:p>
                  </a:txBody>
                  <a:tcPr marL="3427" marR="3427" marT="3427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4</a:t>
                      </a:r>
                    </a:p>
                  </a:txBody>
                  <a:tcPr marL="3427" marR="3427" marT="3427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22618</a:t>
                      </a:r>
                    </a:p>
                  </a:txBody>
                  <a:tcPr marL="3427" marR="3427" marT="3427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30439418"/>
                  </a:ext>
                </a:extLst>
              </a:tr>
              <a:tr h="391874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B0148NPH9I</a:t>
                      </a:r>
                    </a:p>
                  </a:txBody>
                  <a:tcPr marL="3427" marR="3427" marT="3427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Logitech K380 Wireless Multi-Device Keyboard for Windows, Apple iOS, Apple TV Android or Chrome, Bluetooth, Compact Space-Saving Design, PC/Mac/Laptop/Smartphone/Tablet (Dark Grey)</a:t>
                      </a:r>
                    </a:p>
                  </a:txBody>
                  <a:tcPr marL="3427" marR="3427" marT="3427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Keyboards</a:t>
                      </a:r>
                    </a:p>
                  </a:txBody>
                  <a:tcPr marL="3427" marR="3427" marT="3427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3195</a:t>
                      </a:r>
                    </a:p>
                  </a:txBody>
                  <a:tcPr marL="3427" marR="3427" marT="3427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4</a:t>
                      </a:r>
                    </a:p>
                  </a:txBody>
                  <a:tcPr marL="3427" marR="3427" marT="3427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16146</a:t>
                      </a:r>
                    </a:p>
                  </a:txBody>
                  <a:tcPr marL="3427" marR="3427" marT="3427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75751306"/>
                  </a:ext>
                </a:extLst>
              </a:tr>
              <a:tr h="5225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B08Y7MXFMK</a:t>
                      </a:r>
                    </a:p>
                  </a:txBody>
                  <a:tcPr marL="3427" marR="3427" marT="3427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Offbeat® - DASH 2.4GHz Wireless + Bluetooth 5.1 Mouse, Multi-Device Dual Mode Slim Rechargeable Silent Click Buttons Wireless Bluetooth Mouse, 3 Adjustable DPI, Works on 2 devices at the same time with a switch button for Windows/Mac/Android/Ipad/Smart TV</a:t>
                      </a:r>
                    </a:p>
                  </a:txBody>
                  <a:tcPr marL="3427" marR="3427" marT="3427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Mice</a:t>
                      </a:r>
                    </a:p>
                  </a:txBody>
                  <a:tcPr marL="3427" marR="3427" marT="3427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1499</a:t>
                      </a:r>
                    </a:p>
                  </a:txBody>
                  <a:tcPr marL="3427" marR="3427" marT="3427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4</a:t>
                      </a:r>
                    </a:p>
                  </a:txBody>
                  <a:tcPr marL="3427" marR="3427" marT="3427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2375</a:t>
                      </a:r>
                    </a:p>
                  </a:txBody>
                  <a:tcPr marL="3427" marR="3427" marT="3427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82824790"/>
                  </a:ext>
                </a:extLst>
              </a:tr>
              <a:tr h="391874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B09BCNQ9R2</a:t>
                      </a:r>
                    </a:p>
                  </a:txBody>
                  <a:tcPr marL="3427" marR="3427" marT="3427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DYAZO USB 3.0 Type C Female to USB A Male Connector/Converter/Adapter Compatible for Samsung Galaxy Note s 20 10 Plus Ultra,Google Pixel 4 5 3 2 &amp; Other Type-c Devices</a:t>
                      </a:r>
                    </a:p>
                  </a:txBody>
                  <a:tcPr marL="3427" marR="3427" marT="3427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OTGAdapters</a:t>
                      </a:r>
                    </a:p>
                  </a:txBody>
                  <a:tcPr marL="3427" marR="3427" marT="3427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499</a:t>
                      </a:r>
                    </a:p>
                  </a:txBody>
                  <a:tcPr marL="3427" marR="3427" marT="3427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4</a:t>
                      </a:r>
                    </a:p>
                  </a:txBody>
                  <a:tcPr marL="3427" marR="3427" marT="3427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4971</a:t>
                      </a:r>
                    </a:p>
                  </a:txBody>
                  <a:tcPr marL="3427" marR="3427" marT="3427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22003301"/>
                  </a:ext>
                </a:extLst>
              </a:tr>
              <a:tr h="391874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B0BNDD9TN6</a:t>
                      </a:r>
                    </a:p>
                  </a:txBody>
                  <a:tcPr marL="3427" marR="3427" marT="3427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WANBO X1 Pro (Upgraded) | Native 1080P Full HD | Android 9 | Projector for Home | LED Cinema | 350ANSI | 3900 lumens | WiFi Bluetooth | HDMI ARC | Dolby DTS | 4D Keystone Correction (Global Version)</a:t>
                      </a:r>
                    </a:p>
                  </a:txBody>
                  <a:tcPr marL="3427" marR="3427" marT="3427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Projectors</a:t>
                      </a:r>
                    </a:p>
                  </a:txBody>
                  <a:tcPr marL="3427" marR="3427" marT="3427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28900</a:t>
                      </a:r>
                    </a:p>
                  </a:txBody>
                  <a:tcPr marL="3427" marR="3427" marT="3427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4</a:t>
                      </a:r>
                    </a:p>
                  </a:txBody>
                  <a:tcPr marL="3427" marR="3427" marT="3427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7</a:t>
                      </a:r>
                    </a:p>
                  </a:txBody>
                  <a:tcPr marL="3427" marR="3427" marT="3427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88950324"/>
                  </a:ext>
                </a:extLst>
              </a:tr>
              <a:tr h="391874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B09B125CFJ</a:t>
                      </a:r>
                    </a:p>
                  </a:txBody>
                  <a:tcPr marL="3427" marR="3427" marT="3427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7SEVEN® Compatible for Mi tv Remote Control Original Suitable with Smart Android 4K LED Non Voice Command Xiaomi Redmi Remote of 4A Model 32 43 55 65 inches</a:t>
                      </a:r>
                    </a:p>
                  </a:txBody>
                  <a:tcPr marL="3427" marR="3427" marT="3427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RemoteControls</a:t>
                      </a:r>
                    </a:p>
                  </a:txBody>
                  <a:tcPr marL="3427" marR="3427" marT="3427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799</a:t>
                      </a:r>
                    </a:p>
                  </a:txBody>
                  <a:tcPr marL="3427" marR="3427" marT="3427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3</a:t>
                      </a:r>
                    </a:p>
                  </a:txBody>
                  <a:tcPr marL="3427" marR="3427" marT="3427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323</a:t>
                      </a:r>
                    </a:p>
                  </a:txBody>
                  <a:tcPr marL="3427" marR="3427" marT="3427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38915420"/>
                  </a:ext>
                </a:extLst>
              </a:tr>
              <a:tr h="391874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B09RQRZW2X</a:t>
                      </a:r>
                    </a:p>
                  </a:txBody>
                  <a:tcPr marL="3427" marR="3427" marT="3427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7SEVEN® Compatible Vu Smart Tv Remote Control Suitable for Original 4K Android LED Ultra HD UHD Vu Tv Remote with Non Voice Feature without google assistant</a:t>
                      </a:r>
                    </a:p>
                  </a:txBody>
                  <a:tcPr marL="3427" marR="3427" marT="3427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RemoteControls</a:t>
                      </a:r>
                    </a:p>
                  </a:txBody>
                  <a:tcPr marL="3427" marR="3427" marT="3427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899</a:t>
                      </a:r>
                    </a:p>
                  </a:txBody>
                  <a:tcPr marL="3427" marR="3427" marT="3427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3</a:t>
                      </a:r>
                    </a:p>
                  </a:txBody>
                  <a:tcPr marL="3427" marR="3427" marT="3427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185</a:t>
                      </a:r>
                    </a:p>
                  </a:txBody>
                  <a:tcPr marL="3427" marR="3427" marT="3427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77857461"/>
                  </a:ext>
                </a:extLst>
              </a:tr>
              <a:tr h="391874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B08RWCZ6SY</a:t>
                      </a:r>
                    </a:p>
                  </a:txBody>
                  <a:tcPr marL="3427" marR="3427" marT="3427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6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7SEVEN® Compatible for Sony Bravia LCD LED UHD OLED QLED 4K Ultra HD TV remote control with YouTube and NETFLIX Hotkeys. Universal Replacement for Original Sony Smart Android tv Remote Control</a:t>
                      </a:r>
                    </a:p>
                  </a:txBody>
                  <a:tcPr marL="3427" marR="3427" marT="3427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RemoteControls</a:t>
                      </a:r>
                    </a:p>
                  </a:txBody>
                  <a:tcPr marL="3427" marR="3427" marT="3427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899</a:t>
                      </a:r>
                    </a:p>
                  </a:txBody>
                  <a:tcPr marL="3427" marR="3427" marT="3427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3</a:t>
                      </a:r>
                    </a:p>
                  </a:txBody>
                  <a:tcPr marL="3427" marR="3427" marT="3427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6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254</a:t>
                      </a:r>
                    </a:p>
                  </a:txBody>
                  <a:tcPr marL="3427" marR="3427" marT="3427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14657900"/>
                  </a:ext>
                </a:extLst>
              </a:tr>
            </a:tbl>
          </a:graphicData>
        </a:graphic>
      </p:graphicFrame>
      <p:sp>
        <p:nvSpPr>
          <p:cNvPr id="35" name="직사각형 34">
            <a:extLst>
              <a:ext uri="{FF2B5EF4-FFF2-40B4-BE49-F238E27FC236}">
                <a16:creationId xmlns:a16="http://schemas.microsoft.com/office/drawing/2014/main" id="{2CB1E34E-4376-6CF2-DD1E-B745E8F0ED09}"/>
              </a:ext>
            </a:extLst>
          </p:cNvPr>
          <p:cNvSpPr/>
          <p:nvPr/>
        </p:nvSpPr>
        <p:spPr>
          <a:xfrm>
            <a:off x="714240" y="666720"/>
            <a:ext cx="6924240" cy="380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anchor="b">
            <a:normAutofit fontScale="77500" lnSpcReduction="20000"/>
          </a:bodyPr>
          <a:lstStyle/>
          <a:p>
            <a:pPr>
              <a:tabLst>
                <a:tab pos="0" algn="l"/>
              </a:tabLst>
            </a:pPr>
            <a:r>
              <a:rPr lang="en-US" altLang="ko-KR" sz="3000" b="1" dirty="0">
                <a:solidFill>
                  <a:srgbClr val="0E1D35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4</a:t>
            </a:r>
            <a:r>
              <a:rPr lang="en-US" altLang="ko-KR" sz="3000" b="1" u="none" strike="noStrike" dirty="0">
                <a:solidFill>
                  <a:srgbClr val="0E1D35"/>
                </a:solidFill>
                <a:effectLst/>
                <a:uFillTx/>
                <a:latin typeface="맑은 고딕" panose="020B0503020000020004" pitchFamily="50" charset="-127"/>
                <a:ea typeface="맑은 고딕" panose="020B0503020000020004" pitchFamily="50" charset="-127"/>
              </a:rPr>
              <a:t>. </a:t>
            </a:r>
            <a:r>
              <a:rPr lang="ko-KR" altLang="en-US" sz="3000" b="1" u="none" strike="noStrike" dirty="0">
                <a:solidFill>
                  <a:srgbClr val="0E1D35"/>
                </a:solidFill>
                <a:effectLst/>
                <a:uFillTx/>
                <a:latin typeface="맑은 고딕" panose="020B0503020000020004" pitchFamily="50" charset="-127"/>
                <a:ea typeface="맑은 고딕" panose="020B0503020000020004" pitchFamily="50" charset="-127"/>
              </a:rPr>
              <a:t>추천 시스템</a:t>
            </a:r>
            <a:r>
              <a:rPr lang="en-US" altLang="ko-KR" sz="3000" b="1" dirty="0">
                <a:solidFill>
                  <a:srgbClr val="0E1D35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(</a:t>
            </a:r>
            <a:r>
              <a:rPr lang="en-US" altLang="ko-KR" sz="3000" b="1" dirty="0" err="1">
                <a:solidFill>
                  <a:srgbClr val="0E1D35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DeviceFit</a:t>
            </a:r>
            <a:r>
              <a:rPr lang="en-US" altLang="ko-KR" sz="3000" b="1" dirty="0">
                <a:solidFill>
                  <a:srgbClr val="0E1D35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)</a:t>
            </a:r>
            <a:endParaRPr lang="en-US" sz="3000" b="0" u="none" strike="noStrike" dirty="0">
              <a:solidFill>
                <a:srgbClr val="000000"/>
              </a:solidFill>
              <a:effectLst/>
              <a:uFillTx/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graphicFrame>
        <p:nvGraphicFramePr>
          <p:cNvPr id="2" name="표 1">
            <a:extLst>
              <a:ext uri="{FF2B5EF4-FFF2-40B4-BE49-F238E27FC236}">
                <a16:creationId xmlns:a16="http://schemas.microsoft.com/office/drawing/2014/main" id="{6F8822AE-CF40-BA99-0D71-FF8A9EE8700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74622437"/>
              </p:ext>
            </p:extLst>
          </p:nvPr>
        </p:nvGraphicFramePr>
        <p:xfrm>
          <a:off x="1483627" y="1091589"/>
          <a:ext cx="6176746" cy="3657492"/>
        </p:xfrm>
        <a:graphic>
          <a:graphicData uri="http://schemas.openxmlformats.org/drawingml/2006/table">
            <a:tbl>
              <a:tblPr/>
              <a:tblGrid>
                <a:gridCol w="711414">
                  <a:extLst>
                    <a:ext uri="{9D8B030D-6E8A-4147-A177-3AD203B41FA5}">
                      <a16:colId xmlns:a16="http://schemas.microsoft.com/office/drawing/2014/main" val="3468207241"/>
                    </a:ext>
                  </a:extLst>
                </a:gridCol>
                <a:gridCol w="3239025">
                  <a:extLst>
                    <a:ext uri="{9D8B030D-6E8A-4147-A177-3AD203B41FA5}">
                      <a16:colId xmlns:a16="http://schemas.microsoft.com/office/drawing/2014/main" val="63496591"/>
                    </a:ext>
                  </a:extLst>
                </a:gridCol>
                <a:gridCol w="795110">
                  <a:extLst>
                    <a:ext uri="{9D8B030D-6E8A-4147-A177-3AD203B41FA5}">
                      <a16:colId xmlns:a16="http://schemas.microsoft.com/office/drawing/2014/main" val="186434596"/>
                    </a:ext>
                  </a:extLst>
                </a:gridCol>
                <a:gridCol w="544022">
                  <a:extLst>
                    <a:ext uri="{9D8B030D-6E8A-4147-A177-3AD203B41FA5}">
                      <a16:colId xmlns:a16="http://schemas.microsoft.com/office/drawing/2014/main" val="672220677"/>
                    </a:ext>
                  </a:extLst>
                </a:gridCol>
                <a:gridCol w="301305">
                  <a:extLst>
                    <a:ext uri="{9D8B030D-6E8A-4147-A177-3AD203B41FA5}">
                      <a16:colId xmlns:a16="http://schemas.microsoft.com/office/drawing/2014/main" val="4161701734"/>
                    </a:ext>
                  </a:extLst>
                </a:gridCol>
                <a:gridCol w="585870">
                  <a:extLst>
                    <a:ext uri="{9D8B030D-6E8A-4147-A177-3AD203B41FA5}">
                      <a16:colId xmlns:a16="http://schemas.microsoft.com/office/drawing/2014/main" val="76669467"/>
                    </a:ext>
                  </a:extLst>
                </a:gridCol>
              </a:tblGrid>
              <a:tr h="130625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product_id</a:t>
                      </a:r>
                    </a:p>
                  </a:txBody>
                  <a:tcPr marL="3427" marR="3427" marT="3427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product_name</a:t>
                      </a:r>
                    </a:p>
                  </a:txBody>
                  <a:tcPr marL="3427" marR="3427" marT="3427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last_category</a:t>
                      </a:r>
                    </a:p>
                  </a:txBody>
                  <a:tcPr marL="3427" marR="3427" marT="3427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actual_price</a:t>
                      </a:r>
                    </a:p>
                  </a:txBody>
                  <a:tcPr marL="3427" marR="3427" marT="3427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rating</a:t>
                      </a:r>
                    </a:p>
                  </a:txBody>
                  <a:tcPr marL="3427" marR="3427" marT="3427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6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rating_count</a:t>
                      </a:r>
                    </a:p>
                  </a:txBody>
                  <a:tcPr marL="3427" marR="3427" marT="3427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22486554"/>
                  </a:ext>
                </a:extLst>
              </a:tr>
              <a:tr h="261249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B08FN6WGDQ</a:t>
                      </a:r>
                    </a:p>
                  </a:txBody>
                  <a:tcPr marL="3427" marR="3427" marT="3427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600" b="0" i="0" u="none" strike="noStrike" dirty="0">
                          <a:solidFill>
                            <a:srgbClr val="FF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Samsung Galaxy </a:t>
                      </a:r>
                      <a:r>
                        <a:rPr lang="en-US" sz="6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Buds Live Bluetooth Truly Wireless in Ear Earbuds with Mic, </a:t>
                      </a:r>
                      <a:r>
                        <a:rPr lang="en-US" sz="6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Upto</a:t>
                      </a:r>
                      <a:r>
                        <a:rPr lang="en-US" sz="6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21 Hours Playtime, Mystic Black</a:t>
                      </a:r>
                    </a:p>
                  </a:txBody>
                  <a:tcPr marL="3427" marR="3427" marT="3427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In-Ear</a:t>
                      </a:r>
                    </a:p>
                  </a:txBody>
                  <a:tcPr marL="3427" marR="3427" marT="3427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15990</a:t>
                      </a:r>
                    </a:p>
                  </a:txBody>
                  <a:tcPr marL="3427" marR="3427" marT="3427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4</a:t>
                      </a:r>
                    </a:p>
                  </a:txBody>
                  <a:tcPr marL="3427" marR="3427" marT="3427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4390</a:t>
                      </a:r>
                    </a:p>
                  </a:txBody>
                  <a:tcPr marL="3427" marR="3427" marT="3427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97054957"/>
                  </a:ext>
                </a:extLst>
              </a:tr>
              <a:tr h="391874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B00MUTWLW4</a:t>
                      </a:r>
                    </a:p>
                  </a:txBody>
                  <a:tcPr marL="3427" marR="3427" marT="3427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6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Logitech K480 Wireless Multi-Device Keyboard for Windows, macOS, iPadOS, </a:t>
                      </a:r>
                      <a:r>
                        <a:rPr lang="en-US" sz="600" b="0" i="0" u="none" strike="noStrike" dirty="0">
                          <a:solidFill>
                            <a:srgbClr val="FF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Android</a:t>
                      </a:r>
                      <a:r>
                        <a:rPr lang="en-US" sz="6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or Chrome OS, Bluetooth, Compact, Compatible with PC, Mac, Laptop, Smartphone, Tablet - Black</a:t>
                      </a:r>
                    </a:p>
                  </a:txBody>
                  <a:tcPr marL="3427" marR="3427" marT="3427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Keyboards</a:t>
                      </a:r>
                    </a:p>
                  </a:txBody>
                  <a:tcPr marL="3427" marR="3427" marT="3427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3295</a:t>
                      </a:r>
                    </a:p>
                  </a:txBody>
                  <a:tcPr marL="3427" marR="3427" marT="3427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4</a:t>
                      </a:r>
                    </a:p>
                  </a:txBody>
                  <a:tcPr marL="3427" marR="3427" marT="3427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22618</a:t>
                      </a:r>
                    </a:p>
                  </a:txBody>
                  <a:tcPr marL="3427" marR="3427" marT="3427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30439418"/>
                  </a:ext>
                </a:extLst>
              </a:tr>
              <a:tr h="391874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B0148NPH9I</a:t>
                      </a:r>
                    </a:p>
                  </a:txBody>
                  <a:tcPr marL="3427" marR="3427" marT="3427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6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Logitech K380 Wireless Multi-Device Keyboard for Windows, Apple iOS, Apple TV </a:t>
                      </a:r>
                      <a:r>
                        <a:rPr lang="en-US" sz="600" b="0" i="0" u="none" strike="noStrike" dirty="0">
                          <a:solidFill>
                            <a:srgbClr val="FF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Android</a:t>
                      </a:r>
                      <a:r>
                        <a:rPr lang="en-US" sz="6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or Chrome, Bluetooth, Compact Space-Saving Design, PC/Mac/Laptop/Smartphone/Tablet (Dark Grey)</a:t>
                      </a:r>
                    </a:p>
                  </a:txBody>
                  <a:tcPr marL="3427" marR="3427" marT="3427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Keyboards</a:t>
                      </a:r>
                    </a:p>
                  </a:txBody>
                  <a:tcPr marL="3427" marR="3427" marT="3427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3195</a:t>
                      </a:r>
                    </a:p>
                  </a:txBody>
                  <a:tcPr marL="3427" marR="3427" marT="3427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4</a:t>
                      </a:r>
                    </a:p>
                  </a:txBody>
                  <a:tcPr marL="3427" marR="3427" marT="3427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16146</a:t>
                      </a:r>
                    </a:p>
                  </a:txBody>
                  <a:tcPr marL="3427" marR="3427" marT="3427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75751306"/>
                  </a:ext>
                </a:extLst>
              </a:tr>
              <a:tr h="5225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B08Y7MXFMK</a:t>
                      </a:r>
                    </a:p>
                  </a:txBody>
                  <a:tcPr marL="3427" marR="3427" marT="3427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6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Offbeat® - DASH 2.4GHz Wireless + Bluetooth 5.1 Mouse, Multi-Device Dual Mode Slim Rechargeable Silent Click Buttons Wireless Bluetooth Mouse, 3 Adjustable DPI, Works on 2 devices at the same time with a switch button for Windows/Mac/</a:t>
                      </a:r>
                      <a:r>
                        <a:rPr lang="en-US" sz="600" b="0" i="0" u="none" strike="noStrike" dirty="0">
                          <a:solidFill>
                            <a:srgbClr val="FF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Android</a:t>
                      </a:r>
                      <a:r>
                        <a:rPr lang="en-US" sz="6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/</a:t>
                      </a:r>
                      <a:r>
                        <a:rPr lang="en-US" sz="6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Ipad</a:t>
                      </a:r>
                      <a:r>
                        <a:rPr lang="en-US" sz="6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/Smart TV</a:t>
                      </a:r>
                    </a:p>
                  </a:txBody>
                  <a:tcPr marL="3427" marR="3427" marT="3427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Mice</a:t>
                      </a:r>
                    </a:p>
                  </a:txBody>
                  <a:tcPr marL="3427" marR="3427" marT="3427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1499</a:t>
                      </a:r>
                    </a:p>
                  </a:txBody>
                  <a:tcPr marL="3427" marR="3427" marT="3427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4</a:t>
                      </a:r>
                    </a:p>
                  </a:txBody>
                  <a:tcPr marL="3427" marR="3427" marT="3427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2375</a:t>
                      </a:r>
                    </a:p>
                  </a:txBody>
                  <a:tcPr marL="3427" marR="3427" marT="3427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82824790"/>
                  </a:ext>
                </a:extLst>
              </a:tr>
              <a:tr h="391874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B09BCNQ9R2</a:t>
                      </a:r>
                    </a:p>
                  </a:txBody>
                  <a:tcPr marL="3427" marR="3427" marT="3427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6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DYAZO USB 3.0 Type C Female to USB A Male Connector/Converter/Adapter Compatible for </a:t>
                      </a:r>
                      <a:r>
                        <a:rPr lang="en-US" sz="600" b="0" i="0" u="none" strike="noStrike" dirty="0">
                          <a:solidFill>
                            <a:srgbClr val="FF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Samsung Galaxy</a:t>
                      </a:r>
                      <a:r>
                        <a:rPr lang="en-US" sz="6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Note s 20 10 Plus </a:t>
                      </a:r>
                      <a:r>
                        <a:rPr lang="en-US" sz="6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Ultra,Google</a:t>
                      </a:r>
                      <a:r>
                        <a:rPr lang="en-US" sz="6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Pixel 4 5 3 2 &amp; Other Type-c Devices</a:t>
                      </a:r>
                    </a:p>
                  </a:txBody>
                  <a:tcPr marL="3427" marR="3427" marT="3427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OTGAdapters</a:t>
                      </a:r>
                    </a:p>
                  </a:txBody>
                  <a:tcPr marL="3427" marR="3427" marT="3427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499</a:t>
                      </a:r>
                    </a:p>
                  </a:txBody>
                  <a:tcPr marL="3427" marR="3427" marT="3427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4</a:t>
                      </a:r>
                    </a:p>
                  </a:txBody>
                  <a:tcPr marL="3427" marR="3427" marT="3427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6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4971</a:t>
                      </a:r>
                    </a:p>
                  </a:txBody>
                  <a:tcPr marL="3427" marR="3427" marT="3427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22003301"/>
                  </a:ext>
                </a:extLst>
              </a:tr>
              <a:tr h="391874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B0BNDD9TN6</a:t>
                      </a:r>
                    </a:p>
                  </a:txBody>
                  <a:tcPr marL="3427" marR="3427" marT="3427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6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WANBO X1 Pro (Upgraded) | Native 1080P Full HD | </a:t>
                      </a:r>
                      <a:r>
                        <a:rPr lang="en-US" sz="600" b="0" i="0" u="none" strike="noStrike" dirty="0">
                          <a:solidFill>
                            <a:srgbClr val="FF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Android</a:t>
                      </a:r>
                      <a:r>
                        <a:rPr lang="en-US" sz="6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9 | Projector for Home | LED Cinema | 350ANSI | 3900 lumens | </a:t>
                      </a:r>
                      <a:r>
                        <a:rPr lang="en-US" sz="6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WiFi</a:t>
                      </a:r>
                      <a:r>
                        <a:rPr lang="en-US" sz="6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Bluetooth | HDMI ARC | Dolby DTS | 4D Keystone Correction (Global Version)</a:t>
                      </a:r>
                    </a:p>
                  </a:txBody>
                  <a:tcPr marL="3427" marR="3427" marT="3427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Projectors</a:t>
                      </a:r>
                    </a:p>
                  </a:txBody>
                  <a:tcPr marL="3427" marR="3427" marT="3427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28900</a:t>
                      </a:r>
                    </a:p>
                  </a:txBody>
                  <a:tcPr marL="3427" marR="3427" marT="3427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4</a:t>
                      </a:r>
                    </a:p>
                  </a:txBody>
                  <a:tcPr marL="3427" marR="3427" marT="3427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7</a:t>
                      </a:r>
                    </a:p>
                  </a:txBody>
                  <a:tcPr marL="3427" marR="3427" marT="3427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88950324"/>
                  </a:ext>
                </a:extLst>
              </a:tr>
              <a:tr h="391874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B09B125CFJ</a:t>
                      </a:r>
                    </a:p>
                  </a:txBody>
                  <a:tcPr marL="3427" marR="3427" marT="3427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6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7SEVEN® Compatible for Mi tv Remote Control Original Suitable with Smart </a:t>
                      </a:r>
                      <a:r>
                        <a:rPr lang="en-US" sz="600" b="0" i="0" u="none" strike="noStrike" dirty="0">
                          <a:solidFill>
                            <a:srgbClr val="FF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Android</a:t>
                      </a:r>
                      <a:r>
                        <a:rPr lang="en-US" sz="6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4K LED Non Voice Command Xiaomi Redmi Remote of 4A Model 32 43 55 65 inches</a:t>
                      </a:r>
                    </a:p>
                  </a:txBody>
                  <a:tcPr marL="3427" marR="3427" marT="3427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6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RemoteControls</a:t>
                      </a:r>
                      <a:endParaRPr lang="en-US" sz="6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3427" marR="3427" marT="3427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799</a:t>
                      </a:r>
                    </a:p>
                  </a:txBody>
                  <a:tcPr marL="3427" marR="3427" marT="3427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3</a:t>
                      </a:r>
                    </a:p>
                  </a:txBody>
                  <a:tcPr marL="3427" marR="3427" marT="3427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323</a:t>
                      </a:r>
                    </a:p>
                  </a:txBody>
                  <a:tcPr marL="3427" marR="3427" marT="3427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38915420"/>
                  </a:ext>
                </a:extLst>
              </a:tr>
              <a:tr h="391874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B09RQRZW2X</a:t>
                      </a:r>
                    </a:p>
                  </a:txBody>
                  <a:tcPr marL="3427" marR="3427" marT="3427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6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7SEVEN® Compatible Vu Smart Tv Remote Control Suitable for Original 4K </a:t>
                      </a:r>
                      <a:r>
                        <a:rPr lang="en-US" sz="600" b="0" i="0" u="none" strike="noStrike" dirty="0">
                          <a:solidFill>
                            <a:srgbClr val="FF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Android</a:t>
                      </a:r>
                      <a:r>
                        <a:rPr lang="en-US" sz="6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LED Ultra HD UHD Vu Tv Remote with Non Voice Feature without google assistant</a:t>
                      </a:r>
                    </a:p>
                  </a:txBody>
                  <a:tcPr marL="3427" marR="3427" marT="3427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6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RemoteControls</a:t>
                      </a:r>
                      <a:endParaRPr lang="en-US" sz="6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3427" marR="3427" marT="3427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899</a:t>
                      </a:r>
                    </a:p>
                  </a:txBody>
                  <a:tcPr marL="3427" marR="3427" marT="3427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3</a:t>
                      </a:r>
                    </a:p>
                  </a:txBody>
                  <a:tcPr marL="3427" marR="3427" marT="3427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185</a:t>
                      </a:r>
                    </a:p>
                  </a:txBody>
                  <a:tcPr marL="3427" marR="3427" marT="3427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77857461"/>
                  </a:ext>
                </a:extLst>
              </a:tr>
              <a:tr h="391874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B08RWCZ6SY</a:t>
                      </a:r>
                    </a:p>
                  </a:txBody>
                  <a:tcPr marL="3427" marR="3427" marT="3427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6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7SEVEN® Compatible for Sony Bravia LCD LED UHD OLED QLED 4K Ultra HD TV remote control with YouTube and NETFLIX Hotkeys. Universal Replacement for Original Sony Smart </a:t>
                      </a:r>
                      <a:r>
                        <a:rPr lang="en-US" sz="600" b="0" i="0" u="none" strike="noStrike" dirty="0">
                          <a:solidFill>
                            <a:srgbClr val="FF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Android</a:t>
                      </a:r>
                      <a:r>
                        <a:rPr lang="en-US" sz="6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tv Remote Control</a:t>
                      </a:r>
                    </a:p>
                  </a:txBody>
                  <a:tcPr marL="3427" marR="3427" marT="3427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RemoteControls</a:t>
                      </a:r>
                    </a:p>
                  </a:txBody>
                  <a:tcPr marL="3427" marR="3427" marT="3427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899</a:t>
                      </a:r>
                    </a:p>
                  </a:txBody>
                  <a:tcPr marL="3427" marR="3427" marT="3427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6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3</a:t>
                      </a:r>
                    </a:p>
                  </a:txBody>
                  <a:tcPr marL="3427" marR="3427" marT="3427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6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254</a:t>
                      </a:r>
                    </a:p>
                  </a:txBody>
                  <a:tcPr marL="3427" marR="3427" marT="3427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1465790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07941382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D3B045-B95F-60C0-DC24-A6EB3A36D9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직사각형 34">
            <a:extLst>
              <a:ext uri="{FF2B5EF4-FFF2-40B4-BE49-F238E27FC236}">
                <a16:creationId xmlns:a16="http://schemas.microsoft.com/office/drawing/2014/main" id="{E7BA22A3-A15C-92A4-E0F6-070CBB5CEAC2}"/>
              </a:ext>
            </a:extLst>
          </p:cNvPr>
          <p:cNvSpPr/>
          <p:nvPr/>
        </p:nvSpPr>
        <p:spPr>
          <a:xfrm>
            <a:off x="714240" y="666720"/>
            <a:ext cx="6924240" cy="380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anchor="b">
            <a:normAutofit fontScale="77500" lnSpcReduction="20000"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ko-KR" altLang="en-US" sz="3000" b="1" dirty="0">
                <a:solidFill>
                  <a:srgbClr val="0E1D35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５</a:t>
            </a:r>
            <a:r>
              <a:rPr lang="en-US" altLang="ko-KR" sz="3000" b="1" u="none" strike="noStrike" dirty="0">
                <a:solidFill>
                  <a:srgbClr val="0E1D35"/>
                </a:solidFill>
                <a:effectLst/>
                <a:uFillTx/>
                <a:latin typeface="맑은 고딕" panose="020B0503020000020004" pitchFamily="50" charset="-127"/>
                <a:ea typeface="맑은 고딕" panose="020B0503020000020004" pitchFamily="50" charset="-127"/>
              </a:rPr>
              <a:t>. </a:t>
            </a:r>
            <a:r>
              <a:rPr lang="ko-KR" altLang="en-US" sz="3000" b="1" u="none" strike="noStrike" dirty="0">
                <a:solidFill>
                  <a:srgbClr val="0E1D35"/>
                </a:solidFill>
                <a:effectLst/>
                <a:uFillTx/>
                <a:latin typeface="맑은 고딕" panose="020B0503020000020004" pitchFamily="50" charset="-127"/>
                <a:ea typeface="맑은 고딕" panose="020B0503020000020004" pitchFamily="50" charset="-127"/>
              </a:rPr>
              <a:t>추천 시스템</a:t>
            </a:r>
            <a:r>
              <a:rPr lang="en-US" altLang="ko-KR" sz="3000" b="1" u="none" strike="noStrike" dirty="0">
                <a:solidFill>
                  <a:srgbClr val="0E1D35"/>
                </a:solidFill>
                <a:effectLst/>
                <a:uFillTx/>
                <a:latin typeface="맑은 고딕" panose="020B0503020000020004" pitchFamily="50" charset="-127"/>
                <a:ea typeface="맑은 고딕" panose="020B0503020000020004" pitchFamily="50" charset="-127"/>
              </a:rPr>
              <a:t>(</a:t>
            </a:r>
            <a:r>
              <a:rPr lang="en-US" altLang="ko-KR" sz="3000" b="1" u="none" strike="noStrike" dirty="0" err="1">
                <a:solidFill>
                  <a:srgbClr val="0E1D35"/>
                </a:solidFill>
                <a:effectLst/>
                <a:uFillTx/>
                <a:latin typeface="맑은 고딕" panose="020B0503020000020004" pitchFamily="50" charset="-127"/>
                <a:ea typeface="맑은 고딕" panose="020B0503020000020004" pitchFamily="50" charset="-127"/>
              </a:rPr>
              <a:t>Wonpice</a:t>
            </a:r>
            <a:r>
              <a:rPr lang="en-US" altLang="ko-KR" sz="3000" b="1" u="none" strike="noStrike" dirty="0">
                <a:solidFill>
                  <a:srgbClr val="0E1D35"/>
                </a:solidFill>
                <a:effectLst/>
                <a:uFillTx/>
                <a:latin typeface="맑은 고딕" panose="020B0503020000020004" pitchFamily="50" charset="-127"/>
                <a:ea typeface="맑은 고딕" panose="020B0503020000020004" pitchFamily="50" charset="-127"/>
              </a:rPr>
              <a:t>)</a:t>
            </a:r>
            <a:endParaRPr lang="en-US" sz="3000" b="0" u="none" strike="noStrike" dirty="0">
              <a:solidFill>
                <a:srgbClr val="000000"/>
              </a:solidFill>
              <a:effectLst/>
              <a:uFillTx/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36" name="직사각형 35">
            <a:extLst>
              <a:ext uri="{FF2B5EF4-FFF2-40B4-BE49-F238E27FC236}">
                <a16:creationId xmlns:a16="http://schemas.microsoft.com/office/drawing/2014/main" id="{4808A0E2-2650-6FD4-2168-05F3370AB9B7}"/>
              </a:ext>
            </a:extLst>
          </p:cNvPr>
          <p:cNvSpPr/>
          <p:nvPr/>
        </p:nvSpPr>
        <p:spPr>
          <a:xfrm>
            <a:off x="714238" y="1204452"/>
            <a:ext cx="8051219" cy="3559277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anchor="t">
            <a:normAutofit/>
          </a:bodyPr>
          <a:lstStyle/>
          <a:p>
            <a:pPr defTabSz="914400">
              <a:lnSpc>
                <a:spcPct val="150000"/>
              </a:lnSpc>
              <a:tabLst>
                <a:tab pos="0" algn="l"/>
              </a:tabLst>
            </a:pPr>
            <a:r>
              <a:rPr lang="ko-KR" altLang="en-US" sz="1000" b="1" u="none" strike="noStrike" dirty="0">
                <a:solidFill>
                  <a:srgbClr val="0E1D35"/>
                </a:solidFill>
                <a:effectLst/>
                <a:uFillTx/>
                <a:latin typeface="맑은 고딕" panose="020B0503020000020004" pitchFamily="50" charset="-127"/>
                <a:ea typeface="맑은 고딕" panose="020B0503020000020004" pitchFamily="50" charset="-127"/>
              </a:rPr>
              <a:t>추천 시스템의 테마</a:t>
            </a:r>
            <a:endParaRPr lang="en-US" altLang="ko-KR" sz="1000" b="1" dirty="0">
              <a:solidFill>
                <a:srgbClr val="0E1D35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defTabSz="914400">
              <a:lnSpc>
                <a:spcPct val="150000"/>
              </a:lnSpc>
              <a:tabLst>
                <a:tab pos="0" algn="l"/>
              </a:tabLst>
            </a:pPr>
            <a:r>
              <a:rPr lang="ko-KR" altLang="en-US" sz="1000" b="1" u="none" strike="noStrike" dirty="0">
                <a:solidFill>
                  <a:srgbClr val="0E1D35"/>
                </a:solidFill>
                <a:effectLst/>
                <a:uFillTx/>
                <a:latin typeface="맑은 고딕" panose="020B0503020000020004" pitchFamily="50" charset="-127"/>
                <a:ea typeface="맑은 고딕" panose="020B0503020000020004" pitchFamily="50" charset="-127"/>
              </a:rPr>
              <a:t>망망대해 같은 </a:t>
            </a:r>
            <a:r>
              <a:rPr lang="en-US" altLang="ko-KR" sz="1000" b="1" u="none" strike="noStrike" dirty="0">
                <a:solidFill>
                  <a:srgbClr val="0E1D35"/>
                </a:solidFill>
                <a:effectLst/>
                <a:uFillTx/>
                <a:latin typeface="맑은 고딕" panose="020B0503020000020004" pitchFamily="50" charset="-127"/>
                <a:ea typeface="맑은 고딕" panose="020B0503020000020004" pitchFamily="50" charset="-127"/>
              </a:rPr>
              <a:t>Amazon</a:t>
            </a:r>
            <a:r>
              <a:rPr lang="ko-KR" altLang="en-US" sz="1000" b="1" u="none" strike="noStrike" dirty="0">
                <a:solidFill>
                  <a:srgbClr val="0E1D35"/>
                </a:solidFill>
                <a:effectLst/>
                <a:uFillTx/>
                <a:latin typeface="맑은 고딕" panose="020B0503020000020004" pitchFamily="50" charset="-127"/>
                <a:ea typeface="맑은 고딕" panose="020B0503020000020004" pitchFamily="50" charset="-127"/>
              </a:rPr>
              <a:t>에서 조금이라도 더 저렴하고 좋은 상품을 위해 내수가 아닌 직구 모험을 떠나는 고객들을 위해</a:t>
            </a:r>
            <a:endParaRPr lang="en-US" altLang="ko-KR" sz="1000" b="1" u="none" strike="noStrike" dirty="0">
              <a:solidFill>
                <a:srgbClr val="0E1D35"/>
              </a:solidFill>
              <a:effectLst/>
              <a:uFillTx/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defTabSz="914400">
              <a:lnSpc>
                <a:spcPct val="150000"/>
              </a:lnSpc>
              <a:tabLst>
                <a:tab pos="0" algn="l"/>
              </a:tabLst>
            </a:pPr>
            <a:r>
              <a:rPr lang="ko-KR" altLang="en-US" sz="1000" b="1" u="none" strike="noStrike" dirty="0">
                <a:solidFill>
                  <a:srgbClr val="0E1D35"/>
                </a:solidFill>
                <a:effectLst/>
                <a:uFillTx/>
                <a:latin typeface="맑은 고딕" panose="020B0503020000020004" pitchFamily="50" charset="-127"/>
                <a:ea typeface="맑은 고딕" panose="020B0503020000020004" pitchFamily="50" charset="-127"/>
              </a:rPr>
              <a:t>상품 하나하나 고객이 직접 원화와 비교하지 않고 모든 상품을 루피 가격에 대한 원화 가격으로 함께 보여주어 프로 </a:t>
            </a:r>
            <a:r>
              <a:rPr lang="ko-KR" altLang="en-US" sz="1000" b="1" u="none" strike="noStrike" dirty="0" err="1">
                <a:solidFill>
                  <a:srgbClr val="0E1D35"/>
                </a:solidFill>
                <a:effectLst/>
                <a:uFillTx/>
                <a:latin typeface="맑은 고딕" panose="020B0503020000020004" pitchFamily="50" charset="-127"/>
                <a:ea typeface="맑은 고딕" panose="020B0503020000020004" pitchFamily="50" charset="-127"/>
              </a:rPr>
              <a:t>직구러들을</a:t>
            </a:r>
            <a:r>
              <a:rPr lang="ko-KR" altLang="en-US" sz="1000" b="1" u="none" strike="noStrike" dirty="0">
                <a:solidFill>
                  <a:srgbClr val="0E1D35"/>
                </a:solidFill>
                <a:effectLst/>
                <a:uFillTx/>
                <a:latin typeface="맑은 고딕" panose="020B0503020000020004" pitchFamily="50" charset="-127"/>
                <a:ea typeface="맑은 고딕" panose="020B0503020000020004" pitchFamily="50" charset="-127"/>
              </a:rPr>
              <a:t> 위한 추천 시스템</a:t>
            </a:r>
            <a:endParaRPr lang="en-US" altLang="ko-KR" sz="1000" b="1" dirty="0">
              <a:solidFill>
                <a:srgbClr val="0E1D35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defTabSz="914400">
              <a:lnSpc>
                <a:spcPct val="150000"/>
              </a:lnSpc>
              <a:tabLst>
                <a:tab pos="0" algn="l"/>
              </a:tabLst>
            </a:pPr>
            <a:endParaRPr lang="en-US" altLang="ko-KR" sz="1000" b="1" u="none" strike="noStrike" dirty="0">
              <a:solidFill>
                <a:srgbClr val="0E1D35"/>
              </a:solidFill>
              <a:effectLst/>
              <a:uFillTx/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defTabSz="914400">
              <a:lnSpc>
                <a:spcPct val="150000"/>
              </a:lnSpc>
              <a:tabLst>
                <a:tab pos="0" algn="l"/>
              </a:tabLst>
            </a:pPr>
            <a:r>
              <a:rPr lang="ko-KR" altLang="en-US" sz="1000" b="1" u="none" strike="noStrike" dirty="0">
                <a:solidFill>
                  <a:srgbClr val="0E1D35"/>
                </a:solidFill>
                <a:effectLst/>
                <a:uFillTx/>
                <a:latin typeface="맑은 고딕" panose="020B0503020000020004" pitchFamily="50" charset="-127"/>
                <a:ea typeface="맑은 고딕" panose="020B0503020000020004" pitchFamily="50" charset="-127"/>
              </a:rPr>
              <a:t>구현 로직</a:t>
            </a:r>
            <a:endParaRPr lang="en-US" altLang="ko-KR" sz="1000" b="1" u="none" strike="noStrike" dirty="0">
              <a:solidFill>
                <a:srgbClr val="0E1D35"/>
              </a:solidFill>
              <a:effectLst/>
              <a:uFillTx/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458C6961-EF75-97EA-A16F-6DC1C7ACFDD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7252" y="2634824"/>
            <a:ext cx="5740695" cy="22861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0182057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D1FEB0-D37F-4021-1570-1027BA63E3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표 1">
            <a:extLst>
              <a:ext uri="{FF2B5EF4-FFF2-40B4-BE49-F238E27FC236}">
                <a16:creationId xmlns:a16="http://schemas.microsoft.com/office/drawing/2014/main" id="{2A6EBFCB-FFDB-F6C8-F7C3-8B3F998E99F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90609871"/>
              </p:ext>
            </p:extLst>
          </p:nvPr>
        </p:nvGraphicFramePr>
        <p:xfrm>
          <a:off x="1032388" y="1120982"/>
          <a:ext cx="6924240" cy="3716489"/>
        </p:xfrm>
        <a:graphic>
          <a:graphicData uri="http://schemas.openxmlformats.org/drawingml/2006/table">
            <a:tbl>
              <a:tblPr/>
              <a:tblGrid>
                <a:gridCol w="632030">
                  <a:extLst>
                    <a:ext uri="{9D8B030D-6E8A-4147-A177-3AD203B41FA5}">
                      <a16:colId xmlns:a16="http://schemas.microsoft.com/office/drawing/2014/main" val="1815464437"/>
                    </a:ext>
                  </a:extLst>
                </a:gridCol>
                <a:gridCol w="2155925">
                  <a:extLst>
                    <a:ext uri="{9D8B030D-6E8A-4147-A177-3AD203B41FA5}">
                      <a16:colId xmlns:a16="http://schemas.microsoft.com/office/drawing/2014/main" val="2059928264"/>
                    </a:ext>
                  </a:extLst>
                </a:gridCol>
                <a:gridCol w="1615189">
                  <a:extLst>
                    <a:ext uri="{9D8B030D-6E8A-4147-A177-3AD203B41FA5}">
                      <a16:colId xmlns:a16="http://schemas.microsoft.com/office/drawing/2014/main" val="242632788"/>
                    </a:ext>
                  </a:extLst>
                </a:gridCol>
                <a:gridCol w="639052">
                  <a:extLst>
                    <a:ext uri="{9D8B030D-6E8A-4147-A177-3AD203B41FA5}">
                      <a16:colId xmlns:a16="http://schemas.microsoft.com/office/drawing/2014/main" val="4259355466"/>
                    </a:ext>
                  </a:extLst>
                </a:gridCol>
                <a:gridCol w="828661">
                  <a:extLst>
                    <a:ext uri="{9D8B030D-6E8A-4147-A177-3AD203B41FA5}">
                      <a16:colId xmlns:a16="http://schemas.microsoft.com/office/drawing/2014/main" val="3558832812"/>
                    </a:ext>
                  </a:extLst>
                </a:gridCol>
                <a:gridCol w="386241">
                  <a:extLst>
                    <a:ext uri="{9D8B030D-6E8A-4147-A177-3AD203B41FA5}">
                      <a16:colId xmlns:a16="http://schemas.microsoft.com/office/drawing/2014/main" val="3032513073"/>
                    </a:ext>
                  </a:extLst>
                </a:gridCol>
                <a:gridCol w="667142">
                  <a:extLst>
                    <a:ext uri="{9D8B030D-6E8A-4147-A177-3AD203B41FA5}">
                      <a16:colId xmlns:a16="http://schemas.microsoft.com/office/drawing/2014/main" val="2550727384"/>
                    </a:ext>
                  </a:extLst>
                </a:gridCol>
              </a:tblGrid>
              <a:tr h="95295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500" b="1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product_id</a:t>
                      </a:r>
                      <a:endParaRPr lang="en-US" sz="500" b="1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2460" marR="2460" marT="246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5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product_name</a:t>
                      </a:r>
                    </a:p>
                  </a:txBody>
                  <a:tcPr marL="2460" marR="2460" marT="246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5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last_category</a:t>
                      </a:r>
                    </a:p>
                  </a:txBody>
                  <a:tcPr marL="2460" marR="2460" marT="246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5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actual_price</a:t>
                      </a:r>
                    </a:p>
                  </a:txBody>
                  <a:tcPr marL="2460" marR="2460" marT="246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5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actual_price_krw</a:t>
                      </a:r>
                    </a:p>
                  </a:txBody>
                  <a:tcPr marL="2460" marR="2460" marT="246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5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rating</a:t>
                      </a:r>
                    </a:p>
                  </a:txBody>
                  <a:tcPr marL="2460" marR="2460" marT="246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5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rating_count</a:t>
                      </a:r>
                    </a:p>
                  </a:txBody>
                  <a:tcPr marL="2460" marR="2460" marT="246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54795441"/>
                  </a:ext>
                </a:extLst>
              </a:tr>
              <a:tr h="285883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5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B09ZHCJDP1</a:t>
                      </a:r>
                    </a:p>
                  </a:txBody>
                  <a:tcPr marL="2460" marR="2460" marT="246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5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Amazon Basics Wireless Mouse | 2.4 GHz Connection, 1600 DPI | Type - C Adapter | </a:t>
                      </a:r>
                      <a:r>
                        <a:rPr lang="en-US" sz="5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Upto</a:t>
                      </a:r>
                      <a:r>
                        <a:rPr lang="en-US" sz="5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12 Months of Battery Life | Ambidextrous Design | Suitable for PC/Mac/Laptop</a:t>
                      </a:r>
                    </a:p>
                  </a:txBody>
                  <a:tcPr marL="2460" marR="2460" marT="246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5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Mice</a:t>
                      </a:r>
                    </a:p>
                  </a:txBody>
                  <a:tcPr marL="2460" marR="2460" marT="246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5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1000</a:t>
                      </a:r>
                    </a:p>
                  </a:txBody>
                  <a:tcPr marL="2460" marR="2460" marT="246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5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14400</a:t>
                      </a:r>
                    </a:p>
                  </a:txBody>
                  <a:tcPr marL="2460" marR="2460" marT="246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5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5</a:t>
                      </a:r>
                    </a:p>
                  </a:txBody>
                  <a:tcPr marL="2460" marR="2460" marT="246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5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23</a:t>
                      </a:r>
                    </a:p>
                  </a:txBody>
                  <a:tcPr marL="2460" marR="2460" marT="246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88398427"/>
                  </a:ext>
                </a:extLst>
              </a:tr>
              <a:tr h="381178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5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B0BP7XLX48</a:t>
                      </a:r>
                    </a:p>
                  </a:txBody>
                  <a:tcPr marL="2460" marR="2460" marT="246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5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Syncwire LTG to USB Cable for Fast Charging Compatible with Phone 5/ 5C/ 5S/ 6/ 6S/ 7/8/ X/XR/XS Max/ 11/12/ 13 Series and Pad Air/Mini, Pod &amp; Other Devices (1.1 Meter, White)</a:t>
                      </a:r>
                    </a:p>
                  </a:txBody>
                  <a:tcPr marL="2460" marR="2460" marT="246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5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USBCables</a:t>
                      </a:r>
                    </a:p>
                  </a:txBody>
                  <a:tcPr marL="2460" marR="2460" marT="246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5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1999</a:t>
                      </a:r>
                    </a:p>
                  </a:txBody>
                  <a:tcPr marL="2460" marR="2460" marT="246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5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28785.6</a:t>
                      </a:r>
                    </a:p>
                  </a:txBody>
                  <a:tcPr marL="2460" marR="2460" marT="246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5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5</a:t>
                      </a:r>
                    </a:p>
                  </a:txBody>
                  <a:tcPr marL="2460" marR="2460" marT="246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5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5</a:t>
                      </a:r>
                    </a:p>
                  </a:txBody>
                  <a:tcPr marL="2460" marR="2460" marT="246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84249128"/>
                  </a:ext>
                </a:extLst>
              </a:tr>
              <a:tr h="381178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5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B0BQRJ3C47</a:t>
                      </a:r>
                    </a:p>
                  </a:txBody>
                  <a:tcPr marL="2460" marR="2460" marT="246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5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REDTECH USB-C to Lightning Cable 3.3FT, [Apple </a:t>
                      </a:r>
                      <a:r>
                        <a:rPr lang="en-US" sz="5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MFi</a:t>
                      </a:r>
                      <a:r>
                        <a:rPr lang="en-US" sz="5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Certified] Lightning to Type C Fast Charging Cord Compatible with iPhone 14/13/13 pro/Max/12/11/X/XS/XR/8, Supports Power Delivery - White</a:t>
                      </a:r>
                    </a:p>
                  </a:txBody>
                  <a:tcPr marL="2460" marR="2460" marT="246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5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USBCables</a:t>
                      </a:r>
                    </a:p>
                  </a:txBody>
                  <a:tcPr marL="2460" marR="2460" marT="246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5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999</a:t>
                      </a:r>
                    </a:p>
                  </a:txBody>
                  <a:tcPr marL="2460" marR="2460" marT="246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5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14385.6</a:t>
                      </a:r>
                    </a:p>
                  </a:txBody>
                  <a:tcPr marL="2460" marR="2460" marT="246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5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5</a:t>
                      </a:r>
                    </a:p>
                  </a:txBody>
                  <a:tcPr marL="2460" marR="2460" marT="246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5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2460" marR="2460" marT="246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28033235"/>
                  </a:ext>
                </a:extLst>
              </a:tr>
              <a:tr h="19059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5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B002PD61Y4</a:t>
                      </a:r>
                    </a:p>
                  </a:txBody>
                  <a:tcPr marL="2460" marR="2460" marT="246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5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D-Link DWA-131 300 Mbps Wireless Nano USB Adapter (Black)</a:t>
                      </a:r>
                    </a:p>
                  </a:txBody>
                  <a:tcPr marL="2460" marR="2460" marT="246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5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WirelessUSBAdapters</a:t>
                      </a:r>
                    </a:p>
                  </a:txBody>
                  <a:tcPr marL="2460" marR="2460" marT="246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5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1208</a:t>
                      </a:r>
                    </a:p>
                  </a:txBody>
                  <a:tcPr marL="2460" marR="2460" marT="246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5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17395.2</a:t>
                      </a:r>
                    </a:p>
                  </a:txBody>
                  <a:tcPr marL="2460" marR="2460" marT="246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5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4</a:t>
                      </a:r>
                    </a:p>
                  </a:txBody>
                  <a:tcPr marL="2460" marR="2460" marT="246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5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8131</a:t>
                      </a:r>
                    </a:p>
                  </a:txBody>
                  <a:tcPr marL="2460" marR="2460" marT="246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08291138"/>
                  </a:ext>
                </a:extLst>
              </a:tr>
              <a:tr h="381178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5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B002SZEOLG</a:t>
                      </a:r>
                    </a:p>
                  </a:txBody>
                  <a:tcPr marL="2460" marR="2460" marT="246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5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TP-Link Nano USB WiFi Dongle 150Mbps High Gain Wireless Network Wi-Fi Adapter for PC Desktop and Laptops, Supports Windows 10/8.1/8/7/XP, Linux, Mac OS X (TL-WN722N)</a:t>
                      </a:r>
                    </a:p>
                  </a:txBody>
                  <a:tcPr marL="2460" marR="2460" marT="246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5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WirelessUSBAdapters</a:t>
                      </a:r>
                    </a:p>
                  </a:txBody>
                  <a:tcPr marL="2460" marR="2460" marT="246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5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1339</a:t>
                      </a:r>
                    </a:p>
                  </a:txBody>
                  <a:tcPr marL="2460" marR="2460" marT="246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5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19281.6</a:t>
                      </a:r>
                    </a:p>
                  </a:txBody>
                  <a:tcPr marL="2460" marR="2460" marT="246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5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4</a:t>
                      </a:r>
                    </a:p>
                  </a:txBody>
                  <a:tcPr marL="2460" marR="2460" marT="246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5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179692</a:t>
                      </a:r>
                    </a:p>
                  </a:txBody>
                  <a:tcPr marL="2460" marR="2460" marT="246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2156568"/>
                  </a:ext>
                </a:extLst>
              </a:tr>
              <a:tr h="19059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5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B003B00484</a:t>
                      </a:r>
                    </a:p>
                  </a:txBody>
                  <a:tcPr marL="2460" marR="2460" marT="246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5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Duracell Plus AAA Rechargeable Batteries (750 mAh) Pack of 4</a:t>
                      </a:r>
                    </a:p>
                  </a:txBody>
                  <a:tcPr marL="2460" marR="2460" marT="246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5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RechargeableBatteries</a:t>
                      </a:r>
                      <a:endParaRPr lang="en-US" sz="5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2460" marR="2460" marT="246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5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499</a:t>
                      </a:r>
                    </a:p>
                  </a:txBody>
                  <a:tcPr marL="2460" marR="2460" marT="246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5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7185.6</a:t>
                      </a:r>
                    </a:p>
                  </a:txBody>
                  <a:tcPr marL="2460" marR="2460" marT="246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5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4</a:t>
                      </a:r>
                    </a:p>
                  </a:txBody>
                  <a:tcPr marL="2460" marR="2460" marT="246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5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27201</a:t>
                      </a:r>
                    </a:p>
                  </a:txBody>
                  <a:tcPr marL="2460" marR="2460" marT="246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89077667"/>
                  </a:ext>
                </a:extLst>
              </a:tr>
              <a:tr h="19059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5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B003L62T7W</a:t>
                      </a:r>
                    </a:p>
                  </a:txBody>
                  <a:tcPr marL="2460" marR="2460" marT="246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5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Logitech B100 Wired USB Mouse, 3 yr Warranty, 800 DPI Optical Tracking, Ambidextrous PC/Mac/Laptop - Black</a:t>
                      </a:r>
                    </a:p>
                  </a:txBody>
                  <a:tcPr marL="2460" marR="2460" marT="246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5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Mice</a:t>
                      </a:r>
                    </a:p>
                  </a:txBody>
                  <a:tcPr marL="2460" marR="2460" marT="246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5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375</a:t>
                      </a:r>
                    </a:p>
                  </a:txBody>
                  <a:tcPr marL="2460" marR="2460" marT="246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5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5400</a:t>
                      </a:r>
                    </a:p>
                  </a:txBody>
                  <a:tcPr marL="2460" marR="2460" marT="246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5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4</a:t>
                      </a:r>
                    </a:p>
                  </a:txBody>
                  <a:tcPr marL="2460" marR="2460" marT="246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5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31534</a:t>
                      </a:r>
                    </a:p>
                  </a:txBody>
                  <a:tcPr marL="2460" marR="2460" marT="246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74467781"/>
                  </a:ext>
                </a:extLst>
              </a:tr>
              <a:tr h="285883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5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B004IO5BMQ</a:t>
                      </a:r>
                    </a:p>
                  </a:txBody>
                  <a:tcPr marL="2460" marR="2460" marT="246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5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Logitech M235 Wireless Mouse, 1000 DPI Optical Tracking, 12 Month Life Battery, Compatible with Windows, Mac, Chromebook/PC/Laptop</a:t>
                      </a:r>
                    </a:p>
                  </a:txBody>
                  <a:tcPr marL="2460" marR="2460" marT="246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5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Mice</a:t>
                      </a:r>
                    </a:p>
                  </a:txBody>
                  <a:tcPr marL="2460" marR="2460" marT="246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5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995</a:t>
                      </a:r>
                    </a:p>
                  </a:txBody>
                  <a:tcPr marL="2460" marR="2460" marT="246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5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14328</a:t>
                      </a:r>
                    </a:p>
                  </a:txBody>
                  <a:tcPr marL="2460" marR="2460" marT="246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5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4</a:t>
                      </a:r>
                    </a:p>
                  </a:txBody>
                  <a:tcPr marL="2460" marR="2460" marT="246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5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54405</a:t>
                      </a:r>
                    </a:p>
                  </a:txBody>
                  <a:tcPr marL="2460" marR="2460" marT="246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70306050"/>
                  </a:ext>
                </a:extLst>
              </a:tr>
              <a:tr h="95295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5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B005FYNT3G</a:t>
                      </a:r>
                    </a:p>
                  </a:txBody>
                  <a:tcPr marL="2460" marR="2460" marT="246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5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SanDisk Cruzer Blade 32GB USB Flash Drive</a:t>
                      </a:r>
                    </a:p>
                  </a:txBody>
                  <a:tcPr marL="2460" marR="2460" marT="246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5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PenDrives</a:t>
                      </a:r>
                    </a:p>
                  </a:txBody>
                  <a:tcPr marL="2460" marR="2460" marT="246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5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650</a:t>
                      </a:r>
                    </a:p>
                  </a:txBody>
                  <a:tcPr marL="2460" marR="2460" marT="246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5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9360</a:t>
                      </a:r>
                    </a:p>
                  </a:txBody>
                  <a:tcPr marL="2460" marR="2460" marT="246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5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4</a:t>
                      </a:r>
                    </a:p>
                  </a:txBody>
                  <a:tcPr marL="2460" marR="2460" marT="246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5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253105</a:t>
                      </a:r>
                    </a:p>
                  </a:txBody>
                  <a:tcPr marL="2460" marR="2460" marT="246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11233347"/>
                  </a:ext>
                </a:extLst>
              </a:tr>
              <a:tr h="285883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5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B005LJQMCK</a:t>
                      </a:r>
                    </a:p>
                  </a:txBody>
                  <a:tcPr marL="2460" marR="2460" marT="246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5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BlueRigger Digital Optical Audio Toslink Cable (3.3 Feet / 1 Meter) With 8 Channel (7.1) Audio Support (for Home Theatre, Xbox, Playstation etc.)</a:t>
                      </a:r>
                    </a:p>
                  </a:txBody>
                  <a:tcPr marL="2460" marR="2460" marT="246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5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OpticalCables</a:t>
                      </a:r>
                    </a:p>
                  </a:txBody>
                  <a:tcPr marL="2460" marR="2460" marT="246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5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599</a:t>
                      </a:r>
                    </a:p>
                  </a:txBody>
                  <a:tcPr marL="2460" marR="2460" marT="246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5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8625.6</a:t>
                      </a:r>
                    </a:p>
                  </a:txBody>
                  <a:tcPr marL="2460" marR="2460" marT="246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5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4</a:t>
                      </a:r>
                    </a:p>
                  </a:txBody>
                  <a:tcPr marL="2460" marR="2460" marT="246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5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30023</a:t>
                      </a:r>
                    </a:p>
                  </a:txBody>
                  <a:tcPr marL="2460" marR="2460" marT="246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26957239"/>
                  </a:ext>
                </a:extLst>
              </a:tr>
              <a:tr h="285883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5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B005LJQMZC</a:t>
                      </a:r>
                    </a:p>
                  </a:txBody>
                  <a:tcPr marL="2460" marR="2460" marT="246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5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BlueRigger Digital Optical Audio Toslink Cable (6 Feet / 1.8 Meter) With 8 Channel (7.1) Audio Support (for Home Theatre, Xbox, Playstation etc.)</a:t>
                      </a:r>
                    </a:p>
                  </a:txBody>
                  <a:tcPr marL="2460" marR="2460" marT="246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5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OpticalCables</a:t>
                      </a:r>
                    </a:p>
                  </a:txBody>
                  <a:tcPr marL="2460" marR="2460" marT="246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5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1999</a:t>
                      </a:r>
                    </a:p>
                  </a:txBody>
                  <a:tcPr marL="2460" marR="2460" marT="246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5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28785.6</a:t>
                      </a:r>
                    </a:p>
                  </a:txBody>
                  <a:tcPr marL="2460" marR="2460" marT="246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5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4</a:t>
                      </a:r>
                    </a:p>
                  </a:txBody>
                  <a:tcPr marL="2460" marR="2460" marT="246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5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30023</a:t>
                      </a:r>
                    </a:p>
                  </a:txBody>
                  <a:tcPr marL="2460" marR="2460" marT="246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95192961"/>
                  </a:ext>
                </a:extLst>
              </a:tr>
              <a:tr h="95295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5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B006LW0WDQ</a:t>
                      </a:r>
                    </a:p>
                  </a:txBody>
                  <a:tcPr marL="2460" marR="2460" marT="246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5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Amazon Basics 16-Gauge Speaker Wire - 50 Feet</a:t>
                      </a:r>
                    </a:p>
                  </a:txBody>
                  <a:tcPr marL="2460" marR="2460" marT="246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5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SpeakerCables</a:t>
                      </a:r>
                    </a:p>
                  </a:txBody>
                  <a:tcPr marL="2460" marR="2460" marT="246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5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795</a:t>
                      </a:r>
                    </a:p>
                  </a:txBody>
                  <a:tcPr marL="2460" marR="2460" marT="246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5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11448</a:t>
                      </a:r>
                    </a:p>
                  </a:txBody>
                  <a:tcPr marL="2460" marR="2460" marT="246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5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4</a:t>
                      </a:r>
                    </a:p>
                  </a:txBody>
                  <a:tcPr marL="2460" marR="2460" marT="246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5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12091</a:t>
                      </a:r>
                    </a:p>
                  </a:txBody>
                  <a:tcPr marL="2460" marR="2460" marT="246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17260644"/>
                  </a:ext>
                </a:extLst>
              </a:tr>
              <a:tr h="95295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5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B0073QGKAS</a:t>
                      </a:r>
                    </a:p>
                  </a:txBody>
                  <a:tcPr marL="2460" marR="2460" marT="246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5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Bajaj ATX 4 750-Watt Pop-up Toaster (White)</a:t>
                      </a:r>
                    </a:p>
                  </a:txBody>
                  <a:tcPr marL="2460" marR="2460" marT="246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5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Pop-upToasters</a:t>
                      </a:r>
                    </a:p>
                  </a:txBody>
                  <a:tcPr marL="2460" marR="2460" marT="246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5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1499</a:t>
                      </a:r>
                    </a:p>
                  </a:txBody>
                  <a:tcPr marL="2460" marR="2460" marT="246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5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21585.6</a:t>
                      </a:r>
                    </a:p>
                  </a:txBody>
                  <a:tcPr marL="2460" marR="2460" marT="246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5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4</a:t>
                      </a:r>
                    </a:p>
                  </a:txBody>
                  <a:tcPr marL="2460" marR="2460" marT="246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5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9331</a:t>
                      </a:r>
                    </a:p>
                  </a:txBody>
                  <a:tcPr marL="2460" marR="2460" marT="246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78217520"/>
                  </a:ext>
                </a:extLst>
              </a:tr>
              <a:tr h="19059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5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B0083T231O</a:t>
                      </a:r>
                    </a:p>
                  </a:txBody>
                  <a:tcPr marL="2460" marR="2460" marT="246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5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Belkin Essential Series 4-Socket Surge Protector Universal Socket with 5ft Heavy Duty Cable (Grey)</a:t>
                      </a:r>
                    </a:p>
                  </a:txBody>
                  <a:tcPr marL="2460" marR="2460" marT="246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5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SurgeProtectors</a:t>
                      </a:r>
                    </a:p>
                  </a:txBody>
                  <a:tcPr marL="2460" marR="2460" marT="246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5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1499</a:t>
                      </a:r>
                    </a:p>
                  </a:txBody>
                  <a:tcPr marL="2460" marR="2460" marT="246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5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21585.6</a:t>
                      </a:r>
                    </a:p>
                  </a:txBody>
                  <a:tcPr marL="2460" marR="2460" marT="246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5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4</a:t>
                      </a:r>
                    </a:p>
                  </a:txBody>
                  <a:tcPr marL="2460" marR="2460" marT="246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5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20668</a:t>
                      </a:r>
                    </a:p>
                  </a:txBody>
                  <a:tcPr marL="2460" marR="2460" marT="246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52472154"/>
                  </a:ext>
                </a:extLst>
              </a:tr>
              <a:tr h="285883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5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B0085IATT6</a:t>
                      </a:r>
                    </a:p>
                  </a:txBody>
                  <a:tcPr marL="2460" marR="2460" marT="246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5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D-Link DIR-615 Wi-fi Ethernet-N300 </a:t>
                      </a:r>
                      <a:r>
                        <a:rPr lang="en-US" sz="5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Single_band</a:t>
                      </a:r>
                      <a:r>
                        <a:rPr lang="en-US" sz="5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300Mbps Router, Mobile App Support, Router | AP | Repeater | Client Modes(Black)</a:t>
                      </a:r>
                    </a:p>
                  </a:txBody>
                  <a:tcPr marL="2460" marR="2460" marT="246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5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Routers</a:t>
                      </a:r>
                    </a:p>
                  </a:txBody>
                  <a:tcPr marL="2460" marR="2460" marT="246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5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1800</a:t>
                      </a:r>
                    </a:p>
                  </a:txBody>
                  <a:tcPr marL="2460" marR="2460" marT="246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5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25920</a:t>
                      </a:r>
                    </a:p>
                  </a:txBody>
                  <a:tcPr marL="2460" marR="2460" marT="246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5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4</a:t>
                      </a:r>
                    </a:p>
                  </a:txBody>
                  <a:tcPr marL="2460" marR="2460" marT="246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5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22375</a:t>
                      </a:r>
                    </a:p>
                  </a:txBody>
                  <a:tcPr marL="2460" marR="2460" marT="246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39996699"/>
                  </a:ext>
                </a:extLst>
              </a:tr>
            </a:tbl>
          </a:graphicData>
        </a:graphic>
      </p:graphicFrame>
      <p:sp>
        <p:nvSpPr>
          <p:cNvPr id="35" name="직사각형 34">
            <a:extLst>
              <a:ext uri="{FF2B5EF4-FFF2-40B4-BE49-F238E27FC236}">
                <a16:creationId xmlns:a16="http://schemas.microsoft.com/office/drawing/2014/main" id="{6128ABE6-B50A-8796-01E3-D9A226BC752E}"/>
              </a:ext>
            </a:extLst>
          </p:cNvPr>
          <p:cNvSpPr/>
          <p:nvPr/>
        </p:nvSpPr>
        <p:spPr>
          <a:xfrm>
            <a:off x="714240" y="666720"/>
            <a:ext cx="6924240" cy="380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anchor="b">
            <a:normAutofit fontScale="77500" lnSpcReduction="20000"/>
          </a:bodyPr>
          <a:lstStyle/>
          <a:p>
            <a:pPr>
              <a:tabLst>
                <a:tab pos="0" algn="l"/>
              </a:tabLst>
            </a:pPr>
            <a:r>
              <a:rPr lang="ko-KR" altLang="en-US" sz="3000" b="1" dirty="0">
                <a:solidFill>
                  <a:srgbClr val="0E1D35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５</a:t>
            </a:r>
            <a:r>
              <a:rPr lang="en-US" altLang="ko-KR" sz="3000" b="1" u="none" strike="noStrike" dirty="0">
                <a:solidFill>
                  <a:srgbClr val="0E1D35"/>
                </a:solidFill>
                <a:effectLst/>
                <a:uFillTx/>
                <a:latin typeface="맑은 고딕" panose="020B0503020000020004" pitchFamily="50" charset="-127"/>
                <a:ea typeface="맑은 고딕" panose="020B0503020000020004" pitchFamily="50" charset="-127"/>
              </a:rPr>
              <a:t>. </a:t>
            </a:r>
            <a:r>
              <a:rPr lang="ko-KR" altLang="en-US" sz="3000" b="1" u="none" strike="noStrike" dirty="0">
                <a:solidFill>
                  <a:srgbClr val="0E1D35"/>
                </a:solidFill>
                <a:effectLst/>
                <a:uFillTx/>
                <a:latin typeface="맑은 고딕" panose="020B0503020000020004" pitchFamily="50" charset="-127"/>
                <a:ea typeface="맑은 고딕" panose="020B0503020000020004" pitchFamily="50" charset="-127"/>
              </a:rPr>
              <a:t>추천 시스템</a:t>
            </a:r>
            <a:r>
              <a:rPr lang="en-US" altLang="ko-KR" sz="3000" b="1" dirty="0">
                <a:solidFill>
                  <a:srgbClr val="0E1D35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(</a:t>
            </a:r>
            <a:r>
              <a:rPr lang="en-US" altLang="ko-KR" sz="3000" b="1" dirty="0" err="1">
                <a:solidFill>
                  <a:srgbClr val="0E1D35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Wonpice</a:t>
            </a:r>
            <a:r>
              <a:rPr lang="en-US" altLang="ko-KR" sz="3000" b="1" dirty="0">
                <a:solidFill>
                  <a:srgbClr val="0E1D35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)</a:t>
            </a:r>
            <a:endParaRPr lang="en-US" sz="3000" b="0" u="none" strike="noStrike" dirty="0">
              <a:solidFill>
                <a:srgbClr val="000000"/>
              </a:solidFill>
              <a:effectLst/>
              <a:uFillTx/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graphicFrame>
        <p:nvGraphicFramePr>
          <p:cNvPr id="3" name="표 2">
            <a:extLst>
              <a:ext uri="{FF2B5EF4-FFF2-40B4-BE49-F238E27FC236}">
                <a16:creationId xmlns:a16="http://schemas.microsoft.com/office/drawing/2014/main" id="{6B6E88B1-7ECE-4E71-8171-AEDB50B8FC3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67326193"/>
              </p:ext>
            </p:extLst>
          </p:nvPr>
        </p:nvGraphicFramePr>
        <p:xfrm>
          <a:off x="1032388" y="1120982"/>
          <a:ext cx="6924240" cy="3716489"/>
        </p:xfrm>
        <a:graphic>
          <a:graphicData uri="http://schemas.openxmlformats.org/drawingml/2006/table">
            <a:tbl>
              <a:tblPr/>
              <a:tblGrid>
                <a:gridCol w="632030">
                  <a:extLst>
                    <a:ext uri="{9D8B030D-6E8A-4147-A177-3AD203B41FA5}">
                      <a16:colId xmlns:a16="http://schemas.microsoft.com/office/drawing/2014/main" val="1815464437"/>
                    </a:ext>
                  </a:extLst>
                </a:gridCol>
                <a:gridCol w="2155925">
                  <a:extLst>
                    <a:ext uri="{9D8B030D-6E8A-4147-A177-3AD203B41FA5}">
                      <a16:colId xmlns:a16="http://schemas.microsoft.com/office/drawing/2014/main" val="2059928264"/>
                    </a:ext>
                  </a:extLst>
                </a:gridCol>
                <a:gridCol w="1615189">
                  <a:extLst>
                    <a:ext uri="{9D8B030D-6E8A-4147-A177-3AD203B41FA5}">
                      <a16:colId xmlns:a16="http://schemas.microsoft.com/office/drawing/2014/main" val="242632788"/>
                    </a:ext>
                  </a:extLst>
                </a:gridCol>
                <a:gridCol w="639052">
                  <a:extLst>
                    <a:ext uri="{9D8B030D-6E8A-4147-A177-3AD203B41FA5}">
                      <a16:colId xmlns:a16="http://schemas.microsoft.com/office/drawing/2014/main" val="4259355466"/>
                    </a:ext>
                  </a:extLst>
                </a:gridCol>
                <a:gridCol w="828661">
                  <a:extLst>
                    <a:ext uri="{9D8B030D-6E8A-4147-A177-3AD203B41FA5}">
                      <a16:colId xmlns:a16="http://schemas.microsoft.com/office/drawing/2014/main" val="3558832812"/>
                    </a:ext>
                  </a:extLst>
                </a:gridCol>
                <a:gridCol w="386241">
                  <a:extLst>
                    <a:ext uri="{9D8B030D-6E8A-4147-A177-3AD203B41FA5}">
                      <a16:colId xmlns:a16="http://schemas.microsoft.com/office/drawing/2014/main" val="3032513073"/>
                    </a:ext>
                  </a:extLst>
                </a:gridCol>
                <a:gridCol w="667142">
                  <a:extLst>
                    <a:ext uri="{9D8B030D-6E8A-4147-A177-3AD203B41FA5}">
                      <a16:colId xmlns:a16="http://schemas.microsoft.com/office/drawing/2014/main" val="2550727384"/>
                    </a:ext>
                  </a:extLst>
                </a:gridCol>
              </a:tblGrid>
              <a:tr h="95295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500" b="1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product_id</a:t>
                      </a:r>
                      <a:endParaRPr lang="en-US" sz="500" b="1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2460" marR="2460" marT="246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5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product_name</a:t>
                      </a:r>
                    </a:p>
                  </a:txBody>
                  <a:tcPr marL="2460" marR="2460" marT="246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5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last_category</a:t>
                      </a:r>
                    </a:p>
                  </a:txBody>
                  <a:tcPr marL="2460" marR="2460" marT="246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5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actual_price</a:t>
                      </a:r>
                    </a:p>
                  </a:txBody>
                  <a:tcPr marL="2460" marR="2460" marT="246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5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actual_price_krw</a:t>
                      </a:r>
                    </a:p>
                  </a:txBody>
                  <a:tcPr marL="2460" marR="2460" marT="246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5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rating</a:t>
                      </a:r>
                    </a:p>
                  </a:txBody>
                  <a:tcPr marL="2460" marR="2460" marT="246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500" b="1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rating_count</a:t>
                      </a:r>
                    </a:p>
                  </a:txBody>
                  <a:tcPr marL="2460" marR="2460" marT="246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54795441"/>
                  </a:ext>
                </a:extLst>
              </a:tr>
              <a:tr h="285883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5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B09ZHCJDP1</a:t>
                      </a:r>
                    </a:p>
                  </a:txBody>
                  <a:tcPr marL="2460" marR="2460" marT="246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5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Amazon Basics Wireless Mouse | 2.4 GHz Connection, 1600 DPI | Type - C Adapter | </a:t>
                      </a:r>
                      <a:r>
                        <a:rPr lang="en-US" sz="5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Upto</a:t>
                      </a:r>
                      <a:r>
                        <a:rPr lang="en-US" sz="5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12 Months of Battery Life | Ambidextrous Design | Suitable for PC/Mac/Laptop</a:t>
                      </a:r>
                    </a:p>
                  </a:txBody>
                  <a:tcPr marL="2460" marR="2460" marT="246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5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Mice</a:t>
                      </a:r>
                    </a:p>
                  </a:txBody>
                  <a:tcPr marL="2460" marR="2460" marT="246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5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1000</a:t>
                      </a:r>
                    </a:p>
                  </a:txBody>
                  <a:tcPr marL="2460" marR="2460" marT="246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5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14400</a:t>
                      </a:r>
                    </a:p>
                  </a:txBody>
                  <a:tcPr marL="2460" marR="2460" marT="246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D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5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5</a:t>
                      </a:r>
                    </a:p>
                  </a:txBody>
                  <a:tcPr marL="2460" marR="2460" marT="246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5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23</a:t>
                      </a:r>
                    </a:p>
                  </a:txBody>
                  <a:tcPr marL="2460" marR="2460" marT="246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88398427"/>
                  </a:ext>
                </a:extLst>
              </a:tr>
              <a:tr h="381178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5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B0BP7XLX48</a:t>
                      </a:r>
                    </a:p>
                  </a:txBody>
                  <a:tcPr marL="2460" marR="2460" marT="246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5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Syncwire LTG to USB Cable for Fast Charging Compatible with Phone 5/ 5C/ 5S/ 6/ 6S/ 7/8/ X/XR/XS Max/ 11/12/ 13 Series and Pad Air/Mini, Pod &amp; Other Devices (1.1 Meter, White)</a:t>
                      </a:r>
                    </a:p>
                  </a:txBody>
                  <a:tcPr marL="2460" marR="2460" marT="246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5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USBCables</a:t>
                      </a:r>
                    </a:p>
                  </a:txBody>
                  <a:tcPr marL="2460" marR="2460" marT="246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5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1999</a:t>
                      </a:r>
                    </a:p>
                  </a:txBody>
                  <a:tcPr marL="2460" marR="2460" marT="246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5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28785.6</a:t>
                      </a:r>
                    </a:p>
                  </a:txBody>
                  <a:tcPr marL="2460" marR="2460" marT="246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D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5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5</a:t>
                      </a:r>
                    </a:p>
                  </a:txBody>
                  <a:tcPr marL="2460" marR="2460" marT="246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5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5</a:t>
                      </a:r>
                    </a:p>
                  </a:txBody>
                  <a:tcPr marL="2460" marR="2460" marT="246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84249128"/>
                  </a:ext>
                </a:extLst>
              </a:tr>
              <a:tr h="381178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5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B0BQRJ3C47</a:t>
                      </a:r>
                    </a:p>
                  </a:txBody>
                  <a:tcPr marL="2460" marR="2460" marT="246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5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REDTECH USB-C to Lightning Cable 3.3FT, [Apple </a:t>
                      </a:r>
                      <a:r>
                        <a:rPr lang="en-US" sz="5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MFi</a:t>
                      </a:r>
                      <a:r>
                        <a:rPr lang="en-US" sz="5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Certified] Lightning to Type C Fast Charging Cord Compatible with iPhone 14/13/13 pro/Max/12/11/X/XS/XR/8, Supports Power Delivery - White</a:t>
                      </a:r>
                    </a:p>
                  </a:txBody>
                  <a:tcPr marL="2460" marR="2460" marT="246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5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USBCables</a:t>
                      </a:r>
                    </a:p>
                  </a:txBody>
                  <a:tcPr marL="2460" marR="2460" marT="246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5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999</a:t>
                      </a:r>
                    </a:p>
                  </a:txBody>
                  <a:tcPr marL="2460" marR="2460" marT="246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5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14385.6</a:t>
                      </a:r>
                    </a:p>
                  </a:txBody>
                  <a:tcPr marL="2460" marR="2460" marT="246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D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5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5</a:t>
                      </a:r>
                    </a:p>
                  </a:txBody>
                  <a:tcPr marL="2460" marR="2460" marT="246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5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　</a:t>
                      </a:r>
                    </a:p>
                  </a:txBody>
                  <a:tcPr marL="2460" marR="2460" marT="246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28033235"/>
                  </a:ext>
                </a:extLst>
              </a:tr>
              <a:tr h="19059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5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B002PD61Y4</a:t>
                      </a:r>
                    </a:p>
                  </a:txBody>
                  <a:tcPr marL="2460" marR="2460" marT="246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5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D-Link DWA-131 300 Mbps Wireless Nano USB Adapter (Black)</a:t>
                      </a:r>
                    </a:p>
                  </a:txBody>
                  <a:tcPr marL="2460" marR="2460" marT="246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5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WirelessUSBAdapters</a:t>
                      </a:r>
                    </a:p>
                  </a:txBody>
                  <a:tcPr marL="2460" marR="2460" marT="246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5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1208</a:t>
                      </a:r>
                    </a:p>
                  </a:txBody>
                  <a:tcPr marL="2460" marR="2460" marT="246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5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17395.2</a:t>
                      </a:r>
                    </a:p>
                  </a:txBody>
                  <a:tcPr marL="2460" marR="2460" marT="246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D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5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4</a:t>
                      </a:r>
                    </a:p>
                  </a:txBody>
                  <a:tcPr marL="2460" marR="2460" marT="246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5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8131</a:t>
                      </a:r>
                    </a:p>
                  </a:txBody>
                  <a:tcPr marL="2460" marR="2460" marT="246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08291138"/>
                  </a:ext>
                </a:extLst>
              </a:tr>
              <a:tr h="381178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5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B002SZEOLG</a:t>
                      </a:r>
                    </a:p>
                  </a:txBody>
                  <a:tcPr marL="2460" marR="2460" marT="246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5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TP-Link Nano USB WiFi Dongle 150Mbps High Gain Wireless Network Wi-Fi Adapter for PC Desktop and Laptops, Supports Windows 10/8.1/8/7/XP, Linux, Mac OS X (TL-WN722N)</a:t>
                      </a:r>
                    </a:p>
                  </a:txBody>
                  <a:tcPr marL="2460" marR="2460" marT="246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5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WirelessUSBAdapters</a:t>
                      </a:r>
                    </a:p>
                  </a:txBody>
                  <a:tcPr marL="2460" marR="2460" marT="246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5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1339</a:t>
                      </a:r>
                    </a:p>
                  </a:txBody>
                  <a:tcPr marL="2460" marR="2460" marT="246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5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19281.6</a:t>
                      </a:r>
                    </a:p>
                  </a:txBody>
                  <a:tcPr marL="2460" marR="2460" marT="246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D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5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4</a:t>
                      </a:r>
                    </a:p>
                  </a:txBody>
                  <a:tcPr marL="2460" marR="2460" marT="246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5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179692</a:t>
                      </a:r>
                    </a:p>
                  </a:txBody>
                  <a:tcPr marL="2460" marR="2460" marT="246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2156568"/>
                  </a:ext>
                </a:extLst>
              </a:tr>
              <a:tr h="19059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5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B003B00484</a:t>
                      </a:r>
                    </a:p>
                  </a:txBody>
                  <a:tcPr marL="2460" marR="2460" marT="246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5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Duracell Plus AAA Rechargeable Batteries (750 mAh) Pack of 4</a:t>
                      </a:r>
                    </a:p>
                  </a:txBody>
                  <a:tcPr marL="2460" marR="2460" marT="246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5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RechargeableBatteries</a:t>
                      </a:r>
                      <a:endParaRPr lang="en-US" sz="5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2460" marR="2460" marT="246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5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499</a:t>
                      </a:r>
                    </a:p>
                  </a:txBody>
                  <a:tcPr marL="2460" marR="2460" marT="246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5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7185.6</a:t>
                      </a:r>
                    </a:p>
                  </a:txBody>
                  <a:tcPr marL="2460" marR="2460" marT="246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D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5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4</a:t>
                      </a:r>
                    </a:p>
                  </a:txBody>
                  <a:tcPr marL="2460" marR="2460" marT="246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5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27201</a:t>
                      </a:r>
                    </a:p>
                  </a:txBody>
                  <a:tcPr marL="2460" marR="2460" marT="246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89077667"/>
                  </a:ext>
                </a:extLst>
              </a:tr>
              <a:tr h="19059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5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B003L62T7W</a:t>
                      </a:r>
                    </a:p>
                  </a:txBody>
                  <a:tcPr marL="2460" marR="2460" marT="246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5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Logitech B100 Wired USB Mouse, 3 yr Warranty, 800 DPI Optical Tracking, Ambidextrous PC/Mac/Laptop - Black</a:t>
                      </a:r>
                    </a:p>
                  </a:txBody>
                  <a:tcPr marL="2460" marR="2460" marT="246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5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Mice</a:t>
                      </a:r>
                    </a:p>
                  </a:txBody>
                  <a:tcPr marL="2460" marR="2460" marT="246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5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375</a:t>
                      </a:r>
                    </a:p>
                  </a:txBody>
                  <a:tcPr marL="2460" marR="2460" marT="246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5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5400</a:t>
                      </a:r>
                    </a:p>
                  </a:txBody>
                  <a:tcPr marL="2460" marR="2460" marT="246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D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5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4</a:t>
                      </a:r>
                    </a:p>
                  </a:txBody>
                  <a:tcPr marL="2460" marR="2460" marT="246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5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31534</a:t>
                      </a:r>
                    </a:p>
                  </a:txBody>
                  <a:tcPr marL="2460" marR="2460" marT="246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74467781"/>
                  </a:ext>
                </a:extLst>
              </a:tr>
              <a:tr h="285883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5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B004IO5BMQ</a:t>
                      </a:r>
                    </a:p>
                  </a:txBody>
                  <a:tcPr marL="2460" marR="2460" marT="246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5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Logitech M235 Wireless Mouse, 1000 DPI Optical Tracking, 12 Month Life Battery, Compatible with Windows, Mac, Chromebook/PC/Laptop</a:t>
                      </a:r>
                    </a:p>
                  </a:txBody>
                  <a:tcPr marL="2460" marR="2460" marT="246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5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Mice</a:t>
                      </a:r>
                    </a:p>
                  </a:txBody>
                  <a:tcPr marL="2460" marR="2460" marT="246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5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995</a:t>
                      </a:r>
                    </a:p>
                  </a:txBody>
                  <a:tcPr marL="2460" marR="2460" marT="246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5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14328</a:t>
                      </a:r>
                    </a:p>
                  </a:txBody>
                  <a:tcPr marL="2460" marR="2460" marT="246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D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5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4</a:t>
                      </a:r>
                    </a:p>
                  </a:txBody>
                  <a:tcPr marL="2460" marR="2460" marT="246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5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54405</a:t>
                      </a:r>
                    </a:p>
                  </a:txBody>
                  <a:tcPr marL="2460" marR="2460" marT="246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70306050"/>
                  </a:ext>
                </a:extLst>
              </a:tr>
              <a:tr h="95295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5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B005FYNT3G</a:t>
                      </a:r>
                    </a:p>
                  </a:txBody>
                  <a:tcPr marL="2460" marR="2460" marT="246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5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SanDisk Cruzer Blade 32GB USB Flash Drive</a:t>
                      </a:r>
                    </a:p>
                  </a:txBody>
                  <a:tcPr marL="2460" marR="2460" marT="246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5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PenDrives</a:t>
                      </a:r>
                    </a:p>
                  </a:txBody>
                  <a:tcPr marL="2460" marR="2460" marT="246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5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650</a:t>
                      </a:r>
                    </a:p>
                  </a:txBody>
                  <a:tcPr marL="2460" marR="2460" marT="246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5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9360</a:t>
                      </a:r>
                    </a:p>
                  </a:txBody>
                  <a:tcPr marL="2460" marR="2460" marT="246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D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5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4</a:t>
                      </a:r>
                    </a:p>
                  </a:txBody>
                  <a:tcPr marL="2460" marR="2460" marT="246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5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253105</a:t>
                      </a:r>
                    </a:p>
                  </a:txBody>
                  <a:tcPr marL="2460" marR="2460" marT="246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11233347"/>
                  </a:ext>
                </a:extLst>
              </a:tr>
              <a:tr h="285883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5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B005LJQMCK</a:t>
                      </a:r>
                    </a:p>
                  </a:txBody>
                  <a:tcPr marL="2460" marR="2460" marT="246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5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BlueRigger Digital Optical Audio Toslink Cable (3.3 Feet / 1 Meter) With 8 Channel (7.1) Audio Support (for Home Theatre, Xbox, Playstation etc.)</a:t>
                      </a:r>
                    </a:p>
                  </a:txBody>
                  <a:tcPr marL="2460" marR="2460" marT="246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5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OpticalCables</a:t>
                      </a:r>
                    </a:p>
                  </a:txBody>
                  <a:tcPr marL="2460" marR="2460" marT="246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5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599</a:t>
                      </a:r>
                    </a:p>
                  </a:txBody>
                  <a:tcPr marL="2460" marR="2460" marT="246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5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8625.6</a:t>
                      </a:r>
                    </a:p>
                  </a:txBody>
                  <a:tcPr marL="2460" marR="2460" marT="246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D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5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4</a:t>
                      </a:r>
                    </a:p>
                  </a:txBody>
                  <a:tcPr marL="2460" marR="2460" marT="246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5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30023</a:t>
                      </a:r>
                    </a:p>
                  </a:txBody>
                  <a:tcPr marL="2460" marR="2460" marT="246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26957239"/>
                  </a:ext>
                </a:extLst>
              </a:tr>
              <a:tr h="285883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5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B005LJQMZC</a:t>
                      </a:r>
                    </a:p>
                  </a:txBody>
                  <a:tcPr marL="2460" marR="2460" marT="246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5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BlueRigger Digital Optical Audio Toslink Cable (6 Feet / 1.8 Meter) With 8 Channel (7.1) Audio Support (for Home Theatre, Xbox, Playstation etc.)</a:t>
                      </a:r>
                    </a:p>
                  </a:txBody>
                  <a:tcPr marL="2460" marR="2460" marT="246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5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OpticalCables</a:t>
                      </a:r>
                    </a:p>
                  </a:txBody>
                  <a:tcPr marL="2460" marR="2460" marT="246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5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1999</a:t>
                      </a:r>
                    </a:p>
                  </a:txBody>
                  <a:tcPr marL="2460" marR="2460" marT="246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5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28785.6</a:t>
                      </a:r>
                    </a:p>
                  </a:txBody>
                  <a:tcPr marL="2460" marR="2460" marT="246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D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5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4</a:t>
                      </a:r>
                    </a:p>
                  </a:txBody>
                  <a:tcPr marL="2460" marR="2460" marT="246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5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30023</a:t>
                      </a:r>
                    </a:p>
                  </a:txBody>
                  <a:tcPr marL="2460" marR="2460" marT="246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95192961"/>
                  </a:ext>
                </a:extLst>
              </a:tr>
              <a:tr h="95295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5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B006LW0WDQ</a:t>
                      </a:r>
                    </a:p>
                  </a:txBody>
                  <a:tcPr marL="2460" marR="2460" marT="246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5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Amazon Basics 16-Gauge Speaker Wire - 50 Feet</a:t>
                      </a:r>
                    </a:p>
                  </a:txBody>
                  <a:tcPr marL="2460" marR="2460" marT="246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5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SpeakerCables</a:t>
                      </a:r>
                    </a:p>
                  </a:txBody>
                  <a:tcPr marL="2460" marR="2460" marT="246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5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795</a:t>
                      </a:r>
                    </a:p>
                  </a:txBody>
                  <a:tcPr marL="2460" marR="2460" marT="246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5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11448</a:t>
                      </a:r>
                    </a:p>
                  </a:txBody>
                  <a:tcPr marL="2460" marR="2460" marT="246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D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5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4</a:t>
                      </a:r>
                    </a:p>
                  </a:txBody>
                  <a:tcPr marL="2460" marR="2460" marT="246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5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12091</a:t>
                      </a:r>
                    </a:p>
                  </a:txBody>
                  <a:tcPr marL="2460" marR="2460" marT="246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17260644"/>
                  </a:ext>
                </a:extLst>
              </a:tr>
              <a:tr h="95295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5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B0073QGKAS</a:t>
                      </a:r>
                    </a:p>
                  </a:txBody>
                  <a:tcPr marL="2460" marR="2460" marT="246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5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Bajaj ATX 4 750-Watt Pop-up Toaster (White)</a:t>
                      </a:r>
                    </a:p>
                  </a:txBody>
                  <a:tcPr marL="2460" marR="2460" marT="246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5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Pop-upToasters</a:t>
                      </a:r>
                    </a:p>
                  </a:txBody>
                  <a:tcPr marL="2460" marR="2460" marT="246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5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1499</a:t>
                      </a:r>
                    </a:p>
                  </a:txBody>
                  <a:tcPr marL="2460" marR="2460" marT="246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5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21585.6</a:t>
                      </a:r>
                    </a:p>
                  </a:txBody>
                  <a:tcPr marL="2460" marR="2460" marT="246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D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5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4</a:t>
                      </a:r>
                    </a:p>
                  </a:txBody>
                  <a:tcPr marL="2460" marR="2460" marT="246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5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9331</a:t>
                      </a:r>
                    </a:p>
                  </a:txBody>
                  <a:tcPr marL="2460" marR="2460" marT="246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78217520"/>
                  </a:ext>
                </a:extLst>
              </a:tr>
              <a:tr h="19059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5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B0083T231O</a:t>
                      </a:r>
                    </a:p>
                  </a:txBody>
                  <a:tcPr marL="2460" marR="2460" marT="246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5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Belkin Essential Series 4-Socket Surge Protector Universal Socket with 5ft Heavy Duty Cable (Grey)</a:t>
                      </a:r>
                    </a:p>
                  </a:txBody>
                  <a:tcPr marL="2460" marR="2460" marT="246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5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SurgeProtectors</a:t>
                      </a:r>
                    </a:p>
                  </a:txBody>
                  <a:tcPr marL="2460" marR="2460" marT="246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5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1499</a:t>
                      </a:r>
                    </a:p>
                  </a:txBody>
                  <a:tcPr marL="2460" marR="2460" marT="246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5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21585.6</a:t>
                      </a:r>
                    </a:p>
                  </a:txBody>
                  <a:tcPr marL="2460" marR="2460" marT="246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D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5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4</a:t>
                      </a:r>
                    </a:p>
                  </a:txBody>
                  <a:tcPr marL="2460" marR="2460" marT="246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5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20668</a:t>
                      </a:r>
                    </a:p>
                  </a:txBody>
                  <a:tcPr marL="2460" marR="2460" marT="246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52472154"/>
                  </a:ext>
                </a:extLst>
              </a:tr>
              <a:tr h="285883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5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B0085IATT6</a:t>
                      </a:r>
                    </a:p>
                  </a:txBody>
                  <a:tcPr marL="2460" marR="2460" marT="246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5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D-Link DIR-615 Wi-fi Ethernet-N300 Single_band 300Mbps Router, Mobile App Support, Router | AP | Repeater | Client Modes(Black)</a:t>
                      </a:r>
                    </a:p>
                  </a:txBody>
                  <a:tcPr marL="2460" marR="2460" marT="246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5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Routers</a:t>
                      </a:r>
                    </a:p>
                  </a:txBody>
                  <a:tcPr marL="2460" marR="2460" marT="246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5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1800</a:t>
                      </a:r>
                    </a:p>
                  </a:txBody>
                  <a:tcPr marL="2460" marR="2460" marT="246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5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25920</a:t>
                      </a:r>
                    </a:p>
                  </a:txBody>
                  <a:tcPr marL="2460" marR="2460" marT="246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D2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500" b="0" i="0" u="none" strike="noStrike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4</a:t>
                      </a:r>
                    </a:p>
                  </a:txBody>
                  <a:tcPr marL="2460" marR="2460" marT="246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5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22375</a:t>
                      </a:r>
                    </a:p>
                  </a:txBody>
                  <a:tcPr marL="2460" marR="2460" marT="246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3999669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73632287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5D2425-DA85-3E6A-0308-7A9DC9360F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3" name="Google Shape;292;p35">
            <a:extLst>
              <a:ext uri="{FF2B5EF4-FFF2-40B4-BE49-F238E27FC236}">
                <a16:creationId xmlns:a16="http://schemas.microsoft.com/office/drawing/2014/main" id="{F3C64DF9-B858-219B-3A12-5F5BC7520844}"/>
              </a:ext>
            </a:extLst>
          </p:cNvPr>
          <p:cNvGrpSpPr/>
          <p:nvPr/>
        </p:nvGrpSpPr>
        <p:grpSpPr>
          <a:xfrm>
            <a:off x="9043560" y="2520"/>
            <a:ext cx="100800" cy="5138640"/>
            <a:chOff x="9043560" y="2520"/>
            <a:chExt cx="100800" cy="5138640"/>
          </a:xfrm>
        </p:grpSpPr>
        <p:grpSp>
          <p:nvGrpSpPr>
            <p:cNvPr id="24" name="Google Shape;293;p35">
              <a:extLst>
                <a:ext uri="{FF2B5EF4-FFF2-40B4-BE49-F238E27FC236}">
                  <a16:creationId xmlns:a16="http://schemas.microsoft.com/office/drawing/2014/main" id="{E6FBD806-E2DB-EEFD-3232-ED024CCE6518}"/>
                </a:ext>
              </a:extLst>
            </p:cNvPr>
            <p:cNvGrpSpPr/>
            <p:nvPr/>
          </p:nvGrpSpPr>
          <p:grpSpPr>
            <a:xfrm>
              <a:off x="9043560" y="2520"/>
              <a:ext cx="100800" cy="5138640"/>
              <a:chOff x="9043560" y="2520"/>
              <a:chExt cx="100800" cy="5138640"/>
            </a:xfrm>
          </p:grpSpPr>
          <p:sp>
            <p:nvSpPr>
              <p:cNvPr id="25" name="Google Shape;294;p35">
                <a:extLst>
                  <a:ext uri="{FF2B5EF4-FFF2-40B4-BE49-F238E27FC236}">
                    <a16:creationId xmlns:a16="http://schemas.microsoft.com/office/drawing/2014/main" id="{709E254A-094D-7AC5-8A1A-AE10CAB54CFF}"/>
                  </a:ext>
                </a:extLst>
              </p:cNvPr>
              <p:cNvSpPr/>
              <p:nvPr/>
            </p:nvSpPr>
            <p:spPr>
              <a:xfrm>
                <a:off x="9043560" y="3467160"/>
                <a:ext cx="100080" cy="816480"/>
              </a:xfrm>
              <a:prstGeom prst="rect">
                <a:avLst/>
              </a:prstGeom>
              <a:solidFill>
                <a:schemeClr val="accent1"/>
              </a:soli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tIns="91440" bIns="91440" anchor="ctr">
                <a:noAutofit/>
              </a:bodyPr>
              <a:lstStyle/>
              <a:p>
                <a:pPr algn="ctr"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0" u="none" strike="noStrike">
                  <a:solidFill>
                    <a:srgbClr val="FFFFFF"/>
                  </a:solidFill>
                  <a:effectLst/>
                  <a:uFillTx/>
                  <a:latin typeface="OpenSymbol"/>
                </a:endParaRPr>
              </a:p>
            </p:txBody>
          </p:sp>
          <p:sp>
            <p:nvSpPr>
              <p:cNvPr id="26" name="Google Shape;295;p35">
                <a:extLst>
                  <a:ext uri="{FF2B5EF4-FFF2-40B4-BE49-F238E27FC236}">
                    <a16:creationId xmlns:a16="http://schemas.microsoft.com/office/drawing/2014/main" id="{02669342-BC40-4930-2425-E4D0FA1BD1F9}"/>
                  </a:ext>
                </a:extLst>
              </p:cNvPr>
              <p:cNvSpPr/>
              <p:nvPr/>
            </p:nvSpPr>
            <p:spPr>
              <a:xfrm>
                <a:off x="9043560" y="4284360"/>
                <a:ext cx="100080" cy="856800"/>
              </a:xfrm>
              <a:prstGeom prst="rect">
                <a:avLst/>
              </a:prstGeom>
              <a:solidFill>
                <a:schemeClr val="lt2"/>
              </a:soli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tIns="91440" bIns="91440" anchor="ctr">
                <a:noAutofit/>
              </a:bodyPr>
              <a:lstStyle/>
              <a:p>
                <a:pPr algn="ctr"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0" u="none" strike="noStrike">
                  <a:solidFill>
                    <a:srgbClr val="FFFFFF"/>
                  </a:solidFill>
                  <a:effectLst/>
                  <a:uFillTx/>
                  <a:latin typeface="OpenSymbol"/>
                </a:endParaRPr>
              </a:p>
            </p:txBody>
          </p:sp>
          <p:sp>
            <p:nvSpPr>
              <p:cNvPr id="27" name="Google Shape;296;p35">
                <a:extLst>
                  <a:ext uri="{FF2B5EF4-FFF2-40B4-BE49-F238E27FC236}">
                    <a16:creationId xmlns:a16="http://schemas.microsoft.com/office/drawing/2014/main" id="{9DDFA03D-B643-21D2-31C5-E0667F156026}"/>
                  </a:ext>
                </a:extLst>
              </p:cNvPr>
              <p:cNvSpPr/>
              <p:nvPr/>
            </p:nvSpPr>
            <p:spPr>
              <a:xfrm>
                <a:off x="9043560" y="2649960"/>
                <a:ext cx="100080" cy="816480"/>
              </a:xfrm>
              <a:prstGeom prst="rect">
                <a:avLst/>
              </a:prstGeom>
              <a:solidFill>
                <a:schemeClr val="accent2"/>
              </a:soli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tIns="91440" bIns="91440" anchor="ctr">
                <a:noAutofit/>
              </a:bodyPr>
              <a:lstStyle/>
              <a:p>
                <a:pPr algn="ctr"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0" u="none" strike="noStrike">
                  <a:solidFill>
                    <a:srgbClr val="FFFFFF"/>
                  </a:solidFill>
                  <a:effectLst/>
                  <a:uFillTx/>
                  <a:latin typeface="OpenSymbol"/>
                </a:endParaRPr>
              </a:p>
            </p:txBody>
          </p:sp>
          <p:sp>
            <p:nvSpPr>
              <p:cNvPr id="28" name="Google Shape;297;p35">
                <a:extLst>
                  <a:ext uri="{FF2B5EF4-FFF2-40B4-BE49-F238E27FC236}">
                    <a16:creationId xmlns:a16="http://schemas.microsoft.com/office/drawing/2014/main" id="{DE6DE1BB-3A57-CC3F-2E79-DFD81E074AFA}"/>
                  </a:ext>
                </a:extLst>
              </p:cNvPr>
              <p:cNvSpPr/>
              <p:nvPr/>
            </p:nvSpPr>
            <p:spPr>
              <a:xfrm rot="10800000" flipH="1">
                <a:off x="9044280" y="860040"/>
                <a:ext cx="100080" cy="816480"/>
              </a:xfrm>
              <a:prstGeom prst="rect">
                <a:avLst/>
              </a:prstGeom>
              <a:solidFill>
                <a:schemeClr val="accent1"/>
              </a:soli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tIns="91440" bIns="91440" anchor="ctr">
                <a:noAutofit/>
              </a:bodyPr>
              <a:lstStyle/>
              <a:p>
                <a:pPr algn="ctr"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0" u="none" strike="noStrike">
                  <a:solidFill>
                    <a:srgbClr val="FFFFFF"/>
                  </a:solidFill>
                  <a:effectLst/>
                  <a:uFillTx/>
                  <a:latin typeface="OpenSymbol"/>
                </a:endParaRPr>
              </a:p>
            </p:txBody>
          </p:sp>
          <p:sp>
            <p:nvSpPr>
              <p:cNvPr id="29" name="Google Shape;298;p35">
                <a:extLst>
                  <a:ext uri="{FF2B5EF4-FFF2-40B4-BE49-F238E27FC236}">
                    <a16:creationId xmlns:a16="http://schemas.microsoft.com/office/drawing/2014/main" id="{FEDAF7B2-7543-D14D-30F0-12D4BC26E867}"/>
                  </a:ext>
                </a:extLst>
              </p:cNvPr>
              <p:cNvSpPr/>
              <p:nvPr/>
            </p:nvSpPr>
            <p:spPr>
              <a:xfrm rot="10800000" flipH="1">
                <a:off x="9044280" y="2520"/>
                <a:ext cx="100080" cy="856800"/>
              </a:xfrm>
              <a:prstGeom prst="rect">
                <a:avLst/>
              </a:prstGeom>
              <a:solidFill>
                <a:schemeClr val="lt2"/>
              </a:soli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tIns="91440" bIns="91440" anchor="ctr">
                <a:noAutofit/>
              </a:bodyPr>
              <a:lstStyle/>
              <a:p>
                <a:pPr algn="ctr"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0" u="none" strike="noStrike">
                  <a:solidFill>
                    <a:srgbClr val="FFFFFF"/>
                  </a:solidFill>
                  <a:effectLst/>
                  <a:uFillTx/>
                  <a:latin typeface="OpenSymbol"/>
                </a:endParaRPr>
              </a:p>
            </p:txBody>
          </p:sp>
          <p:sp>
            <p:nvSpPr>
              <p:cNvPr id="30" name="Google Shape;299;p35">
                <a:extLst>
                  <a:ext uri="{FF2B5EF4-FFF2-40B4-BE49-F238E27FC236}">
                    <a16:creationId xmlns:a16="http://schemas.microsoft.com/office/drawing/2014/main" id="{2FCA2832-4FBD-230A-2311-CC72D1E3214E}"/>
                  </a:ext>
                </a:extLst>
              </p:cNvPr>
              <p:cNvSpPr/>
              <p:nvPr/>
            </p:nvSpPr>
            <p:spPr>
              <a:xfrm rot="10800000" flipH="1">
                <a:off x="9044280" y="1676880"/>
                <a:ext cx="100080" cy="816480"/>
              </a:xfrm>
              <a:prstGeom prst="rect">
                <a:avLst/>
              </a:prstGeom>
              <a:solidFill>
                <a:schemeClr val="accent2"/>
              </a:solidFill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tIns="91440" bIns="91440" anchor="ctr">
                <a:noAutofit/>
              </a:bodyPr>
              <a:lstStyle/>
              <a:p>
                <a:pPr algn="ctr" defTabSz="914400">
                  <a:lnSpc>
                    <a:spcPct val="100000"/>
                  </a:lnSpc>
                  <a:tabLst>
                    <a:tab pos="0" algn="l"/>
                  </a:tabLst>
                </a:pPr>
                <a:endParaRPr lang="en-US" sz="1800" b="0" u="none" strike="noStrike">
                  <a:solidFill>
                    <a:srgbClr val="FFFFFF"/>
                  </a:solidFill>
                  <a:effectLst/>
                  <a:uFillTx/>
                  <a:latin typeface="OpenSymbol"/>
                </a:endParaRPr>
              </a:p>
            </p:txBody>
          </p:sp>
        </p:grpSp>
        <p:sp>
          <p:nvSpPr>
            <p:cNvPr id="31" name="Google Shape;300;p35">
              <a:extLst>
                <a:ext uri="{FF2B5EF4-FFF2-40B4-BE49-F238E27FC236}">
                  <a16:creationId xmlns:a16="http://schemas.microsoft.com/office/drawing/2014/main" id="{EF113ABB-5E9D-BA43-5B8F-E96D654D18A4}"/>
                </a:ext>
              </a:extLst>
            </p:cNvPr>
            <p:cNvSpPr/>
            <p:nvPr/>
          </p:nvSpPr>
          <p:spPr>
            <a:xfrm>
              <a:off x="9043560" y="2493720"/>
              <a:ext cx="100080" cy="160200"/>
            </a:xfrm>
            <a:prstGeom prst="rect">
              <a:avLst/>
            </a:prstGeom>
            <a:solidFill>
              <a:schemeClr val="dk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80280" bIns="80280" anchor="ctr">
              <a:noAutofit/>
            </a:bodyPr>
            <a:lstStyle/>
            <a:p>
              <a:pPr algn="ctr" defTabSz="914400">
                <a:lnSpc>
                  <a:spcPct val="100000"/>
                </a:lnSpc>
                <a:tabLst>
                  <a:tab pos="0" algn="l"/>
                </a:tabLst>
              </a:pPr>
              <a:r>
                <a:rPr lang="en" sz="1800" b="0" u="none" strike="noStrike">
                  <a:solidFill>
                    <a:schemeClr val="dk1"/>
                  </a:solidFill>
                  <a:effectLst/>
                  <a:uFillTx/>
                  <a:latin typeface="Open Sans"/>
                  <a:ea typeface="Open Sans"/>
                </a:rPr>
                <a:t> </a:t>
              </a: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</p:grpSp>
      <p:sp>
        <p:nvSpPr>
          <p:cNvPr id="32" name="Google Shape;303;p35">
            <a:extLst>
              <a:ext uri="{FF2B5EF4-FFF2-40B4-BE49-F238E27FC236}">
                <a16:creationId xmlns:a16="http://schemas.microsoft.com/office/drawing/2014/main" id="{0DFCCA38-B352-AEE4-1CA3-8A05BF0B28B3}"/>
              </a:ext>
            </a:extLst>
          </p:cNvPr>
          <p:cNvSpPr/>
          <p:nvPr/>
        </p:nvSpPr>
        <p:spPr>
          <a:xfrm>
            <a:off x="828720" y="771480"/>
            <a:ext cx="1447560" cy="47160"/>
          </a:xfrm>
          <a:prstGeom prst="rect">
            <a:avLst/>
          </a:prstGeom>
          <a:solidFill>
            <a:schemeClr val="accent1">
              <a:alpha val="100000"/>
            </a:schemeClr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870823080" tIns="23760" rIns="870823080" bIns="23760" anchor="ctr">
            <a:sp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endParaRPr lang="fr-FR" sz="1800" b="0" u="none" strike="noStrike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33" name="직사각형 32">
            <a:extLst>
              <a:ext uri="{FF2B5EF4-FFF2-40B4-BE49-F238E27FC236}">
                <a16:creationId xmlns:a16="http://schemas.microsoft.com/office/drawing/2014/main" id="{82D505E8-D45C-CD10-7447-53CDBA9A1D00}"/>
              </a:ext>
            </a:extLst>
          </p:cNvPr>
          <p:cNvSpPr/>
          <p:nvPr/>
        </p:nvSpPr>
        <p:spPr>
          <a:xfrm>
            <a:off x="752868" y="2043000"/>
            <a:ext cx="7638264" cy="6379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anchor="t">
            <a:norm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ko-KR" altLang="en-US" sz="3200" b="1" dirty="0">
                <a:solidFill>
                  <a:srgbClr val="0E1D35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감사합니다</a:t>
            </a:r>
            <a:r>
              <a:rPr lang="en-US" altLang="ko-KR" sz="3200" b="1" dirty="0">
                <a:solidFill>
                  <a:srgbClr val="0E1D35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.</a:t>
            </a:r>
            <a:endParaRPr lang="en-US" sz="3200" b="0" u="none" strike="noStrike" dirty="0">
              <a:solidFill>
                <a:srgbClr val="000000"/>
              </a:solidFill>
              <a:effectLst/>
              <a:uFillTx/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290476754"/>
      </p:ext>
    </p:extLst>
  </p:cSld>
  <p:clrMapOvr>
    <a:masterClrMapping/>
  </p:clrMapOvr>
</p:sld>
</file>

<file path=ppt/theme/theme1.xml><?xml version="1.0" encoding="utf-8"?>
<a:theme xmlns:a="http://schemas.openxmlformats.org/drawingml/2006/main" name="-">
  <a:themeElements>
    <a:clrScheme name="Simple Light">
      <a:dk1>
        <a:srgbClr val="0E1D35"/>
      </a:dk1>
      <a:lt1>
        <a:srgbClr val="FAFAFA"/>
      </a:lt1>
      <a:dk2>
        <a:srgbClr val="EFEFEF"/>
      </a:dk2>
      <a:lt2>
        <a:srgbClr val="7C8594"/>
      </a:lt2>
      <a:accent1>
        <a:srgbClr val="2B3B5D"/>
      </a:accent1>
      <a:accent2>
        <a:srgbClr val="15253F"/>
      </a:accent2>
      <a:accent3>
        <a:srgbClr val="FFFFFF"/>
      </a:accent3>
      <a:accent4>
        <a:srgbClr val="FFFFFF"/>
      </a:accent4>
      <a:accent5>
        <a:srgbClr val="FFFFFF"/>
      </a:accent5>
      <a:accent6>
        <a:srgbClr val="FFFFFF"/>
      </a:accent6>
      <a:hlink>
        <a:srgbClr val="0E1D35"/>
      </a:hlink>
      <a:folHlink>
        <a:srgbClr val="0097A7"/>
      </a:folHlink>
    </a:clrScheme>
    <a:fontScheme name="Office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269</TotalTime>
  <Words>5116</Words>
  <Application>Microsoft Office PowerPoint</Application>
  <PresentationFormat>화면 슬라이드 쇼(16:9)</PresentationFormat>
  <Paragraphs>1943</Paragraphs>
  <Slides>20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8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20</vt:i4>
      </vt:variant>
    </vt:vector>
  </HeadingPairs>
  <TitlesOfParts>
    <vt:vector size="29" baseType="lpstr">
      <vt:lpstr>OpenSymbol</vt:lpstr>
      <vt:lpstr>맑은 고딕</vt:lpstr>
      <vt:lpstr>Arial</vt:lpstr>
      <vt:lpstr>Open Sans</vt:lpstr>
      <vt:lpstr>Raleway</vt:lpstr>
      <vt:lpstr>Raleway Medium</vt:lpstr>
      <vt:lpstr>Symbol</vt:lpstr>
      <vt:lpstr>Wingdings</vt:lpstr>
      <vt:lpstr>-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>Microsoft Corporation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표스츄리</cp:lastModifiedBy>
  <cp:revision>77</cp:revision>
  <dcterms:modified xsi:type="dcterms:W3CDTF">2026-09-02T13:16:52Z</dcterms:modified>
</cp:coreProperties>
</file>

<file path=docProps/core0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2026-09-02T08:47:16Z</dcterms:created>
  <dc:creator>Slidesgo AI</dc:creator>
  <dc:description/>
  <dc:language>en-US</dc:language>
  <cp:lastModifiedBy>Unknown Creator</cp:lastModifiedBy>
  <dcterms:modified xsi:type="dcterms:W3CDTF">2026-09-02T08:47:16Z</dcterms:modified>
  <cp:revision>0</cp:revision>
  <dc:subject/>
  <dc:title>Untitled Presentation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Slides">
    <vt:r8>9</vt:r8>
  </property>
  <property fmtid="{D5CDD505-2E9C-101B-9397-08002B2CF9AE}" pid="3" name="SlidesgoGeneratedBy">
    <vt:lpwstr>slidesgo-ai</vt:lpwstr>
  </property>
  <property fmtid="{D5CDD505-2E9C-101B-9397-08002B2CF9AE}" pid="4" name="SlidesgoPresentationUuid">
    <vt:lpwstr>a2a601dd-7887-49bc-918e-056e70231ff4</vt:lpwstr>
  </property>
</Properties>
</file>