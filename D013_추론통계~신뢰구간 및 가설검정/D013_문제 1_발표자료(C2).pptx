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7"/>
  </p:notesMasterIdLst>
  <p:handoutMasterIdLst>
    <p:handoutMasterId r:id="rId18"/>
  </p:handoutMasterIdLst>
  <p:sldIdLst>
    <p:sldId id="281" r:id="rId5"/>
    <p:sldId id="355" r:id="rId6"/>
    <p:sldId id="353" r:id="rId7"/>
    <p:sldId id="283" r:id="rId8"/>
    <p:sldId id="351" r:id="rId9"/>
    <p:sldId id="362" r:id="rId10"/>
    <p:sldId id="366" r:id="rId11"/>
    <p:sldId id="367" r:id="rId12"/>
    <p:sldId id="369" r:id="rId13"/>
    <p:sldId id="363" r:id="rId14"/>
    <p:sldId id="370" r:id="rId15"/>
    <p:sldId id="365" r:id="rId1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02" y="96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75E9C40-2B55-43AB-8539-C48809F2FC17}" type="datetime1">
              <a:rPr lang="en-US" altLang="ko-KR" smtClean="0">
                <a:latin typeface="+mj-ea"/>
                <a:ea typeface="+mj-ea"/>
              </a:rPr>
              <a:t>7/27/2026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61E857-36B8-43F1-9D87-FE508167BCE3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58D25597-25DC-4569-9D2F-FB5CC7243947}" type="datetime1">
              <a:rPr lang="ko-KR" altLang="en-US" smtClean="0"/>
              <a:pPr/>
              <a:t>2026-07-27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BCFAAAB6-A2C6-4A85-A3A1-98EFBA61C967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>
              <a:effectLst/>
              <a:latin typeface="+mj-ea"/>
              <a:ea typeface="+mj-ea"/>
            </a:endParaRPr>
          </a:p>
          <a:p>
            <a:pPr rtl="0"/>
            <a:r>
              <a:rPr lang="en-US" altLang="ko-KR">
                <a:latin typeface="+mj-ea"/>
                <a:ea typeface="+mj-ea"/>
              </a:rPr>
              <a:t>ID=d924773e-9a16-4d6d-9803-8cb819e99682</a:t>
            </a:r>
            <a:r>
              <a:rPr lang="ko-KR" altLang="en-US">
                <a:latin typeface="+mj-ea"/>
                <a:ea typeface="+mj-ea"/>
              </a:rPr>
              <a:t>
</a:t>
            </a:r>
            <a:r>
              <a:rPr lang="en-US" altLang="ko-KR">
                <a:latin typeface="+mj-ea"/>
                <a:ea typeface="+mj-ea"/>
              </a:rPr>
              <a:t>Recipe=text_billboard
Type=TextOnly
Variant=0
FamilyID=AccentBoxWalbaum_Zero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EAA36B1-75F6-458C-B388-8BC01E9857C8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93314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3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85025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4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36031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5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7569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6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84551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7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3020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8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92838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9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4192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10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77325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11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53402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>
              <a:effectLst/>
              <a:latin typeface="+mj-ea"/>
              <a:ea typeface="+mj-ea"/>
            </a:endParaRPr>
          </a:p>
          <a:p>
            <a:pPr rtl="0"/>
            <a:r>
              <a:rPr lang="en-US" altLang="ko-KR">
                <a:latin typeface="+mj-ea"/>
                <a:ea typeface="+mj-ea"/>
              </a:rPr>
              <a:t>ID=d924773e-9a16-4d6d-9803-8cb819e99682</a:t>
            </a:r>
            <a:r>
              <a:rPr lang="ko-KR" altLang="en-US">
                <a:latin typeface="+mj-ea"/>
                <a:ea typeface="+mj-ea"/>
              </a:rPr>
              <a:t>
</a:t>
            </a:r>
            <a:r>
              <a:rPr lang="en-US" altLang="ko-KR">
                <a:latin typeface="+mj-ea"/>
                <a:ea typeface="+mj-ea"/>
              </a:rPr>
              <a:t>Recipe=text_billboard
Type=TextOnly
Variant=0
FamilyID=AccentBoxWalbaum_Zero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EAA36B1-75F6-458C-B388-8BC01E9857C8}" type="slidenum">
              <a:rPr lang="en-US" altLang="ko-KR" smtClean="0">
                <a:latin typeface="+mj-ea"/>
                <a:ea typeface="+mj-ea"/>
              </a:rPr>
              <a:t>12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26507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rtlCol="0" anchor="ctr">
            <a:normAutofit/>
          </a:bodyPr>
          <a:lstStyle>
            <a:lvl1pPr algn="ctr">
              <a:defRPr sz="6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4064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4064" y="3355848"/>
            <a:ext cx="6272784" cy="2825496"/>
          </a:xfrm>
        </p:spPr>
        <p:txBody>
          <a:bodyPr rtlCol="0"/>
          <a:lstStyle>
            <a:lvl1pPr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2648" y="3355848"/>
            <a:ext cx="6272784" cy="2825496"/>
          </a:xfrm>
        </p:spPr>
        <p:txBody>
          <a:bodyPr rtlCol="0"/>
          <a:lstStyle>
            <a:lvl1pPr marL="0" indent="0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rtlCol="0" anchor="ctr">
            <a:normAutofit/>
          </a:bodyPr>
          <a:lstStyle>
            <a:lvl1pPr>
              <a:defRPr sz="5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직사각형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5568" y="2478024"/>
            <a:ext cx="10168128" cy="3694176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rtlCol="0" anchor="ctr">
            <a:normAutofit/>
          </a:bodyPr>
          <a:lstStyle>
            <a:lvl1pPr algn="ctr"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6" name="그림 개체 틀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2" name="그림 개체 틀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33" name="그림 개체 틀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텍스트 개체 틀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38" name="텍스트 개체 틀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39" name="텍스트 개체 틀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40" name="텍스트 개체 틀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41" name="텍스트 개체 틀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직사각형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 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직사각형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내용 개체 틀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그림 개체 틀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8" name="날짜 개체 틀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"/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그림 개체 틀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8" name="날짜 개체 틀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그림 개체 틀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텍스트 개체 틀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텍스트 개체 틀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그림 개체 틀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  <p:sp>
        <p:nvSpPr>
          <p:cNvPr id="24" name="그림 개체 틀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  <p:sp>
        <p:nvSpPr>
          <p:cNvPr id="25" name="그림 개체 틀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68680" y="3429000"/>
            <a:ext cx="3099816" cy="20665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 스타일을 편집하려면 클릭하세요.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ko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1097527"/>
          </a:xfrm>
        </p:spPr>
        <p:txBody>
          <a:bodyPr rtlCol="0">
            <a:normAutofit/>
          </a:bodyPr>
          <a:lstStyle/>
          <a:p>
            <a:pPr algn="l" latinLnBrk="0">
              <a:spcBef>
                <a:spcPts val="1200"/>
              </a:spcBef>
            </a:pPr>
            <a:r>
              <a:rPr lang="ko-KR" altLang="en-US" sz="5400" b="1" i="0" dirty="0">
                <a:solidFill>
                  <a:srgbClr val="1A1918"/>
                </a:solidFill>
                <a:effectLst/>
                <a:latin typeface="Pretendard"/>
              </a:rPr>
              <a:t>문제 </a:t>
            </a:r>
            <a:r>
              <a:rPr lang="en-US" altLang="ko-KR" sz="5400" b="1" i="0" dirty="0">
                <a:solidFill>
                  <a:srgbClr val="1A1918"/>
                </a:solidFill>
                <a:effectLst/>
                <a:latin typeface="Pretendard"/>
              </a:rPr>
              <a:t>1. </a:t>
            </a:r>
            <a:r>
              <a:rPr lang="ko-KR" altLang="en-US" sz="5400" b="1" i="0" dirty="0">
                <a:solidFill>
                  <a:srgbClr val="1A1918"/>
                </a:solidFill>
                <a:effectLst/>
                <a:latin typeface="Pretendard"/>
              </a:rPr>
              <a:t>표본조사 체험하기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en-US" altLang="ko-KR" dirty="0"/>
              <a:t>C2: </a:t>
            </a:r>
            <a:r>
              <a:rPr lang="ko-KR" altLang="en-US" dirty="0" err="1"/>
              <a:t>정호성</a:t>
            </a:r>
            <a:r>
              <a:rPr lang="en-US" altLang="ko-KR" dirty="0"/>
              <a:t>, </a:t>
            </a:r>
            <a:r>
              <a:rPr lang="ko-KR" altLang="en-US" dirty="0" err="1"/>
              <a:t>표시철</a:t>
            </a:r>
            <a:r>
              <a:rPr lang="en-US" altLang="ko-KR" dirty="0"/>
              <a:t>(</a:t>
            </a:r>
            <a:r>
              <a:rPr lang="ko-KR" altLang="en-US" dirty="0"/>
              <a:t>팀장</a:t>
            </a:r>
            <a:r>
              <a:rPr lang="en-US" altLang="ko-KR" dirty="0"/>
              <a:t>), </a:t>
            </a:r>
            <a:r>
              <a:rPr lang="ko-KR" altLang="en-US" dirty="0"/>
              <a:t>전유나</a:t>
            </a:r>
            <a:r>
              <a:rPr lang="en-US" altLang="ko-KR" dirty="0"/>
              <a:t>, </a:t>
            </a:r>
            <a:r>
              <a:rPr lang="ko-KR" altLang="en-US" dirty="0"/>
              <a:t>안나영</a:t>
            </a:r>
            <a:r>
              <a:rPr lang="en-US" altLang="ko-KR" dirty="0"/>
              <a:t>(</a:t>
            </a:r>
            <a:r>
              <a:rPr lang="ko-KR" altLang="en-US" dirty="0"/>
              <a:t>발표</a:t>
            </a:r>
            <a:r>
              <a:rPr lang="en-US" altLang="ko-KR" dirty="0"/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2D2D7-3595-4D39-AC13-F3E2547FF456}"/>
              </a:ext>
            </a:extLst>
          </p:cNvPr>
          <p:cNvSpPr txBox="1"/>
          <p:nvPr/>
        </p:nvSpPr>
        <p:spPr>
          <a:xfrm>
            <a:off x="1924070" y="2715768"/>
            <a:ext cx="8340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0" i="0" dirty="0">
                <a:solidFill>
                  <a:schemeClr val="bg2">
                    <a:lumMod val="50000"/>
                  </a:schemeClr>
                </a:solidFill>
                <a:effectLst/>
                <a:latin typeface="Pretendard Variable"/>
              </a:rPr>
              <a:t>- </a:t>
            </a:r>
            <a:r>
              <a:rPr lang="ko-KR" altLang="en-US" sz="1800" b="0" i="0" dirty="0">
                <a:solidFill>
                  <a:schemeClr val="bg2">
                    <a:lumMod val="50000"/>
                  </a:schemeClr>
                </a:solidFill>
                <a:effectLst/>
                <a:latin typeface="Pretendard Variable"/>
              </a:rPr>
              <a:t>이번 실습에서는 직접 표본을 뽑고</a:t>
            </a:r>
            <a:r>
              <a:rPr lang="en-US" altLang="ko-KR" sz="1800" b="0" i="0" dirty="0">
                <a:solidFill>
                  <a:schemeClr val="bg2">
                    <a:lumMod val="50000"/>
                  </a:schemeClr>
                </a:solidFill>
                <a:effectLst/>
                <a:latin typeface="Pretendard Variable"/>
              </a:rPr>
              <a:t>, </a:t>
            </a:r>
            <a:r>
              <a:rPr lang="ko-KR" altLang="en-US" sz="1800" b="0" i="0" dirty="0">
                <a:solidFill>
                  <a:schemeClr val="bg2">
                    <a:lumMod val="50000"/>
                  </a:schemeClr>
                </a:solidFill>
                <a:effectLst/>
                <a:latin typeface="Pretendard Variable"/>
              </a:rPr>
              <a:t>표본 평균을 구해보며</a:t>
            </a:r>
            <a:r>
              <a:rPr lang="en-US" altLang="ko-KR" sz="1800" b="0" i="0" dirty="0">
                <a:solidFill>
                  <a:schemeClr val="bg2">
                    <a:lumMod val="50000"/>
                  </a:schemeClr>
                </a:solidFill>
                <a:effectLst/>
                <a:latin typeface="Pretendard Variable"/>
              </a:rPr>
              <a:t>,</a:t>
            </a:r>
            <a:br>
              <a:rPr lang="en-US" altLang="ko-KR" sz="1800" b="0" i="0" dirty="0">
                <a:solidFill>
                  <a:schemeClr val="bg2">
                    <a:lumMod val="50000"/>
                  </a:schemeClr>
                </a:solidFill>
                <a:effectLst/>
                <a:latin typeface="Pretendard Variable"/>
              </a:rPr>
            </a:br>
            <a:endParaRPr lang="en-US" altLang="ko-KR" sz="1800" b="0" i="0" dirty="0">
              <a:solidFill>
                <a:schemeClr val="bg2">
                  <a:lumMod val="50000"/>
                </a:schemeClr>
              </a:solidFill>
              <a:effectLst/>
              <a:latin typeface="Pretendard Variable"/>
            </a:endParaRPr>
          </a:p>
          <a:p>
            <a:r>
              <a:rPr lang="en-US" altLang="ko-KR" sz="1800" b="0" i="0" dirty="0">
                <a:solidFill>
                  <a:schemeClr val="bg2">
                    <a:lumMod val="50000"/>
                  </a:schemeClr>
                </a:solidFill>
                <a:effectLst/>
                <a:latin typeface="Pretendard Variable"/>
              </a:rPr>
              <a:t>**“</a:t>
            </a:r>
            <a:r>
              <a:rPr lang="ko-KR" altLang="en-US" sz="1800" b="0" i="0" dirty="0">
                <a:solidFill>
                  <a:schemeClr val="bg2">
                    <a:lumMod val="50000"/>
                  </a:schemeClr>
                </a:solidFill>
                <a:effectLst/>
                <a:latin typeface="Pretendard Variable"/>
              </a:rPr>
              <a:t>표본마다 결과가 달라질 수 있다”**는 추론 통계의 핵심 개념을 체험해봅니다</a:t>
            </a:r>
            <a:r>
              <a:rPr lang="en-US" altLang="ko-KR" sz="1800" b="0" i="0" dirty="0">
                <a:solidFill>
                  <a:schemeClr val="bg2">
                    <a:lumMod val="50000"/>
                  </a:schemeClr>
                </a:solidFill>
                <a:effectLst/>
                <a:latin typeface="Pretendard Variable"/>
              </a:rPr>
              <a:t>.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4A85B-2AC6-4E29-B074-AB92F8FA9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pic>
        <p:nvPicPr>
          <p:cNvPr id="11" name="그림 개체 틀 10" descr="팀 작업 손 제스처">
            <a:extLst>
              <a:ext uri="{FF2B5EF4-FFF2-40B4-BE49-F238E27FC236}">
                <a16:creationId xmlns:a16="http://schemas.microsoft.com/office/drawing/2014/main" id="{41749033-B92E-4E63-82DE-801849DA2B1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" r="16"/>
          <a:stretch/>
        </p:blipFill>
        <p:spPr/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2AB0EB-0819-41F4-99E9-C02FA0DAF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altLang="ko-KR" sz="1600" dirty="0"/>
              <a:t>Q1. </a:t>
            </a:r>
            <a:r>
              <a:rPr lang="ko-KR" altLang="en-US" sz="1600" dirty="0"/>
              <a:t>모집단에서 무작위로 </a:t>
            </a:r>
            <a:r>
              <a:rPr lang="en-US" altLang="ko-KR" sz="1600" dirty="0"/>
              <a:t>30</a:t>
            </a:r>
            <a:r>
              <a:rPr lang="ko-KR" altLang="en-US" sz="1600" dirty="0"/>
              <a:t>명을 뽑아 표본 평균을 구해봅시다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marL="0" indent="0" rtl="0">
              <a:lnSpc>
                <a:spcPct val="110000"/>
              </a:lnSpc>
              <a:buNone/>
            </a:pPr>
            <a:endParaRPr lang="en-US" altLang="ko-KR" sz="1600" dirty="0"/>
          </a:p>
          <a:p>
            <a:pPr marL="0" indent="0" rtl="0">
              <a:lnSpc>
                <a:spcPct val="110000"/>
              </a:lnSpc>
              <a:buNone/>
            </a:pPr>
            <a:r>
              <a:rPr lang="en-US" altLang="ko-KR" sz="1600" dirty="0"/>
              <a:t>Q2. </a:t>
            </a:r>
            <a:r>
              <a:rPr lang="ko-KR" altLang="en-US" sz="1600" dirty="0"/>
              <a:t>이 과정을 </a:t>
            </a:r>
            <a:r>
              <a:rPr lang="en-US" altLang="ko-KR" sz="1600" dirty="0"/>
              <a:t>500</a:t>
            </a:r>
            <a:r>
              <a:rPr lang="ko-KR" altLang="en-US" sz="1600" dirty="0"/>
              <a:t>번 반복하고</a:t>
            </a:r>
            <a:r>
              <a:rPr lang="en-US" altLang="ko-KR" sz="1600" dirty="0"/>
              <a:t>, </a:t>
            </a:r>
            <a:r>
              <a:rPr lang="ko-KR" altLang="en-US" sz="1600" dirty="0"/>
              <a:t>표본 평균을 리스트에 저장합니다</a:t>
            </a:r>
            <a:endParaRPr lang="en-US" altLang="ko-KR" sz="1600" dirty="0"/>
          </a:p>
          <a:p>
            <a:pPr marL="0" indent="0" rtl="0">
              <a:lnSpc>
                <a:spcPct val="110000"/>
              </a:lnSpc>
              <a:buNone/>
            </a:pPr>
            <a:endParaRPr lang="en-US" altLang="ko-KR" sz="1600" dirty="0"/>
          </a:p>
          <a:p>
            <a:pPr marL="0" indent="0" rtl="0">
              <a:lnSpc>
                <a:spcPct val="110000"/>
              </a:lnSpc>
              <a:buNone/>
            </a:pPr>
            <a:r>
              <a:rPr lang="en-US" altLang="ko-KR" sz="1600" dirty="0"/>
              <a:t>Q3. </a:t>
            </a:r>
            <a:r>
              <a:rPr lang="ko-KR" altLang="en-US" sz="1600" dirty="0"/>
              <a:t>표본 평균들의 분포를 히스토그램으로 그려봅시다</a:t>
            </a:r>
            <a:r>
              <a:rPr lang="en-US" altLang="ko-KR" sz="1600" dirty="0"/>
              <a:t>. </a:t>
            </a:r>
            <a:r>
              <a:rPr lang="ko-KR" altLang="en-US" sz="1600" dirty="0"/>
              <a:t>평균선도 함께 표시해 봅시다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4E39E-D8A0-4428-97D8-FE545232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9FA539-2DA6-4197-AA13-56E0C339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D3A99-BC9D-4DC2-BE1B-9E2C93ED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ko-KR" altLang="en-US" sz="4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sz="4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4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  <a:endParaRPr lang="en-US" altLang="ko-KR" sz="4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7544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전체 고객 만족도 분포 </a:t>
            </a:r>
            <a:r>
              <a:rPr lang="en-US" altLang="ko-KR" dirty="0"/>
              <a:t>(</a:t>
            </a:r>
            <a:r>
              <a:rPr lang="ko-KR" altLang="en-US" dirty="0"/>
              <a:t>모집단</a:t>
            </a:r>
            <a:r>
              <a:rPr lang="en-US" altLang="ko-KR" dirty="0"/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65C8300-CD8E-4F35-9B79-C5DE7AD9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89CB7D-E9EE-4CE3-90D7-28AC3662E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223" y="2129944"/>
            <a:ext cx="54197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42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sz="2400" dirty="0"/>
              <a:t>Q1. </a:t>
            </a:r>
            <a:r>
              <a:rPr lang="ko-KR" altLang="en-US" sz="2400" dirty="0"/>
              <a:t>모집단에서 무작위로 </a:t>
            </a:r>
            <a:r>
              <a:rPr lang="en-US" altLang="ko-KR" sz="2400" dirty="0"/>
              <a:t>30</a:t>
            </a:r>
            <a:r>
              <a:rPr lang="ko-KR" altLang="en-US" sz="2400" dirty="0"/>
              <a:t>명을 뽑아 표본 평균을 구해봅시다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54908" y="2236573"/>
            <a:ext cx="109604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ko-KR" b="0" dirty="0">
                <a:effectLst/>
                <a:latin typeface="Consolas" panose="020B0609020204030204" pitchFamily="49" charset="0"/>
              </a:rPr>
              <a:t>sample_1 = df_pop.</a:t>
            </a:r>
            <a:r>
              <a:rPr lang="pt-BR" altLang="ko-KR" b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pt-BR" altLang="ko-KR" dirty="0">
                <a:latin typeface="Consolas" panose="020B0609020204030204" pitchFamily="49" charset="0"/>
              </a:rPr>
              <a:t>(</a:t>
            </a:r>
            <a:r>
              <a:rPr lang="pt-BR" altLang="ko-KR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dirty="0">
                <a:latin typeface="Consolas" panose="020B0609020204030204" pitchFamily="49" charset="0"/>
              </a:rPr>
              <a:t>=</a:t>
            </a:r>
            <a:r>
              <a:rPr lang="pt-BR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pt-BR" altLang="ko-KR" dirty="0">
                <a:latin typeface="Consolas" panose="020B0609020204030204" pitchFamily="49" charset="0"/>
              </a:rPr>
              <a:t>)</a:t>
            </a:r>
          </a:p>
          <a:p>
            <a:endParaRPr lang="pt-BR" altLang="ko-KR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chemeClr val="accent4"/>
                </a:solidFill>
                <a:latin typeface="Consolas" panose="020B0609020204030204" pitchFamily="49" charset="0"/>
              </a:rPr>
              <a:t>f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모집단 </a:t>
            </a:r>
            <a:r>
              <a:rPr lang="en-US" altLang="ko-KR" dirty="0" err="1">
                <a:solidFill>
                  <a:srgbClr val="00B0F0"/>
                </a:solidFill>
                <a:latin typeface="Consolas" panose="020B0609020204030204" pitchFamily="49" charset="0"/>
              </a:rPr>
              <a:t>df_pop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의 평균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dirty="0" err="1">
                <a:latin typeface="Consolas" panose="020B0609020204030204" pitchFamily="49" charset="0"/>
              </a:rPr>
              <a:t>df_pop.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mean</a:t>
            </a:r>
            <a:r>
              <a:rPr lang="en-US" altLang="ko-KR" dirty="0">
                <a:latin typeface="Consolas" panose="020B0609020204030204" pitchFamily="49" charset="0"/>
              </a:rPr>
              <a:t>().</a:t>
            </a: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round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</a:rPr>
              <a:t>3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  <a:endParaRPr lang="en-US" altLang="ko-KR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표본 </a:t>
            </a:r>
            <a:r>
              <a:rPr lang="en-US" altLang="ko-KR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sample 1</a:t>
            </a:r>
            <a:r>
              <a:rPr lang="ko-KR" altLang="en-US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의 평균</a:t>
            </a:r>
            <a:r>
              <a:rPr lang="en-US" altLang="ko-KR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dirty="0">
                <a:solidFill>
                  <a:schemeClr val="accent4"/>
                </a:solidFill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sample_1</a:t>
            </a:r>
            <a:r>
              <a:rPr lang="en-US" altLang="ko-KR" dirty="0"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mean</a:t>
            </a:r>
            <a:r>
              <a:rPr lang="en-US" altLang="ko-KR" dirty="0">
                <a:latin typeface="Consolas" panose="020B0609020204030204" pitchFamily="49" charset="0"/>
              </a:rPr>
              <a:t>().</a:t>
            </a: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round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</a:rPr>
              <a:t>3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chemeClr val="accent4"/>
                </a:solidFill>
                <a:latin typeface="Consolas" panose="020B0609020204030204" pitchFamily="49" charset="0"/>
              </a:rPr>
              <a:t>}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r>
              <a:rPr lang="ko-KR" altLang="en-US" b="1" dirty="0">
                <a:latin typeface="Consolas" panose="020B0609020204030204" pitchFamily="49" charset="0"/>
              </a:rPr>
              <a:t>모집단 </a:t>
            </a:r>
            <a:r>
              <a:rPr lang="en-US" altLang="ko-KR" b="1" dirty="0" err="1">
                <a:latin typeface="Consolas" panose="020B0609020204030204" pitchFamily="49" charset="0"/>
              </a:rPr>
              <a:t>df_pop</a:t>
            </a:r>
            <a:r>
              <a:rPr lang="ko-KR" altLang="en-US" b="1" dirty="0">
                <a:latin typeface="Consolas" panose="020B0609020204030204" pitchFamily="49" charset="0"/>
              </a:rPr>
              <a:t>의 평균</a:t>
            </a:r>
            <a:r>
              <a:rPr lang="en-US" altLang="ko-KR" b="1" dirty="0">
                <a:latin typeface="Consolas" panose="020B0609020204030204" pitchFamily="49" charset="0"/>
              </a:rPr>
              <a:t>: score </a:t>
            </a:r>
            <a:r>
              <a:rPr lang="en-US" altLang="ko-KR" b="1" i="0" dirty="0">
                <a:solidFill>
                  <a:srgbClr val="27262E"/>
                </a:solidFill>
                <a:effectLst/>
                <a:latin typeface="Pretendard Variable"/>
              </a:rPr>
              <a:t>7.495</a:t>
            </a:r>
          </a:p>
          <a:p>
            <a:r>
              <a:rPr lang="ko-KR" altLang="en-US" b="1" dirty="0">
                <a:latin typeface="Consolas" panose="020B0609020204030204" pitchFamily="49" charset="0"/>
              </a:rPr>
              <a:t>표본 </a:t>
            </a:r>
            <a:r>
              <a:rPr lang="en-US" altLang="ko-KR" b="1" dirty="0">
                <a:latin typeface="Consolas" panose="020B0609020204030204" pitchFamily="49" charset="0"/>
              </a:rPr>
              <a:t>sample 1</a:t>
            </a:r>
            <a:r>
              <a:rPr lang="ko-KR" altLang="en-US" b="1" dirty="0">
                <a:latin typeface="Consolas" panose="020B0609020204030204" pitchFamily="49" charset="0"/>
              </a:rPr>
              <a:t>의 평균</a:t>
            </a:r>
            <a:r>
              <a:rPr lang="en-US" altLang="ko-KR" b="1" dirty="0">
                <a:latin typeface="Consolas" panose="020B0609020204030204" pitchFamily="49" charset="0"/>
              </a:rPr>
              <a:t>: score </a:t>
            </a:r>
            <a:r>
              <a:rPr lang="en-US" altLang="ko-KR" b="1" i="0" dirty="0">
                <a:solidFill>
                  <a:srgbClr val="27262E"/>
                </a:solidFill>
                <a:effectLst/>
                <a:latin typeface="Pretendard Variable"/>
              </a:rPr>
              <a:t>7.481</a:t>
            </a:r>
            <a:endParaRPr lang="en-US" altLang="ko-KR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35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sz="2400" dirty="0"/>
              <a:t>Q2. </a:t>
            </a:r>
            <a:r>
              <a:rPr lang="ko-KR" altLang="en-US" sz="2400" dirty="0"/>
              <a:t>이 과정을 </a:t>
            </a:r>
            <a:r>
              <a:rPr lang="en-US" altLang="ko-KR" sz="2400" dirty="0"/>
              <a:t>500</a:t>
            </a:r>
            <a:r>
              <a:rPr lang="ko-KR" altLang="en-US" sz="2400" dirty="0"/>
              <a:t>번 반복하고</a:t>
            </a:r>
            <a:r>
              <a:rPr lang="en-US" altLang="ko-KR" sz="2400" dirty="0"/>
              <a:t>, </a:t>
            </a:r>
            <a:r>
              <a:rPr lang="ko-KR" altLang="en-US" sz="2400" dirty="0"/>
              <a:t>표본 평균을 리스트에 저장합니다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54908" y="2236573"/>
            <a:ext cx="109604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</a:rPr>
              <a:t>range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dirty="0"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latin typeface="Consolas" panose="020B0609020204030204" pitchFamily="49" charset="0"/>
              </a:rPr>
              <a:t>sample_1 = </a:t>
            </a:r>
            <a:r>
              <a:rPr lang="en-US" altLang="ko-KR" dirty="0" err="1">
                <a:latin typeface="Consolas" panose="020B0609020204030204" pitchFamily="49" charset="0"/>
              </a:rPr>
              <a:t>df_pop.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sample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FFC000"/>
                </a:solidFill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30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latin typeface="Consolas" panose="020B0609020204030204" pitchFamily="49" charset="0"/>
              </a:rPr>
              <a:t>sample_500 = sample_1[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"score"</a:t>
            </a:r>
            <a:r>
              <a:rPr lang="en-US" altLang="ko-KR" dirty="0">
                <a:latin typeface="Consolas" panose="020B0609020204030204" pitchFamily="49" charset="0"/>
              </a:rPr>
              <a:t>].</a:t>
            </a: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mean</a:t>
            </a:r>
            <a:r>
              <a:rPr lang="en-US" altLang="ko-KR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dirty="0" err="1">
                <a:latin typeface="Consolas" panose="020B0609020204030204" pitchFamily="49" charset="0"/>
              </a:rPr>
              <a:t>sample_mean.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append</a:t>
            </a:r>
            <a:r>
              <a:rPr lang="en-US" altLang="ko-KR" dirty="0">
                <a:latin typeface="Consolas" panose="020B0609020204030204" pitchFamily="49" charset="0"/>
              </a:rPr>
              <a:t>(sample_500)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chemeClr val="accent4"/>
                </a:solidFill>
                <a:latin typeface="Consolas" panose="020B0609020204030204" pitchFamily="49" charset="0"/>
              </a:rPr>
              <a:t>f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총</a:t>
            </a:r>
            <a:r>
              <a:rPr lang="ko-KR" alt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accent4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len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</a:rPr>
              <a:t>sample_mean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chemeClr val="accent4"/>
                </a:solidFill>
                <a:latin typeface="Consolas" panose="020B0609020204030204" pitchFamily="49" charset="0"/>
              </a:rPr>
              <a:t>}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개의 표본 평균이 저장되었습니다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</a:rPr>
              <a:t>sample_mean</a:t>
            </a:r>
            <a:r>
              <a:rPr lang="en-US" altLang="ko-KR" dirty="0">
                <a:latin typeface="Consolas" panose="020B0609020204030204" pitchFamily="49" charset="0"/>
              </a:rPr>
              <a:t>[: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5</a:t>
            </a:r>
            <a:r>
              <a:rPr lang="en-US" altLang="ko-KR" dirty="0">
                <a:latin typeface="Consolas" panose="020B0609020204030204" pitchFamily="49" charset="0"/>
              </a:rPr>
              <a:t>])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dirty="0">
                <a:latin typeface="Consolas" panose="020B0609020204030204" pitchFamily="49" charset="0"/>
              </a:rPr>
              <a:t># </a:t>
            </a:r>
            <a:r>
              <a:rPr lang="ko-KR" altLang="en-US" dirty="0">
                <a:latin typeface="Consolas" panose="020B0609020204030204" pitchFamily="49" charset="0"/>
              </a:rPr>
              <a:t>처음 </a:t>
            </a:r>
            <a:r>
              <a:rPr lang="en-US" altLang="ko-KR" dirty="0">
                <a:latin typeface="Consolas" panose="020B0609020204030204" pitchFamily="49" charset="0"/>
              </a:rPr>
              <a:t>5</a:t>
            </a:r>
            <a:r>
              <a:rPr lang="ko-KR" altLang="en-US" dirty="0">
                <a:latin typeface="Consolas" panose="020B0609020204030204" pitchFamily="49" charset="0"/>
              </a:rPr>
              <a:t>개만 확인</a:t>
            </a:r>
            <a:endParaRPr lang="en-US" altLang="ko-KR" dirty="0">
              <a:latin typeface="Consolas" panose="020B0609020204030204" pitchFamily="49" charset="0"/>
            </a:endParaRP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r>
              <a:rPr lang="ko-KR" altLang="en-US" b="1" dirty="0">
                <a:latin typeface="Consolas" panose="020B0609020204030204" pitchFamily="49" charset="0"/>
              </a:rPr>
              <a:t>총 </a:t>
            </a:r>
            <a:r>
              <a:rPr lang="en-US" altLang="ko-KR" b="1" dirty="0">
                <a:latin typeface="Consolas" panose="020B0609020204030204" pitchFamily="49" charset="0"/>
              </a:rPr>
              <a:t>500</a:t>
            </a:r>
            <a:r>
              <a:rPr lang="ko-KR" altLang="en-US" b="1" dirty="0">
                <a:latin typeface="Consolas" panose="020B0609020204030204" pitchFamily="49" charset="0"/>
              </a:rPr>
              <a:t>개의 표본 평균이 저장되었습니다</a:t>
            </a:r>
            <a:endParaRPr lang="en-US" altLang="ko-KR" b="1" dirty="0">
              <a:latin typeface="Consolas" panose="020B0609020204030204" pitchFamily="49" charset="0"/>
            </a:endParaRPr>
          </a:p>
          <a:p>
            <a:endParaRPr lang="en-US" altLang="ko-KR" b="1" dirty="0">
              <a:latin typeface="Consolas" panose="020B0609020204030204" pitchFamily="49" charset="0"/>
            </a:endParaRPr>
          </a:p>
          <a:p>
            <a:r>
              <a:rPr lang="en-US" altLang="ko-KR" b="1" dirty="0">
                <a:latin typeface="Consolas" panose="020B0609020204030204" pitchFamily="49" charset="0"/>
              </a:rPr>
              <a:t>[np.float64(7.305367842087565), np.float64(7.1460560785037215), np.float64(7.176004615754338), np.float64(7.242395018374406), np.float64(7.325996128871713)]</a:t>
            </a:r>
          </a:p>
          <a:p>
            <a:endParaRPr lang="ko-KR" altLang="en-US" dirty="0">
              <a:latin typeface="Consolas" panose="020B0609020204030204" pitchFamily="49" charset="0"/>
            </a:endParaRPr>
          </a:p>
          <a:p>
            <a:endParaRPr lang="en-US" altLang="ko-K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848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sz="2400" dirty="0"/>
              <a:t>Q3. </a:t>
            </a:r>
            <a:r>
              <a:rPr lang="ko-KR" altLang="en-US" sz="2400" dirty="0"/>
              <a:t>표본 평균들의 분포를 히스토그램으로 그려봅시다</a:t>
            </a:r>
            <a:r>
              <a:rPr lang="en-US" altLang="ko-KR" sz="2400" dirty="0"/>
              <a:t>. </a:t>
            </a:r>
            <a:r>
              <a:rPr lang="ko-KR" altLang="en-US" sz="2400" dirty="0"/>
              <a:t>평균선도 함께 표시해 봅시다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54908" y="2236573"/>
            <a:ext cx="109604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Consolas" panose="020B0609020204030204" pitchFamily="49" charset="0"/>
              </a:rPr>
              <a:t>mean_of_means</a:t>
            </a:r>
            <a:r>
              <a:rPr lang="en-US" altLang="ko-KR" dirty="0">
                <a:latin typeface="Consolas" panose="020B0609020204030204" pitchFamily="49" charset="0"/>
              </a:rPr>
              <a:t> = </a:t>
            </a:r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mean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</a:rPr>
              <a:t>sample_mean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dirty="0">
                <a:latin typeface="Consolas" panose="020B0609020204030204" pitchFamily="49" charset="0"/>
              </a:rPr>
              <a:t>fig, ax = </a:t>
            </a:r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dirty="0" err="1"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subplots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altLang="ko-KR" dirty="0">
                <a:latin typeface="Consolas" panose="020B0609020204030204" pitchFamily="49" charset="0"/>
              </a:rPr>
              <a:t>=(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8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5</a:t>
            </a:r>
            <a:r>
              <a:rPr lang="en-US" altLang="ko-KR" dirty="0">
                <a:latin typeface="Consolas" panose="020B0609020204030204" pitchFamily="49" charset="0"/>
              </a:rPr>
              <a:t>))</a:t>
            </a:r>
          </a:p>
          <a:p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</a:rPr>
              <a:t>sns</a:t>
            </a:r>
            <a:r>
              <a:rPr lang="en-US" altLang="ko-K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histplot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</a:rPr>
              <a:t>sample_mean</a:t>
            </a:r>
            <a:r>
              <a:rPr lang="en-US" altLang="ko-KR" dirty="0"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bins</a:t>
            </a:r>
            <a:r>
              <a:rPr lang="en-US" altLang="ko-KR" dirty="0"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30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kde</a:t>
            </a:r>
            <a:r>
              <a:rPr lang="en-US" altLang="ko-KR" dirty="0"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dirty="0"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altLang="ko-KR" dirty="0">
                <a:latin typeface="Consolas" panose="020B0609020204030204" pitchFamily="49" charset="0"/>
              </a:rPr>
              <a:t>=ax)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dirty="0" err="1">
                <a:latin typeface="Consolas" panose="020B0609020204030204" pitchFamily="49" charset="0"/>
              </a:rPr>
              <a:t>ax.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axvline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</a:rPr>
              <a:t>mean_of_means</a:t>
            </a:r>
            <a:r>
              <a:rPr lang="en-US" altLang="ko-KR" dirty="0"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="red"</a:t>
            </a:r>
            <a:r>
              <a:rPr lang="en-US" altLang="ko-KR" dirty="0"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linestyle</a:t>
            </a:r>
            <a:r>
              <a:rPr lang="en-US" altLang="ko-KR" dirty="0"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"--"</a:t>
            </a:r>
            <a:r>
              <a:rPr lang="en-US" altLang="ko-KR" dirty="0"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altLang="ko-KR" dirty="0"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표본 평균들의 평균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dirty="0">
                <a:latin typeface="Consolas" panose="020B0609020204030204" pitchFamily="49" charset="0"/>
              </a:rPr>
              <a:t>mean_of_means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:.3f}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400" dirty="0">
                <a:latin typeface="Consolas" panose="020B0609020204030204" pitchFamily="49" charset="0"/>
              </a:rPr>
              <a:t># </a:t>
            </a:r>
            <a:r>
              <a:rPr lang="ko-KR" altLang="en-US" sz="1400" dirty="0">
                <a:latin typeface="Consolas" panose="020B0609020204030204" pitchFamily="49" charset="0"/>
              </a:rPr>
              <a:t>수정</a:t>
            </a:r>
            <a:r>
              <a:rPr lang="en-US" altLang="ko-KR" sz="1400" dirty="0">
                <a:latin typeface="Consolas" panose="020B0609020204030204" pitchFamily="49" charset="0"/>
              </a:rPr>
              <a:t>: </a:t>
            </a:r>
            <a:r>
              <a:rPr lang="en-US" altLang="ko-KR" sz="1400" dirty="0" err="1">
                <a:latin typeface="Consolas" panose="020B0609020204030204" pitchFamily="49" charset="0"/>
              </a:rPr>
              <a:t>mean_of_means</a:t>
            </a:r>
            <a:r>
              <a:rPr lang="ko-KR" altLang="en-US" sz="1400" dirty="0">
                <a:latin typeface="Consolas" panose="020B0609020204030204" pitchFamily="49" charset="0"/>
              </a:rPr>
              <a:t>로 통일</a:t>
            </a:r>
            <a:endParaRPr lang="ko-KR" altLang="en-US" dirty="0"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dirty="0" err="1">
                <a:latin typeface="Consolas" panose="020B0609020204030204" pitchFamily="49" charset="0"/>
              </a:rPr>
              <a:t>ax.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set_title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("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표본 평균들의 분포 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(500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회 반복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)"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dirty="0" err="1">
                <a:latin typeface="Consolas" panose="020B0609020204030204" pitchFamily="49" charset="0"/>
              </a:rPr>
              <a:t>ax.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set_xlabel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("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표본 평균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dirty="0" err="1">
                <a:latin typeface="Consolas" panose="020B0609020204030204" pitchFamily="49" charset="0"/>
              </a:rPr>
              <a:t>ax.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set_ylabel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빈도수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dirty="0" err="1">
                <a:latin typeface="Consolas" panose="020B0609020204030204" pitchFamily="49" charset="0"/>
              </a:rPr>
              <a:t>ax.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legend</a:t>
            </a:r>
            <a:r>
              <a:rPr lang="en-US" altLang="ko-KR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dirty="0" err="1"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tight_layout</a:t>
            </a:r>
            <a:r>
              <a:rPr lang="en-US" altLang="ko-KR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dirty="0" err="1"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show</a:t>
            </a:r>
            <a:r>
              <a:rPr lang="en-US" altLang="ko-KR" dirty="0">
                <a:latin typeface="Consolas" panose="020B0609020204030204" pitchFamily="49" charset="0"/>
              </a:rPr>
              <a:t>()</a:t>
            </a:r>
          </a:p>
          <a:p>
            <a:endParaRPr lang="ko-KR" altLang="en-US" dirty="0">
              <a:latin typeface="Consolas" panose="020B0609020204030204" pitchFamily="49" charset="0"/>
            </a:endParaRPr>
          </a:p>
          <a:p>
            <a:endParaRPr lang="en-US" altLang="ko-K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85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 평균들의 분포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(500</a:t>
            </a:r>
            <a:r>
              <a:rPr lang="ko-KR" altLang="en-US" dirty="0"/>
              <a:t>회 반복</a:t>
            </a:r>
            <a:r>
              <a:rPr lang="en-US" altLang="ko-KR" dirty="0"/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65C8300-CD8E-4F35-9B79-C5DE7AD9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0B38D2-CEFC-4D34-9368-9B2548C1C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998" y="2054225"/>
            <a:ext cx="7515225" cy="436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48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ko-KR" altLang="en-US" sz="2400" dirty="0"/>
              <a:t>🧠 데이터를 어떻게 읽을까요</a:t>
            </a:r>
            <a:r>
              <a:rPr lang="en-US" altLang="ko-KR" sz="2400" dirty="0"/>
              <a:t>?</a:t>
            </a:r>
            <a:br>
              <a:rPr lang="en-US" altLang="ko-KR" sz="2400" dirty="0"/>
            </a:b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15778" y="2109033"/>
            <a:ext cx="1096044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/>
              <a:t>표본 평균들은 어떤 값 주변에 많이 분포해 있나요</a:t>
            </a:r>
            <a:r>
              <a:rPr lang="en-US" altLang="ko-KR" sz="1800" b="1" dirty="0"/>
              <a:t>? </a:t>
            </a:r>
            <a:r>
              <a:rPr lang="ko-KR" altLang="en-US" sz="1800" b="1" dirty="0"/>
              <a:t>이 값은 전체 모집단 평균과 얼마나 </a:t>
            </a:r>
            <a:r>
              <a:rPr lang="ko-KR" altLang="en-US" sz="1800" b="1" dirty="0" err="1"/>
              <a:t>비슷한가요</a:t>
            </a:r>
            <a:r>
              <a:rPr lang="en-US" altLang="ko-KR" sz="1800" b="1" dirty="0"/>
              <a:t>?</a:t>
            </a:r>
            <a:endParaRPr lang="en-US" altLang="ko-KR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ko-KR" altLang="en-US" dirty="0"/>
              <a:t>▶️ 표본 평균들은 모집단 평균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7.48) </a:t>
            </a:r>
            <a:r>
              <a:rPr lang="ko-KR" altLang="en-US" dirty="0"/>
              <a:t>근처에 밀집되어 분포하며</a:t>
            </a:r>
            <a:r>
              <a:rPr lang="en-US" altLang="ko-KR" dirty="0"/>
              <a:t>, </a:t>
            </a:r>
            <a:r>
              <a:rPr lang="ko-KR" altLang="en-US" dirty="0"/>
              <a:t>그 차이는 </a:t>
            </a:r>
            <a:r>
              <a:rPr lang="en-US" altLang="ko-KR" dirty="0"/>
              <a:t>0.01 </a:t>
            </a:r>
            <a:r>
              <a:rPr lang="ko-KR" altLang="en-US" dirty="0"/>
              <a:t>이내로 사실상 거의 일치한다</a:t>
            </a:r>
            <a:r>
              <a:rPr lang="en-US" altLang="ko-KR" dirty="0"/>
              <a:t>.</a:t>
            </a:r>
          </a:p>
          <a:p>
            <a:pPr>
              <a:spcBef>
                <a:spcPts val="600"/>
              </a:spcBef>
            </a:pPr>
            <a:r>
              <a:rPr lang="ko-KR" altLang="en-US" dirty="0"/>
              <a:t>이는 </a:t>
            </a:r>
            <a:r>
              <a:rPr lang="en-US" altLang="ko-KR" dirty="0"/>
              <a:t>‘</a:t>
            </a:r>
            <a:r>
              <a:rPr lang="ko-KR" altLang="en-US" dirty="0"/>
              <a:t>표본평균의 </a:t>
            </a:r>
            <a:r>
              <a:rPr lang="ko-KR" altLang="en-US" dirty="0" err="1"/>
              <a:t>기댓값이</a:t>
            </a:r>
            <a:r>
              <a:rPr lang="ko-KR" altLang="en-US" dirty="0"/>
              <a:t> 모집단 평균과 같다</a:t>
            </a:r>
            <a:r>
              <a:rPr lang="en-US" altLang="ko-KR" dirty="0"/>
              <a:t>’</a:t>
            </a:r>
            <a:r>
              <a:rPr lang="ko-KR" altLang="en-US" dirty="0"/>
              <a:t>는 통계학의 기본 성질</a:t>
            </a:r>
            <a:r>
              <a:rPr lang="en-US" altLang="ko-KR" dirty="0"/>
              <a:t>(</a:t>
            </a:r>
            <a:r>
              <a:rPr lang="ko-KR" altLang="en-US" b="0" i="0" dirty="0">
                <a:solidFill>
                  <a:srgbClr val="27262E"/>
                </a:solidFill>
                <a:effectLst/>
                <a:latin typeface="Pretendard Variable"/>
              </a:rPr>
              <a:t>비편향성</a:t>
            </a:r>
            <a:r>
              <a:rPr lang="en-US" altLang="ko-KR" dirty="0"/>
              <a:t>)</a:t>
            </a:r>
            <a:r>
              <a:rPr lang="ko-KR" altLang="en-US" dirty="0"/>
              <a:t>을 보여주는 결과이며</a:t>
            </a:r>
            <a:r>
              <a:rPr lang="en-US" altLang="ko-KR" dirty="0"/>
              <a:t>, </a:t>
            </a:r>
            <a:r>
              <a:rPr lang="ko-KR" altLang="en-US" dirty="0"/>
              <a:t>반복 횟수가 많아질수록 표본 평균들의 평균이 모집단 평균에 더욱 정확히 근접한다</a:t>
            </a:r>
            <a:r>
              <a:rPr lang="en-US" altLang="ko-KR" dirty="0"/>
              <a:t>.</a:t>
            </a:r>
          </a:p>
          <a:p>
            <a:endParaRPr lang="en-US" altLang="ko-KR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ko-KR" altLang="en-US" b="1" dirty="0"/>
              <a:t>표본을 </a:t>
            </a:r>
            <a:r>
              <a:rPr lang="en-US" altLang="ko-KR" b="1" dirty="0"/>
              <a:t>1</a:t>
            </a:r>
            <a:r>
              <a:rPr lang="ko-KR" altLang="en-US" b="1" dirty="0"/>
              <a:t>번 뽑았을 때와 </a:t>
            </a:r>
            <a:r>
              <a:rPr lang="en-US" altLang="ko-KR" b="1" dirty="0"/>
              <a:t>500</a:t>
            </a:r>
            <a:r>
              <a:rPr lang="ko-KR" altLang="en-US" b="1" dirty="0"/>
              <a:t>번을 반복해서 뽑았을 때</a:t>
            </a:r>
            <a:r>
              <a:rPr lang="en-US" altLang="ko-KR" b="1" dirty="0"/>
              <a:t>, </a:t>
            </a:r>
            <a:r>
              <a:rPr lang="ko-KR" altLang="en-US" b="1" dirty="0"/>
              <a:t>표본 평균의 분포나 신뢰성에는 어떤 차이가 있나요</a:t>
            </a:r>
            <a:r>
              <a:rPr lang="en-US" altLang="ko-KR" b="1" dirty="0"/>
              <a:t>?</a:t>
            </a:r>
            <a:endParaRPr lang="en-US" altLang="ko-KR" dirty="0"/>
          </a:p>
          <a:p>
            <a:pPr>
              <a:spcBef>
                <a:spcPts val="600"/>
              </a:spcBef>
            </a:pPr>
            <a:r>
              <a:rPr lang="ko-KR" altLang="en-US" dirty="0"/>
              <a:t>▶️ 표본을 </a:t>
            </a:r>
            <a:r>
              <a:rPr lang="en-US" altLang="ko-KR" dirty="0"/>
              <a:t>1</a:t>
            </a:r>
            <a:r>
              <a:rPr lang="ko-KR" altLang="en-US" dirty="0"/>
              <a:t>번만 뽑으면 그 값 하나만 얻게 되므로</a:t>
            </a:r>
            <a:r>
              <a:rPr lang="en-US" altLang="ko-KR" dirty="0"/>
              <a:t>, </a:t>
            </a:r>
            <a:r>
              <a:rPr lang="ko-KR" altLang="en-US" dirty="0"/>
              <a:t>이 값이 우연히 크거나 작게 나온 것인지</a:t>
            </a:r>
            <a:r>
              <a:rPr lang="en-US" altLang="ko-KR" dirty="0"/>
              <a:t>, </a:t>
            </a:r>
            <a:r>
              <a:rPr lang="ko-KR" altLang="en-US" dirty="0"/>
              <a:t>모집단을 얼마나 잘 대표하는지 판단할 근거가 없다</a:t>
            </a:r>
            <a:r>
              <a:rPr lang="en-US" altLang="ko-KR" dirty="0"/>
              <a:t>.</a:t>
            </a:r>
          </a:p>
          <a:p>
            <a:pPr>
              <a:spcBef>
                <a:spcPts val="600"/>
              </a:spcBef>
            </a:pPr>
            <a:r>
              <a:rPr lang="ko-KR" altLang="en-US" dirty="0"/>
              <a:t>반면 </a:t>
            </a:r>
            <a:r>
              <a:rPr lang="en-US" altLang="ko-KR" dirty="0"/>
              <a:t>500</a:t>
            </a:r>
            <a:r>
              <a:rPr lang="ko-KR" altLang="en-US" dirty="0"/>
              <a:t>번 반복하면 표본 평균들이 이루는 </a:t>
            </a:r>
            <a:r>
              <a:rPr lang="en-US" altLang="ko-KR" dirty="0"/>
              <a:t>‘</a:t>
            </a:r>
            <a:r>
              <a:rPr lang="ko-KR" altLang="en-US" dirty="0"/>
              <a:t>분포</a:t>
            </a:r>
            <a:r>
              <a:rPr lang="en-US" altLang="ko-KR" dirty="0"/>
              <a:t>’</a:t>
            </a:r>
            <a:r>
              <a:rPr lang="ko-KR" altLang="en-US" dirty="0"/>
              <a:t>를 직접 확인할 수 있어</a:t>
            </a:r>
            <a:r>
              <a:rPr lang="en-US" altLang="ko-KR" dirty="0"/>
              <a:t>, </a:t>
            </a:r>
            <a:r>
              <a:rPr lang="ko-KR" altLang="en-US" dirty="0"/>
              <a:t>표준오차</a:t>
            </a:r>
            <a:r>
              <a:rPr lang="en-US" altLang="ko-KR" dirty="0"/>
              <a:t>(</a:t>
            </a:r>
            <a:r>
              <a:rPr lang="ko-KR" altLang="en-US" dirty="0"/>
              <a:t>변동성</a:t>
            </a:r>
            <a:r>
              <a:rPr lang="en-US" altLang="ko-KR" dirty="0"/>
              <a:t>)</a:t>
            </a:r>
            <a:r>
              <a:rPr lang="ko-KR" altLang="en-US" dirty="0"/>
              <a:t>를 계산하고 추정의 정밀도를 정량적으로 파악할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700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ko-KR" altLang="en-US" sz="2400" dirty="0"/>
              <a:t>🧠 데이터를 어떻게 읽을까요</a:t>
            </a:r>
            <a:r>
              <a:rPr lang="en-US" altLang="ko-KR" sz="2400" dirty="0"/>
              <a:t>?</a:t>
            </a:r>
            <a:br>
              <a:rPr lang="en-US" altLang="ko-KR" sz="2400" dirty="0"/>
            </a:b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66784" y="2129695"/>
            <a:ext cx="10960443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친구가 다른 표본을 뽑았다면 같은 평균이 나왔을까요</a:t>
            </a:r>
            <a:r>
              <a:rPr lang="en-US" altLang="ko-KR" b="1" dirty="0"/>
              <a:t>? </a:t>
            </a:r>
            <a:r>
              <a:rPr lang="ko-KR" altLang="en-US" b="1" dirty="0"/>
              <a:t>비슷한 결과가 나왔더라도 완전히 같지 않았다면</a:t>
            </a:r>
            <a:r>
              <a:rPr lang="en-US" altLang="ko-KR" b="1" dirty="0"/>
              <a:t>, </a:t>
            </a:r>
            <a:r>
              <a:rPr lang="ko-KR" altLang="en-US" b="1" dirty="0"/>
              <a:t>그 이유는 무엇일까요</a:t>
            </a:r>
            <a:r>
              <a:rPr lang="en-US" altLang="ko-KR" b="1" dirty="0"/>
              <a:t>?</a:t>
            </a:r>
          </a:p>
          <a:p>
            <a:pPr>
              <a:spcBef>
                <a:spcPts val="600"/>
              </a:spcBef>
            </a:pPr>
            <a:r>
              <a:rPr lang="ko-KR" altLang="en-US" dirty="0"/>
              <a:t>▶️</a:t>
            </a:r>
            <a:r>
              <a:rPr lang="ko-KR" altLang="en-US" b="1" dirty="0"/>
              <a:t> </a:t>
            </a:r>
            <a:r>
              <a:rPr lang="ko-KR" altLang="en-US" dirty="0"/>
              <a:t>완전히 같은 평균은 나오지 않았을 것이다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spcBef>
                <a:spcPts val="600"/>
              </a:spcBef>
            </a:pPr>
            <a:r>
              <a:rPr lang="ko-KR" altLang="en-US" dirty="0"/>
              <a:t>표본이 모집단에서 무작위로 추출되기 때문에</a:t>
            </a:r>
            <a:r>
              <a:rPr lang="en-US" altLang="ko-KR" dirty="0"/>
              <a:t>, </a:t>
            </a:r>
            <a:r>
              <a:rPr lang="ko-KR" altLang="en-US" dirty="0"/>
              <a:t>매번 어떤 대상이 선택되는지가 달라지고</a:t>
            </a:r>
            <a:r>
              <a:rPr lang="en-US" altLang="ko-KR" dirty="0"/>
              <a:t>, </a:t>
            </a:r>
            <a:r>
              <a:rPr lang="ko-KR" altLang="en-US" dirty="0"/>
              <a:t>그에 따라 표본에 포함된 값들의 조합도 달라진다</a:t>
            </a:r>
            <a:r>
              <a:rPr lang="en-US" altLang="ko-KR" dirty="0"/>
              <a:t>(</a:t>
            </a:r>
            <a:r>
              <a:rPr lang="ko-KR" altLang="en-US" dirty="0"/>
              <a:t>표본추출변동 </a:t>
            </a:r>
            <a:r>
              <a:rPr lang="en-US" altLang="ko-KR" dirty="0"/>
              <a:t>/ </a:t>
            </a:r>
            <a:r>
              <a:rPr lang="ko-KR" altLang="en-US" dirty="0"/>
              <a:t>표본오차</a:t>
            </a:r>
            <a:r>
              <a:rPr lang="en-US" altLang="ko-KR" dirty="0"/>
              <a:t>).</a:t>
            </a:r>
          </a:p>
          <a:p>
            <a:pPr>
              <a:spcBef>
                <a:spcPts val="600"/>
              </a:spcBef>
            </a:pPr>
            <a:r>
              <a:rPr lang="ko-KR" altLang="en-US" dirty="0"/>
              <a:t>다만 표본이 모집단을 어느 정도 대표하고 있으므로</a:t>
            </a:r>
            <a:r>
              <a:rPr lang="en-US" altLang="ko-KR" dirty="0"/>
              <a:t>, </a:t>
            </a:r>
            <a:r>
              <a:rPr lang="ko-KR" altLang="en-US" dirty="0"/>
              <a:t>값 자체는 비슷한 범위 안에서 움직이며</a:t>
            </a:r>
            <a:r>
              <a:rPr lang="en-US" altLang="ko-KR" dirty="0"/>
              <a:t>, </a:t>
            </a:r>
            <a:r>
              <a:rPr lang="ko-KR" altLang="en-US" dirty="0"/>
              <a:t>표본 크기</a:t>
            </a:r>
            <a:r>
              <a:rPr lang="en-US" altLang="ko-KR" dirty="0"/>
              <a:t>(n)</a:t>
            </a:r>
            <a:r>
              <a:rPr lang="ko-KR" altLang="en-US" dirty="0"/>
              <a:t>가 커질수록 서로 다른 사람이 뽑은 표본 평균 간의 차이도 점점 줄어들 것으로 예상된다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8163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ko-KR" altLang="en-US" sz="2400" dirty="0"/>
              <a:t>🧠 데이터를 어떻게 읽을까요</a:t>
            </a:r>
            <a:r>
              <a:rPr lang="en-US" altLang="ko-KR" sz="2400" dirty="0"/>
              <a:t>?</a:t>
            </a:r>
            <a:br>
              <a:rPr lang="en-US" altLang="ko-KR" sz="2400" dirty="0"/>
            </a:b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72721" y="2123757"/>
            <a:ext cx="1096044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표본 평균들의 분포는 어떤 모양인가요</a:t>
            </a:r>
            <a:r>
              <a:rPr lang="en-US" altLang="ko-KR" b="1" dirty="0"/>
              <a:t>? </a:t>
            </a:r>
            <a:r>
              <a:rPr lang="ko-KR" altLang="en-US" b="1" dirty="0"/>
              <a:t>종 모양의 정규분포처럼 보이나요</a:t>
            </a:r>
            <a:r>
              <a:rPr lang="en-US" altLang="ko-KR" b="1" dirty="0"/>
              <a:t>? </a:t>
            </a:r>
            <a:r>
              <a:rPr lang="ko-KR" altLang="en-US" b="1" dirty="0"/>
              <a:t>그렇다면 왜 그렇게 되는 걸까요</a:t>
            </a:r>
            <a:r>
              <a:rPr lang="en-US" altLang="ko-KR" b="1" dirty="0"/>
              <a:t>?</a:t>
            </a:r>
          </a:p>
          <a:p>
            <a:pPr>
              <a:spcBef>
                <a:spcPts val="600"/>
              </a:spcBef>
            </a:pPr>
            <a:r>
              <a:rPr lang="ko-KR" altLang="en-US" dirty="0"/>
              <a:t>▶️</a:t>
            </a:r>
            <a:r>
              <a:rPr lang="ko-KR" altLang="en-US" b="1" dirty="0"/>
              <a:t> </a:t>
            </a:r>
            <a:r>
              <a:rPr lang="ko-KR" altLang="en-US" dirty="0"/>
              <a:t>표본 평균들의 분포는 좌우 대칭인</a:t>
            </a:r>
            <a:r>
              <a:rPr lang="en-US" altLang="ko-KR" dirty="0"/>
              <a:t>, </a:t>
            </a:r>
            <a:r>
              <a:rPr lang="ko-KR" altLang="en-US" dirty="0"/>
              <a:t>종 모양의 정규분포에 가까운 형태를 보인다</a:t>
            </a:r>
            <a:r>
              <a:rPr lang="en-US" altLang="ko-KR" dirty="0"/>
              <a:t>.</a:t>
            </a:r>
          </a:p>
          <a:p>
            <a:pPr>
              <a:spcBef>
                <a:spcPts val="600"/>
              </a:spcBef>
            </a:pPr>
            <a:r>
              <a:rPr lang="ko-KR" altLang="en-US" dirty="0"/>
              <a:t>이는 </a:t>
            </a:r>
            <a:r>
              <a:rPr lang="en-US" altLang="ko-KR" dirty="0"/>
              <a:t>‘</a:t>
            </a:r>
            <a:r>
              <a:rPr lang="ko-KR" altLang="en-US" dirty="0"/>
              <a:t>중심극한정리</a:t>
            </a:r>
            <a:r>
              <a:rPr lang="en-US" altLang="ko-KR" dirty="0"/>
              <a:t>(Central Limit Theorem)’</a:t>
            </a:r>
            <a:r>
              <a:rPr lang="ko-KR" altLang="en-US" dirty="0"/>
              <a:t>에 따른 결과로</a:t>
            </a:r>
            <a:r>
              <a:rPr lang="en-US" altLang="ko-KR" dirty="0"/>
              <a:t>, </a:t>
            </a:r>
            <a:r>
              <a:rPr lang="ko-KR" altLang="en-US" dirty="0"/>
              <a:t>모집단의 원래 분포 형태</a:t>
            </a:r>
            <a:r>
              <a:rPr lang="en-US" altLang="ko-KR" dirty="0"/>
              <a:t>(</a:t>
            </a:r>
            <a:r>
              <a:rPr lang="ko-KR" altLang="en-US" dirty="0" err="1"/>
              <a:t>정규분포든</a:t>
            </a:r>
            <a:r>
              <a:rPr lang="ko-KR" altLang="en-US" dirty="0"/>
              <a:t> 아니든</a:t>
            </a:r>
            <a:r>
              <a:rPr lang="en-US" altLang="ko-KR" dirty="0"/>
              <a:t>)</a:t>
            </a:r>
            <a:r>
              <a:rPr lang="ko-KR" altLang="en-US" dirty="0"/>
              <a:t>와 무관하게</a:t>
            </a:r>
            <a:r>
              <a:rPr lang="en-US" altLang="ko-KR" dirty="0"/>
              <a:t>, </a:t>
            </a:r>
            <a:r>
              <a:rPr lang="ko-KR" altLang="en-US" dirty="0"/>
              <a:t>표본 크기가 충분히 크면</a:t>
            </a:r>
            <a:r>
              <a:rPr lang="en-US" altLang="ko-KR" dirty="0"/>
              <a:t>(</a:t>
            </a:r>
            <a:r>
              <a:rPr lang="ko-KR" altLang="en-US" dirty="0"/>
              <a:t>일반적으로 </a:t>
            </a:r>
            <a:r>
              <a:rPr lang="en-US" altLang="ko-KR" dirty="0"/>
              <a:t>n≥30) </a:t>
            </a:r>
            <a:r>
              <a:rPr lang="ko-KR" altLang="en-US" dirty="0"/>
              <a:t>반복 추출한 표본 평균들의 분포가 정규분포에 수렴하기 때문이다</a:t>
            </a:r>
            <a:r>
              <a:rPr lang="en-US" altLang="ko-KR" dirty="0"/>
              <a:t>.</a:t>
            </a:r>
          </a:p>
          <a:p>
            <a:pPr>
              <a:spcBef>
                <a:spcPts val="600"/>
              </a:spcBef>
            </a:pPr>
            <a:r>
              <a:rPr lang="ko-KR" altLang="en-US" dirty="0"/>
              <a:t>표본 크기가 작을 때는 원래 모집단의 비대칭성</a:t>
            </a:r>
            <a:r>
              <a:rPr lang="en-US" altLang="ko-KR" dirty="0"/>
              <a:t>(</a:t>
            </a:r>
            <a:r>
              <a:rPr lang="ko-KR" altLang="en-US" dirty="0"/>
              <a:t>치우침</a:t>
            </a:r>
            <a:r>
              <a:rPr lang="en-US" altLang="ko-KR" dirty="0"/>
              <a:t>)</a:t>
            </a:r>
            <a:r>
              <a:rPr lang="ko-KR" altLang="en-US" dirty="0"/>
              <a:t>이 여전히 남아있어 정규분포 모양이 뚜렷하지 않지만</a:t>
            </a:r>
            <a:r>
              <a:rPr lang="en-US" altLang="ko-KR" dirty="0"/>
              <a:t>, </a:t>
            </a:r>
            <a:r>
              <a:rPr lang="ko-KR" altLang="en-US" dirty="0"/>
              <a:t>크기가 커질수록 이 패턴이 </a:t>
            </a:r>
            <a:r>
              <a:rPr lang="ko-KR" altLang="en-US" dirty="0" err="1"/>
              <a:t>명확해진다</a:t>
            </a:r>
            <a:r>
              <a:rPr lang="en-US" altLang="ko-KR" dirty="0"/>
              <a:t>.</a:t>
            </a:r>
          </a:p>
          <a:p>
            <a:pPr>
              <a:spcBef>
                <a:spcPts val="600"/>
              </a:spcBef>
            </a:pPr>
            <a:r>
              <a:rPr lang="ko-KR" altLang="en-US" dirty="0"/>
              <a:t>이 원리 덕분에</a:t>
            </a:r>
            <a:r>
              <a:rPr lang="en-US" altLang="ko-KR" dirty="0"/>
              <a:t>, </a:t>
            </a:r>
            <a:r>
              <a:rPr lang="ko-KR" altLang="en-US" dirty="0"/>
              <a:t>모집단의 실제 분포를 몰라도 표본을 이용한 통계적 추론이 </a:t>
            </a:r>
            <a:r>
              <a:rPr lang="ko-KR" altLang="en-US" dirty="0" err="1"/>
              <a:t>가능해진다는</a:t>
            </a:r>
            <a:r>
              <a:rPr lang="ko-KR" altLang="en-US" dirty="0"/>
              <a:t> 실무적 의의가 있다</a:t>
            </a:r>
            <a:r>
              <a:rPr lang="en-US" altLang="ko-KR" dirty="0"/>
              <a:t>.</a:t>
            </a:r>
          </a:p>
          <a:p>
            <a:endParaRPr lang="en-US" altLang="ko-KR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17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latinLnBrk="0"/>
            <a:r>
              <a:rPr lang="ko-KR" altLang="en-US" sz="5400" b="1" i="0" dirty="0">
                <a:solidFill>
                  <a:srgbClr val="1A1918"/>
                </a:solidFill>
                <a:effectLst/>
                <a:latin typeface="Pretendard"/>
              </a:rPr>
              <a:t>감사합니다</a:t>
            </a:r>
            <a:r>
              <a:rPr lang="en-US" altLang="ko-KR" sz="5400" b="1" i="0" dirty="0">
                <a:solidFill>
                  <a:srgbClr val="1A1918"/>
                </a:solidFill>
                <a:effectLst/>
                <a:latin typeface="Pretendard"/>
              </a:rPr>
              <a:t>.</a:t>
            </a:r>
            <a:endParaRPr lang="ko-KR" altLang="en-US" sz="5400" b="1" i="0" dirty="0">
              <a:solidFill>
                <a:srgbClr val="1A1918"/>
              </a:solidFill>
              <a:effectLst/>
              <a:latin typeface="Pretendard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en-US" altLang="ko-KR" dirty="0"/>
              <a:t>C2: </a:t>
            </a:r>
            <a:r>
              <a:rPr lang="ko-KR" altLang="en-US" dirty="0" err="1"/>
              <a:t>정호성</a:t>
            </a:r>
            <a:r>
              <a:rPr lang="en-US" altLang="ko-KR" dirty="0"/>
              <a:t>, </a:t>
            </a:r>
            <a:r>
              <a:rPr lang="ko-KR" altLang="en-US" dirty="0" err="1"/>
              <a:t>표시철</a:t>
            </a:r>
            <a:r>
              <a:rPr lang="en-US" altLang="ko-KR" dirty="0"/>
              <a:t>(</a:t>
            </a:r>
            <a:r>
              <a:rPr lang="ko-KR" altLang="en-US" dirty="0"/>
              <a:t>팀장</a:t>
            </a:r>
            <a:r>
              <a:rPr lang="en-US" altLang="ko-KR" dirty="0"/>
              <a:t>), </a:t>
            </a:r>
            <a:r>
              <a:rPr lang="ko-KR" altLang="en-US" dirty="0"/>
              <a:t>전유나</a:t>
            </a:r>
            <a:r>
              <a:rPr lang="en-US" altLang="ko-KR" dirty="0"/>
              <a:t>, </a:t>
            </a:r>
            <a:r>
              <a:rPr lang="ko-KR" altLang="en-US" dirty="0"/>
              <a:t>안나영</a:t>
            </a:r>
            <a:r>
              <a:rPr lang="en-US" altLang="ko-KR" dirty="0"/>
              <a:t>(</a:t>
            </a:r>
            <a:r>
              <a:rPr lang="ko-KR" altLang="en-US" dirty="0"/>
              <a:t>발표</a:t>
            </a:r>
            <a:r>
              <a:rPr lang="en-US" altLang="ko-KR" dirty="0"/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177502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399950_TF89213316_Win32_OJ108761954" id="{2C949246-E701-4358-AE1D-5E981A9339C9}" vid="{1C9D17EB-7AF8-47B4-A0BF-F0125A4D3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프레젠테이션</Template>
  <TotalTime>98</TotalTime>
  <Words>970</Words>
  <Application>Microsoft Office PowerPoint</Application>
  <PresentationFormat>와이드스크린</PresentationFormat>
  <Paragraphs>99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Pretendard</vt:lpstr>
      <vt:lpstr>Pretendard Variable</vt:lpstr>
      <vt:lpstr>맑은 고딕</vt:lpstr>
      <vt:lpstr>Arial</vt:lpstr>
      <vt:lpstr>Avenir Next LT Pro</vt:lpstr>
      <vt:lpstr>Calibri</vt:lpstr>
      <vt:lpstr>Consolas</vt:lpstr>
      <vt:lpstr>AccentBoxVTI</vt:lpstr>
      <vt:lpstr>문제 1. 표본조사 체험하기</vt:lpstr>
      <vt:lpstr>문제 1. 표본조사 체험하기</vt:lpstr>
      <vt:lpstr>문제 1. 표본조사 체험하기</vt:lpstr>
      <vt:lpstr>전체 고객 만족도 분포 (모집단)</vt:lpstr>
      <vt:lpstr>Q1. 모집단에서 무작위로 30명을 뽑아 표본 평균을 구해봅시다.</vt:lpstr>
      <vt:lpstr>Q2. 이 과정을 500번 반복하고, 표본 평균을 리스트에 저장합니다.</vt:lpstr>
      <vt:lpstr>Q3. 표본 평균들의 분포를 히스토그램으로 그려봅시다. 평균선도 함께 표시해 봅시다.</vt:lpstr>
      <vt:lpstr>표본 평균들의 분포(500회 반복)</vt:lpstr>
      <vt:lpstr>🧠 데이터를 어떻게 읽을까요? </vt:lpstr>
      <vt:lpstr>🧠 데이터를 어떻게 읽을까요? </vt:lpstr>
      <vt:lpstr>🧠 데이터를 어떻게 읽을까요? 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AccentBox(강조 상자)</dc:title>
  <dc:creator>표스츄리</dc:creator>
  <cp:lastModifiedBy>표스츄리</cp:lastModifiedBy>
  <cp:revision>43</cp:revision>
  <dcterms:created xsi:type="dcterms:W3CDTF">2026-07-27T05:32:26Z</dcterms:created>
  <dcterms:modified xsi:type="dcterms:W3CDTF">2026-07-27T07:15:24Z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