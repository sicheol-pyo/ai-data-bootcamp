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계약 비율(%)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0건</c:v>
                </c:pt>
                <c:pt idx="1">
                  <c:v>1건</c:v>
                </c:pt>
                <c:pt idx="2">
                  <c:v>2건</c:v>
                </c:pt>
                <c:pt idx="3">
                  <c:v>3건</c:v>
                </c:pt>
                <c:pt idx="4">
                  <c:v>4건</c:v>
                </c:pt>
                <c:pt idx="5">
                  <c:v>5건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</c:v>
                </c:pt>
                <c:pt idx="1">
                  <c:v>33</c:v>
                </c:pt>
                <c:pt idx="2">
                  <c:v>20</c:v>
                </c:pt>
                <c:pt idx="3">
                  <c:v>9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6B-4732-A58F-39EA482F74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직선 그대로 (η)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5A-495A-BDAF-44CBE31D6D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로그를 푼 값 (e^η)</c:v>
                </c:pt>
              </c:strCache>
            </c:strRef>
          </c:tx>
          <c:spPr>
            <a:ln w="31750" cap="flat">
              <a:solidFill>
                <a:srgbClr val="0F8B8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0.14000000000000001</c:v>
                </c:pt>
                <c:pt idx="1">
                  <c:v>0.37</c:v>
                </c:pt>
                <c:pt idx="2">
                  <c:v>1</c:v>
                </c:pt>
                <c:pt idx="3">
                  <c:v>2.72</c:v>
                </c:pt>
                <c:pt idx="4">
                  <c:v>7.39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A5A-495A-BDAF-44CBE31D6D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8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8373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5120640"/>
            <a:ext cx="457200" cy="457200"/>
          </a:xfrm>
          <a:prstGeom prst="ellipse">
            <a:avLst/>
          </a:prstGeom>
          <a:solidFill>
            <a:srgbClr val="324467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4754880"/>
            <a:ext cx="731520" cy="731520"/>
          </a:xfrm>
          <a:prstGeom prst="ellipse">
            <a:avLst/>
          </a:prstGeom>
          <a:solidFill>
            <a:srgbClr val="324467"/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5257800"/>
            <a:ext cx="320040" cy="320040"/>
          </a:xfrm>
          <a:prstGeom prst="ellipse">
            <a:avLst/>
          </a:prstGeom>
          <a:solidFill>
            <a:srgbClr val="324467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188720"/>
            <a:ext cx="548640" cy="548640"/>
          </a:xfrm>
          <a:prstGeom prst="ellipse">
            <a:avLst/>
          </a:prstGeom>
          <a:solidFill>
            <a:srgbClr val="324467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1737360"/>
            <a:ext cx="822960" cy="822960"/>
          </a:xfrm>
          <a:prstGeom prst="ellipse">
            <a:avLst/>
          </a:prstGeom>
          <a:solidFill>
            <a:srgbClr val="324467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1005840"/>
            <a:ext cx="365760" cy="365760"/>
          </a:xfrm>
          <a:prstGeom prst="ellipse">
            <a:avLst/>
          </a:prstGeom>
          <a:solidFill>
            <a:srgbClr val="3244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3317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120" dirty="0">
                <a:solidFill>
                  <a:srgbClr val="DC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인텔리전스 1기 스터디  ·  GLM 시리즈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포아송 회귀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9476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C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건수를 제대로 예측하는 법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위치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선형회귀 · 로지스틱회귀 · 포아송회귀, 무엇이 다를까?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03152" y="6217920"/>
            <a:ext cx="384048" cy="38404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503152" y="6217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22904" cy="4160520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2103120"/>
            <a:ext cx="287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선형회귀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42032"/>
            <a:ext cx="2874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2874264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대상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474720"/>
            <a:ext cx="2874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연속적인 숫자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877056"/>
            <a:ext cx="2874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매출액, 온도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15968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결과값 범위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590288"/>
            <a:ext cx="2874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−∞ ~ +∞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5120640"/>
            <a:ext cx="2874264" cy="731520"/>
          </a:xfrm>
          <a:prstGeom prst="roundRect">
            <a:avLst>
              <a:gd name="adj" fmla="val 7500"/>
            </a:avLst>
          </a:prstGeom>
          <a:solidFill>
            <a:srgbClr val="F1F4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512064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건수는 0 밑으로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내려갈 수 없어요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83024" y="1828800"/>
            <a:ext cx="3422904" cy="4160520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657344" y="2103120"/>
            <a:ext cx="287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로지스틱회귀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657344" y="2542032"/>
            <a:ext cx="2874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57344" y="3017520"/>
            <a:ext cx="2874264" cy="0"/>
          </a:xfrm>
          <a:prstGeom prst="line">
            <a:avLst/>
          </a:prstGeom>
          <a:noFill/>
          <a:ln w="12700">
            <a:solidFill>
              <a:srgbClr val="E4E9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57344" y="320040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대상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657344" y="3474720"/>
            <a:ext cx="2874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중 하나 (사고 여부)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657344" y="3877056"/>
            <a:ext cx="2874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사고 발생 0 또는 1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657344" y="4315968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결과값 범위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657344" y="4590288"/>
            <a:ext cx="2874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~ 1 (확률)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657344" y="5120640"/>
            <a:ext cx="2874264" cy="731520"/>
          </a:xfrm>
          <a:prstGeom prst="roundRect">
            <a:avLst>
              <a:gd name="adj" fmla="val 7500"/>
            </a:avLst>
          </a:prstGeom>
          <a:solidFill>
            <a:srgbClr val="F1F4F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94504" y="512064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2건, 3건처럼 여러 번은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표현하지 못해요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25968" y="1828800"/>
            <a:ext cx="3422904" cy="4160520"/>
          </a:xfrm>
          <a:prstGeom prst="roundRect">
            <a:avLst>
              <a:gd name="adj" fmla="val 2137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00288" y="2103120"/>
            <a:ext cx="287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포아송회귀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8400288" y="2542032"/>
            <a:ext cx="2874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Poisson Regression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00288" y="3017520"/>
            <a:ext cx="2874264" cy="0"/>
          </a:xfrm>
          <a:prstGeom prst="line">
            <a:avLst/>
          </a:prstGeom>
          <a:noFill/>
          <a:ln w="12700">
            <a:solidFill>
              <a:srgbClr val="3E4F7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00288" y="3200400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대상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400288" y="3474720"/>
            <a:ext cx="2874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EC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횟수(카운트)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8400288" y="3877056"/>
            <a:ext cx="2874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사고 건수, 전화 건수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400288" y="4315968"/>
            <a:ext cx="2874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결과값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400288" y="4590288"/>
            <a:ext cx="28742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EC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~ +∞ (0 이상 정수)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400288" y="5120640"/>
            <a:ext cx="2874264" cy="731520"/>
          </a:xfrm>
          <a:prstGeom prst="roundRect">
            <a:avLst>
              <a:gd name="adj" fmla="val 7500"/>
            </a:avLst>
          </a:prstGeom>
          <a:solidFill>
            <a:srgbClr val="24365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537448" y="5120640"/>
            <a:ext cx="25999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AEB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다룰 모델이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AEB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이거예요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건수, 왜 예측하기 까다로울까?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03152" y="6217920"/>
            <a:ext cx="384048" cy="38404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503152" y="6217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7830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계약자 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830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1개월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497312" y="1783080"/>
            <a:ext cx="1051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0건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044952"/>
            <a:ext cx="1090879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304495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계약자 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0449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12개월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57032" y="3419856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497312" y="3044952"/>
            <a:ext cx="1051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1건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306824"/>
            <a:ext cx="1090879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4306824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계약자 C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430682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12개월 · 사업용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57032" y="4681728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8622792" y="4681728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Shape 18"/>
          <p:cNvSpPr/>
          <p:nvPr/>
        </p:nvSpPr>
        <p:spPr>
          <a:xfrm>
            <a:off x="8988552" y="4681728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Shape 19"/>
          <p:cNvSpPr/>
          <p:nvPr/>
        </p:nvSpPr>
        <p:spPr>
          <a:xfrm>
            <a:off x="9354312" y="4681728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Shape 20"/>
          <p:cNvSpPr/>
          <p:nvPr/>
        </p:nvSpPr>
        <p:spPr>
          <a:xfrm>
            <a:off x="9720072" y="4681728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497312" y="4306824"/>
            <a:ext cx="1051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5건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614416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'사고 0건'이어도 가입 1개월과 12개월은 의미가 다르고, 사고 건수는 마이너스가 될 수 없는 정수예요.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일반 회귀는 안 될까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선형회귀의</a:t>
            </a: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두 가지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03152" y="6217920"/>
            <a:ext cx="384048" cy="38404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503152" y="6217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25796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194560"/>
            <a:ext cx="502920" cy="502920"/>
          </a:xfrm>
          <a:prstGeom prst="ellipse">
            <a:avLst/>
          </a:prstGeom>
          <a:solidFill>
            <a:srgbClr val="F4D9D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834640"/>
            <a:ext cx="45857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예측값이 마이너스가 될 수 있어요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474720"/>
            <a:ext cx="45857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직선은 위아래로 끝없이 뻗어나가서, 변수 값이 낮으면 '예상 사고 건수 −0.8건'처럼 말이 안 되는 값이 나올 수 있어요.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5349240"/>
            <a:ext cx="4311396" cy="0"/>
          </a:xfrm>
          <a:prstGeom prst="line">
            <a:avLst/>
          </a:prstGeom>
          <a:noFill/>
          <a:ln w="12700">
            <a:solidFill>
              <a:srgbClr val="C9D2E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4892040"/>
            <a:ext cx="4311396" cy="91440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3076" y="1874520"/>
            <a:ext cx="5225796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7BD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43116" y="2194560"/>
            <a:ext cx="502920" cy="502920"/>
          </a:xfrm>
          <a:prstGeom prst="ellipse">
            <a:avLst/>
          </a:prstGeom>
          <a:solidFill>
            <a:srgbClr val="DCEE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43116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643116" y="2834640"/>
            <a:ext cx="45857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사고가 많을수록 들쭉날쭉함도 커져요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643116" y="3474720"/>
            <a:ext cx="45857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선형회귀는 '흩어지는 정도(분산)가 어디서나 같다'고 가정하지만, 실제 사고 건수는 평균이 클수록 변동폭도 커요(이분산성).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34222" y="4846320"/>
            <a:ext cx="91440" cy="9144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0" name="Shape 18"/>
          <p:cNvSpPr/>
          <p:nvPr/>
        </p:nvSpPr>
        <p:spPr>
          <a:xfrm>
            <a:off x="8762238" y="4846320"/>
            <a:ext cx="91440" cy="9144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1" name="Shape 19"/>
          <p:cNvSpPr/>
          <p:nvPr/>
        </p:nvSpPr>
        <p:spPr>
          <a:xfrm>
            <a:off x="8890254" y="4846320"/>
            <a:ext cx="91440" cy="9144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2" name="Shape 20"/>
          <p:cNvSpPr/>
          <p:nvPr/>
        </p:nvSpPr>
        <p:spPr>
          <a:xfrm>
            <a:off x="9018270" y="4846320"/>
            <a:ext cx="91440" cy="9144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6286" y="4846320"/>
            <a:ext cx="91440" cy="9144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4" name="Shape 22"/>
          <p:cNvSpPr/>
          <p:nvPr/>
        </p:nvSpPr>
        <p:spPr>
          <a:xfrm>
            <a:off x="7975854" y="5394960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Shape 23"/>
          <p:cNvSpPr/>
          <p:nvPr/>
        </p:nvSpPr>
        <p:spPr>
          <a:xfrm>
            <a:off x="8387334" y="5394960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Shape 24"/>
          <p:cNvSpPr/>
          <p:nvPr/>
        </p:nvSpPr>
        <p:spPr>
          <a:xfrm>
            <a:off x="9530334" y="5394960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Shape 25"/>
          <p:cNvSpPr/>
          <p:nvPr/>
        </p:nvSpPr>
        <p:spPr>
          <a:xfrm>
            <a:off x="8935974" y="5394960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Shape 26"/>
          <p:cNvSpPr/>
          <p:nvPr/>
        </p:nvSpPr>
        <p:spPr>
          <a:xfrm>
            <a:off x="8204454" y="5394960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Shape 27"/>
          <p:cNvSpPr/>
          <p:nvPr/>
        </p:nvSpPr>
        <p:spPr>
          <a:xfrm>
            <a:off x="9758934" y="5394960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43116" y="4553712"/>
            <a:ext cx="4585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낮음 (사고 적음)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643116" y="5577840"/>
            <a:ext cx="4585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높음 (사고 많음)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해결의 실마리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건수의 실제 모양 — 포아송 분포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03152" y="6217920"/>
            <a:ext cx="384048" cy="38404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503152" y="6217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783080"/>
          <a:ext cx="6400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315200" y="1920240"/>
            <a:ext cx="4233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포아송 분포의 특징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423160"/>
            <a:ext cx="423367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0건, 1건, 2건 … 정수 값만 가능해요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 0~2건 근처에 몰려있고, 오른쪽으로 긴 꼬리를 가져요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모양 자체가 '평균이 커지면 흩어짐도 커진다'는 성질을 담고 있어요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대신, 로그로 연결한다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03152" y="6217920"/>
            <a:ext cx="384048" cy="38404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503152" y="6217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포아송 회귀는 '예상 사고 건수'를 직접 직선으로 맞추지 않고, 로그를 거쳐서 직선식과 연결해요. 그러면 결과값이 항상 0보다 큰 값으로만 나와요.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0604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log(예상 사고건수) </a:t>
            </a: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r>
              <a:rPr lang="en-US" sz="2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직선식(η)</a:t>
            </a:r>
            <a:endParaRPr lang="en-US" sz="2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40080" y="3749040"/>
          <a:ext cx="676656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680960" y="3931920"/>
            <a:ext cx="38679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직선(빨강)은 0 아래로 내려갈 수 있어요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로그를 풀어준 곡선(청록)은 항상 0보다 큰 값만 나와요</a:t>
            </a:r>
            <a:endParaRPr lang="en-US" sz="13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'사고 건수'라는 값과 자연스럽게 맞아떨어져요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공정한 비교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기간이 다르면, 그대로 비교하면 안 돼요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03152" y="6217920"/>
            <a:ext cx="384048" cy="38404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503152" y="6217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계약자 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94560" y="1929384"/>
            <a:ext cx="4937760" cy="393192"/>
          </a:xfrm>
          <a:prstGeom prst="roundRect">
            <a:avLst>
              <a:gd name="adj" fmla="val 9302"/>
            </a:avLst>
          </a:prstGeom>
          <a:solidFill>
            <a:srgbClr val="E4E9F0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1929384"/>
            <a:ext cx="411480" cy="393192"/>
          </a:xfrm>
          <a:prstGeom prst="roundRect">
            <a:avLst>
              <a:gd name="adj" fmla="val 9302"/>
            </a:avLst>
          </a:prstGeom>
          <a:solidFill>
            <a:srgbClr val="0F8B8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69480" y="1874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1개월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803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계약자 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94560" y="2935224"/>
            <a:ext cx="4937760" cy="393192"/>
          </a:xfrm>
          <a:prstGeom prst="roundRect">
            <a:avLst>
              <a:gd name="adj" fmla="val 9302"/>
            </a:avLst>
          </a:prstGeom>
          <a:solidFill>
            <a:srgbClr val="E4E9F0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4560" y="2935224"/>
            <a:ext cx="4937760" cy="393192"/>
          </a:xfrm>
          <a:prstGeom prst="roundRect">
            <a:avLst>
              <a:gd name="adj" fmla="val 9302"/>
            </a:avLst>
          </a:prstGeom>
          <a:solidFill>
            <a:srgbClr val="0F8B8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69480" y="28803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12개월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69680" y="2935224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97764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위험도는 같을 수 있는데, 가입 기간이 짧은 A는 사고를 겪을 '기회' 자체가 적었을 뿐이에요.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709160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C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log(예상 사고건수) </a:t>
            </a: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r>
              <a:rPr lang="en-US" sz="2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직선식(η)  </a:t>
            </a: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r>
              <a:rPr lang="en-US" sz="2100" b="1" dirty="0">
                <a:solidFill>
                  <a:srgbClr val="DC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log(가입기간)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계수는 어떻게 읽을까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e^β = 사고율비 (Rate Ratio)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03152" y="6217920"/>
            <a:ext cx="384048" cy="38404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503152" y="6217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09087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기간을 보정하고 나면, 계수(β)는 순수하게 '위험도'만 나타내요.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이때 e^β 값은 확률이 아니라 사고율(단위 기간당 사고 건수)의 배수로 읽어요.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보너스말러스 점수 +1점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E4E9F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154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사고율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429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1.00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166360" y="3337560"/>
            <a:ext cx="640080" cy="457200"/>
          </a:xfrm>
          <a:prstGeom prst="chevron">
            <a:avLst/>
          </a:prstGeom>
          <a:solidFill>
            <a:srgbClr val="E8A33D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040" y="3063240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0F8B8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3154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C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보정된 사고율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429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1.35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4348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이 변수가 1 오를 때마다 사고율이 35% 높아진다고 해석해요. (확률이 1.35배가 되는 게 아니에요!)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적용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사고율비로 요율에 반영하기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03152" y="6217920"/>
            <a:ext cx="384048" cy="38404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503152" y="6217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3429000"/>
        </p:xfrm>
        <a:graphic>
          <a:graphicData uri="http://schemas.openxmlformats.org/drawingml/2006/table">
            <a:tbl>
              <a:tblPr/>
              <a:tblGrid>
                <a:gridCol w="3490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4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3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사고율비 (e^β)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연령 (1세 증가)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나이가 많을수록 사고율이 소폭 감소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보너스말러스 (1점 증가)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1.35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위험 점수가 높을수록 사고율 큰 폭 증가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사업용 차량 여부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1.82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사업용 차량은 자가용보다 사고율 82% 높음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가입 기간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오프셋 처리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노출량 보정용 — 계수를 추정하지 않음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534924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표를 요율 산정 회의에서 쓰면, '어떤 조건에서 얼마나 위험이 높아지는지'를 숫자로 바로 설명할 수 있어요.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F8B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정리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포아송 회귀, 세 줄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503152" y="6217920"/>
            <a:ext cx="384048" cy="384048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503152" y="6217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640080" cy="64008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508760" y="1874520"/>
            <a:ext cx="100401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BD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783080" y="1984248"/>
            <a:ext cx="9537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필요한가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377440"/>
            <a:ext cx="9537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건수는 마이너스가 없고, 평균이 클수록 흩어짐도 커요 — </a:t>
            </a:r>
            <a:r>
              <a:rPr lang="ko-KR" altLang="en-US" sz="135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</a:t>
            </a:r>
            <a:r>
              <a:rPr lang="en-US" sz="1350" dirty="0" err="1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</a:t>
            </a:r>
            <a:r>
              <a:rPr lang="ko-KR" altLang="en-US" sz="135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한계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08760" y="3337560"/>
            <a:ext cx="100401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BD">
                <a:alpha val="2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783080" y="3447288"/>
            <a:ext cx="9537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해결하나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3840480"/>
            <a:ext cx="9537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로그로 연결해서(log μ = η) 예측값이 항상 0보다 크게 나오도록 만들어요.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640080" cy="64008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508760" y="4800600"/>
            <a:ext cx="100401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9AA7BD">
                <a:alpha val="2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783080" y="4910328"/>
            <a:ext cx="9537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 어떻게 쓰나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5303520"/>
            <a:ext cx="9537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기간을 오프셋으로 보정하고, 계수는 '사고율의 배수(사고율비)'로 해석해요.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188720"/>
            <a:ext cx="457200" cy="457200"/>
          </a:xfrm>
          <a:prstGeom prst="ellipse">
            <a:avLst/>
          </a:prstGeom>
          <a:solidFill>
            <a:srgbClr val="324467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645920"/>
            <a:ext cx="320040" cy="320040"/>
          </a:xfrm>
          <a:prstGeom prst="ellipse">
            <a:avLst/>
          </a:prstGeom>
          <a:solidFill>
            <a:srgbClr val="324467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212080"/>
            <a:ext cx="548640" cy="548640"/>
          </a:xfrm>
          <a:prstGeom prst="ellipse">
            <a:avLst/>
          </a:prstGeom>
          <a:solidFill>
            <a:srgbClr val="324467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0" y="5669280"/>
            <a:ext cx="365760" cy="365760"/>
          </a:xfrm>
          <a:prstGeom prst="ellipse">
            <a:avLst/>
          </a:prstGeom>
          <a:solidFill>
            <a:srgbClr val="3244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65176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682</Words>
  <Application>Microsoft Office PowerPoint</Application>
  <PresentationFormat>와이드스크린</PresentationFormat>
  <Paragraphs>136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표스츄리</cp:lastModifiedBy>
  <cp:revision>4</cp:revision>
  <dcterms:created xsi:type="dcterms:W3CDTF">2026-09-17T05:55:48Z</dcterms:created>
  <dcterms:modified xsi:type="dcterms:W3CDTF">2026-09-17T06:36:23Z</dcterms:modified>
</cp:coreProperties>
</file>