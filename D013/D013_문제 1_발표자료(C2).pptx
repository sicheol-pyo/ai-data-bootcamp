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4"/>
  </p:sldMasterIdLst>
  <p:notesMasterIdLst>
    <p:notesMasterId r:id="rId17"/>
  </p:notesMasterIdLst>
  <p:handoutMasterIdLst>
    <p:handoutMasterId r:id="rId18"/>
  </p:handoutMasterIdLst>
  <p:sldIdLst>
    <p:sldId id="281" r:id="rId5"/>
    <p:sldId id="355" r:id="rId6"/>
    <p:sldId id="353" r:id="rId7"/>
    <p:sldId id="283" r:id="rId8"/>
    <p:sldId id="351" r:id="rId9"/>
    <p:sldId id="362" r:id="rId10"/>
    <p:sldId id="366" r:id="rId11"/>
    <p:sldId id="367" r:id="rId12"/>
    <p:sldId id="369" r:id="rId13"/>
    <p:sldId id="363" r:id="rId14"/>
    <p:sldId id="370" r:id="rId15"/>
    <p:sldId id="365" r:id="rId16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60" userDrawn="1">
          <p15:clr>
            <a:srgbClr val="A4A3A4"/>
          </p15:clr>
        </p15:guide>
        <p15:guide id="2" pos="7392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96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80"/>
    </p:cViewPr>
  </p:sorterViewPr>
  <p:notesViewPr>
    <p:cSldViewPr snapToGrid="0">
      <p:cViewPr varScale="1">
        <p:scale>
          <a:sx n="83" d="100"/>
          <a:sy n="83" d="100"/>
        </p:scale>
        <p:origin x="391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EB018AA-DEA7-448F-AE2F-C3D13A0F02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B87A71-96EB-4108-95A3-855A4C3601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75E9C40-2B55-43AB-8539-C48809F2FC17}" type="datetime1">
              <a:rPr lang="en-US" altLang="ko-KR" smtClean="0">
                <a:latin typeface="+mj-ea"/>
                <a:ea typeface="+mj-ea"/>
              </a:rPr>
              <a:t>7/27/2026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45591A-E83D-4F8A-B064-12B29D3154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+mj-ea"/>
              <a:ea typeface="+mj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AF2308-535F-471C-9423-3467454C92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661E857-36B8-43F1-9D87-FE508167BCE3}" type="slidenum">
              <a:rPr lang="en-US" altLang="ko-KR" smtClean="0">
                <a:latin typeface="+mj-ea"/>
                <a:ea typeface="+mj-ea"/>
              </a:rPr>
              <a:t>‹#›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002314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58D25597-25DC-4569-9D2F-FB5CC7243947}" type="datetime1">
              <a:rPr lang="ko-KR" altLang="en-US" smtClean="0"/>
              <a:pPr/>
              <a:t>2026-07-27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BCFAAAB6-A2C6-4A85-A3A1-98EFBA61C967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0767529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>
              <a:effectLst/>
              <a:latin typeface="+mj-ea"/>
              <a:ea typeface="+mj-ea"/>
            </a:endParaRPr>
          </a:p>
          <a:p>
            <a:pPr rtl="0"/>
            <a:r>
              <a:rPr lang="en-US" altLang="ko-KR">
                <a:latin typeface="+mj-ea"/>
                <a:ea typeface="+mj-ea"/>
              </a:rPr>
              <a:t>ID=d924773e-9a16-4d6d-9803-8cb819e99682</a:t>
            </a:r>
            <a:r>
              <a:rPr lang="ko-KR" altLang="en-US">
                <a:latin typeface="+mj-ea"/>
                <a:ea typeface="+mj-ea"/>
              </a:rPr>
              <a:t>
</a:t>
            </a:r>
            <a:r>
              <a:rPr lang="en-US" altLang="ko-KR">
                <a:latin typeface="+mj-ea"/>
                <a:ea typeface="+mj-ea"/>
              </a:rPr>
              <a:t>Recipe=text_billboard
Type=TextOnly
Variant=0
FamilyID=AccentBoxWalbaum_Zero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EAA36B1-75F6-458C-B388-8BC01E9857C8}" type="slidenum">
              <a:rPr lang="en-US" altLang="ko-KR" smtClean="0">
                <a:latin typeface="+mj-ea"/>
                <a:ea typeface="+mj-ea"/>
              </a:rPr>
              <a:t>1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0320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2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93314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3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850256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4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36031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5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75699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6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845518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7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30206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8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928388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9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41924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10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773256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11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534027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>
              <a:effectLst/>
              <a:latin typeface="+mj-ea"/>
              <a:ea typeface="+mj-ea"/>
            </a:endParaRPr>
          </a:p>
          <a:p>
            <a:pPr rtl="0"/>
            <a:r>
              <a:rPr lang="en-US" altLang="ko-KR">
                <a:latin typeface="+mj-ea"/>
                <a:ea typeface="+mj-ea"/>
              </a:rPr>
              <a:t>ID=d924773e-9a16-4d6d-9803-8cb819e99682</a:t>
            </a:r>
            <a:r>
              <a:rPr lang="ko-KR" altLang="en-US">
                <a:latin typeface="+mj-ea"/>
                <a:ea typeface="+mj-ea"/>
              </a:rPr>
              <a:t>
</a:t>
            </a:r>
            <a:r>
              <a:rPr lang="en-US" altLang="ko-KR">
                <a:latin typeface="+mj-ea"/>
                <a:ea typeface="+mj-ea"/>
              </a:rPr>
              <a:t>Recipe=text_billboard
Type=TextOnly
Variant=0
FamilyID=AccentBoxWalbaum_Zero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EAA36B1-75F6-458C-B388-8BC01E9857C8}" type="slidenum">
              <a:rPr lang="en-US" altLang="ko-KR" smtClean="0">
                <a:latin typeface="+mj-ea"/>
                <a:ea typeface="+mj-ea"/>
              </a:rPr>
              <a:t>12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26507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직사각형 6">
            <a:extLst>
              <a:ext uri="{FF2B5EF4-FFF2-40B4-BE49-F238E27FC236}">
                <a16:creationId xmlns:a16="http://schemas.microsoft.com/office/drawing/2014/main" id="{BC5C50C9-5CB7-4938-BEDF-DD2FC7529FA9}"/>
              </a:ext>
            </a:extLst>
          </p:cNvPr>
          <p:cNvSpPr/>
          <p:nvPr userDrawn="1"/>
        </p:nvSpPr>
        <p:spPr>
          <a:xfrm>
            <a:off x="1528762" y="1473243"/>
            <a:ext cx="9144000" cy="300744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1368" y="1664208"/>
            <a:ext cx="8586216" cy="2176272"/>
          </a:xfrm>
        </p:spPr>
        <p:txBody>
          <a:bodyPr rtlCol="0" anchor="ctr">
            <a:normAutofit/>
          </a:bodyPr>
          <a:lstStyle>
            <a:lvl1pPr algn="ctr">
              <a:defRPr sz="6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7168" y="4142232"/>
            <a:ext cx="7223760" cy="685800"/>
          </a:xfrm>
          <a:solidFill>
            <a:schemeClr val="accent1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69640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그림이 있는 제목 및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4064" y="1078992"/>
            <a:ext cx="6272784" cy="1536192"/>
          </a:xfrm>
        </p:spPr>
        <p:txBody>
          <a:bodyPr rtlCol="0" anchor="b">
            <a:normAutofit/>
          </a:bodyPr>
          <a:lstStyle>
            <a:lvl1pPr>
              <a:defRPr sz="5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4064" y="3355848"/>
            <a:ext cx="6272784" cy="2825496"/>
          </a:xfrm>
        </p:spPr>
        <p:txBody>
          <a:bodyPr rtlCol="0"/>
          <a:lstStyle>
            <a:lvl1pPr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9/4/20XX</a:t>
            </a:r>
            <a:endParaRPr lang="ko-KR" altLang="en-US" noProof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1648" y="6356350"/>
            <a:ext cx="41148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65A5C87-DF58-40C8-B092-1DE63DB4547E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EEEC07-DA87-4415-8D6B-72E1B2686535}"/>
              </a:ext>
            </a:extLst>
          </p:cNvPr>
          <p:cNvSpPr/>
          <p:nvPr userDrawn="1"/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CC47E32-D289-4A1B-A3C7-A355CD5572E8}"/>
              </a:ext>
            </a:extLst>
          </p:cNvPr>
          <p:cNvSpPr/>
          <p:nvPr userDrawn="1"/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603504"/>
            <a:ext cx="4050792" cy="5577840"/>
          </a:xfrm>
        </p:spPr>
        <p:txBody>
          <a:bodyPr rtlCol="0" anchor="ctr"/>
          <a:lstStyle>
            <a:lvl1pPr algn="ctr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</p:spTree>
    <p:extLst>
      <p:ext uri="{BB962C8B-B14F-4D97-AF65-F5344CB8AC3E}">
        <p14:creationId xmlns:p14="http://schemas.microsoft.com/office/powerpoint/2010/main" val="3812587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개의 그림이 있는 제목 및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36192"/>
          </a:xfrm>
        </p:spPr>
        <p:txBody>
          <a:bodyPr rtlCol="0" anchor="b">
            <a:normAutofit/>
          </a:bodyPr>
          <a:lstStyle>
            <a:lvl1pPr>
              <a:defRPr sz="5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2648" y="3355848"/>
            <a:ext cx="6272784" cy="2825496"/>
          </a:xfrm>
        </p:spPr>
        <p:txBody>
          <a:bodyPr rtlCol="0"/>
          <a:lstStyle>
            <a:lvl1pPr marL="0" indent="0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05272" y="6356350"/>
            <a:ext cx="128016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65A5C87-DF58-40C8-B092-1DE63DB4547E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EEEC07-DA87-4415-8D6B-72E1B2686535}"/>
              </a:ext>
            </a:extLst>
          </p:cNvPr>
          <p:cNvSpPr/>
          <p:nvPr userDrawn="1"/>
        </p:nvSpPr>
        <p:spPr>
          <a:xfrm rot="5400000">
            <a:off x="850392" y="36576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80960" y="4352544"/>
            <a:ext cx="4507992" cy="2505456"/>
          </a:xfrm>
        </p:spPr>
        <p:txBody>
          <a:bodyPr rtlCol="0" anchor="ctr"/>
          <a:lstStyle>
            <a:lvl1pPr algn="ctr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10" name="그림 개체 틀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80960" y="0"/>
            <a:ext cx="4507992" cy="4123944"/>
          </a:xfrm>
        </p:spPr>
        <p:txBody>
          <a:bodyPr rtlCol="0" anchor="ctr"/>
          <a:lstStyle>
            <a:lvl1pPr algn="ctr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EFA3CC7-31ED-4E5A-87A6-AA1D8F4251FC}"/>
              </a:ext>
            </a:extLst>
          </p:cNvPr>
          <p:cNvSpPr/>
          <p:nvPr userDrawn="1"/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17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직사각형 6">
            <a:extLst>
              <a:ext uri="{FF2B5EF4-FFF2-40B4-BE49-F238E27FC236}">
                <a16:creationId xmlns:a16="http://schemas.microsoft.com/office/drawing/2014/main" id="{B541A812-4D3F-4D65-BA64-BA64E37F2C1D}"/>
              </a:ext>
            </a:extLst>
          </p:cNvPr>
          <p:cNvSpPr/>
          <p:nvPr userDrawn="1"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7013448" cy="2990088"/>
          </a:xfrm>
        </p:spPr>
        <p:txBody>
          <a:bodyPr rtlCol="0" anchor="ctr">
            <a:normAutofit/>
          </a:bodyPr>
          <a:lstStyle>
            <a:lvl1pPr>
              <a:defRPr sz="5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613648" y="1938528"/>
            <a:ext cx="2688336" cy="2990088"/>
          </a:xfrm>
          <a:solidFill>
            <a:schemeClr val="accent1"/>
          </a:solidFill>
        </p:spPr>
        <p:txBody>
          <a:bodyPr rtlCol="0" anchor="ctr"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716BBE9-8A9C-450B-A235-677945C7ED44}"/>
              </a:ext>
            </a:extLst>
          </p:cNvPr>
          <p:cNvSpPr/>
          <p:nvPr userDrawn="1"/>
        </p:nvSpPr>
        <p:spPr>
          <a:xfrm>
            <a:off x="609084" y="2965074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855E7BF-3629-4C02-98DF-CFC1C93CE036}"/>
              </a:ext>
            </a:extLst>
          </p:cNvPr>
          <p:cNvSpPr/>
          <p:nvPr userDrawn="1"/>
        </p:nvSpPr>
        <p:spPr>
          <a:xfrm rot="5400000">
            <a:off x="7360539" y="3424428"/>
            <a:ext cx="210312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3540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직사각형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rtlCol="0">
            <a:normAutofit/>
          </a:bodyPr>
          <a:lstStyle>
            <a:lvl1pPr>
              <a:defRPr sz="4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15568" y="2478024"/>
            <a:ext cx="10168128" cy="3694176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1852" y="6356350"/>
            <a:ext cx="27432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9/4/20XX</a:t>
            </a:r>
            <a:endParaRPr lang="ko-KR" altLang="en-US" noProof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65A5C87-DF58-40C8-B092-1DE63DB4547E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93869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rtlCol="0" anchor="ctr">
            <a:normAutofit/>
          </a:bodyPr>
          <a:lstStyle>
            <a:lvl1pPr algn="ctr">
              <a:defRPr sz="4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 useBgFill="1">
        <p:nvSpPr>
          <p:cNvPr id="4" name="직사각형 3">
            <a:extLst>
              <a:ext uri="{FF2B5EF4-FFF2-40B4-BE49-F238E27FC236}">
                <a16:creationId xmlns:a16="http://schemas.microsoft.com/office/drawing/2014/main" id="{673635DF-99E4-4A0C-A272-D9FF87695DE7}"/>
              </a:ext>
            </a:extLst>
          </p:cNvPr>
          <p:cNvSpPr/>
          <p:nvPr userDrawn="1"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590C76F-6331-4485-AA5B-D61483481F68}"/>
              </a:ext>
            </a:extLst>
          </p:cNvPr>
          <p:cNvSpPr/>
          <p:nvPr userDrawn="1"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1248" y="5102352"/>
            <a:ext cx="10607040" cy="585216"/>
          </a:xfrm>
          <a:solidFill>
            <a:schemeClr val="accent1"/>
          </a:solidFill>
        </p:spPr>
        <p:txBody>
          <a:bodyPr rtlCol="0" anchor="ctr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ECB2BA4C-9ADA-41DB-B758-9E3CFECDF5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9/4/20XX</a:t>
            </a:r>
            <a:endParaRPr lang="ko-KR" altLang="en-US" noProof="0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20957ADB-410A-48BE-AA95-3A708314B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프레젠테이션 제목</a:t>
            </a: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112591B-8032-4FDF-9B26-8F505642C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65A5C87-DF58-40C8-B092-1DE63DB4547E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4244522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직사각형 8">
            <a:extLst>
              <a:ext uri="{FF2B5EF4-FFF2-40B4-BE49-F238E27FC236}">
                <a16:creationId xmlns:a16="http://schemas.microsoft.com/office/drawing/2014/main" id="{342F4163-FF9F-453F-99BB-82B8FDB0A1F9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2239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"/>
              <a:t>그림</a:t>
            </a:r>
          </a:p>
        </p:txBody>
      </p:sp>
      <p:sp>
        <p:nvSpPr>
          <p:cNvPr id="10" name="그림 개체 틀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607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"/>
              <a:t>그림</a:t>
            </a:r>
          </a:p>
        </p:txBody>
      </p:sp>
      <p:sp>
        <p:nvSpPr>
          <p:cNvPr id="16" name="그림 개체 틀 14">
            <a:extLst>
              <a:ext uri="{FF2B5EF4-FFF2-40B4-BE49-F238E27FC236}">
                <a16:creationId xmlns:a16="http://schemas.microsoft.com/office/drawing/2014/main" id="{6B8374DB-2C54-426F-9768-7B838BE1F98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84555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"/>
              <a:t>그림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6763C05-47FB-4725-A20D-066889246220}"/>
              </a:ext>
            </a:extLst>
          </p:cNvPr>
          <p:cNvSpPr/>
          <p:nvPr userDrawn="1"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제목 1">
            <a:extLst>
              <a:ext uri="{FF2B5EF4-FFF2-40B4-BE49-F238E27FC236}">
                <a16:creationId xmlns:a16="http://schemas.microsoft.com/office/drawing/2014/main" id="{9EDC39EC-C00D-4DE8-8828-E0E5AD579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2" name="그림 개체 틀 14">
            <a:extLst>
              <a:ext uri="{FF2B5EF4-FFF2-40B4-BE49-F238E27FC236}">
                <a16:creationId xmlns:a16="http://schemas.microsoft.com/office/drawing/2014/main" id="{AC393A50-B0FA-44B0-850A-6E748DECA20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99923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"/>
              <a:t>그림</a:t>
            </a:r>
          </a:p>
        </p:txBody>
      </p:sp>
      <p:sp>
        <p:nvSpPr>
          <p:cNvPr id="33" name="그림 개체 틀 14">
            <a:extLst>
              <a:ext uri="{FF2B5EF4-FFF2-40B4-BE49-F238E27FC236}">
                <a16:creationId xmlns:a16="http://schemas.microsoft.com/office/drawing/2014/main" id="{C19D18E3-AE27-4902-A5E1-1E388C8CA886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026871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"/>
              <a:t>그림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C4A1E4D4-19E0-496B-BBAF-99A720781C00}"/>
              </a:ext>
            </a:extLst>
          </p:cNvPr>
          <p:cNvSpPr>
            <a:spLocks noGrp="1"/>
          </p:cNvSpPr>
          <p:nvPr>
            <p:ph type="dt" sz="half" idx="32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D0281C10-EAAA-4F45-8CC9-87F9F9116C21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9175D6-43FD-42A2-8595-893FC3BFCDF6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7" name="텍스트 개체 틀 35">
            <a:extLst>
              <a:ext uri="{FF2B5EF4-FFF2-40B4-BE49-F238E27FC236}">
                <a16:creationId xmlns:a16="http://schemas.microsoft.com/office/drawing/2014/main" id="{28F74B10-F76D-4BBB-A284-01D5A0DF8B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31536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ko"/>
              <a:t>이름</a:t>
            </a:r>
          </a:p>
          <a:p>
            <a:pPr lvl="1" rtl="0"/>
            <a:r>
              <a:rPr lang="ko"/>
              <a:t>제목</a:t>
            </a:r>
          </a:p>
        </p:txBody>
      </p:sp>
      <p:sp>
        <p:nvSpPr>
          <p:cNvPr id="38" name="텍스트 개체 틀 35">
            <a:extLst>
              <a:ext uri="{FF2B5EF4-FFF2-40B4-BE49-F238E27FC236}">
                <a16:creationId xmlns:a16="http://schemas.microsoft.com/office/drawing/2014/main" id="{BD245DC2-6D7B-4AEE-B8EE-0D0E473AFFF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45552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ko"/>
              <a:t>이름</a:t>
            </a:r>
          </a:p>
          <a:p>
            <a:pPr lvl="1" rtl="0"/>
            <a:r>
              <a:rPr lang="ko"/>
              <a:t>제목</a:t>
            </a:r>
          </a:p>
        </p:txBody>
      </p:sp>
      <p:sp>
        <p:nvSpPr>
          <p:cNvPr id="39" name="텍스트 개체 틀 35">
            <a:extLst>
              <a:ext uri="{FF2B5EF4-FFF2-40B4-BE49-F238E27FC236}">
                <a16:creationId xmlns:a16="http://schemas.microsoft.com/office/drawing/2014/main" id="{28069EAF-8C82-49CC-8A38-2ACAD26F7DE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268712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ko"/>
              <a:t>이름</a:t>
            </a:r>
          </a:p>
          <a:p>
            <a:pPr lvl="1" rtl="0"/>
            <a:r>
              <a:rPr lang="ko"/>
              <a:t>제목</a:t>
            </a:r>
          </a:p>
        </p:txBody>
      </p:sp>
      <p:sp>
        <p:nvSpPr>
          <p:cNvPr id="40" name="텍스트 개체 틀 35">
            <a:extLst>
              <a:ext uri="{FF2B5EF4-FFF2-40B4-BE49-F238E27FC236}">
                <a16:creationId xmlns:a16="http://schemas.microsoft.com/office/drawing/2014/main" id="{DAA3B1CD-59B3-4B73-B91A-88CED1D8FDD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94360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ko"/>
              <a:t>이름</a:t>
            </a:r>
          </a:p>
          <a:p>
            <a:pPr lvl="1" rtl="0"/>
            <a:r>
              <a:rPr lang="ko"/>
              <a:t>제목</a:t>
            </a:r>
          </a:p>
        </p:txBody>
      </p:sp>
      <p:sp>
        <p:nvSpPr>
          <p:cNvPr id="41" name="텍스트 개체 틀 35">
            <a:extLst>
              <a:ext uri="{FF2B5EF4-FFF2-40B4-BE49-F238E27FC236}">
                <a16:creationId xmlns:a16="http://schemas.microsoft.com/office/drawing/2014/main" id="{C1FED6B0-DEB7-46E3-8038-FE6788AC24A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008376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ko"/>
              <a:t>이름</a:t>
            </a:r>
          </a:p>
          <a:p>
            <a:pPr lvl="1" rtl="0"/>
            <a:r>
              <a:rPr lang="ko"/>
              <a:t>제목</a:t>
            </a:r>
          </a:p>
        </p:txBody>
      </p:sp>
    </p:spTree>
    <p:extLst>
      <p:ext uri="{BB962C8B-B14F-4D97-AF65-F5344CB8AC3E}">
        <p14:creationId xmlns:p14="http://schemas.microsoft.com/office/powerpoint/2010/main" val="431511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직사각형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93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 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직사각형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2372650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3203688"/>
            <a:ext cx="3291840" cy="2968512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07992" y="2372650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07992" y="3203687"/>
            <a:ext cx="3291840" cy="2968511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텍스트 개체 틀 4">
            <a:extLst>
              <a:ext uri="{FF2B5EF4-FFF2-40B4-BE49-F238E27FC236}">
                <a16:creationId xmlns:a16="http://schemas.microsoft.com/office/drawing/2014/main" id="{CE04853A-B5A7-418B-B49F-E718136614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39912" y="2372650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내용 개체 틀 5">
            <a:extLst>
              <a:ext uri="{FF2B5EF4-FFF2-40B4-BE49-F238E27FC236}">
                <a16:creationId xmlns:a16="http://schemas.microsoft.com/office/drawing/2014/main" id="{D08E5547-BBB9-4D87-A012-6BC6B13308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39912" y="3203687"/>
            <a:ext cx="3291840" cy="2968511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ko"/>
          </a:p>
        </p:txBody>
      </p:sp>
    </p:spTree>
    <p:extLst>
      <p:ext uri="{BB962C8B-B14F-4D97-AF65-F5344CB8AC3E}">
        <p14:creationId xmlns:p14="http://schemas.microsoft.com/office/powerpoint/2010/main" val="220226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개의 그림이 있는 제목 및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직사각형 3">
            <a:extLst>
              <a:ext uri="{FF2B5EF4-FFF2-40B4-BE49-F238E27FC236}">
                <a16:creationId xmlns:a16="http://schemas.microsoft.com/office/drawing/2014/main" id="{2CD68929-9BD1-4A1E-9C1E-5B980D986EC1}"/>
              </a:ext>
            </a:extLst>
          </p:cNvPr>
          <p:cNvSpPr/>
          <p:nvPr userDrawn="1"/>
        </p:nvSpPr>
        <p:spPr>
          <a:xfrm>
            <a:off x="409575" y="633619"/>
            <a:ext cx="4927413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78408"/>
            <a:ext cx="4059936" cy="1106424"/>
          </a:xfrm>
        </p:spPr>
        <p:txBody>
          <a:bodyPr rtlCol="0" anchor="ctr">
            <a:normAutofit/>
          </a:bodyPr>
          <a:lstStyle>
            <a:lvl1pPr>
              <a:defRPr sz="28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ko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359152"/>
            <a:ext cx="4059936" cy="3429000"/>
          </a:xfrm>
        </p:spPr>
        <p:txBody>
          <a:bodyPr rtlCol="0"/>
          <a:lstStyle>
            <a:lvl1pPr marL="0" indent="0">
              <a:buNone/>
              <a:defRPr sz="1800"/>
            </a:lvl1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61120" y="566928"/>
            <a:ext cx="2871216" cy="2340864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0" name="그림 개체 틀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43016" y="566928"/>
            <a:ext cx="2871216" cy="2340864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3ED68CE-A00C-4DD9-8065-B0E3D033BC20}"/>
              </a:ext>
            </a:extLst>
          </p:cNvPr>
          <p:cNvSpPr/>
          <p:nvPr userDrawn="1"/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B3EDCB6-603C-4A22-80E6-232A6202452A}"/>
              </a:ext>
            </a:extLst>
          </p:cNvPr>
          <p:cNvSpPr/>
          <p:nvPr userDrawn="1"/>
        </p:nvSpPr>
        <p:spPr>
          <a:xfrm>
            <a:off x="877459" y="2121408"/>
            <a:ext cx="395865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그림 개체 틀 14">
            <a:extLst>
              <a:ext uri="{FF2B5EF4-FFF2-40B4-BE49-F238E27FC236}">
                <a16:creationId xmlns:a16="http://schemas.microsoft.com/office/drawing/2014/main" id="{FBB9124E-D1EB-4540-B1E1-DF3CD388BB2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843016" y="3108960"/>
            <a:ext cx="5989320" cy="305409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8" name="날짜 개체 틀 17">
            <a:extLst>
              <a:ext uri="{FF2B5EF4-FFF2-40B4-BE49-F238E27FC236}">
                <a16:creationId xmlns:a16="http://schemas.microsoft.com/office/drawing/2014/main" id="{88171D0F-B23C-4DA9-9F5D-C5F480A4C5B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19" name="바닥글 개체 틀 18">
            <a:extLst>
              <a:ext uri="{FF2B5EF4-FFF2-40B4-BE49-F238E27FC236}">
                <a16:creationId xmlns:a16="http://schemas.microsoft.com/office/drawing/2014/main" id="{69186A5E-A88B-4AD5-8730-E1679229BB9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FDD4F609-6DE6-4637-A216-DB19D982FF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971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개의 그림이 있는 제목 및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직사각형 3">
            <a:extLst>
              <a:ext uri="{FF2B5EF4-FFF2-40B4-BE49-F238E27FC236}">
                <a16:creationId xmlns:a16="http://schemas.microsoft.com/office/drawing/2014/main" id="{2CD68929-9BD1-4A1E-9C1E-5B980D986EC1}"/>
              </a:ext>
            </a:extLst>
          </p:cNvPr>
          <p:cNvSpPr/>
          <p:nvPr userDrawn="1"/>
        </p:nvSpPr>
        <p:spPr>
          <a:xfrm>
            <a:off x="7324344" y="630936"/>
            <a:ext cx="4517136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</p:spPr>
        <p:txBody>
          <a:bodyPr rtlCol="0" anchor="ctr">
            <a:normAutofit/>
          </a:bodyPr>
          <a:lstStyle>
            <a:lvl1pPr>
              <a:defRPr sz="28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ko"/>
          </a:p>
        </p:txBody>
      </p:sp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67328" y="630936"/>
            <a:ext cx="3246120" cy="268833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0" name="그림 개체 틀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1480" y="630936"/>
            <a:ext cx="3246120" cy="268833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3ED68CE-A00C-4DD9-8065-B0E3D033BC20}"/>
              </a:ext>
            </a:extLst>
          </p:cNvPr>
          <p:cNvSpPr/>
          <p:nvPr userDrawn="1"/>
        </p:nvSpPr>
        <p:spPr>
          <a:xfrm>
            <a:off x="7260336" y="1179576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그림 개체 틀 14">
            <a:extLst>
              <a:ext uri="{FF2B5EF4-FFF2-40B4-BE49-F238E27FC236}">
                <a16:creationId xmlns:a16="http://schemas.microsoft.com/office/drawing/2014/main" id="{FBB9124E-D1EB-4540-B1E1-DF3CD388BB2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1480" y="3438144"/>
            <a:ext cx="3246120" cy="268833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8" name="날짜 개체 틀 17">
            <a:extLst>
              <a:ext uri="{FF2B5EF4-FFF2-40B4-BE49-F238E27FC236}">
                <a16:creationId xmlns:a16="http://schemas.microsoft.com/office/drawing/2014/main" id="{88171D0F-B23C-4DA9-9F5D-C5F480A4C5B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19" name="바닥글 개체 틀 18">
            <a:extLst>
              <a:ext uri="{FF2B5EF4-FFF2-40B4-BE49-F238E27FC236}">
                <a16:creationId xmlns:a16="http://schemas.microsoft.com/office/drawing/2014/main" id="{69186A5E-A88B-4AD5-8730-E1679229BB9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FDD4F609-6DE6-4637-A216-DB19D982FF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25280B1-DD77-4ADB-A6FC-71309BCB66E1}"/>
              </a:ext>
            </a:extLst>
          </p:cNvPr>
          <p:cNvSpPr/>
          <p:nvPr userDrawn="1"/>
        </p:nvSpPr>
        <p:spPr>
          <a:xfrm>
            <a:off x="7792216" y="2185416"/>
            <a:ext cx="3683187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그림 개체 틀 14">
            <a:extLst>
              <a:ext uri="{FF2B5EF4-FFF2-40B4-BE49-F238E27FC236}">
                <a16:creationId xmlns:a16="http://schemas.microsoft.com/office/drawing/2014/main" id="{6B8374DB-2C54-426F-9768-7B838BE1F98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67328" y="3438144"/>
            <a:ext cx="3246120" cy="268833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A0D33A8D-B0BB-4920-AAC4-6EE9952AA55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772400" y="3099816"/>
            <a:ext cx="3721100" cy="447675"/>
          </a:xfrm>
        </p:spPr>
        <p:txBody>
          <a:bodyPr rtlCol="0"/>
          <a:lstStyle>
            <a:lvl1pPr marL="0" indent="0">
              <a:buNone/>
              <a:defRPr sz="1600"/>
            </a:lvl1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1" name="텍스트 개체 틀 7">
            <a:extLst>
              <a:ext uri="{FF2B5EF4-FFF2-40B4-BE49-F238E27FC236}">
                <a16:creationId xmlns:a16="http://schemas.microsoft.com/office/drawing/2014/main" id="{FC2F80E1-DA5D-4EBA-BDBC-FFD24776ED0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772400" y="4215384"/>
            <a:ext cx="3721100" cy="447675"/>
          </a:xfrm>
        </p:spPr>
        <p:txBody>
          <a:bodyPr rtlCol="0"/>
          <a:lstStyle>
            <a:lvl1pPr marL="0" indent="0">
              <a:buNone/>
              <a:defRPr sz="1600"/>
            </a:lvl1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텍스트 개체 틀 7">
            <a:extLst>
              <a:ext uri="{FF2B5EF4-FFF2-40B4-BE49-F238E27FC236}">
                <a16:creationId xmlns:a16="http://schemas.microsoft.com/office/drawing/2014/main" id="{536A3E74-5D94-4FE5-A5F8-7DA032AD48A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772400" y="5321808"/>
            <a:ext cx="3721100" cy="447675"/>
          </a:xfrm>
        </p:spPr>
        <p:txBody>
          <a:bodyPr rtlCol="0"/>
          <a:lstStyle>
            <a:lvl1pPr marL="0" indent="0">
              <a:buNone/>
              <a:defRPr sz="1600"/>
            </a:lvl1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그림 개체 틀 14">
            <a:extLst>
              <a:ext uri="{FF2B5EF4-FFF2-40B4-BE49-F238E27FC236}">
                <a16:creationId xmlns:a16="http://schemas.microsoft.com/office/drawing/2014/main" id="{A36D2011-9E99-44AA-8612-4EEBAAA5D03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772400" y="2532888"/>
            <a:ext cx="457200" cy="457200"/>
          </a:xfrm>
        </p:spPr>
        <p:txBody>
          <a:bodyPr rtlCol="0" anchor="ctr"/>
          <a:lstStyle>
            <a:lvl1pPr algn="ctr">
              <a:buNone/>
              <a:defRPr sz="900"/>
            </a:lvl1pPr>
          </a:lstStyle>
          <a:p>
            <a:pPr rtl="0"/>
            <a:r>
              <a:rPr lang="ko"/>
              <a:t>아이콘</a:t>
            </a:r>
          </a:p>
        </p:txBody>
      </p:sp>
      <p:sp>
        <p:nvSpPr>
          <p:cNvPr id="24" name="그림 개체 틀 14">
            <a:extLst>
              <a:ext uri="{FF2B5EF4-FFF2-40B4-BE49-F238E27FC236}">
                <a16:creationId xmlns:a16="http://schemas.microsoft.com/office/drawing/2014/main" id="{80B0958E-0709-4604-ADAF-A6137275F31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72400" y="3630168"/>
            <a:ext cx="457200" cy="457200"/>
          </a:xfrm>
        </p:spPr>
        <p:txBody>
          <a:bodyPr rtlCol="0" anchor="ctr"/>
          <a:lstStyle>
            <a:lvl1pPr algn="ctr">
              <a:buNone/>
              <a:defRPr sz="900"/>
            </a:lvl1pPr>
          </a:lstStyle>
          <a:p>
            <a:pPr rtl="0"/>
            <a:r>
              <a:rPr lang="ko"/>
              <a:t>아이콘</a:t>
            </a:r>
          </a:p>
        </p:txBody>
      </p:sp>
      <p:sp>
        <p:nvSpPr>
          <p:cNvPr id="25" name="그림 개체 틀 14">
            <a:extLst>
              <a:ext uri="{FF2B5EF4-FFF2-40B4-BE49-F238E27FC236}">
                <a16:creationId xmlns:a16="http://schemas.microsoft.com/office/drawing/2014/main" id="{F4A09204-1398-472F-B713-0AD49188773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772400" y="4754880"/>
            <a:ext cx="457200" cy="457200"/>
          </a:xfrm>
        </p:spPr>
        <p:txBody>
          <a:bodyPr rtlCol="0" anchor="ctr"/>
          <a:lstStyle>
            <a:lvl1pPr algn="ctr">
              <a:buNone/>
              <a:defRPr sz="900"/>
            </a:lvl1pPr>
          </a:lstStyle>
          <a:p>
            <a:pPr rtl="0"/>
            <a:r>
              <a:rPr lang="ko"/>
              <a:t>아이콘</a:t>
            </a:r>
          </a:p>
        </p:txBody>
      </p:sp>
    </p:spTree>
    <p:extLst>
      <p:ext uri="{BB962C8B-B14F-4D97-AF65-F5344CB8AC3E}">
        <p14:creationId xmlns:p14="http://schemas.microsoft.com/office/powerpoint/2010/main" val="3439343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직사각형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 userDrawn="1"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 rtlCol="0">
            <a:normAutofit/>
          </a:bodyPr>
          <a:lstStyle>
            <a:lvl1pPr>
              <a:defRPr sz="54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994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377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직사각형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rtlCol="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68680" y="3429000"/>
            <a:ext cx="3099816" cy="2066544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 dirty="0"/>
              <a:t>마스터 텍스트 스타일을 편집하려면 클릭하세요.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2245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직사각형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rtlCol="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 rtlCol="0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/>
              <a:t>그림을 추가하려면 아이콘을 클릭하십시오</a:t>
            </a:r>
            <a:endParaRPr lang="ko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248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9/4/20XX</a:t>
            </a:r>
            <a:endParaRPr lang="ko-KR" altLang="en-US" noProof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65A5C87-DF58-40C8-B092-1DE63DB4547E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178513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30" r:id="rId2"/>
    <p:sldLayoutId id="2147483731" r:id="rId3"/>
    <p:sldLayoutId id="2147483723" r:id="rId4"/>
    <p:sldLayoutId id="2147483722" r:id="rId5"/>
    <p:sldLayoutId id="2147483732" r:id="rId6"/>
    <p:sldLayoutId id="2147483736" r:id="rId7"/>
    <p:sldLayoutId id="2147483725" r:id="rId8"/>
    <p:sldLayoutId id="2147483733" r:id="rId9"/>
    <p:sldLayoutId id="2147483734" r:id="rId10"/>
    <p:sldLayoutId id="2147483735" r:id="rId11"/>
    <p:sldLayoutId id="2147483726" r:id="rId12"/>
    <p:sldLayoutId id="2147483727" r:id="rId13"/>
    <p:sldLayoutId id="2147483728" r:id="rId14"/>
    <p:sldLayoutId id="2147483729" r:id="rId15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D9D20-B4BB-42AA-8DDD-68CC9F1D95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 algn="l" latinLnBrk="0"/>
            <a:r>
              <a:rPr lang="ko-KR" altLang="en-US" sz="5400" b="1" i="0" dirty="0">
                <a:solidFill>
                  <a:srgbClr val="1A1918"/>
                </a:solidFill>
                <a:effectLst/>
                <a:latin typeface="Pretendard"/>
              </a:rPr>
              <a:t>문제 </a:t>
            </a:r>
            <a:r>
              <a:rPr lang="en-US" altLang="ko-KR" sz="5400" b="1" i="0" dirty="0">
                <a:solidFill>
                  <a:srgbClr val="1A1918"/>
                </a:solidFill>
                <a:effectLst/>
                <a:latin typeface="Pretendard"/>
              </a:rPr>
              <a:t>1. </a:t>
            </a:r>
            <a:r>
              <a:rPr lang="ko-KR" altLang="en-US" sz="5400" b="1" i="0" dirty="0">
                <a:solidFill>
                  <a:srgbClr val="1A1918"/>
                </a:solidFill>
                <a:effectLst/>
                <a:latin typeface="Pretendard"/>
              </a:rPr>
              <a:t>표본조사 체험하기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9E8FDB-60EE-45AE-BB89-9A561A61C2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US" altLang="ko-KR" dirty="0"/>
              <a:t>C2: </a:t>
            </a:r>
            <a:r>
              <a:rPr lang="ko-KR" altLang="en-US" dirty="0" err="1"/>
              <a:t>정호성</a:t>
            </a:r>
            <a:r>
              <a:rPr lang="en-US" altLang="ko-KR" dirty="0"/>
              <a:t>, </a:t>
            </a:r>
            <a:r>
              <a:rPr lang="ko-KR" altLang="en-US" dirty="0" err="1"/>
              <a:t>표시철</a:t>
            </a:r>
            <a:r>
              <a:rPr lang="en-US" altLang="ko-KR" dirty="0"/>
              <a:t>(</a:t>
            </a:r>
            <a:r>
              <a:rPr lang="ko-KR" altLang="en-US" dirty="0"/>
              <a:t>팀장</a:t>
            </a:r>
            <a:r>
              <a:rPr lang="en-US" altLang="ko-KR" dirty="0"/>
              <a:t>), </a:t>
            </a:r>
            <a:r>
              <a:rPr lang="ko-KR" altLang="en-US" dirty="0"/>
              <a:t>전유나</a:t>
            </a:r>
            <a:r>
              <a:rPr lang="en-US" altLang="ko-KR" dirty="0"/>
              <a:t>, </a:t>
            </a:r>
            <a:r>
              <a:rPr lang="ko-KR" altLang="en-US" dirty="0"/>
              <a:t>안나영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373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F4A85B-2AC6-4E29-B074-AB92F8FA9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</a:t>
            </a:r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표본조사 체험하기</a:t>
            </a:r>
          </a:p>
        </p:txBody>
      </p:sp>
      <p:pic>
        <p:nvPicPr>
          <p:cNvPr id="11" name="그림 개체 틀 10" descr="팀 작업 손 제스처">
            <a:extLst>
              <a:ext uri="{FF2B5EF4-FFF2-40B4-BE49-F238E27FC236}">
                <a16:creationId xmlns:a16="http://schemas.microsoft.com/office/drawing/2014/main" id="{41749033-B92E-4E63-82DE-801849DA2B1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16" r="16"/>
          <a:stretch/>
        </p:blipFill>
        <p:spPr/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2AB0EB-0819-41F4-99E9-C02FA0DAF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altLang="ko-KR" sz="1600" dirty="0"/>
              <a:t>Q1. </a:t>
            </a:r>
            <a:r>
              <a:rPr lang="ko-KR" altLang="en-US" sz="1600" dirty="0"/>
              <a:t>모집단에서 무작위로 </a:t>
            </a:r>
            <a:r>
              <a:rPr lang="en-US" altLang="ko-KR" sz="1600" dirty="0"/>
              <a:t>30</a:t>
            </a:r>
            <a:r>
              <a:rPr lang="ko-KR" altLang="en-US" sz="1600" dirty="0"/>
              <a:t>명을 뽑아 표본 평균을 구해봅시다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pPr marL="0" indent="0" rtl="0">
              <a:lnSpc>
                <a:spcPct val="110000"/>
              </a:lnSpc>
              <a:buNone/>
            </a:pPr>
            <a:endParaRPr lang="en-US" altLang="ko-KR" sz="1600" dirty="0"/>
          </a:p>
          <a:p>
            <a:pPr marL="0" indent="0" rtl="0">
              <a:lnSpc>
                <a:spcPct val="110000"/>
              </a:lnSpc>
              <a:buNone/>
            </a:pPr>
            <a:r>
              <a:rPr lang="en-US" altLang="ko-KR" sz="1600" dirty="0"/>
              <a:t>Q2. </a:t>
            </a:r>
            <a:r>
              <a:rPr lang="ko-KR" altLang="en-US" sz="1600" dirty="0"/>
              <a:t>이 과정을 </a:t>
            </a:r>
            <a:r>
              <a:rPr lang="en-US" altLang="ko-KR" sz="1600" dirty="0"/>
              <a:t>500</a:t>
            </a:r>
            <a:r>
              <a:rPr lang="ko-KR" altLang="en-US" sz="1600" dirty="0"/>
              <a:t>번 반복하고</a:t>
            </a:r>
            <a:r>
              <a:rPr lang="en-US" altLang="ko-KR" sz="1600" dirty="0"/>
              <a:t>, </a:t>
            </a:r>
            <a:r>
              <a:rPr lang="ko-KR" altLang="en-US" sz="1600" dirty="0"/>
              <a:t>표본 평균을 리스트에 저장합니다</a:t>
            </a:r>
            <a:endParaRPr lang="en-US" altLang="ko-KR" sz="1600" dirty="0"/>
          </a:p>
          <a:p>
            <a:pPr marL="0" indent="0" rtl="0">
              <a:lnSpc>
                <a:spcPct val="110000"/>
              </a:lnSpc>
              <a:buNone/>
            </a:pPr>
            <a:endParaRPr lang="en-US" altLang="ko-KR" sz="1600" dirty="0"/>
          </a:p>
          <a:p>
            <a:pPr marL="0" indent="0" rtl="0">
              <a:lnSpc>
                <a:spcPct val="110000"/>
              </a:lnSpc>
              <a:buNone/>
            </a:pPr>
            <a:r>
              <a:rPr lang="en-US" altLang="ko-KR" sz="1600" dirty="0"/>
              <a:t>Q3. </a:t>
            </a:r>
            <a:r>
              <a:rPr lang="ko-KR" altLang="en-US" sz="1600" dirty="0"/>
              <a:t>표본 평균들의 분포를 히스토그램으로 그려봅시다</a:t>
            </a:r>
            <a:r>
              <a:rPr lang="en-US" altLang="ko-KR" sz="1600" dirty="0"/>
              <a:t>. </a:t>
            </a:r>
            <a:r>
              <a:rPr lang="ko-KR" altLang="en-US" sz="1600" dirty="0"/>
              <a:t>평균선도 함께 표시해 봅시다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14E39E-D8A0-4428-97D8-FE5452322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표본조사 체험하기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9FA539-2DA6-4197-AA13-56E0C3395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78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6D3A99-BC9D-4DC2-BE1B-9E2C93EDD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ko-KR" altLang="en-US" sz="4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</a:t>
            </a:r>
            <a:r>
              <a:rPr lang="en-US" altLang="ko-KR" sz="4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4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표본조사 체험하기</a:t>
            </a:r>
            <a:endParaRPr lang="en-US" altLang="ko-KR" sz="4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7544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전체 고객 만족도 분포 </a:t>
            </a:r>
            <a:r>
              <a:rPr lang="en-US" altLang="ko-KR" dirty="0"/>
              <a:t>(</a:t>
            </a:r>
            <a:r>
              <a:rPr lang="ko-KR" altLang="en-US" dirty="0"/>
              <a:t>모집단</a:t>
            </a:r>
            <a:r>
              <a:rPr lang="en-US" altLang="ko-KR" dirty="0"/>
              <a:t>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D65C8300-CD8E-4F35-9B79-C5DE7AD9D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표본조사 체험하기</a:t>
            </a:r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4E797B30-1740-4A68-A40B-1D255EBC2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4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889CB7D-E9EE-4CE3-90D7-28AC3662E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7223" y="2129944"/>
            <a:ext cx="541972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742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en-US" altLang="ko-KR" sz="2400" dirty="0"/>
              <a:t>Q1. </a:t>
            </a:r>
            <a:r>
              <a:rPr lang="ko-KR" altLang="en-US" sz="2400" dirty="0"/>
              <a:t>모집단에서 무작위로 </a:t>
            </a:r>
            <a:r>
              <a:rPr lang="en-US" altLang="ko-KR" sz="2400" dirty="0"/>
              <a:t>30</a:t>
            </a:r>
            <a:r>
              <a:rPr lang="ko-KR" altLang="en-US" sz="2400" dirty="0"/>
              <a:t>명을 뽑아 표본 평균을 구해봅시다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9" name="바닥글 개체 틀 4">
            <a:extLst>
              <a:ext uri="{FF2B5EF4-FFF2-40B4-BE49-F238E27FC236}">
                <a16:creationId xmlns:a16="http://schemas.microsoft.com/office/drawing/2014/main" id="{948F1280-0C85-421E-BF0E-DB3DAF29F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표본조사 체험하기</a:t>
            </a:r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27357B90-43D4-43A9-9C2B-156AED8F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125119-0732-41D5-AB74-44B1C1A56A7C}"/>
              </a:ext>
            </a:extLst>
          </p:cNvPr>
          <p:cNvSpPr txBox="1"/>
          <p:nvPr/>
        </p:nvSpPr>
        <p:spPr>
          <a:xfrm>
            <a:off x="654908" y="2236573"/>
            <a:ext cx="109604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ko-KR" b="0" dirty="0">
                <a:effectLst/>
                <a:latin typeface="Consolas" panose="020B0609020204030204" pitchFamily="49" charset="0"/>
              </a:rPr>
              <a:t>sample_1 = df_pop.</a:t>
            </a:r>
            <a:r>
              <a:rPr lang="pt-BR" altLang="ko-KR" b="0" dirty="0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sample</a:t>
            </a:r>
            <a:r>
              <a:rPr lang="pt-BR" altLang="ko-KR" dirty="0">
                <a:latin typeface="Consolas" panose="020B0609020204030204" pitchFamily="49" charset="0"/>
              </a:rPr>
              <a:t>(</a:t>
            </a:r>
            <a:r>
              <a:rPr lang="pt-BR" altLang="ko-KR" b="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pt-BR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dirty="0">
                <a:latin typeface="Consolas" panose="020B0609020204030204" pitchFamily="49" charset="0"/>
              </a:rPr>
              <a:t>=</a:t>
            </a:r>
            <a:r>
              <a:rPr lang="pt-BR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pt-BR" altLang="ko-KR" dirty="0">
                <a:latin typeface="Consolas" panose="020B0609020204030204" pitchFamily="49" charset="0"/>
              </a:rPr>
              <a:t>)</a:t>
            </a:r>
          </a:p>
          <a:p>
            <a:endParaRPr lang="pt-BR" altLang="ko-KR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chemeClr val="accent6"/>
                </a:solidFill>
                <a:latin typeface="Consolas" panose="020B0609020204030204" pitchFamily="49" charset="0"/>
              </a:rPr>
              <a:t>print</a:t>
            </a:r>
            <a:r>
              <a:rPr lang="en-US" altLang="ko-KR" dirty="0">
                <a:latin typeface="Consolas" panose="020B0609020204030204" pitchFamily="49" charset="0"/>
              </a:rPr>
              <a:t>(</a:t>
            </a:r>
            <a:r>
              <a:rPr lang="en-US" altLang="ko-KR" dirty="0" err="1">
                <a:solidFill>
                  <a:schemeClr val="accent4"/>
                </a:solidFill>
                <a:latin typeface="Consolas" panose="020B0609020204030204" pitchFamily="49" charset="0"/>
              </a:rPr>
              <a:t>f</a:t>
            </a:r>
            <a:r>
              <a:rPr lang="en-US" altLang="ko-KR" dirty="0" err="1">
                <a:solidFill>
                  <a:srgbClr val="00B0F0"/>
                </a:solidFill>
                <a:latin typeface="Consolas" panose="020B0609020204030204" pitchFamily="49" charset="0"/>
              </a:rPr>
              <a:t>"df_pop</a:t>
            </a:r>
            <a:r>
              <a:rPr lang="ko-KR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의 평균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dirty="0" err="1">
                <a:latin typeface="Consolas" panose="020B0609020204030204" pitchFamily="49" charset="0"/>
              </a:rPr>
              <a:t>df_pop.</a:t>
            </a:r>
            <a:r>
              <a:rPr lang="en-US" altLang="ko-KR" dirty="0" err="1">
                <a:solidFill>
                  <a:schemeClr val="accent6"/>
                </a:solidFill>
                <a:latin typeface="Consolas" panose="020B0609020204030204" pitchFamily="49" charset="0"/>
              </a:rPr>
              <a:t>mean</a:t>
            </a:r>
            <a:r>
              <a:rPr lang="en-US" altLang="ko-KR" dirty="0">
                <a:latin typeface="Consolas" panose="020B0609020204030204" pitchFamily="49" charset="0"/>
              </a:rPr>
              <a:t>().</a:t>
            </a:r>
            <a:r>
              <a:rPr lang="en-US" altLang="ko-KR" dirty="0">
                <a:solidFill>
                  <a:schemeClr val="accent6"/>
                </a:solidFill>
                <a:latin typeface="Consolas" panose="020B0609020204030204" pitchFamily="49" charset="0"/>
              </a:rPr>
              <a:t>round</a:t>
            </a:r>
            <a:r>
              <a:rPr lang="en-US" altLang="ko-KR" dirty="0"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00B050"/>
                </a:solidFill>
                <a:latin typeface="Consolas" panose="020B0609020204030204" pitchFamily="49" charset="0"/>
              </a:rPr>
              <a:t>2</a:t>
            </a:r>
            <a:r>
              <a:rPr lang="en-US" altLang="ko-KR" dirty="0"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"</a:t>
            </a:r>
            <a:r>
              <a:rPr lang="en-US" altLang="ko-KR" dirty="0">
                <a:latin typeface="Consolas" panose="020B0609020204030204" pitchFamily="49" charset="0"/>
              </a:rPr>
              <a:t>)</a:t>
            </a:r>
            <a:endParaRPr lang="en-US" altLang="ko-KR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chemeClr val="accent6"/>
                </a:solidFill>
                <a:latin typeface="Consolas" panose="020B0609020204030204" pitchFamily="49" charset="0"/>
              </a:rPr>
              <a:t>print</a:t>
            </a:r>
            <a:r>
              <a:rPr lang="en-US" altLang="ko-KR" dirty="0"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chemeClr val="accent4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b="0" dirty="0" err="1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"sample</a:t>
            </a:r>
            <a:r>
              <a:rPr lang="en-US" altLang="ko-KR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 1</a:t>
            </a:r>
            <a:r>
              <a:rPr lang="ko-KR" altLang="en-US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의 평균</a:t>
            </a:r>
            <a:r>
              <a:rPr lang="en-US" altLang="ko-KR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dirty="0">
                <a:solidFill>
                  <a:schemeClr val="accent4"/>
                </a:solidFill>
                <a:latin typeface="Consolas" panose="020B0609020204030204" pitchFamily="49" charset="0"/>
              </a:rPr>
              <a:t>{</a:t>
            </a:r>
            <a:r>
              <a:rPr lang="en-US" altLang="ko-KR" b="0" dirty="0">
                <a:effectLst/>
                <a:latin typeface="Consolas" panose="020B0609020204030204" pitchFamily="49" charset="0"/>
              </a:rPr>
              <a:t>sample_1</a:t>
            </a:r>
            <a:r>
              <a:rPr lang="en-US" altLang="ko-KR" dirty="0">
                <a:latin typeface="Consolas" panose="020B0609020204030204" pitchFamily="49" charset="0"/>
              </a:rPr>
              <a:t>.</a:t>
            </a:r>
            <a:r>
              <a:rPr lang="en-US" altLang="ko-KR" dirty="0">
                <a:solidFill>
                  <a:schemeClr val="accent6"/>
                </a:solidFill>
                <a:latin typeface="Consolas" panose="020B0609020204030204" pitchFamily="49" charset="0"/>
              </a:rPr>
              <a:t>mean</a:t>
            </a:r>
            <a:r>
              <a:rPr lang="en-US" altLang="ko-KR" dirty="0">
                <a:latin typeface="Consolas" panose="020B0609020204030204" pitchFamily="49" charset="0"/>
              </a:rPr>
              <a:t>().</a:t>
            </a:r>
            <a:r>
              <a:rPr lang="en-US" altLang="ko-KR" dirty="0">
                <a:solidFill>
                  <a:schemeClr val="accent6"/>
                </a:solidFill>
                <a:latin typeface="Consolas" panose="020B0609020204030204" pitchFamily="49" charset="0"/>
              </a:rPr>
              <a:t>round</a:t>
            </a:r>
            <a:r>
              <a:rPr lang="en-US" altLang="ko-KR" dirty="0"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00B050"/>
                </a:solidFill>
                <a:latin typeface="Consolas" panose="020B0609020204030204" pitchFamily="49" charset="0"/>
              </a:rPr>
              <a:t>2</a:t>
            </a:r>
            <a:r>
              <a:rPr lang="en-US" altLang="ko-KR" dirty="0">
                <a:latin typeface="Consolas" panose="020B0609020204030204" pitchFamily="49" charset="0"/>
              </a:rPr>
              <a:t>)</a:t>
            </a:r>
            <a:r>
              <a:rPr lang="en-US" altLang="ko-KR" dirty="0">
                <a:solidFill>
                  <a:schemeClr val="accent4"/>
                </a:solidFill>
                <a:latin typeface="Consolas" panose="020B0609020204030204" pitchFamily="49" charset="0"/>
              </a:rPr>
              <a:t>}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"</a:t>
            </a:r>
            <a:r>
              <a:rPr lang="en-US" altLang="ko-KR" dirty="0">
                <a:latin typeface="Consolas" panose="020B0609020204030204" pitchFamily="49" charset="0"/>
              </a:rPr>
              <a:t>)</a:t>
            </a:r>
          </a:p>
          <a:p>
            <a:endParaRPr lang="en-US" altLang="ko-KR" dirty="0">
              <a:latin typeface="Consolas" panose="020B0609020204030204" pitchFamily="49" charset="0"/>
            </a:endParaRPr>
          </a:p>
          <a:p>
            <a:r>
              <a:rPr lang="en-US" altLang="ko-KR" b="1" dirty="0" err="1">
                <a:latin typeface="Consolas" panose="020B0609020204030204" pitchFamily="49" charset="0"/>
              </a:rPr>
              <a:t>df_pop</a:t>
            </a:r>
            <a:r>
              <a:rPr lang="ko-KR" altLang="en-US" b="1" dirty="0">
                <a:latin typeface="Consolas" panose="020B0609020204030204" pitchFamily="49" charset="0"/>
              </a:rPr>
              <a:t>의 평균</a:t>
            </a:r>
            <a:r>
              <a:rPr lang="en-US" altLang="ko-KR" b="1" dirty="0">
                <a:latin typeface="Consolas" panose="020B0609020204030204" pitchFamily="49" charset="0"/>
              </a:rPr>
              <a:t>: score 7.48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sample 1</a:t>
            </a:r>
            <a:r>
              <a:rPr lang="ko-KR" altLang="en-US" b="1" dirty="0">
                <a:latin typeface="Consolas" panose="020B0609020204030204" pitchFamily="49" charset="0"/>
              </a:rPr>
              <a:t>의 평균</a:t>
            </a:r>
            <a:r>
              <a:rPr lang="en-US" altLang="ko-KR" b="1" dirty="0">
                <a:latin typeface="Consolas" panose="020B0609020204030204" pitchFamily="49" charset="0"/>
              </a:rPr>
              <a:t>: score 7.45</a:t>
            </a:r>
          </a:p>
        </p:txBody>
      </p:sp>
    </p:spTree>
    <p:extLst>
      <p:ext uri="{BB962C8B-B14F-4D97-AF65-F5344CB8AC3E}">
        <p14:creationId xmlns:p14="http://schemas.microsoft.com/office/powerpoint/2010/main" val="4266353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en-US" altLang="ko-KR" sz="2400" dirty="0"/>
              <a:t>Q2. </a:t>
            </a:r>
            <a:r>
              <a:rPr lang="ko-KR" altLang="en-US" sz="2400" dirty="0"/>
              <a:t>이 과정을 </a:t>
            </a:r>
            <a:r>
              <a:rPr lang="en-US" altLang="ko-KR" sz="2400" dirty="0"/>
              <a:t>500</a:t>
            </a:r>
            <a:r>
              <a:rPr lang="ko-KR" altLang="en-US" sz="2400" dirty="0"/>
              <a:t>번 반복하고</a:t>
            </a:r>
            <a:r>
              <a:rPr lang="en-US" altLang="ko-KR" sz="2400" dirty="0"/>
              <a:t>, </a:t>
            </a:r>
            <a:r>
              <a:rPr lang="ko-KR" altLang="en-US" sz="2400" dirty="0"/>
              <a:t>표본 평균을 리스트에 저장합니다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9" name="바닥글 개체 틀 4">
            <a:extLst>
              <a:ext uri="{FF2B5EF4-FFF2-40B4-BE49-F238E27FC236}">
                <a16:creationId xmlns:a16="http://schemas.microsoft.com/office/drawing/2014/main" id="{948F1280-0C85-421E-BF0E-DB3DAF29F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표본조사 체험하기</a:t>
            </a:r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27357B90-43D4-43A9-9C2B-156AED8F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125119-0732-41D5-AB74-44B1C1A56A7C}"/>
              </a:ext>
            </a:extLst>
          </p:cNvPr>
          <p:cNvSpPr txBox="1"/>
          <p:nvPr/>
        </p:nvSpPr>
        <p:spPr>
          <a:xfrm>
            <a:off x="654908" y="2236573"/>
            <a:ext cx="1096044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latin typeface="Consolas" panose="020B0609020204030204" pitchFamily="49" charset="0"/>
              </a:rPr>
              <a:t>i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00B050"/>
                </a:solidFill>
                <a:latin typeface="Consolas" panose="020B0609020204030204" pitchFamily="49" charset="0"/>
              </a:rPr>
              <a:t>range</a:t>
            </a:r>
            <a:r>
              <a:rPr lang="en-US" altLang="ko-KR" dirty="0"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altLang="ko-KR" dirty="0"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latin typeface="Consolas" panose="020B0609020204030204" pitchFamily="49" charset="0"/>
              </a:rPr>
              <a:t>sample_1 = </a:t>
            </a:r>
            <a:r>
              <a:rPr lang="en-US" altLang="ko-KR" dirty="0" err="1">
                <a:latin typeface="Consolas" panose="020B0609020204030204" pitchFamily="49" charset="0"/>
              </a:rPr>
              <a:t>df_pop.</a:t>
            </a:r>
            <a:r>
              <a:rPr lang="en-US" altLang="ko-KR" dirty="0" err="1">
                <a:solidFill>
                  <a:schemeClr val="accent6"/>
                </a:solidFill>
                <a:latin typeface="Consolas" panose="020B0609020204030204" pitchFamily="49" charset="0"/>
              </a:rPr>
              <a:t>sample</a:t>
            </a:r>
            <a:r>
              <a:rPr lang="en-US" altLang="ko-KR" dirty="0"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FFC000"/>
                </a:solidFill>
                <a:latin typeface="Consolas" panose="020B0609020204030204" pitchFamily="49" charset="0"/>
              </a:rPr>
              <a:t>n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dirty="0"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30</a:t>
            </a:r>
            <a:r>
              <a:rPr lang="en-US" altLang="ko-KR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latin typeface="Consolas" panose="020B0609020204030204" pitchFamily="49" charset="0"/>
              </a:rPr>
              <a:t>sample_500 = sample_1[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"score"</a:t>
            </a:r>
            <a:r>
              <a:rPr lang="en-US" altLang="ko-KR" dirty="0">
                <a:latin typeface="Consolas" panose="020B0609020204030204" pitchFamily="49" charset="0"/>
              </a:rPr>
              <a:t>].</a:t>
            </a:r>
            <a:r>
              <a:rPr lang="en-US" altLang="ko-KR" dirty="0">
                <a:solidFill>
                  <a:schemeClr val="accent6"/>
                </a:solidFill>
                <a:latin typeface="Consolas" panose="020B0609020204030204" pitchFamily="49" charset="0"/>
              </a:rPr>
              <a:t>mean</a:t>
            </a:r>
            <a:r>
              <a:rPr lang="en-US" altLang="ko-KR" dirty="0">
                <a:latin typeface="Consolas" panose="020B0609020204030204" pitchFamily="49" charset="0"/>
              </a:rPr>
              <a:t>()</a:t>
            </a:r>
          </a:p>
          <a:p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dirty="0" err="1">
                <a:latin typeface="Consolas" panose="020B0609020204030204" pitchFamily="49" charset="0"/>
              </a:rPr>
              <a:t>sample_mean.</a:t>
            </a:r>
            <a:r>
              <a:rPr lang="en-US" altLang="ko-KR" dirty="0" err="1">
                <a:solidFill>
                  <a:schemeClr val="accent6"/>
                </a:solidFill>
                <a:latin typeface="Consolas" panose="020B0609020204030204" pitchFamily="49" charset="0"/>
              </a:rPr>
              <a:t>append</a:t>
            </a:r>
            <a:r>
              <a:rPr lang="en-US" altLang="ko-KR" dirty="0">
                <a:latin typeface="Consolas" panose="020B0609020204030204" pitchFamily="49" charset="0"/>
              </a:rPr>
              <a:t>(sample_500)</a:t>
            </a:r>
          </a:p>
          <a:p>
            <a:b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dirty="0">
                <a:solidFill>
                  <a:schemeClr val="accent6"/>
                </a:solidFill>
                <a:latin typeface="Consolas" panose="020B0609020204030204" pitchFamily="49" charset="0"/>
              </a:rPr>
              <a:t>print</a:t>
            </a:r>
            <a:r>
              <a:rPr lang="en-US" altLang="ko-KR" dirty="0"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chemeClr val="accent4"/>
                </a:solidFill>
                <a:latin typeface="Consolas" panose="020B0609020204030204" pitchFamily="49" charset="0"/>
              </a:rPr>
              <a:t>f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"</a:t>
            </a:r>
            <a:r>
              <a:rPr lang="ko-KR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총</a:t>
            </a:r>
            <a:r>
              <a:rPr lang="ko-KR" alt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chemeClr val="accent4"/>
                </a:solidFill>
                <a:latin typeface="Consolas" panose="020B0609020204030204" pitchFamily="49" charset="0"/>
              </a:rPr>
              <a:t>{</a:t>
            </a:r>
            <a:r>
              <a:rPr lang="en-US" altLang="ko-KR" dirty="0" err="1">
                <a:solidFill>
                  <a:schemeClr val="accent6"/>
                </a:solidFill>
                <a:latin typeface="Consolas" panose="020B0609020204030204" pitchFamily="49" charset="0"/>
              </a:rPr>
              <a:t>len</a:t>
            </a:r>
            <a:r>
              <a:rPr lang="en-US" altLang="ko-KR" dirty="0">
                <a:latin typeface="Consolas" panose="020B0609020204030204" pitchFamily="49" charset="0"/>
              </a:rPr>
              <a:t>(</a:t>
            </a:r>
            <a:r>
              <a:rPr lang="en-US" altLang="ko-KR" dirty="0" err="1">
                <a:latin typeface="Consolas" panose="020B0609020204030204" pitchFamily="49" charset="0"/>
              </a:rPr>
              <a:t>sample_mean</a:t>
            </a:r>
            <a:r>
              <a:rPr lang="en-US" altLang="ko-KR" dirty="0">
                <a:latin typeface="Consolas" panose="020B0609020204030204" pitchFamily="49" charset="0"/>
              </a:rPr>
              <a:t>)</a:t>
            </a:r>
            <a:r>
              <a:rPr lang="en-US" altLang="ko-KR" dirty="0">
                <a:solidFill>
                  <a:schemeClr val="accent4"/>
                </a:solidFill>
                <a:latin typeface="Consolas" panose="020B0609020204030204" pitchFamily="49" charset="0"/>
              </a:rPr>
              <a:t>}</a:t>
            </a:r>
            <a:r>
              <a:rPr lang="ko-KR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개의 표본 평균이 저장되었습니다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dirty="0">
                <a:solidFill>
                  <a:schemeClr val="accent6"/>
                </a:solidFill>
                <a:latin typeface="Consolas" panose="020B0609020204030204" pitchFamily="49" charset="0"/>
              </a:rPr>
              <a:t>print</a:t>
            </a:r>
            <a:r>
              <a:rPr lang="en-US" altLang="ko-KR" dirty="0">
                <a:latin typeface="Consolas" panose="020B0609020204030204" pitchFamily="49" charset="0"/>
              </a:rPr>
              <a:t>(</a:t>
            </a:r>
            <a:r>
              <a:rPr lang="en-US" altLang="ko-KR" dirty="0" err="1">
                <a:latin typeface="Consolas" panose="020B0609020204030204" pitchFamily="49" charset="0"/>
              </a:rPr>
              <a:t>sample_mean</a:t>
            </a:r>
            <a:r>
              <a:rPr lang="en-US" altLang="ko-KR" dirty="0">
                <a:latin typeface="Consolas" panose="020B0609020204030204" pitchFamily="49" charset="0"/>
              </a:rPr>
              <a:t>[: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5</a:t>
            </a:r>
            <a:r>
              <a:rPr lang="en-US" altLang="ko-KR" dirty="0">
                <a:latin typeface="Consolas" panose="020B0609020204030204" pitchFamily="49" charset="0"/>
              </a:rPr>
              <a:t>])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dirty="0">
                <a:latin typeface="Consolas" panose="020B0609020204030204" pitchFamily="49" charset="0"/>
              </a:rPr>
              <a:t># </a:t>
            </a:r>
            <a:r>
              <a:rPr lang="ko-KR" altLang="en-US" dirty="0">
                <a:latin typeface="Consolas" panose="020B0609020204030204" pitchFamily="49" charset="0"/>
              </a:rPr>
              <a:t>처음 </a:t>
            </a:r>
            <a:r>
              <a:rPr lang="en-US" altLang="ko-KR" dirty="0">
                <a:latin typeface="Consolas" panose="020B0609020204030204" pitchFamily="49" charset="0"/>
              </a:rPr>
              <a:t>5</a:t>
            </a:r>
            <a:r>
              <a:rPr lang="ko-KR" altLang="en-US" dirty="0">
                <a:latin typeface="Consolas" panose="020B0609020204030204" pitchFamily="49" charset="0"/>
              </a:rPr>
              <a:t>개만 확인</a:t>
            </a:r>
            <a:endParaRPr lang="en-US" altLang="ko-KR" dirty="0">
              <a:latin typeface="Consolas" panose="020B0609020204030204" pitchFamily="49" charset="0"/>
            </a:endParaRPr>
          </a:p>
          <a:p>
            <a:endParaRPr lang="en-US" altLang="ko-KR" dirty="0">
              <a:latin typeface="Consolas" panose="020B0609020204030204" pitchFamily="49" charset="0"/>
            </a:endParaRPr>
          </a:p>
          <a:p>
            <a:r>
              <a:rPr lang="ko-KR" altLang="en-US" b="1" dirty="0">
                <a:latin typeface="Consolas" panose="020B0609020204030204" pitchFamily="49" charset="0"/>
              </a:rPr>
              <a:t>총 </a:t>
            </a:r>
            <a:r>
              <a:rPr lang="en-US" altLang="ko-KR" b="1" dirty="0">
                <a:latin typeface="Consolas" panose="020B0609020204030204" pitchFamily="49" charset="0"/>
              </a:rPr>
              <a:t>500</a:t>
            </a:r>
            <a:r>
              <a:rPr lang="ko-KR" altLang="en-US" b="1" dirty="0">
                <a:latin typeface="Consolas" panose="020B0609020204030204" pitchFamily="49" charset="0"/>
              </a:rPr>
              <a:t>개의 표본 평균이 저장되었습니다</a:t>
            </a:r>
            <a:endParaRPr lang="en-US" altLang="ko-KR" b="1" dirty="0">
              <a:latin typeface="Consolas" panose="020B0609020204030204" pitchFamily="49" charset="0"/>
            </a:endParaRPr>
          </a:p>
          <a:p>
            <a:endParaRPr lang="en-US" altLang="ko-KR" b="1" dirty="0">
              <a:latin typeface="Consolas" panose="020B0609020204030204" pitchFamily="49" charset="0"/>
            </a:endParaRPr>
          </a:p>
          <a:p>
            <a:r>
              <a:rPr lang="en-US" altLang="ko-KR" b="1" dirty="0">
                <a:latin typeface="Consolas" panose="020B0609020204030204" pitchFamily="49" charset="0"/>
              </a:rPr>
              <a:t>[np.float64(7.305367842087565), np.float64(7.1460560785037215), np.float64(7.176004615754338), np.float64(7.242395018374406), np.float64(7.325996128871713)]</a:t>
            </a:r>
          </a:p>
          <a:p>
            <a:endParaRPr lang="ko-KR" altLang="en-US" dirty="0">
              <a:latin typeface="Consolas" panose="020B0609020204030204" pitchFamily="49" charset="0"/>
            </a:endParaRPr>
          </a:p>
          <a:p>
            <a:endParaRPr lang="en-US" altLang="ko-KR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848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en-US" altLang="ko-KR" sz="2400" dirty="0"/>
              <a:t>Q3. </a:t>
            </a:r>
            <a:r>
              <a:rPr lang="ko-KR" altLang="en-US" sz="2400" dirty="0"/>
              <a:t>표본 평균들의 분포를 히스토그램으로 그려봅시다</a:t>
            </a:r>
            <a:r>
              <a:rPr lang="en-US" altLang="ko-KR" sz="2400" dirty="0"/>
              <a:t>. </a:t>
            </a:r>
            <a:r>
              <a:rPr lang="ko-KR" altLang="en-US" sz="2400" dirty="0"/>
              <a:t>평균선도 함께 표시해 봅시다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9" name="바닥글 개체 틀 4">
            <a:extLst>
              <a:ext uri="{FF2B5EF4-FFF2-40B4-BE49-F238E27FC236}">
                <a16:creationId xmlns:a16="http://schemas.microsoft.com/office/drawing/2014/main" id="{948F1280-0C85-421E-BF0E-DB3DAF29F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표본조사 체험하기</a:t>
            </a:r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27357B90-43D4-43A9-9C2B-156AED8F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125119-0732-41D5-AB74-44B1C1A56A7C}"/>
              </a:ext>
            </a:extLst>
          </p:cNvPr>
          <p:cNvSpPr txBox="1"/>
          <p:nvPr/>
        </p:nvSpPr>
        <p:spPr>
          <a:xfrm>
            <a:off x="654908" y="2236573"/>
            <a:ext cx="1096044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latin typeface="Consolas" panose="020B0609020204030204" pitchFamily="49" charset="0"/>
              </a:rPr>
              <a:t>mean_of_means</a:t>
            </a:r>
            <a:r>
              <a:rPr lang="en-US" altLang="ko-KR" dirty="0">
                <a:latin typeface="Consolas" panose="020B0609020204030204" pitchFamily="49" charset="0"/>
              </a:rPr>
              <a:t> = </a:t>
            </a:r>
            <a:r>
              <a:rPr lang="en-US" altLang="ko-KR" dirty="0" err="1">
                <a:solidFill>
                  <a:srgbClr val="00B050"/>
                </a:solidFill>
                <a:latin typeface="Consolas" panose="020B0609020204030204" pitchFamily="49" charset="0"/>
              </a:rPr>
              <a:t>np</a:t>
            </a:r>
            <a:r>
              <a:rPr lang="en-US" altLang="ko-K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dirty="0" err="1">
                <a:solidFill>
                  <a:schemeClr val="accent6"/>
                </a:solidFill>
                <a:latin typeface="Consolas" panose="020B0609020204030204" pitchFamily="49" charset="0"/>
              </a:rPr>
              <a:t>mean</a:t>
            </a:r>
            <a:r>
              <a:rPr lang="en-US" altLang="ko-KR" dirty="0">
                <a:latin typeface="Consolas" panose="020B0609020204030204" pitchFamily="49" charset="0"/>
              </a:rPr>
              <a:t>(</a:t>
            </a:r>
            <a:r>
              <a:rPr lang="en-US" altLang="ko-KR" dirty="0" err="1">
                <a:latin typeface="Consolas" panose="020B0609020204030204" pitchFamily="49" charset="0"/>
              </a:rPr>
              <a:t>sample_mean</a:t>
            </a:r>
            <a:r>
              <a:rPr lang="en-US" altLang="ko-KR" dirty="0">
                <a:latin typeface="Consolas" panose="020B0609020204030204" pitchFamily="49" charset="0"/>
              </a:rPr>
              <a:t>)</a:t>
            </a:r>
          </a:p>
          <a:p>
            <a:b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dirty="0">
                <a:latin typeface="Consolas" panose="020B0609020204030204" pitchFamily="49" charset="0"/>
              </a:rPr>
              <a:t>fig, ax = </a:t>
            </a:r>
            <a:r>
              <a:rPr lang="en-US" altLang="ko-KR" dirty="0" err="1">
                <a:solidFill>
                  <a:srgbClr val="00B050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dirty="0" err="1">
                <a:latin typeface="Consolas" panose="020B0609020204030204" pitchFamily="49" charset="0"/>
              </a:rPr>
              <a:t>.</a:t>
            </a:r>
            <a:r>
              <a:rPr lang="en-US" altLang="ko-KR" dirty="0" err="1">
                <a:solidFill>
                  <a:schemeClr val="accent6"/>
                </a:solidFill>
                <a:latin typeface="Consolas" panose="020B0609020204030204" pitchFamily="49" charset="0"/>
              </a:rPr>
              <a:t>subplots</a:t>
            </a:r>
            <a:r>
              <a:rPr lang="en-US" altLang="ko-KR" dirty="0"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figsize</a:t>
            </a:r>
            <a:r>
              <a:rPr lang="en-US" altLang="ko-KR" dirty="0">
                <a:latin typeface="Consolas" panose="020B0609020204030204" pitchFamily="49" charset="0"/>
              </a:rPr>
              <a:t>=(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8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5</a:t>
            </a:r>
            <a:r>
              <a:rPr lang="en-US" altLang="ko-KR" dirty="0">
                <a:latin typeface="Consolas" panose="020B0609020204030204" pitchFamily="49" charset="0"/>
              </a:rPr>
              <a:t>))</a:t>
            </a:r>
          </a:p>
          <a:p>
            <a:r>
              <a:rPr lang="en-US" altLang="ko-KR" dirty="0" err="1">
                <a:solidFill>
                  <a:srgbClr val="00B050"/>
                </a:solidFill>
                <a:latin typeface="Consolas" panose="020B0609020204030204" pitchFamily="49" charset="0"/>
              </a:rPr>
              <a:t>sns</a:t>
            </a:r>
            <a:r>
              <a:rPr lang="en-US" altLang="ko-K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dirty="0" err="1">
                <a:solidFill>
                  <a:schemeClr val="accent6"/>
                </a:solidFill>
                <a:latin typeface="Consolas" panose="020B0609020204030204" pitchFamily="49" charset="0"/>
              </a:rPr>
              <a:t>histplot</a:t>
            </a:r>
            <a:r>
              <a:rPr lang="en-US" altLang="ko-KR" dirty="0">
                <a:latin typeface="Consolas" panose="020B0609020204030204" pitchFamily="49" charset="0"/>
              </a:rPr>
              <a:t>(</a:t>
            </a:r>
            <a:r>
              <a:rPr lang="en-US" altLang="ko-KR" dirty="0" err="1">
                <a:latin typeface="Consolas" panose="020B0609020204030204" pitchFamily="49" charset="0"/>
              </a:rPr>
              <a:t>sample_mean</a:t>
            </a:r>
            <a:r>
              <a:rPr lang="en-US" altLang="ko-KR" dirty="0"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bins</a:t>
            </a:r>
            <a:r>
              <a:rPr lang="en-US" altLang="ko-KR" dirty="0">
                <a:latin typeface="Consolas" panose="020B0609020204030204" pitchFamily="49" charset="0"/>
              </a:rPr>
              <a:t>=</a:t>
            </a:r>
            <a:r>
              <a:rPr lang="en-US" altLang="ko-KR" dirty="0">
                <a:solidFill>
                  <a:srgbClr val="92D050"/>
                </a:solidFill>
                <a:latin typeface="Consolas" panose="020B0609020204030204" pitchFamily="49" charset="0"/>
              </a:rPr>
              <a:t>30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kde</a:t>
            </a:r>
            <a:r>
              <a:rPr lang="en-US" altLang="ko-KR" dirty="0"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dirty="0"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ax</a:t>
            </a:r>
            <a:r>
              <a:rPr lang="en-US" altLang="ko-KR" dirty="0">
                <a:latin typeface="Consolas" panose="020B0609020204030204" pitchFamily="49" charset="0"/>
              </a:rPr>
              <a:t>=ax)</a:t>
            </a:r>
          </a:p>
          <a:p>
            <a:b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dirty="0" err="1">
                <a:latin typeface="Consolas" panose="020B0609020204030204" pitchFamily="49" charset="0"/>
              </a:rPr>
              <a:t>ax.</a:t>
            </a:r>
            <a:r>
              <a:rPr lang="en-US" altLang="ko-KR" dirty="0" err="1">
                <a:solidFill>
                  <a:schemeClr val="accent6"/>
                </a:solidFill>
                <a:latin typeface="Consolas" panose="020B0609020204030204" pitchFamily="49" charset="0"/>
              </a:rPr>
              <a:t>axvline</a:t>
            </a:r>
            <a:r>
              <a:rPr lang="en-US" altLang="ko-KR" dirty="0">
                <a:latin typeface="Consolas" panose="020B0609020204030204" pitchFamily="49" charset="0"/>
              </a:rPr>
              <a:t>(</a:t>
            </a:r>
            <a:r>
              <a:rPr lang="en-US" altLang="ko-KR" dirty="0" err="1">
                <a:latin typeface="Consolas" panose="020B0609020204030204" pitchFamily="49" charset="0"/>
              </a:rPr>
              <a:t>mean_of_means</a:t>
            </a:r>
            <a:r>
              <a:rPr lang="en-US" altLang="ko-KR" dirty="0"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="red"</a:t>
            </a:r>
            <a:r>
              <a:rPr lang="en-US" altLang="ko-KR" dirty="0"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linestyle</a:t>
            </a:r>
            <a:r>
              <a:rPr lang="en-US" altLang="ko-KR" dirty="0">
                <a:latin typeface="Consolas" panose="020B0609020204030204" pitchFamily="49" charset="0"/>
              </a:rPr>
              <a:t>=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"--"</a:t>
            </a:r>
            <a:r>
              <a:rPr lang="en-US" altLang="ko-KR" dirty="0"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</a:t>
            </a:r>
            <a:r>
              <a:rPr lang="en-US" altLang="ko-KR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altLang="ko-KR" dirty="0"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"</a:t>
            </a:r>
            <a:r>
              <a:rPr lang="ko-KR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표본 평균들의 평균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dirty="0">
                <a:latin typeface="Consolas" panose="020B0609020204030204" pitchFamily="49" charset="0"/>
              </a:rPr>
              <a:t>mean_of_means</a:t>
            </a:r>
            <a:r>
              <a:rPr lang="en-US" altLang="ko-KR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:.3f}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"</a:t>
            </a:r>
            <a:r>
              <a:rPr lang="en-US" altLang="ko-KR" dirty="0"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ko-KR" sz="1400" dirty="0">
                <a:latin typeface="Consolas" panose="020B0609020204030204" pitchFamily="49" charset="0"/>
              </a:rPr>
              <a:t># </a:t>
            </a:r>
            <a:r>
              <a:rPr lang="ko-KR" altLang="en-US" sz="1400" dirty="0">
                <a:latin typeface="Consolas" panose="020B0609020204030204" pitchFamily="49" charset="0"/>
              </a:rPr>
              <a:t>수정</a:t>
            </a:r>
            <a:r>
              <a:rPr lang="en-US" altLang="ko-KR" sz="1400" dirty="0">
                <a:latin typeface="Consolas" panose="020B0609020204030204" pitchFamily="49" charset="0"/>
              </a:rPr>
              <a:t>: </a:t>
            </a:r>
            <a:r>
              <a:rPr lang="en-US" altLang="ko-KR" sz="1400" dirty="0" err="1">
                <a:latin typeface="Consolas" panose="020B0609020204030204" pitchFamily="49" charset="0"/>
              </a:rPr>
              <a:t>mean_of_means</a:t>
            </a:r>
            <a:r>
              <a:rPr lang="ko-KR" altLang="en-US" sz="1400" dirty="0">
                <a:latin typeface="Consolas" panose="020B0609020204030204" pitchFamily="49" charset="0"/>
              </a:rPr>
              <a:t>로 통일</a:t>
            </a:r>
            <a:endParaRPr lang="ko-KR" altLang="en-US" dirty="0">
              <a:latin typeface="Consolas" panose="020B0609020204030204" pitchFamily="49" charset="0"/>
            </a:endParaRPr>
          </a:p>
          <a:p>
            <a:b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dirty="0" err="1">
                <a:latin typeface="Consolas" panose="020B0609020204030204" pitchFamily="49" charset="0"/>
              </a:rPr>
              <a:t>ax.</a:t>
            </a:r>
            <a:r>
              <a:rPr lang="en-US" altLang="ko-KR" dirty="0" err="1">
                <a:solidFill>
                  <a:schemeClr val="accent6"/>
                </a:solidFill>
                <a:latin typeface="Consolas" panose="020B0609020204030204" pitchFamily="49" charset="0"/>
              </a:rPr>
              <a:t>set_title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("</a:t>
            </a:r>
            <a:r>
              <a:rPr lang="ko-KR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표본 평균들의 분포 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(500</a:t>
            </a:r>
            <a:r>
              <a:rPr lang="ko-KR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회 반복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)"</a:t>
            </a:r>
            <a:r>
              <a:rPr lang="en-US" altLang="ko-KR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ko-KR" dirty="0" err="1">
                <a:latin typeface="Consolas" panose="020B0609020204030204" pitchFamily="49" charset="0"/>
              </a:rPr>
              <a:t>ax.</a:t>
            </a:r>
            <a:r>
              <a:rPr lang="en-US" altLang="ko-KR" dirty="0" err="1">
                <a:solidFill>
                  <a:schemeClr val="accent6"/>
                </a:solidFill>
                <a:latin typeface="Consolas" panose="020B0609020204030204" pitchFamily="49" charset="0"/>
              </a:rPr>
              <a:t>set_xlabel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("</a:t>
            </a:r>
            <a:r>
              <a:rPr lang="ko-KR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표본 평균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"</a:t>
            </a:r>
            <a:r>
              <a:rPr lang="en-US" altLang="ko-KR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ko-KR" dirty="0" err="1">
                <a:latin typeface="Consolas" panose="020B0609020204030204" pitchFamily="49" charset="0"/>
              </a:rPr>
              <a:t>ax.</a:t>
            </a:r>
            <a:r>
              <a:rPr lang="en-US" altLang="ko-KR" dirty="0" err="1">
                <a:solidFill>
                  <a:schemeClr val="accent6"/>
                </a:solidFill>
                <a:latin typeface="Consolas" panose="020B0609020204030204" pitchFamily="49" charset="0"/>
              </a:rPr>
              <a:t>set_ylabel</a:t>
            </a:r>
            <a:r>
              <a:rPr lang="en-US" altLang="ko-KR" dirty="0"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"</a:t>
            </a:r>
            <a:r>
              <a:rPr lang="ko-KR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빈도수</a:t>
            </a:r>
            <a:r>
              <a:rPr lang="en-US" altLang="ko-KR" dirty="0">
                <a:solidFill>
                  <a:srgbClr val="00B0F0"/>
                </a:solidFill>
                <a:latin typeface="Consolas" panose="020B0609020204030204" pitchFamily="49" charset="0"/>
              </a:rPr>
              <a:t>"</a:t>
            </a:r>
            <a:r>
              <a:rPr lang="en-US" altLang="ko-KR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ko-KR" dirty="0" err="1">
                <a:latin typeface="Consolas" panose="020B0609020204030204" pitchFamily="49" charset="0"/>
              </a:rPr>
              <a:t>ax.</a:t>
            </a:r>
            <a:r>
              <a:rPr lang="en-US" altLang="ko-KR" dirty="0" err="1">
                <a:solidFill>
                  <a:schemeClr val="accent6"/>
                </a:solidFill>
                <a:latin typeface="Consolas" panose="020B0609020204030204" pitchFamily="49" charset="0"/>
              </a:rPr>
              <a:t>legend</a:t>
            </a:r>
            <a:r>
              <a:rPr lang="en-US" altLang="ko-KR" dirty="0">
                <a:latin typeface="Consolas" panose="020B0609020204030204" pitchFamily="49" charset="0"/>
              </a:rPr>
              <a:t>()</a:t>
            </a:r>
          </a:p>
          <a:p>
            <a:r>
              <a:rPr lang="en-US" altLang="ko-KR" dirty="0" err="1">
                <a:solidFill>
                  <a:srgbClr val="00B050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dirty="0" err="1">
                <a:latin typeface="Consolas" panose="020B0609020204030204" pitchFamily="49" charset="0"/>
              </a:rPr>
              <a:t>.</a:t>
            </a:r>
            <a:r>
              <a:rPr lang="en-US" altLang="ko-KR" dirty="0" err="1">
                <a:solidFill>
                  <a:schemeClr val="accent6"/>
                </a:solidFill>
                <a:latin typeface="Consolas" panose="020B0609020204030204" pitchFamily="49" charset="0"/>
              </a:rPr>
              <a:t>tight_layout</a:t>
            </a:r>
            <a:r>
              <a:rPr lang="en-US" altLang="ko-KR" dirty="0">
                <a:latin typeface="Consolas" panose="020B0609020204030204" pitchFamily="49" charset="0"/>
              </a:rPr>
              <a:t>()</a:t>
            </a:r>
          </a:p>
          <a:p>
            <a:r>
              <a:rPr lang="en-US" altLang="ko-KR" dirty="0" err="1">
                <a:solidFill>
                  <a:srgbClr val="00B050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dirty="0" err="1">
                <a:latin typeface="Consolas" panose="020B0609020204030204" pitchFamily="49" charset="0"/>
              </a:rPr>
              <a:t>.</a:t>
            </a:r>
            <a:r>
              <a:rPr lang="en-US" altLang="ko-KR" dirty="0" err="1">
                <a:solidFill>
                  <a:schemeClr val="accent6"/>
                </a:solidFill>
                <a:latin typeface="Consolas" panose="020B0609020204030204" pitchFamily="49" charset="0"/>
              </a:rPr>
              <a:t>show</a:t>
            </a:r>
            <a:r>
              <a:rPr lang="en-US" altLang="ko-KR" dirty="0">
                <a:latin typeface="Consolas" panose="020B0609020204030204" pitchFamily="49" charset="0"/>
              </a:rPr>
              <a:t>()</a:t>
            </a:r>
          </a:p>
          <a:p>
            <a:endParaRPr lang="ko-KR" altLang="en-US" dirty="0">
              <a:latin typeface="Consolas" panose="020B0609020204030204" pitchFamily="49" charset="0"/>
            </a:endParaRPr>
          </a:p>
          <a:p>
            <a:endParaRPr lang="en-US" altLang="ko-KR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850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표본 평균들의 분포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(500</a:t>
            </a:r>
            <a:r>
              <a:rPr lang="ko-KR" altLang="en-US" dirty="0"/>
              <a:t>회 반복</a:t>
            </a:r>
            <a:r>
              <a:rPr lang="en-US" altLang="ko-KR" dirty="0"/>
              <a:t>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D65C8300-CD8E-4F35-9B79-C5DE7AD9D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표본조사 체험하기</a:t>
            </a:r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4E797B30-1740-4A68-A40B-1D255EBC2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8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C0B38D2-CEFC-4D34-9368-9B2548C1C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0998" y="2054225"/>
            <a:ext cx="7515225" cy="436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248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ko-KR" altLang="en-US" sz="2400" dirty="0"/>
              <a:t>🧠 데이터를 어떻게 읽을까요</a:t>
            </a:r>
            <a:r>
              <a:rPr lang="en-US" altLang="ko-KR" sz="2400" dirty="0"/>
              <a:t>?</a:t>
            </a:r>
            <a:br>
              <a:rPr lang="en-US" altLang="ko-KR" sz="2400" dirty="0"/>
            </a:br>
            <a:endParaRPr lang="ko-KR" altLang="en-US" sz="2400" dirty="0"/>
          </a:p>
        </p:txBody>
      </p:sp>
      <p:sp>
        <p:nvSpPr>
          <p:cNvPr id="9" name="바닥글 개체 틀 4">
            <a:extLst>
              <a:ext uri="{FF2B5EF4-FFF2-40B4-BE49-F238E27FC236}">
                <a16:creationId xmlns:a16="http://schemas.microsoft.com/office/drawing/2014/main" id="{948F1280-0C85-421E-BF0E-DB3DAF29F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표본조사 체험하기</a:t>
            </a:r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27357B90-43D4-43A9-9C2B-156AED8F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125119-0732-41D5-AB74-44B1C1A56A7C}"/>
              </a:ext>
            </a:extLst>
          </p:cNvPr>
          <p:cNvSpPr txBox="1"/>
          <p:nvPr/>
        </p:nvSpPr>
        <p:spPr>
          <a:xfrm>
            <a:off x="615778" y="2109033"/>
            <a:ext cx="1096044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b="1" dirty="0"/>
              <a:t>표본 평균들은 어떤 값 주변에 많이 분포해 있나요</a:t>
            </a:r>
            <a:r>
              <a:rPr lang="en-US" altLang="ko-KR" sz="1800" b="1" dirty="0"/>
              <a:t>? </a:t>
            </a:r>
            <a:r>
              <a:rPr lang="ko-KR" altLang="en-US" sz="1800" b="1" dirty="0"/>
              <a:t>이 값은 전체 모집단 평균과 얼마나 </a:t>
            </a:r>
            <a:r>
              <a:rPr lang="ko-KR" altLang="en-US" sz="1800" b="1" dirty="0" err="1"/>
              <a:t>비슷한가요</a:t>
            </a:r>
            <a:r>
              <a:rPr lang="en-US" altLang="ko-KR" sz="1800" b="1" dirty="0"/>
              <a:t>?</a:t>
            </a:r>
            <a:endParaRPr lang="pt-BR" altLang="ko-KR" b="1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endParaRPr lang="en-US" altLang="ko-KR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r>
              <a:rPr lang="ko-KR" altLang="en-US" dirty="0"/>
              <a:t>▶️ 표본 평균들은 모집단 평균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7.48) </a:t>
            </a:r>
            <a:r>
              <a:rPr lang="ko-KR" altLang="en-US" dirty="0"/>
              <a:t>근처에 밀집되어 분포하며</a:t>
            </a:r>
            <a:r>
              <a:rPr lang="en-US" altLang="ko-KR" dirty="0"/>
              <a:t>, </a:t>
            </a:r>
            <a:r>
              <a:rPr lang="ko-KR" altLang="en-US" dirty="0"/>
              <a:t>그 차이는 </a:t>
            </a:r>
            <a:r>
              <a:rPr lang="en-US" altLang="ko-KR" dirty="0"/>
              <a:t>0.01 </a:t>
            </a:r>
            <a:r>
              <a:rPr lang="ko-KR" altLang="en-US" dirty="0"/>
              <a:t>이내로 사실상 거의 일치한다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이는 **</a:t>
            </a:r>
            <a:r>
              <a:rPr lang="en-US" altLang="ko-KR" dirty="0"/>
              <a:t>"</a:t>
            </a:r>
            <a:r>
              <a:rPr lang="ko-KR" altLang="en-US" dirty="0"/>
              <a:t>표본평균의 </a:t>
            </a:r>
            <a:r>
              <a:rPr lang="ko-KR" altLang="en-US" dirty="0" err="1"/>
              <a:t>기댓값이</a:t>
            </a:r>
            <a:r>
              <a:rPr lang="ko-KR" altLang="en-US" dirty="0"/>
              <a:t> 모집단 평균과 같다</a:t>
            </a:r>
            <a:r>
              <a:rPr lang="en-US" altLang="ko-KR" dirty="0"/>
              <a:t>"**</a:t>
            </a:r>
            <a:r>
              <a:rPr lang="ko-KR" altLang="en-US" dirty="0"/>
              <a:t>는 통계학의 기본 성질</a:t>
            </a:r>
            <a:r>
              <a:rPr lang="en-US" altLang="ko-KR" dirty="0"/>
              <a:t>(</a:t>
            </a:r>
            <a:r>
              <a:rPr lang="ko-KR" altLang="en-US" dirty="0" err="1"/>
              <a:t>불편추정량</a:t>
            </a:r>
            <a:r>
              <a:rPr lang="en-US" altLang="ko-KR" dirty="0"/>
              <a:t>)</a:t>
            </a:r>
            <a:r>
              <a:rPr lang="ko-KR" altLang="en-US" dirty="0"/>
              <a:t>을 보여주는 결과이며</a:t>
            </a:r>
            <a:r>
              <a:rPr lang="en-US" altLang="ko-KR" dirty="0"/>
              <a:t>, </a:t>
            </a:r>
            <a:r>
              <a:rPr lang="ko-KR" altLang="en-US" dirty="0"/>
              <a:t>반복 횟수가 많아질수록 표본 평균들의 평균이 모집단 평균에 더욱 정확히 근접한다</a:t>
            </a:r>
            <a:r>
              <a:rPr lang="en-US" altLang="ko-KR" dirty="0"/>
              <a:t>.</a:t>
            </a:r>
            <a:endParaRPr lang="en-US" altLang="ko-KR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endParaRPr lang="en-US" altLang="ko-KR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r>
              <a:rPr lang="ko-KR" altLang="en-US" b="1" dirty="0"/>
              <a:t>표본을 </a:t>
            </a:r>
            <a:r>
              <a:rPr lang="en-US" altLang="ko-KR" b="1" dirty="0"/>
              <a:t>1</a:t>
            </a:r>
            <a:r>
              <a:rPr lang="ko-KR" altLang="en-US" b="1" dirty="0"/>
              <a:t>번 뽑았을 때와 </a:t>
            </a:r>
            <a:r>
              <a:rPr lang="en-US" altLang="ko-KR" b="1" dirty="0"/>
              <a:t>500</a:t>
            </a:r>
            <a:r>
              <a:rPr lang="ko-KR" altLang="en-US" b="1" dirty="0"/>
              <a:t>번을 반복해서 뽑았을 때</a:t>
            </a:r>
            <a:r>
              <a:rPr lang="en-US" altLang="ko-KR" b="1" dirty="0"/>
              <a:t>, </a:t>
            </a:r>
            <a:r>
              <a:rPr lang="ko-KR" altLang="en-US" b="1" dirty="0"/>
              <a:t>표본 평균의 분포나 신뢰성에는 어떤 차이가 있나요</a:t>
            </a:r>
          </a:p>
          <a:p>
            <a:endParaRPr lang="en-US" altLang="ko-KR" dirty="0"/>
          </a:p>
          <a:p>
            <a:r>
              <a:rPr lang="ko-KR" altLang="en-US" dirty="0"/>
              <a:t>▶️ 표본을 </a:t>
            </a:r>
            <a:r>
              <a:rPr lang="en-US" altLang="ko-KR" dirty="0"/>
              <a:t>1</a:t>
            </a:r>
            <a:r>
              <a:rPr lang="ko-KR" altLang="en-US" dirty="0"/>
              <a:t>번만 뽑으면 그 값 하나만 얻게 되므로</a:t>
            </a:r>
            <a:r>
              <a:rPr lang="en-US" altLang="ko-KR" dirty="0"/>
              <a:t>, </a:t>
            </a:r>
            <a:r>
              <a:rPr lang="ko-KR" altLang="en-US" dirty="0"/>
              <a:t>이 값이 우연히 크거나 작게 나온 것인지</a:t>
            </a:r>
            <a:r>
              <a:rPr lang="en-US" altLang="ko-KR" dirty="0"/>
              <a:t>, </a:t>
            </a:r>
            <a:r>
              <a:rPr lang="ko-KR" altLang="en-US" dirty="0"/>
              <a:t>모집단을 얼마나 잘 대표하는지 판단할 근거가 없다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반면 </a:t>
            </a:r>
            <a:r>
              <a:rPr lang="en-US" altLang="ko-KR" dirty="0"/>
              <a:t>500</a:t>
            </a:r>
            <a:r>
              <a:rPr lang="ko-KR" altLang="en-US" dirty="0"/>
              <a:t>번 반복하면 표본 평균들이 이루는 </a:t>
            </a:r>
            <a:r>
              <a:rPr lang="en-US" altLang="ko-KR" dirty="0"/>
              <a:t>"</a:t>
            </a:r>
            <a:r>
              <a:rPr lang="ko-KR" altLang="en-US" dirty="0"/>
              <a:t>분포</a:t>
            </a:r>
            <a:r>
              <a:rPr lang="en-US" altLang="ko-KR" dirty="0"/>
              <a:t>"</a:t>
            </a:r>
            <a:r>
              <a:rPr lang="ko-KR" altLang="en-US" dirty="0"/>
              <a:t>를 직접 확인할 수 있어</a:t>
            </a:r>
            <a:r>
              <a:rPr lang="en-US" altLang="ko-KR" dirty="0"/>
              <a:t>, </a:t>
            </a:r>
            <a:r>
              <a:rPr lang="ko-KR" altLang="en-US" dirty="0"/>
              <a:t>표준오차</a:t>
            </a:r>
            <a:r>
              <a:rPr lang="en-US" altLang="ko-KR" dirty="0"/>
              <a:t>(</a:t>
            </a:r>
            <a:r>
              <a:rPr lang="ko-KR" altLang="en-US" dirty="0"/>
              <a:t>변동성</a:t>
            </a:r>
            <a:r>
              <a:rPr lang="en-US" altLang="ko-KR" dirty="0"/>
              <a:t>)</a:t>
            </a:r>
            <a:r>
              <a:rPr lang="ko-KR" altLang="en-US" dirty="0"/>
              <a:t>를 계산하고 추정의 정밀도를 정량적으로 파악할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반복 횟수가 많아질수록 표본평균이 모평균에 더 근접하는 **</a:t>
            </a:r>
            <a:r>
              <a:rPr lang="ko-KR" altLang="en-US" dirty="0" err="1"/>
              <a:t>일치성</a:t>
            </a:r>
            <a:r>
              <a:rPr lang="en-US" altLang="ko-KR" dirty="0"/>
              <a:t>(</a:t>
            </a:r>
            <a:r>
              <a:rPr lang="ko-KR" altLang="en-US" dirty="0"/>
              <a:t>큰 수의 법칙</a:t>
            </a:r>
            <a:r>
              <a:rPr lang="en-US" altLang="ko-KR" dirty="0"/>
              <a:t>)**</a:t>
            </a:r>
            <a:r>
              <a:rPr lang="ko-KR" altLang="en-US" dirty="0"/>
              <a:t>이 나타나며</a:t>
            </a:r>
            <a:r>
              <a:rPr lang="en-US" altLang="ko-KR" dirty="0"/>
              <a:t>, </a:t>
            </a:r>
            <a:r>
              <a:rPr lang="ko-KR" altLang="en-US" dirty="0"/>
              <a:t>이에 따라 신뢰성도 함께 높아진다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7001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ko-KR" altLang="en-US" sz="2400" dirty="0"/>
              <a:t>🧠 데이터를 어떻게 읽을까요</a:t>
            </a:r>
            <a:r>
              <a:rPr lang="en-US" altLang="ko-KR" sz="2400" dirty="0"/>
              <a:t>?</a:t>
            </a:r>
            <a:br>
              <a:rPr lang="en-US" altLang="ko-KR" sz="2400" dirty="0"/>
            </a:br>
            <a:endParaRPr lang="ko-KR" altLang="en-US" sz="2400" dirty="0"/>
          </a:p>
        </p:txBody>
      </p:sp>
      <p:sp>
        <p:nvSpPr>
          <p:cNvPr id="9" name="바닥글 개체 틀 4">
            <a:extLst>
              <a:ext uri="{FF2B5EF4-FFF2-40B4-BE49-F238E27FC236}">
                <a16:creationId xmlns:a16="http://schemas.microsoft.com/office/drawing/2014/main" id="{948F1280-0C85-421E-BF0E-DB3DAF29F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표본조사 체험하기</a:t>
            </a:r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27357B90-43D4-43A9-9C2B-156AED8F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10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125119-0732-41D5-AB74-44B1C1A56A7C}"/>
              </a:ext>
            </a:extLst>
          </p:cNvPr>
          <p:cNvSpPr txBox="1"/>
          <p:nvPr/>
        </p:nvSpPr>
        <p:spPr>
          <a:xfrm>
            <a:off x="666784" y="2129695"/>
            <a:ext cx="109604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친구가 다른 표본을 뽑았다면 같은 평균이 나왔을까요</a:t>
            </a:r>
            <a:r>
              <a:rPr lang="en-US" altLang="ko-KR" b="1" dirty="0"/>
              <a:t>? </a:t>
            </a:r>
            <a:r>
              <a:rPr lang="ko-KR" altLang="en-US" b="1" dirty="0"/>
              <a:t>비슷한 결과가 나왔더라도 완전히 같지 않았다면</a:t>
            </a:r>
            <a:r>
              <a:rPr lang="en-US" altLang="ko-KR" b="1" dirty="0"/>
              <a:t>, </a:t>
            </a:r>
            <a:r>
              <a:rPr lang="ko-KR" altLang="en-US" b="1" dirty="0"/>
              <a:t>그 이유는 무엇일까요</a:t>
            </a:r>
            <a:r>
              <a:rPr lang="en-US" altLang="ko-KR" b="1" dirty="0"/>
              <a:t>?</a:t>
            </a:r>
          </a:p>
          <a:p>
            <a:endParaRPr lang="en-US" altLang="ko-KR" b="1" dirty="0"/>
          </a:p>
          <a:p>
            <a:r>
              <a:rPr lang="ko-KR" altLang="en-US" dirty="0"/>
              <a:t>▶️</a:t>
            </a:r>
            <a:r>
              <a:rPr lang="ko-KR" altLang="en-US" b="1" dirty="0"/>
              <a:t> </a:t>
            </a:r>
            <a:r>
              <a:rPr lang="ko-KR" altLang="en-US" dirty="0"/>
              <a:t>완전히 같은 평균은 나오지 않았을 것이다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표본이 모집단에서 무작위로 추출되기 때문에</a:t>
            </a:r>
            <a:r>
              <a:rPr lang="en-US" altLang="ko-KR" dirty="0"/>
              <a:t>, </a:t>
            </a:r>
            <a:r>
              <a:rPr lang="ko-KR" altLang="en-US" dirty="0"/>
              <a:t>매번 어떤 대상이 선택되는지가 달라지고</a:t>
            </a:r>
            <a:r>
              <a:rPr lang="en-US" altLang="ko-KR" dirty="0"/>
              <a:t>, </a:t>
            </a:r>
            <a:r>
              <a:rPr lang="ko-KR" altLang="en-US" dirty="0"/>
              <a:t>그에 따라 표본에 포함된 값들의 조합도 달라진다</a:t>
            </a:r>
            <a:r>
              <a:rPr lang="en-US" altLang="ko-KR" dirty="0"/>
              <a:t>(</a:t>
            </a:r>
            <a:r>
              <a:rPr lang="ko-KR" altLang="en-US" dirty="0"/>
              <a:t>표본추출변동</a:t>
            </a:r>
            <a:r>
              <a:rPr lang="en-US" altLang="ko-KR" dirty="0"/>
              <a:t>/</a:t>
            </a:r>
            <a:r>
              <a:rPr lang="ko-KR" altLang="en-US" dirty="0"/>
              <a:t>표본오차</a:t>
            </a:r>
            <a:r>
              <a:rPr lang="en-US" altLang="ko-KR" dirty="0"/>
              <a:t>).</a:t>
            </a:r>
          </a:p>
          <a:p>
            <a:r>
              <a:rPr lang="ko-KR" altLang="en-US" dirty="0"/>
              <a:t>다만 표본이 모집단을 어느 정도 대표하고 있으므로</a:t>
            </a:r>
            <a:r>
              <a:rPr lang="en-US" altLang="ko-KR" dirty="0"/>
              <a:t>, </a:t>
            </a:r>
            <a:r>
              <a:rPr lang="ko-KR" altLang="en-US" dirty="0"/>
              <a:t>값 자체는 비슷한 범위 안에서 움직이며</a:t>
            </a:r>
            <a:r>
              <a:rPr lang="en-US" altLang="ko-KR" dirty="0"/>
              <a:t>, </a:t>
            </a:r>
            <a:r>
              <a:rPr lang="ko-KR" altLang="en-US" dirty="0"/>
              <a:t>표본 크기</a:t>
            </a:r>
            <a:r>
              <a:rPr lang="en-US" altLang="ko-KR" dirty="0"/>
              <a:t>(n)</a:t>
            </a:r>
            <a:r>
              <a:rPr lang="ko-KR" altLang="en-US" dirty="0"/>
              <a:t>가 커질수록 서로 다른 사람이 뽑은 표본 평균 간의 차이도 점점 줄어들 것으로 예상된다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8163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ko-KR" altLang="en-US" sz="2400" dirty="0"/>
              <a:t>🧠 데이터를 어떻게 읽을까요</a:t>
            </a:r>
            <a:r>
              <a:rPr lang="en-US" altLang="ko-KR" sz="2400" dirty="0"/>
              <a:t>?</a:t>
            </a:r>
            <a:br>
              <a:rPr lang="en-US" altLang="ko-KR" sz="2400" dirty="0"/>
            </a:br>
            <a:endParaRPr lang="ko-KR" altLang="en-US" sz="2400" dirty="0"/>
          </a:p>
        </p:txBody>
      </p:sp>
      <p:sp>
        <p:nvSpPr>
          <p:cNvPr id="9" name="바닥글 개체 틀 4">
            <a:extLst>
              <a:ext uri="{FF2B5EF4-FFF2-40B4-BE49-F238E27FC236}">
                <a16:creationId xmlns:a16="http://schemas.microsoft.com/office/drawing/2014/main" id="{948F1280-0C85-421E-BF0E-DB3DAF29F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표본조사 체험하기</a:t>
            </a:r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27357B90-43D4-43A9-9C2B-156AED8F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11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125119-0732-41D5-AB74-44B1C1A56A7C}"/>
              </a:ext>
            </a:extLst>
          </p:cNvPr>
          <p:cNvSpPr txBox="1"/>
          <p:nvPr/>
        </p:nvSpPr>
        <p:spPr>
          <a:xfrm>
            <a:off x="672721" y="2123757"/>
            <a:ext cx="1096044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표본 평균들의 분포는 어떤 모양인가요</a:t>
            </a:r>
            <a:r>
              <a:rPr lang="en-US" altLang="ko-KR" b="1" dirty="0"/>
              <a:t>? </a:t>
            </a:r>
            <a:r>
              <a:rPr lang="ko-KR" altLang="en-US" b="1" dirty="0"/>
              <a:t>종 모양의 정규분포처럼 보이나요</a:t>
            </a:r>
            <a:r>
              <a:rPr lang="en-US" altLang="ko-KR" b="1" dirty="0"/>
              <a:t>? </a:t>
            </a:r>
            <a:r>
              <a:rPr lang="ko-KR" altLang="en-US" b="1" dirty="0"/>
              <a:t>그렇다면 왜 그렇게 되는 걸까요</a:t>
            </a:r>
            <a:r>
              <a:rPr lang="en-US" altLang="ko-KR" b="1" dirty="0"/>
              <a:t>?</a:t>
            </a:r>
          </a:p>
          <a:p>
            <a:endParaRPr lang="en-US" altLang="ko-KR" b="1" dirty="0"/>
          </a:p>
          <a:p>
            <a:r>
              <a:rPr lang="ko-KR" altLang="en-US" dirty="0"/>
              <a:t>▶️</a:t>
            </a:r>
            <a:r>
              <a:rPr lang="ko-KR" altLang="en-US" b="1" dirty="0"/>
              <a:t> </a:t>
            </a:r>
            <a:r>
              <a:rPr lang="ko-KR" altLang="en-US" dirty="0"/>
              <a:t>표본 평균들의 분포는 좌우 대칭인</a:t>
            </a:r>
            <a:r>
              <a:rPr lang="en-US" altLang="ko-KR" dirty="0"/>
              <a:t>, </a:t>
            </a:r>
            <a:r>
              <a:rPr lang="ko-KR" altLang="en-US" dirty="0"/>
              <a:t>종 모양의 정규분포에 가까운 형태를 보인다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이는 **중심극한정리</a:t>
            </a:r>
            <a:r>
              <a:rPr lang="en-US" altLang="ko-KR" dirty="0"/>
              <a:t>(Central Limit Theorem)**</a:t>
            </a:r>
            <a:r>
              <a:rPr lang="ko-KR" altLang="en-US" dirty="0"/>
              <a:t>에 따른 결과로</a:t>
            </a:r>
            <a:r>
              <a:rPr lang="en-US" altLang="ko-KR" dirty="0"/>
              <a:t>, </a:t>
            </a:r>
            <a:r>
              <a:rPr lang="ko-KR" altLang="en-US" dirty="0"/>
              <a:t>모집단의 원래 분포 형태</a:t>
            </a:r>
            <a:r>
              <a:rPr lang="en-US" altLang="ko-KR" dirty="0"/>
              <a:t>(</a:t>
            </a:r>
            <a:r>
              <a:rPr lang="ko-KR" altLang="en-US" dirty="0" err="1"/>
              <a:t>정규분포든</a:t>
            </a:r>
            <a:r>
              <a:rPr lang="ko-KR" altLang="en-US" dirty="0"/>
              <a:t> 아니든</a:t>
            </a:r>
            <a:r>
              <a:rPr lang="en-US" altLang="ko-KR" dirty="0"/>
              <a:t>)</a:t>
            </a:r>
            <a:r>
              <a:rPr lang="ko-KR" altLang="en-US" dirty="0"/>
              <a:t>와 무관하게</a:t>
            </a:r>
            <a:r>
              <a:rPr lang="en-US" altLang="ko-KR" dirty="0"/>
              <a:t>, </a:t>
            </a:r>
            <a:r>
              <a:rPr lang="ko-KR" altLang="en-US" dirty="0"/>
              <a:t>표본 크기가 충분히 크면</a:t>
            </a:r>
            <a:r>
              <a:rPr lang="en-US" altLang="ko-KR" dirty="0"/>
              <a:t>(</a:t>
            </a:r>
            <a:r>
              <a:rPr lang="ko-KR" altLang="en-US" dirty="0"/>
              <a:t>일반적으로 </a:t>
            </a:r>
            <a:r>
              <a:rPr lang="en-US" altLang="ko-KR" dirty="0"/>
              <a:t>n≥30) </a:t>
            </a:r>
            <a:r>
              <a:rPr lang="ko-KR" altLang="en-US" dirty="0"/>
              <a:t>반복 추출한 표본 평균들의 분포가 정규분포에 수렴하기 때문이다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표본 크기가 작을 때는 원래 모집단의 비대칭성</a:t>
            </a:r>
            <a:r>
              <a:rPr lang="en-US" altLang="ko-KR" dirty="0"/>
              <a:t>(</a:t>
            </a:r>
            <a:r>
              <a:rPr lang="ko-KR" altLang="en-US" dirty="0"/>
              <a:t>치우침</a:t>
            </a:r>
            <a:r>
              <a:rPr lang="en-US" altLang="ko-KR" dirty="0"/>
              <a:t>)</a:t>
            </a:r>
            <a:r>
              <a:rPr lang="ko-KR" altLang="en-US" dirty="0"/>
              <a:t>이 여전히 남아있어 정규분포 모양이 뚜렷하지 않지만</a:t>
            </a:r>
            <a:r>
              <a:rPr lang="en-US" altLang="ko-KR" dirty="0"/>
              <a:t>, </a:t>
            </a:r>
            <a:r>
              <a:rPr lang="ko-KR" altLang="en-US" dirty="0"/>
              <a:t>크기가 커질수록 이 패턴이 </a:t>
            </a:r>
            <a:r>
              <a:rPr lang="ko-KR" altLang="en-US" dirty="0" err="1"/>
              <a:t>명확해진다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원리 덕분에</a:t>
            </a:r>
            <a:r>
              <a:rPr lang="en-US" altLang="ko-KR" dirty="0"/>
              <a:t>, </a:t>
            </a:r>
            <a:r>
              <a:rPr lang="ko-KR" altLang="en-US" dirty="0"/>
              <a:t>모집단의 실제 분포를 몰라도 표본을 이용한 통계적 추론이 </a:t>
            </a:r>
            <a:r>
              <a:rPr lang="ko-KR" altLang="en-US" dirty="0" err="1"/>
              <a:t>가능해진다는</a:t>
            </a:r>
            <a:r>
              <a:rPr lang="ko-KR" altLang="en-US" dirty="0"/>
              <a:t> 실무적 의의가 있다</a:t>
            </a:r>
            <a:r>
              <a:rPr lang="en-US" altLang="ko-KR" dirty="0"/>
              <a:t>.</a:t>
            </a:r>
            <a:endParaRPr lang="en-US" altLang="ko-KR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endParaRPr lang="en-US" altLang="ko-KR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174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D9D20-B4BB-42AA-8DDD-68CC9F1D95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 latinLnBrk="0"/>
            <a:r>
              <a:rPr lang="ko-KR" altLang="en-US" sz="5400" b="1" i="0" dirty="0">
                <a:solidFill>
                  <a:srgbClr val="1A1918"/>
                </a:solidFill>
                <a:effectLst/>
                <a:latin typeface="Pretendard"/>
              </a:rPr>
              <a:t>감사합니다</a:t>
            </a:r>
            <a:r>
              <a:rPr lang="en-US" altLang="ko-KR" sz="5400" b="1" i="0" dirty="0">
                <a:solidFill>
                  <a:srgbClr val="1A1918"/>
                </a:solidFill>
                <a:effectLst/>
                <a:latin typeface="Pretendard"/>
              </a:rPr>
              <a:t>.</a:t>
            </a:r>
            <a:endParaRPr lang="ko-KR" altLang="en-US" sz="5400" b="1" i="0" dirty="0">
              <a:solidFill>
                <a:srgbClr val="1A1918"/>
              </a:solidFill>
              <a:effectLst/>
              <a:latin typeface="Pretendard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9E8FDB-60EE-45AE-BB89-9A561A61C2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US" altLang="ko-KR" dirty="0"/>
              <a:t>C2: </a:t>
            </a:r>
            <a:r>
              <a:rPr lang="ko-KR" altLang="en-US" dirty="0" err="1"/>
              <a:t>정호성</a:t>
            </a:r>
            <a:r>
              <a:rPr lang="en-US" altLang="ko-KR" dirty="0"/>
              <a:t>, </a:t>
            </a:r>
            <a:r>
              <a:rPr lang="ko-KR" altLang="en-US" dirty="0" err="1"/>
              <a:t>표시철</a:t>
            </a:r>
            <a:r>
              <a:rPr lang="en-US" altLang="ko-KR" dirty="0"/>
              <a:t>(</a:t>
            </a:r>
            <a:r>
              <a:rPr lang="ko-KR" altLang="en-US" dirty="0"/>
              <a:t>팀장</a:t>
            </a:r>
            <a:r>
              <a:rPr lang="en-US" altLang="ko-KR" dirty="0"/>
              <a:t>), </a:t>
            </a:r>
            <a:r>
              <a:rPr lang="ko-KR" altLang="en-US" dirty="0"/>
              <a:t>전유나</a:t>
            </a:r>
            <a:r>
              <a:rPr lang="en-US" altLang="ko-KR" dirty="0"/>
              <a:t>, </a:t>
            </a:r>
            <a:r>
              <a:rPr lang="ko-KR" altLang="en-US" dirty="0"/>
              <a:t>안나영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1775027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399950_TF89213316_Win32_OJ108761954" id="{2C949246-E701-4358-AE1D-5E981A9339C9}" vid="{1C9D17EB-7AF8-47B4-A0BF-F0125A4D3E6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927DC71-2909-427C-BDB0-3E47E210151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DF0A252-5923-47A2-A53A-F9BF729089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90D7697-8E53-4EA8-8CBB-9C19575257B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AccentBox 프레젠테이션</Template>
  <TotalTime>80</TotalTime>
  <Words>957</Words>
  <Application>Microsoft Office PowerPoint</Application>
  <PresentationFormat>와이드스크린</PresentationFormat>
  <Paragraphs>102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Pretendard</vt:lpstr>
      <vt:lpstr>맑은 고딕</vt:lpstr>
      <vt:lpstr>Arial</vt:lpstr>
      <vt:lpstr>Avenir Next LT Pro</vt:lpstr>
      <vt:lpstr>Calibri</vt:lpstr>
      <vt:lpstr>Consolas</vt:lpstr>
      <vt:lpstr>AccentBoxVTI</vt:lpstr>
      <vt:lpstr>문제 1. 표본조사 체험하기</vt:lpstr>
      <vt:lpstr>문제 1. 표본조사 체험하기</vt:lpstr>
      <vt:lpstr>문제 1. 표본조사 체험하기</vt:lpstr>
      <vt:lpstr>전체 고객 만족도 분포 (모집단)</vt:lpstr>
      <vt:lpstr>Q1. 모집단에서 무작위로 30명을 뽑아 표본 평균을 구해봅시다.</vt:lpstr>
      <vt:lpstr>Q2. 이 과정을 500번 반복하고, 표본 평균을 리스트에 저장합니다.</vt:lpstr>
      <vt:lpstr>Q3. 표본 평균들의 분포를 히스토그램으로 그려봅시다. 평균선도 함께 표시해 봅시다.</vt:lpstr>
      <vt:lpstr>표본 평균들의 분포(500회 반복)</vt:lpstr>
      <vt:lpstr>🧠 데이터를 어떻게 읽을까요? </vt:lpstr>
      <vt:lpstr>🧠 데이터를 어떻게 읽을까요? </vt:lpstr>
      <vt:lpstr>🧠 데이터를 어떻게 읽을까요? </vt:lpstr>
      <vt:lpstr>감사합니다.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AccentBox(강조 상자)</dc:title>
  <dc:creator>표스츄리</dc:creator>
  <cp:lastModifiedBy>표스츄리</cp:lastModifiedBy>
  <cp:revision>30</cp:revision>
  <dcterms:created xsi:type="dcterms:W3CDTF">2026-07-27T05:32:26Z</dcterms:created>
  <dcterms:modified xsi:type="dcterms:W3CDTF">2026-07-27T06:52:51Z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