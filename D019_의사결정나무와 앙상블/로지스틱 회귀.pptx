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18"/>
  </p:notesMasterIdLst>
  <p:handoutMasterIdLst>
    <p:handoutMasterId r:id="rId19"/>
  </p:handoutMasterIdLst>
  <p:sldIdLst>
    <p:sldId id="281" r:id="rId5"/>
    <p:sldId id="361" r:id="rId6"/>
    <p:sldId id="353" r:id="rId7"/>
    <p:sldId id="363" r:id="rId8"/>
    <p:sldId id="351" r:id="rId9"/>
    <p:sldId id="364" r:id="rId10"/>
    <p:sldId id="362" r:id="rId11"/>
    <p:sldId id="366" r:id="rId12"/>
    <p:sldId id="367" r:id="rId13"/>
    <p:sldId id="368" r:id="rId14"/>
    <p:sldId id="369" r:id="rId15"/>
    <p:sldId id="370" r:id="rId16"/>
    <p:sldId id="365" r:id="rId1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pos="7392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02" y="96"/>
      </p:cViewPr>
      <p:guideLst>
        <p:guide pos="360"/>
        <p:guide pos="739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EB018AA-DEA7-448F-AE2F-C3D13A0F02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B87A71-96EB-4108-95A3-855A4C360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75E9C40-2B55-43AB-8539-C48809F2FC17}" type="datetime1">
              <a:rPr lang="en-US" altLang="ko-KR" smtClean="0">
                <a:latin typeface="+mj-ea"/>
                <a:ea typeface="+mj-ea"/>
              </a:rPr>
              <a:t>8/11/2026</a:t>
            </a:fld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45591A-E83D-4F8A-B064-12B29D3154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F2308-535F-471C-9423-3467454C92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661E857-36B8-43F1-9D87-FE508167BCE3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002314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58D25597-25DC-4569-9D2F-FB5CC7243947}" type="datetime1">
              <a:rPr lang="ko-KR" altLang="en-US" smtClean="0"/>
              <a:pPr/>
              <a:t>2026-08-11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BCFAAAB6-A2C6-4A85-A3A1-98EFBA61C967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0767529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5951B-AA6B-D06D-CAF6-2B8F35EB5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F5A74A-C0AA-7D2B-2B0B-6A38579F9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BB27D7-CAB4-227A-67D2-054407494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EE051-84B0-2EE0-006A-6010D2CE1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51136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3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85025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13056-B376-8AAB-2802-4428B031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460623-563E-7543-932E-8000A736D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9D27BB-8242-B829-2ED2-E2672EC87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092E5F-D1EA-79CC-1471-740F3A7A6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4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71150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5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7569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E06F-20B0-7E85-666D-2647CDF21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0C9C2C-96BB-EA87-7A4E-4D6D80CEA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4611CE-686E-1D1E-450D-3AD7CFB3E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D18D2D-168E-11A9-2F8E-8D69F62766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6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702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C6D27-2798-9416-B3BA-2EE4A844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A65304-7362-96CF-525A-0B4F7F5E3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D62768-BC3D-2691-1CCB-363052DD9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2AD993-72BE-4CA5-7156-DA0CA434C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7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19909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7BCB-F0C0-FFAC-6913-6114DB4E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CB51E7-7B16-1498-F967-72B4E2746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79F9FC-E0E6-08CA-96CE-1480B3F7C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DF0FF2-59F8-89F5-91A6-8A9F2538B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8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66046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B1BEE-B9DE-494B-0267-13D8707F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17B2FE-5C4C-3260-FA04-7C5389A23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29437A-1CA3-C290-6488-3BFD1A9DE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ACE7B6-EB33-D221-DFB1-5FB9127C2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9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37498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23DF0-86A6-B33A-5306-EC6412A07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BFCF89-CE13-8AD0-7AED-C3FF3AD3D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E799FD-935B-9423-AD42-537FC20483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5D0EFD-65AD-4E3E-FFDD-B9D643D73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10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16374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B485-07C3-A8CC-52E8-BF3B26BA7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B2B1ED-4DC7-1BC6-F99D-8D2CC3CB9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068E11-A0DF-1E80-3EC4-A860D9952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EF4890-5B14-A9E7-3DB6-75D0508A1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11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19564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C01A-A276-3E50-1A88-7EF71B5F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5B4998-6379-9D75-FC71-9E931768D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948309-596F-C6E5-34EF-5B80A74BA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21EBCC-7393-A3CC-B927-E03AD4E2D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FAAAB6-A2C6-4A85-A3A1-98EFBA61C967}" type="slidenum">
              <a:rPr lang="en-US" altLang="ko-KR" smtClean="0">
                <a:latin typeface="+mj-ea"/>
                <a:ea typeface="+mj-ea"/>
              </a:rPr>
              <a:t>12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81472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2FFB2-C8C7-5BF0-A698-BE6832223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887D1C-1300-85DE-B193-E2BFC0F71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430EDD-1383-0FBD-CA5E-72FBBA18D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>
              <a:effectLst/>
              <a:latin typeface="+mj-ea"/>
              <a:ea typeface="+mj-ea"/>
            </a:endParaRPr>
          </a:p>
          <a:p>
            <a:pPr rtl="0"/>
            <a:r>
              <a:rPr lang="en-US" altLang="ko-KR">
                <a:latin typeface="+mj-ea"/>
                <a:ea typeface="+mj-ea"/>
              </a:rPr>
              <a:t>ID=d924773e-9a16-4d6d-9803-8cb819e99682</a:t>
            </a:r>
            <a:r>
              <a:rPr lang="ko-KR" altLang="en-US">
                <a:latin typeface="+mj-ea"/>
                <a:ea typeface="+mj-ea"/>
              </a:rPr>
              <a:t>
</a:t>
            </a:r>
            <a:r>
              <a:rPr lang="en-US" altLang="ko-KR">
                <a:latin typeface="+mj-ea"/>
                <a:ea typeface="+mj-ea"/>
              </a:rPr>
              <a:t>Recipe=text_billboard
Type=TextOnly
Variant=0
FamilyID=AccentBoxWalbaum_Zero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BFD1B5-ABF9-89A3-A818-F26FCC443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EAA36B1-75F6-458C-B388-8BC01E9857C8}" type="slidenum">
              <a:rPr lang="en-US" altLang="ko-KR" smtClean="0">
                <a:latin typeface="+mj-ea"/>
                <a:ea typeface="+mj-ea"/>
              </a:rPr>
              <a:t>13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9580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1368" y="1664208"/>
            <a:ext cx="8586216" cy="2176272"/>
          </a:xfrm>
        </p:spPr>
        <p:txBody>
          <a:bodyPr rtlCol="0" anchor="ctr">
            <a:normAutofit/>
          </a:bodyPr>
          <a:lstStyle>
            <a:lvl1pPr algn="ctr">
              <a:defRPr sz="6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964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4064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4064" y="3355848"/>
            <a:ext cx="6272784" cy="2825496"/>
          </a:xfrm>
        </p:spPr>
        <p:txBody>
          <a:bodyPr rtlCol="0"/>
          <a:lstStyle>
            <a:lvl1pPr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</p:spTree>
    <p:extLst>
      <p:ext uri="{BB962C8B-B14F-4D97-AF65-F5344CB8AC3E}">
        <p14:creationId xmlns:p14="http://schemas.microsoft.com/office/powerpoint/2010/main" val="381258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7013448" cy="2990088"/>
          </a:xfrm>
        </p:spPr>
        <p:txBody>
          <a:bodyPr rtlCol="0" anchor="ctr">
            <a:normAutofit/>
          </a:bodyPr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54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직사각형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5568" y="2478024"/>
            <a:ext cx="10168128" cy="3694176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938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rtlCol="0" anchor="ctr">
            <a:normAutofit/>
          </a:bodyPr>
          <a:lstStyle>
            <a:lvl1pPr algn="ctr">
              <a:defRPr sz="4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  <a:endParaRPr lang="ko-KR" altLang="en-US" noProof="0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24452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2239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607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4555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2" name="그림 개체 틀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9923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33" name="그림 개체 틀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026871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"/>
              <a:t>그림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7" name="텍스트 개체 틀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8" name="텍스트 개체 틀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39" name="텍스트 개체 틀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0" name="텍스트 개체 틀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  <p:sp>
        <p:nvSpPr>
          <p:cNvPr id="41" name="텍스트 개체 틀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ko"/>
              <a:t>이름</a:t>
            </a:r>
          </a:p>
          <a:p>
            <a:pPr lvl="1" rtl="0"/>
            <a:r>
              <a:rPr lang="ko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43151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93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 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직사각형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3203688"/>
            <a:ext cx="329184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0799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0799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텍스트 개체 틀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3991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내용 개체 틀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3991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</p:spTree>
    <p:extLst>
      <p:ext uri="{BB962C8B-B14F-4D97-AF65-F5344CB8AC3E}">
        <p14:creationId xmlns:p14="http://schemas.microsoft.com/office/powerpoint/2010/main" val="220226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978408"/>
            <a:ext cx="4059936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59152"/>
            <a:ext cx="4059936" cy="3429000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97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개의 그림이 있는 제목 및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직사각형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978408"/>
            <a:ext cx="3721608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ko"/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그림 개체 틀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그림 개체 틀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8" name="날짜 개체 틀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19" name="바닥글 개체 틀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그림 개체 틀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72400" y="3099816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1" name="텍스트 개체 틀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772400" y="4215384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텍스트 개체 틀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772400" y="5321808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그림 개체 틀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4" name="그림 개체 틀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  <p:sp>
        <p:nvSpPr>
          <p:cNvPr id="25" name="그림 개체 틀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ko"/>
              <a:t>아이콘</a:t>
            </a:r>
          </a:p>
        </p:txBody>
      </p:sp>
    </p:spTree>
    <p:extLst>
      <p:ext uri="{BB962C8B-B14F-4D97-AF65-F5344CB8AC3E}">
        <p14:creationId xmlns:p14="http://schemas.microsoft.com/office/powerpoint/2010/main" val="343934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직사각형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9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680" y="3429000"/>
            <a:ext cx="3099816" cy="20665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" dirty="0"/>
              <a:t>마스터 텍스트 스타일을 편집하려면 클릭하세요.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224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ko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r>
              <a:rPr lang="ko"/>
              <a:t>9/4/20XX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24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9/4/20XX</a:t>
            </a:r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65A5C87-DF58-40C8-B092-1DE63DB4547E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7851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30" r:id="rId2"/>
    <p:sldLayoutId id="2147483731" r:id="rId3"/>
    <p:sldLayoutId id="2147483723" r:id="rId4"/>
    <p:sldLayoutId id="2147483722" r:id="rId5"/>
    <p:sldLayoutId id="2147483732" r:id="rId6"/>
    <p:sldLayoutId id="2147483736" r:id="rId7"/>
    <p:sldLayoutId id="2147483725" r:id="rId8"/>
    <p:sldLayoutId id="2147483733" r:id="rId9"/>
    <p:sldLayoutId id="2147483734" r:id="rId10"/>
    <p:sldLayoutId id="2147483735" r:id="rId11"/>
    <p:sldLayoutId id="2147483726" r:id="rId12"/>
    <p:sldLayoutId id="2147483727" r:id="rId13"/>
    <p:sldLayoutId id="2147483728" r:id="rId14"/>
    <p:sldLayoutId id="2147483729" r:id="rId15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ko-KR" altLang="en-US" dirty="0"/>
              <a:t>로지스틱 회귀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9E8FDB-60EE-45AE-BB89-9A561A61C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표시철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0A40-08C9-23AB-953B-6A5FC14B7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21DDAA-1B2B-9CEA-0AB6-C1C9D12E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로지스틱 회귀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D3C01B55-8497-D896-05E1-D802BFB9D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7" y="2161272"/>
            <a:ext cx="10581627" cy="4148087"/>
          </a:xfrm>
        </p:spPr>
        <p:txBody>
          <a:bodyPr rtlCol="0">
            <a:normAutofit fontScale="92500" lnSpcReduction="10000"/>
          </a:bodyPr>
          <a:lstStyle/>
          <a:p>
            <a:r>
              <a:rPr lang="ko-KR" altLang="en-US" dirty="0" err="1"/>
              <a:t>한줄</a:t>
            </a:r>
            <a:r>
              <a:rPr lang="ko-KR" altLang="en-US" dirty="0"/>
              <a:t> 정의</a:t>
            </a:r>
            <a:r>
              <a:rPr lang="en-US" altLang="ko-KR" dirty="0"/>
              <a:t>: </a:t>
            </a:r>
            <a:r>
              <a:rPr lang="ko-KR" altLang="en-US" dirty="0"/>
              <a:t>결과가 예</a:t>
            </a:r>
            <a:r>
              <a:rPr lang="en-US" altLang="ko-KR" dirty="0"/>
              <a:t>/</a:t>
            </a:r>
            <a:r>
              <a:rPr lang="ko-KR" altLang="en-US" dirty="0" err="1"/>
              <a:t>아니오</a:t>
            </a:r>
            <a:r>
              <a:rPr lang="en-US" altLang="ko-KR" dirty="0"/>
              <a:t>(</a:t>
            </a:r>
            <a:r>
              <a:rPr lang="ko-KR" altLang="en-US" dirty="0"/>
              <a:t>두 개 범주</a:t>
            </a:r>
            <a:r>
              <a:rPr lang="en-US" altLang="ko-KR" dirty="0"/>
              <a:t>) </a:t>
            </a:r>
            <a:r>
              <a:rPr lang="ko-KR" altLang="en-US" dirty="0"/>
              <a:t>중 하나일 때</a:t>
            </a:r>
            <a:r>
              <a:rPr lang="en-US" altLang="ko-KR" dirty="0"/>
              <a:t>, </a:t>
            </a:r>
            <a:r>
              <a:rPr lang="ko-KR" altLang="en-US" dirty="0"/>
              <a:t>그 일이 일어날 확률을 예측하는 모델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고객은 산다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 산다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“, “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회원탈퇴를 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 한다</a:t>
            </a:r>
            <a:r>
              <a:rPr lang="en-US" altLang="ko-KR" dirty="0"/>
              <a:t>＂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딱 잘라 알려준다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고객이 살 확률은 몇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%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“, “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고객이 탈퇴할 확률은 몇 </a:t>
            </a:r>
            <a:r>
              <a:rPr lang="en-US" altLang="ko-KR" dirty="0"/>
              <a:t>%</a:t>
            </a:r>
            <a:r>
              <a:rPr lang="ko-KR" altLang="en-US" dirty="0"/>
              <a:t>다</a:t>
            </a:r>
            <a:r>
              <a:rPr lang="en-US" altLang="ko-KR" dirty="0"/>
              <a:t>.”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라는</a:t>
            </a:r>
            <a:r>
              <a:rPr lang="en-US" altLang="ko-KR" dirty="0"/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연속된 확률 값을 알려준다</a:t>
            </a:r>
            <a:r>
              <a:rPr lang="en-US" altLang="ko-KR" dirty="0"/>
              <a:t>.</a:t>
            </a:r>
          </a:p>
          <a:p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로지스틱 회귀는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분류기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아니라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위험도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가능성 순위표를 만드는 도구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쓰이는 경우가 훨씬 많음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쿠폰 예산이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 명분뿐일 때 →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 명의 구매확률을 각각 계산 → 확률 높은 순으로 정렬 → 상위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 명에게 발송이 방식은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이커머스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외에도 널리 쓰임</a:t>
            </a:r>
            <a:endParaRPr lang="en-US" altLang="ko-KR" dirty="0"/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신용평가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연체확률 높은 순으로 심사 우선순위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의료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재입원확률 높은 질병 순으로 관리 우선순위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05FFF892-B169-82E6-F80A-CB3DBE7E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2587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D3A99-BC9D-4DC2-BE1B-9E2C93EDD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ko-KR" altLang="en-US" sz="4000" dirty="0"/>
              <a:t>적절한 세일 </a:t>
            </a:r>
            <a:r>
              <a:rPr lang="en-US" altLang="ko-KR" sz="4000" dirty="0"/>
              <a:t>%</a:t>
            </a:r>
            <a:r>
              <a:rPr lang="ko-KR" altLang="en-US" sz="4000" dirty="0"/>
              <a:t>를 찾아라🤔</a:t>
            </a:r>
            <a:endParaRPr lang="en-US" altLang="ko-KR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7D061C-023A-4DD9-8847-DD771855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r>
              <a:rPr lang="ko-KR" altLang="en-US" sz="2000" dirty="0"/>
              <a:t>세일 </a:t>
            </a:r>
            <a:r>
              <a:rPr lang="en-US" altLang="ko-KR" sz="2000" dirty="0"/>
              <a:t>% vs </a:t>
            </a:r>
            <a:r>
              <a:rPr lang="ko-KR" altLang="en-US" sz="2000" dirty="0"/>
              <a:t>구매 여부</a:t>
            </a:r>
            <a:endParaRPr lang="ko-KR" altLang="en-US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754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9DCB-2C83-BFA7-F398-72C9768C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054EB-0731-2C2D-C543-25AE7197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시나리오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62222317-38AF-658A-1F4A-EF13E8379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7" y="2161272"/>
            <a:ext cx="10581627" cy="4148087"/>
          </a:xfrm>
        </p:spPr>
        <p:txBody>
          <a:bodyPr rtlCol="0">
            <a:norm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4,200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 고객 데이터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할인율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×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컬럼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discount_pct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할인율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%), </a:t>
            </a:r>
            <a:r>
              <a:rPr lang="en-US" altLang="ko-KR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session_time_sec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사이트 체류시간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부가변수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purchased(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구매여부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0/1)</a:t>
            </a: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일부러 변곡점을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30%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근처에 설계 →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"20%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이하에서는 거의 안 사고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25~45%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구간에서 급격히 오르고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50%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넘으면 거의 다 산다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 패턴이 뚜렷하게 나타남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F3E9B3A8-045E-CA72-9818-6ACFE528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468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209E4-B947-4446-AD42-C1B3A0C1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/>
              <a:t>할인율별 실제 구매비율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표 9">
            <a:extLst>
              <a:ext uri="{FF2B5EF4-FFF2-40B4-BE49-F238E27FC236}">
                <a16:creationId xmlns:a16="http://schemas.microsoft.com/office/drawing/2014/main" id="{1BE60BCC-2676-47EB-A76E-FAE649D9F1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3224746"/>
              </p:ext>
            </p:extLst>
          </p:nvPr>
        </p:nvGraphicFramePr>
        <p:xfrm>
          <a:off x="1116013" y="2478088"/>
          <a:ext cx="4067174" cy="35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587">
                  <a:extLst>
                    <a:ext uri="{9D8B030D-6E8A-4147-A177-3AD203B41FA5}">
                      <a16:colId xmlns:a16="http://schemas.microsoft.com/office/drawing/2014/main" val="3093316935"/>
                    </a:ext>
                  </a:extLst>
                </a:gridCol>
                <a:gridCol w="2033587">
                  <a:extLst>
                    <a:ext uri="{9D8B030D-6E8A-4147-A177-3AD203B41FA5}">
                      <a16:colId xmlns:a16="http://schemas.microsoft.com/office/drawing/2014/main" val="304523911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할인율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구매비율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5849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0.3%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3947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86599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4.7%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211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8.0%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15859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18.3%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37382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30.7%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623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51.0%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440566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68.7%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365996"/>
                  </a:ext>
                </a:extLst>
              </a:tr>
            </a:tbl>
          </a:graphicData>
        </a:graphic>
      </p:graphicFrame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2F663528-6F48-4679-80D6-A9D36226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9/4/20XX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948F1280-0C85-421E-BF0E-DB3DAF29F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프레젠테이션 제목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7357B90-43D4-43A9-9C2B-156AED8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1" name="표 9">
            <a:extLst>
              <a:ext uri="{FF2B5EF4-FFF2-40B4-BE49-F238E27FC236}">
                <a16:creationId xmlns:a16="http://schemas.microsoft.com/office/drawing/2014/main" id="{63EA0C56-BC79-9213-DF08-F210A8A714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7319163"/>
              </p:ext>
            </p:extLst>
          </p:nvPr>
        </p:nvGraphicFramePr>
        <p:xfrm>
          <a:off x="5948825" y="2478088"/>
          <a:ext cx="4067174" cy="27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587">
                  <a:extLst>
                    <a:ext uri="{9D8B030D-6E8A-4147-A177-3AD203B41FA5}">
                      <a16:colId xmlns:a16="http://schemas.microsoft.com/office/drawing/2014/main" val="3830330461"/>
                    </a:ext>
                  </a:extLst>
                </a:gridCol>
                <a:gridCol w="2033587">
                  <a:extLst>
                    <a:ext uri="{9D8B030D-6E8A-4147-A177-3AD203B41FA5}">
                      <a16:colId xmlns:a16="http://schemas.microsoft.com/office/drawing/2014/main" val="304523911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할인율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구매비율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58493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81.0%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39475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45%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90.3%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86599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97.0%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2111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98.3%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215859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37382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362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35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B4586-428A-411C-43AB-8874279D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4210B6-3BCC-9CBA-12C5-C3750B592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로지스틱 회귀로 적합 시킨 결과</a:t>
            </a:r>
            <a:r>
              <a:rPr lang="en-US" altLang="ko-KR" dirty="0"/>
              <a:t>, </a:t>
            </a:r>
            <a:r>
              <a:rPr lang="ko-KR" altLang="en-US" dirty="0"/>
              <a:t>변곡점</a:t>
            </a:r>
            <a:r>
              <a:rPr lang="en-US" altLang="ko-KR" dirty="0"/>
              <a:t>(</a:t>
            </a:r>
            <a:r>
              <a:rPr lang="ko-KR" altLang="en-US" dirty="0"/>
              <a:t>구매확률 </a:t>
            </a:r>
            <a:r>
              <a:rPr lang="en-US" altLang="ko-KR" dirty="0"/>
              <a:t>50%)</a:t>
            </a:r>
            <a:r>
              <a:rPr lang="ko-KR" altLang="en-US" dirty="0"/>
              <a:t>이 정확히 </a:t>
            </a:r>
            <a:r>
              <a:rPr lang="en-US" altLang="ko-KR" dirty="0"/>
              <a:t>30.1%</a:t>
            </a:r>
            <a:r>
              <a:rPr lang="ko-KR" altLang="en-US" dirty="0"/>
              <a:t>로 확인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20% </a:t>
            </a:r>
            <a:r>
              <a:rPr lang="ko-KR" altLang="en-US" dirty="0"/>
              <a:t>할인까지는 효과가 미미</a:t>
            </a:r>
            <a:endParaRPr lang="en-US" altLang="ko-KR" dirty="0"/>
          </a:p>
          <a:p>
            <a:r>
              <a:rPr lang="en-US" altLang="ko-KR" dirty="0"/>
              <a:t>25~45% </a:t>
            </a:r>
            <a:r>
              <a:rPr lang="ko-KR" altLang="en-US" dirty="0"/>
              <a:t>사이에서 전환율이 폭발적으로 늘고</a:t>
            </a:r>
            <a:endParaRPr lang="en-US" altLang="ko-KR" dirty="0"/>
          </a:p>
          <a:p>
            <a:r>
              <a:rPr lang="en-US" altLang="ko-KR" dirty="0"/>
              <a:t>50% </a:t>
            </a:r>
            <a:r>
              <a:rPr lang="ko-KR" altLang="en-US" dirty="0"/>
              <a:t>넘으면 더 늘려도 효과가 거의 없다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9194BE7-3195-442B-66DE-62EA6CA2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/>
              <a:t>할인율별 실제 구매비율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4ED1EF4-518F-D278-CC6A-64CB2420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9/4/20XX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0658B5A3-4EF5-CEF3-9AD0-EE19E1EA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프레젠테이션 제목</a:t>
            </a:r>
          </a:p>
        </p:txBody>
      </p:sp>
      <p:sp>
        <p:nvSpPr>
          <p:cNvPr id="10" name="슬라이드 번호 개체 틀 5">
            <a:extLst>
              <a:ext uri="{FF2B5EF4-FFF2-40B4-BE49-F238E27FC236}">
                <a16:creationId xmlns:a16="http://schemas.microsoft.com/office/drawing/2014/main" id="{2BD65EAA-70F0-2CCA-455E-B6FAC7F8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78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8E0F2-B231-407F-B8A6-3C095ABC6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DEA49-4BAB-F9C5-C132-62D2DB137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변곡점</a:t>
            </a:r>
            <a:r>
              <a:rPr lang="en-US" altLang="ko-KR" dirty="0"/>
              <a:t>(inflection point)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988CA6B8-A480-8A6D-1E66-CC3F0CC34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7" y="2161272"/>
            <a:ext cx="10581627" cy="4148087"/>
          </a:xfrm>
        </p:spPr>
        <p:txBody>
          <a:bodyPr rtlCol="0">
            <a:normAutofit/>
          </a:bodyPr>
          <a:lstStyle/>
          <a:p>
            <a:r>
              <a:rPr lang="ko-KR" altLang="en-US" dirty="0"/>
              <a:t>변곡점</a:t>
            </a:r>
            <a:r>
              <a:rPr lang="en-US" altLang="ko-KR" dirty="0"/>
              <a:t>(inflection point): </a:t>
            </a:r>
            <a:r>
              <a:rPr lang="ko-KR" altLang="en-US" dirty="0"/>
              <a:t>곡선이 </a:t>
            </a:r>
            <a:r>
              <a:rPr lang="en-US" altLang="ko-KR" dirty="0"/>
              <a:t>"</a:t>
            </a:r>
            <a:r>
              <a:rPr lang="ko-KR" altLang="en-US" dirty="0"/>
              <a:t>휘어지는 방향이 바뀌는 지점</a:t>
            </a:r>
            <a:r>
              <a:rPr lang="en-US" altLang="ko-KR" dirty="0"/>
              <a:t>"</a:t>
            </a:r>
            <a:r>
              <a:rPr lang="ko-KR" altLang="en-US" dirty="0"/>
              <a:t>을 의미함</a:t>
            </a:r>
            <a:r>
              <a:rPr lang="en-US" altLang="ko-KR" dirty="0"/>
              <a:t>. S</a:t>
            </a:r>
            <a:r>
              <a:rPr lang="ko-KR" altLang="en-US" dirty="0"/>
              <a:t>자 곡선에서는 조금 다르게</a:t>
            </a:r>
            <a:r>
              <a:rPr lang="en-US" altLang="ko-KR" dirty="0"/>
              <a:t>, </a:t>
            </a:r>
            <a:r>
              <a:rPr lang="ko-KR" altLang="en-US" dirty="0"/>
              <a:t>증가하는 속도</a:t>
            </a:r>
            <a:r>
              <a:rPr lang="en-US" altLang="ko-KR" dirty="0"/>
              <a:t>(</a:t>
            </a:r>
            <a:r>
              <a:rPr lang="ko-KR" altLang="en-US" dirty="0"/>
              <a:t>기울기</a:t>
            </a:r>
            <a:r>
              <a:rPr lang="en-US" altLang="ko-KR" dirty="0"/>
              <a:t>)</a:t>
            </a:r>
            <a:r>
              <a:rPr lang="ko-KR" altLang="en-US" dirty="0"/>
              <a:t>가 가장 가파른 지점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dirty="0"/>
              <a:t>"</a:t>
            </a:r>
            <a:r>
              <a:rPr lang="ko-KR" altLang="en-US" dirty="0"/>
              <a:t>위로 볼록</a:t>
            </a:r>
            <a:r>
              <a:rPr lang="en-US" altLang="ko-KR" dirty="0"/>
              <a:t>"</a:t>
            </a:r>
            <a:r>
              <a:rPr lang="ko-KR" altLang="en-US" dirty="0"/>
              <a:t>에서 </a:t>
            </a:r>
            <a:r>
              <a:rPr lang="en-US" altLang="ko-KR" dirty="0"/>
              <a:t>"</a:t>
            </a:r>
            <a:r>
              <a:rPr lang="ko-KR" altLang="en-US" dirty="0"/>
              <a:t>아래로 볼록</a:t>
            </a:r>
            <a:r>
              <a:rPr lang="en-US" altLang="ko-KR" dirty="0"/>
              <a:t>"</a:t>
            </a:r>
            <a:r>
              <a:rPr lang="ko-KR" altLang="en-US" dirty="0"/>
              <a:t>으로 바뀌는 지점을 의미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변곡점 이전</a:t>
            </a:r>
            <a:r>
              <a:rPr lang="en-US" altLang="ko-KR" dirty="0"/>
              <a:t>(0~30%): </a:t>
            </a:r>
            <a:r>
              <a:rPr lang="ko-KR" altLang="en-US" dirty="0"/>
              <a:t>곡선이 </a:t>
            </a:r>
            <a:r>
              <a:rPr lang="en-US" altLang="ko-KR" dirty="0"/>
              <a:t>"</a:t>
            </a:r>
            <a:r>
              <a:rPr lang="ko-KR" altLang="en-US" dirty="0"/>
              <a:t>위로 볼록</a:t>
            </a:r>
            <a:r>
              <a:rPr lang="en-US" altLang="ko-KR" dirty="0"/>
              <a:t>"</a:t>
            </a:r>
            <a:r>
              <a:rPr lang="ko-KR" altLang="en-US" dirty="0"/>
              <a:t>하게 휘어짐 </a:t>
            </a:r>
            <a:r>
              <a:rPr lang="en-US" altLang="ko-KR" dirty="0"/>
              <a:t>— </a:t>
            </a:r>
            <a:r>
              <a:rPr lang="ko-KR" altLang="en-US" dirty="0"/>
              <a:t>할인율을 올려도 구매확률이 천천히 증가 </a:t>
            </a:r>
            <a:r>
              <a:rPr lang="en-US" altLang="ko-KR" dirty="0"/>
              <a:t>(</a:t>
            </a:r>
            <a:r>
              <a:rPr lang="ko-KR" altLang="en-US" dirty="0"/>
              <a:t>아직 가속 구간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변곡점</a:t>
            </a:r>
            <a:r>
              <a:rPr lang="en-US" altLang="ko-KR" dirty="0"/>
              <a:t>(30.1%): </a:t>
            </a:r>
            <a:r>
              <a:rPr lang="ko-KR" altLang="en-US" dirty="0"/>
              <a:t>증가 속도가 최고조에 달하는 지점 </a:t>
            </a:r>
            <a:r>
              <a:rPr lang="en-US" altLang="ko-KR" dirty="0"/>
              <a:t>— </a:t>
            </a:r>
            <a:r>
              <a:rPr lang="ko-KR" altLang="en-US" dirty="0"/>
              <a:t>여기서 할인율을 </a:t>
            </a:r>
            <a:r>
              <a:rPr lang="en-US" altLang="ko-KR" dirty="0"/>
              <a:t>1%p</a:t>
            </a:r>
            <a:r>
              <a:rPr lang="ko-KR" altLang="en-US" dirty="0"/>
              <a:t>만 올려도 구매확률이 가장 크게 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변곡점 이후</a:t>
            </a:r>
            <a:r>
              <a:rPr lang="en-US" altLang="ko-KR" dirty="0"/>
              <a:t>(30~80%): </a:t>
            </a:r>
            <a:r>
              <a:rPr lang="ko-KR" altLang="en-US" dirty="0"/>
              <a:t>곡선이 </a:t>
            </a:r>
            <a:r>
              <a:rPr lang="en-US" altLang="ko-KR" dirty="0"/>
              <a:t>"</a:t>
            </a:r>
            <a:r>
              <a:rPr lang="ko-KR" altLang="en-US" dirty="0"/>
              <a:t>아래로 볼록</a:t>
            </a:r>
            <a:r>
              <a:rPr lang="en-US" altLang="ko-KR" dirty="0"/>
              <a:t>"</a:t>
            </a:r>
            <a:r>
              <a:rPr lang="ko-KR" altLang="en-US" dirty="0"/>
              <a:t>하게 휘어짐 </a:t>
            </a:r>
            <a:r>
              <a:rPr lang="en-US" altLang="ko-KR" dirty="0"/>
              <a:t>— </a:t>
            </a:r>
            <a:r>
              <a:rPr lang="ko-KR" altLang="en-US" dirty="0"/>
              <a:t>이미 대부분 사기로 마음먹은 상태라</a:t>
            </a:r>
            <a:r>
              <a:rPr lang="en-US" altLang="ko-KR" dirty="0"/>
              <a:t>, </a:t>
            </a:r>
            <a:r>
              <a:rPr lang="ko-KR" altLang="en-US" dirty="0"/>
              <a:t>할인율을 더 올려도 구매확률 증가폭이 점점 </a:t>
            </a:r>
            <a:r>
              <a:rPr lang="ko-KR" altLang="en-US" dirty="0" err="1"/>
              <a:t>둔해짐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포화 구간</a:t>
            </a:r>
            <a:r>
              <a:rPr lang="en-US" altLang="ko-KR" dirty="0"/>
              <a:t>)</a:t>
            </a:r>
          </a:p>
          <a:p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5D1B03CB-8C02-BB44-DFC1-3E835247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6B2529-6AB3-E0E7-474E-5ADB8FD85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91" y="136525"/>
            <a:ext cx="2863997" cy="180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71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6BFC0-D1B5-A5E4-9CD0-46B0BDB2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3DE5B-3460-8253-B669-5CE3B6D1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/>
              <a:t>오즈</a:t>
            </a:r>
            <a:r>
              <a:rPr lang="en-US" altLang="ko-KR" dirty="0"/>
              <a:t>(Odds)</a:t>
            </a:r>
            <a:r>
              <a:rPr lang="ko-KR" altLang="en-US" dirty="0"/>
              <a:t>와 </a:t>
            </a:r>
            <a:r>
              <a:rPr lang="ko-KR" altLang="en-US" dirty="0" err="1"/>
              <a:t>오즈비</a:t>
            </a:r>
            <a:r>
              <a:rPr lang="en-US" altLang="ko-KR" dirty="0"/>
              <a:t>(Odds Ratio)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F597B468-4E38-DB19-172E-36A729A3BE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7" y="2161272"/>
            <a:ext cx="10581627" cy="4148088"/>
          </a:xfrm>
        </p:spPr>
        <p:txBody>
          <a:bodyPr rtlCol="0">
            <a:norm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오즈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= 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일어날 확률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 일어날 확률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endParaRPr lang="en-US" altLang="ko-KR" dirty="0"/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실무에서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할인율이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1%p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오를 때마다 구매 오즈가 몇 배 뛴다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식으로 해석할 때 씀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확률 자체보다 오즈로 설명하는 게 통계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의학 분야에선 표준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b="1" dirty="0"/>
              <a:t>확률</a:t>
            </a:r>
            <a:r>
              <a:rPr lang="ko-KR" altLang="en-US" dirty="0"/>
              <a:t> </a:t>
            </a:r>
            <a:r>
              <a:rPr lang="en-US" altLang="ko-KR" dirty="0"/>
              <a:t>= "10</a:t>
            </a:r>
            <a:r>
              <a:rPr lang="ko-KR" altLang="en-US" dirty="0"/>
              <a:t>명 중 몇 명이 살까</a:t>
            </a:r>
            <a:r>
              <a:rPr lang="en-US" altLang="ko-KR" dirty="0"/>
              <a:t>"</a:t>
            </a:r>
            <a:br>
              <a:rPr lang="en-US" altLang="ko-KR" dirty="0"/>
            </a:br>
            <a:r>
              <a:rPr lang="ko-KR" altLang="en-US" b="1" dirty="0"/>
              <a:t>오즈</a:t>
            </a:r>
            <a:r>
              <a:rPr lang="ko-KR" altLang="en-US" dirty="0"/>
              <a:t> </a:t>
            </a:r>
            <a:r>
              <a:rPr lang="en-US" altLang="ko-KR" dirty="0"/>
              <a:t>= "</a:t>
            </a:r>
            <a:r>
              <a:rPr lang="ko-KR" altLang="en-US" dirty="0"/>
              <a:t>사는 사람이 안 사는 사람보다 몇 배 많은가</a:t>
            </a:r>
            <a:r>
              <a:rPr lang="en-US" altLang="ko-KR" dirty="0"/>
              <a:t>"</a:t>
            </a:r>
            <a:br>
              <a:rPr lang="en-US" altLang="ko-KR" dirty="0"/>
            </a:br>
            <a:r>
              <a:rPr lang="ko-KR" altLang="en-US" b="1" dirty="0" err="1"/>
              <a:t>오즈비</a:t>
            </a:r>
            <a:r>
              <a:rPr lang="ko-KR" altLang="en-US" dirty="0"/>
              <a:t> </a:t>
            </a:r>
            <a:r>
              <a:rPr lang="en-US" altLang="ko-KR" dirty="0"/>
              <a:t>= "</a:t>
            </a:r>
            <a:r>
              <a:rPr lang="ko-KR" altLang="en-US" dirty="0"/>
              <a:t>할인율을 </a:t>
            </a:r>
            <a:r>
              <a:rPr lang="en-US" altLang="ko-KR" dirty="0"/>
              <a:t>1%p </a:t>
            </a:r>
            <a:r>
              <a:rPr lang="ko-KR" altLang="en-US" dirty="0"/>
              <a:t>올리면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'</a:t>
            </a:r>
            <a:r>
              <a:rPr lang="ko-KR" altLang="en-US" dirty="0"/>
              <a:t>몇 배</a:t>
            </a:r>
            <a:r>
              <a:rPr lang="en-US" altLang="ko-KR" dirty="0"/>
              <a:t>'</a:t>
            </a:r>
            <a:r>
              <a:rPr lang="ko-KR" altLang="en-US" dirty="0"/>
              <a:t>가 또 몇 배로 커지는가</a:t>
            </a:r>
            <a:r>
              <a:rPr lang="en-US" altLang="ko-KR" dirty="0"/>
              <a:t>"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6EF2BC2F-8ED9-64EA-E281-C6C1E91A8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037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2DD68-3290-8443-548E-2FB7C222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31E54-3C2A-E10D-6E9D-FBCF1B38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/>
              <a:t>분류 기준선</a:t>
            </a:r>
            <a:r>
              <a:rPr lang="en-US" altLang="ko-KR" dirty="0"/>
              <a:t>(Threshold)</a:t>
            </a:r>
            <a:r>
              <a:rPr lang="ko-KR" altLang="en-US" dirty="0"/>
              <a:t>의 임의성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6102C49D-411E-B414-02F3-B6AD95E78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7" y="2161272"/>
            <a:ext cx="10581627" cy="3111372"/>
          </a:xfrm>
        </p:spPr>
        <p:txBody>
          <a:bodyPr rtlCol="0">
            <a:normAutofit/>
          </a:bodyPr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분류 기준선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(Threshold):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로지스틱 회귀가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뱉어낸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확률값을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잘라내는 경계선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"50%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넘으면 구매로 분류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우리가 정한 약속일 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정답이 아님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기준선을 낮추면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30%) →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더 많은 사람을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위험군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구매군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분류 → 놓치는 사람은 줄지만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오탐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(false positive)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 늘어남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상황에 따라 기준선을 다르게 잡아야 함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암 진단처럼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놓치면 치명적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 경우는 기준선을 낮추고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민감하게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스팸 필터처럼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잘못 걸러내면 불편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경우는 기준선을 높임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E38290FF-C1D1-8D1F-5D6F-532DD1C9B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991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2139-A826-7962-AE9B-8CF7D5D2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1176C-2FB6-9123-749C-C90C09D9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/>
              <a:t>분류 기준선</a:t>
            </a:r>
            <a:r>
              <a:rPr lang="en-US" altLang="ko-KR" dirty="0"/>
              <a:t>(Threshold)</a:t>
            </a:r>
            <a:r>
              <a:rPr lang="ko-KR" altLang="en-US" dirty="0"/>
              <a:t>의 임의성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B55D1B41-4213-8BCD-580D-E9A25FC4D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7" y="2161272"/>
            <a:ext cx="10581627" cy="3717014"/>
          </a:xfrm>
        </p:spPr>
        <p:txBody>
          <a:bodyPr rtlCol="0">
            <a:normAutofit/>
          </a:bodyPr>
          <a:lstStyle/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기준선을 </a:t>
            </a:r>
            <a:r>
              <a:rPr lang="en-US" altLang="ko-KR" b="1" dirty="0"/>
              <a:t>0.3(</a:t>
            </a:r>
            <a:r>
              <a:rPr lang="ko-KR" altLang="en-US" b="1" dirty="0"/>
              <a:t>낮게</a:t>
            </a:r>
            <a:r>
              <a:rPr lang="en-US" altLang="ko-KR" b="1" dirty="0"/>
              <a:t>)</a:t>
            </a:r>
            <a:r>
              <a:rPr lang="ko-KR" altLang="en-US" b="1" dirty="0"/>
              <a:t>으로 잡으면</a:t>
            </a:r>
            <a:r>
              <a:rPr lang="en-US" altLang="ko-KR" dirty="0"/>
              <a:t>: "</a:t>
            </a:r>
            <a:r>
              <a:rPr lang="ko-KR" altLang="en-US" dirty="0"/>
              <a:t>조금이라도 살 것 같으면 다 </a:t>
            </a:r>
            <a:r>
              <a:rPr lang="en-US" altLang="ko-KR" dirty="0"/>
              <a:t>'</a:t>
            </a:r>
            <a:r>
              <a:rPr lang="ko-KR" altLang="en-US" dirty="0"/>
              <a:t>살 사람</a:t>
            </a:r>
            <a:r>
              <a:rPr lang="en-US" altLang="ko-KR" dirty="0"/>
              <a:t>'</a:t>
            </a:r>
            <a:r>
              <a:rPr lang="ko-KR" altLang="en-US" dirty="0"/>
              <a:t>으로 분류</a:t>
            </a:r>
            <a:r>
              <a:rPr lang="en-US" altLang="ko-KR" dirty="0"/>
              <a:t>" → </a:t>
            </a:r>
            <a:r>
              <a:rPr lang="ko-KR" altLang="en-US" dirty="0"/>
              <a:t>놓치는 사람</a:t>
            </a:r>
            <a:r>
              <a:rPr lang="en-US" altLang="ko-KR" dirty="0"/>
              <a:t>(</a:t>
            </a:r>
            <a:r>
              <a:rPr lang="ko-KR" altLang="en-US" dirty="0" err="1"/>
              <a:t>위음성</a:t>
            </a:r>
            <a:r>
              <a:rPr lang="ko-KR" altLang="en-US" dirty="0"/>
              <a:t> </a:t>
            </a:r>
            <a:r>
              <a:rPr lang="en-US" altLang="ko-KR" dirty="0"/>
              <a:t>98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  <a:r>
              <a:rPr lang="ko-KR" altLang="en-US" dirty="0"/>
              <a:t>은 확 줄지만</a:t>
            </a:r>
            <a:r>
              <a:rPr lang="en-US" altLang="ko-KR" dirty="0"/>
              <a:t>, </a:t>
            </a:r>
            <a:r>
              <a:rPr lang="ko-KR" altLang="en-US" dirty="0"/>
              <a:t>헛짚는 사람</a:t>
            </a:r>
            <a:r>
              <a:rPr lang="en-US" altLang="ko-KR" dirty="0"/>
              <a:t>(</a:t>
            </a:r>
            <a:r>
              <a:rPr lang="ko-KR" altLang="en-US" dirty="0" err="1"/>
              <a:t>위양성</a:t>
            </a:r>
            <a:r>
              <a:rPr lang="ko-KR" altLang="en-US" dirty="0"/>
              <a:t> </a:t>
            </a:r>
            <a:r>
              <a:rPr lang="en-US" altLang="ko-KR" dirty="0"/>
              <a:t>549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  <a:r>
              <a:rPr lang="ko-KR" altLang="en-US" dirty="0"/>
              <a:t>이 크게 늘어남 → </a:t>
            </a:r>
            <a:r>
              <a:rPr lang="ko-KR" altLang="en-US" dirty="0" err="1"/>
              <a:t>재현율</a:t>
            </a:r>
            <a:r>
              <a:rPr lang="ko-KR" altLang="en-US" dirty="0"/>
              <a:t> 우선</a:t>
            </a:r>
          </a:p>
          <a:p>
            <a:r>
              <a:rPr lang="ko-KR" altLang="en-US" b="1" dirty="0"/>
              <a:t>기준선을 </a:t>
            </a:r>
            <a:r>
              <a:rPr lang="en-US" altLang="ko-KR" b="1" dirty="0"/>
              <a:t>0.7(</a:t>
            </a:r>
            <a:r>
              <a:rPr lang="ko-KR" altLang="en-US" b="1" dirty="0"/>
              <a:t>높게</a:t>
            </a:r>
            <a:r>
              <a:rPr lang="en-US" altLang="ko-KR" b="1" dirty="0"/>
              <a:t>)</a:t>
            </a:r>
            <a:r>
              <a:rPr lang="ko-KR" altLang="en-US" b="1" dirty="0"/>
              <a:t>으로 잡으면</a:t>
            </a:r>
            <a:r>
              <a:rPr lang="en-US" altLang="ko-KR" dirty="0"/>
              <a:t>: "</a:t>
            </a:r>
            <a:r>
              <a:rPr lang="ko-KR" altLang="en-US" dirty="0"/>
              <a:t>확실히 살 사람만 </a:t>
            </a:r>
            <a:r>
              <a:rPr lang="ko-KR" altLang="en-US" dirty="0" err="1"/>
              <a:t>골라냄</a:t>
            </a:r>
            <a:r>
              <a:rPr lang="en-US" altLang="ko-KR" dirty="0"/>
              <a:t>" → </a:t>
            </a:r>
            <a:r>
              <a:rPr lang="ko-KR" altLang="en-US" dirty="0"/>
              <a:t>헛짚는 경우</a:t>
            </a:r>
            <a:r>
              <a:rPr lang="en-US" altLang="ko-KR" dirty="0"/>
              <a:t>(</a:t>
            </a:r>
            <a:r>
              <a:rPr lang="ko-KR" altLang="en-US" dirty="0" err="1"/>
              <a:t>위양성</a:t>
            </a:r>
            <a:r>
              <a:rPr lang="ko-KR" altLang="en-US" dirty="0"/>
              <a:t> </a:t>
            </a:r>
            <a:r>
              <a:rPr lang="en-US" altLang="ko-KR" dirty="0"/>
              <a:t>100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  <a:r>
              <a:rPr lang="ko-KR" altLang="en-US" dirty="0"/>
              <a:t>는 줄지만</a:t>
            </a:r>
            <a:r>
              <a:rPr lang="en-US" altLang="ko-KR" dirty="0"/>
              <a:t>, </a:t>
            </a:r>
            <a:r>
              <a:rPr lang="ko-KR" altLang="en-US" dirty="0"/>
              <a:t>애매했던 진짜 구매자를 많이 놓침</a:t>
            </a:r>
            <a:r>
              <a:rPr lang="en-US" altLang="ko-KR" dirty="0"/>
              <a:t>(</a:t>
            </a:r>
            <a:r>
              <a:rPr lang="ko-KR" altLang="en-US" dirty="0" err="1"/>
              <a:t>위음성</a:t>
            </a:r>
            <a:r>
              <a:rPr lang="ko-KR" altLang="en-US" dirty="0"/>
              <a:t> </a:t>
            </a:r>
            <a:r>
              <a:rPr lang="en-US" altLang="ko-KR" dirty="0"/>
              <a:t>549</a:t>
            </a:r>
            <a:r>
              <a:rPr lang="ko-KR" altLang="en-US" dirty="0"/>
              <a:t>명</a:t>
            </a:r>
            <a:r>
              <a:rPr lang="en-US" altLang="ko-KR" dirty="0"/>
              <a:t>) → </a:t>
            </a:r>
            <a:r>
              <a:rPr lang="ko-KR" altLang="en-US" dirty="0"/>
              <a:t>정밀도 우선</a:t>
            </a: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377CA41D-7E2B-E071-D08C-C42936245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B7CFF2-AC40-F88A-EDAA-0BE9FAE7B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6" y="2161272"/>
            <a:ext cx="6708924" cy="152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48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56717-ACB4-0098-9040-CD48E2E6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E9521-8E48-92AB-D75A-DFEC320E9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퀴즈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85495641-C93F-893B-E406-94CAF5D1E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7" y="2161272"/>
            <a:ext cx="10581627" cy="3717014"/>
          </a:xfrm>
        </p:spPr>
        <p:txBody>
          <a:bodyPr rtlCol="0">
            <a:normAutofit fontScale="92500" lnSpcReduction="10000"/>
          </a:bodyPr>
          <a:lstStyle/>
          <a:p>
            <a:r>
              <a:rPr lang="en-US" altLang="ko-KR" b="1" dirty="0"/>
              <a:t>Q1. (</a:t>
            </a:r>
            <a:r>
              <a:rPr lang="ko-KR" altLang="en-US" b="1" dirty="0"/>
              <a:t>로지스틱 회귀를 언제 써야 하는가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ko-KR" altLang="en-US" dirty="0"/>
              <a:t>다음 세 가지 상황 중</a:t>
            </a:r>
            <a:r>
              <a:rPr lang="en-US" altLang="ko-KR" dirty="0"/>
              <a:t>, </a:t>
            </a:r>
            <a:r>
              <a:rPr lang="ko-KR" altLang="en-US" dirty="0"/>
              <a:t>로지스틱 회귀가 적합하지 </a:t>
            </a:r>
            <a:r>
              <a:rPr lang="ko-KR" altLang="en-US" b="1" dirty="0"/>
              <a:t>않은</a:t>
            </a:r>
            <a:r>
              <a:rPr lang="ko-KR" altLang="en-US" dirty="0"/>
              <a:t> 것은 무엇일까요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A) "</a:t>
            </a:r>
            <a:r>
              <a:rPr lang="ko-KR" altLang="en-US" dirty="0"/>
              <a:t>이 이메일이 스팸일 확률은</a:t>
            </a:r>
            <a:r>
              <a:rPr lang="en-US" altLang="ko-KR" dirty="0"/>
              <a:t>?"</a:t>
            </a:r>
          </a:p>
          <a:p>
            <a:r>
              <a:rPr lang="en-US" altLang="ko-KR" dirty="0"/>
              <a:t>B) "</a:t>
            </a:r>
            <a:r>
              <a:rPr lang="ko-KR" altLang="en-US" dirty="0"/>
              <a:t>다음 달 이 매장의 예상 매출액은</a:t>
            </a:r>
            <a:r>
              <a:rPr lang="en-US" altLang="ko-KR" dirty="0"/>
              <a:t>?"</a:t>
            </a:r>
          </a:p>
          <a:p>
            <a:r>
              <a:rPr lang="en-US" altLang="ko-KR" dirty="0"/>
              <a:t>C) "</a:t>
            </a:r>
            <a:r>
              <a:rPr lang="ko-KR" altLang="en-US" dirty="0"/>
              <a:t>이 신청자가 대출을 연체할 확률은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Q1 </a:t>
            </a:r>
            <a:r>
              <a:rPr lang="ko-KR" altLang="en-US" b="1" dirty="0"/>
              <a:t>정답</a:t>
            </a:r>
            <a:r>
              <a:rPr lang="en-US" altLang="ko-KR" b="1" dirty="0"/>
              <a:t>: B</a:t>
            </a:r>
          </a:p>
          <a:p>
            <a:pPr marL="0" indent="0">
              <a:buNone/>
            </a:pPr>
            <a:r>
              <a:rPr lang="ko-KR" altLang="en-US" dirty="0"/>
              <a:t>매출액은 숫자</a:t>
            </a:r>
            <a:r>
              <a:rPr lang="en-US" altLang="ko-KR" dirty="0"/>
              <a:t>(</a:t>
            </a:r>
            <a:r>
              <a:rPr lang="ko-KR" altLang="en-US" dirty="0"/>
              <a:t>연속형</a:t>
            </a:r>
            <a:r>
              <a:rPr lang="en-US" altLang="ko-KR" dirty="0"/>
              <a:t>)</a:t>
            </a:r>
            <a:r>
              <a:rPr lang="ko-KR" altLang="en-US" dirty="0"/>
              <a:t>를 예측하는 문제라 회귀</a:t>
            </a:r>
            <a:r>
              <a:rPr lang="en-US" altLang="ko-KR" dirty="0"/>
              <a:t>(</a:t>
            </a:r>
            <a:r>
              <a:rPr lang="ko-KR" altLang="en-US" dirty="0"/>
              <a:t>선형회귀 등</a:t>
            </a:r>
            <a:r>
              <a:rPr lang="en-US" altLang="ko-KR" dirty="0"/>
              <a:t>)</a:t>
            </a:r>
            <a:r>
              <a:rPr lang="ko-KR" altLang="en-US" dirty="0"/>
              <a:t>를 써야 함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A, C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ko-KR" altLang="en-US" dirty="0"/>
              <a:t>예</a:t>
            </a:r>
            <a:r>
              <a:rPr lang="en-US" altLang="ko-KR" dirty="0"/>
              <a:t>/</a:t>
            </a:r>
            <a:r>
              <a:rPr lang="ko-KR" altLang="en-US" dirty="0" err="1"/>
              <a:t>아니오</a:t>
            </a:r>
            <a:r>
              <a:rPr lang="en-US" altLang="ko-KR" dirty="0"/>
              <a:t>(</a:t>
            </a:r>
            <a:r>
              <a:rPr lang="ko-KR" altLang="en-US" dirty="0"/>
              <a:t>확률</a:t>
            </a:r>
            <a:r>
              <a:rPr lang="en-US" altLang="ko-KR" dirty="0"/>
              <a:t>)"</a:t>
            </a:r>
            <a:r>
              <a:rPr lang="ko-KR" altLang="en-US" dirty="0"/>
              <a:t>를 묻는 문제라 로지스틱 회귀가 적합함</a:t>
            </a:r>
            <a:r>
              <a:rPr lang="en-US" altLang="ko-KR" dirty="0"/>
              <a:t>. → </a:t>
            </a:r>
            <a:r>
              <a:rPr lang="ko-KR" altLang="en-US" dirty="0"/>
              <a:t>로지스틱 회귀를 쓸지 판단하는 기준은 </a:t>
            </a:r>
            <a:r>
              <a:rPr lang="en-US" altLang="ko-KR" b="1" dirty="0"/>
              <a:t>"</a:t>
            </a:r>
            <a:r>
              <a:rPr lang="ko-KR" altLang="en-US" b="1" dirty="0"/>
              <a:t>예측하려는 답이 확률</a:t>
            </a:r>
            <a:r>
              <a:rPr lang="en-US" altLang="ko-KR" b="1" dirty="0"/>
              <a:t>/</a:t>
            </a:r>
            <a:r>
              <a:rPr lang="ko-KR" altLang="en-US" b="1" dirty="0"/>
              <a:t>범주인가</a:t>
            </a:r>
            <a:r>
              <a:rPr lang="en-US" altLang="ko-KR" b="1" dirty="0"/>
              <a:t>"</a:t>
            </a:r>
            <a:endParaRPr lang="en-US" altLang="ko-KR" dirty="0"/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239AFA25-1653-022F-5FCA-067C76B1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8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A244-6024-8C44-D972-63613A22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02F511-F314-3AA8-3B1B-BFBF3627C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퀴즈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0DBD4D02-5B51-5D60-E9E7-506A0585F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7" y="2161272"/>
            <a:ext cx="10581627" cy="3717014"/>
          </a:xfrm>
        </p:spPr>
        <p:txBody>
          <a:bodyPr rtlCol="0">
            <a:normAutofit/>
          </a:bodyPr>
          <a:lstStyle/>
          <a:p>
            <a:r>
              <a:rPr lang="en-US" altLang="ko-KR" b="1" dirty="0"/>
              <a:t>Q2. (</a:t>
            </a:r>
            <a:r>
              <a:rPr lang="ko-KR" altLang="en-US" b="1" dirty="0"/>
              <a:t>로지스틱 회귀의 출력을 다루는 방식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ko-KR" altLang="en-US" dirty="0"/>
              <a:t>로지스틱 회귀 모델이 </a:t>
            </a:r>
            <a:r>
              <a:rPr lang="en-US" altLang="ko-KR" dirty="0"/>
              <a:t>"</a:t>
            </a:r>
            <a:r>
              <a:rPr lang="ko-KR" altLang="en-US" dirty="0"/>
              <a:t>이 고객의 이탈확률</a:t>
            </a:r>
            <a:r>
              <a:rPr lang="en-US" altLang="ko-KR" dirty="0"/>
              <a:t>: 62%"</a:t>
            </a:r>
            <a:r>
              <a:rPr lang="ko-KR" altLang="en-US" dirty="0"/>
              <a:t>라는 결과를 냈습니다</a:t>
            </a:r>
            <a:r>
              <a:rPr lang="en-US" altLang="ko-KR" dirty="0"/>
              <a:t>. </a:t>
            </a:r>
            <a:r>
              <a:rPr lang="ko-KR" altLang="en-US" dirty="0"/>
              <a:t>팀장이 </a:t>
            </a:r>
            <a:r>
              <a:rPr lang="en-US" altLang="ko-KR" dirty="0"/>
              <a:t>"62%</a:t>
            </a:r>
            <a:r>
              <a:rPr lang="ko-KR" altLang="en-US" dirty="0"/>
              <a:t>면 절반 넘었으니까 이 고객은 이탈한다고 </a:t>
            </a:r>
            <a:r>
              <a:rPr lang="ko-KR" altLang="en-US" dirty="0" err="1"/>
              <a:t>봐야지</a:t>
            </a:r>
            <a:r>
              <a:rPr lang="en-US" altLang="ko-KR" dirty="0"/>
              <a:t>"</a:t>
            </a:r>
            <a:r>
              <a:rPr lang="ko-KR" altLang="en-US" dirty="0"/>
              <a:t>라고 말합니다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말에서 짚어야 할 점은 무엇일까요</a:t>
            </a:r>
            <a:r>
              <a:rPr lang="en-US" altLang="ko-KR" dirty="0"/>
              <a:t>? (</a:t>
            </a:r>
            <a:r>
              <a:rPr lang="ko-KR" altLang="en-US" dirty="0"/>
              <a:t>힌트</a:t>
            </a:r>
            <a:r>
              <a:rPr lang="en-US" altLang="ko-KR" dirty="0"/>
              <a:t>: </a:t>
            </a:r>
            <a:r>
              <a:rPr lang="ko-KR" altLang="en-US" dirty="0"/>
              <a:t>로지스틱 회귀가 실제로 계산한 것이 무엇인지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"50%"</a:t>
            </a:r>
            <a:r>
              <a:rPr lang="ko-KR" altLang="en-US" dirty="0"/>
              <a:t>라는 기준을 누가 정하는지 떠올려보세요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b="1" dirty="0"/>
              <a:t>Q2 </a:t>
            </a:r>
            <a:r>
              <a:rPr lang="ko-KR" altLang="en-US" b="1" dirty="0"/>
              <a:t>정답</a:t>
            </a:r>
            <a:br>
              <a:rPr lang="ko-KR" altLang="en-US" dirty="0"/>
            </a:br>
            <a:r>
              <a:rPr lang="ko-KR" altLang="en-US" dirty="0"/>
              <a:t>로지스틱 회귀가 뱉는 건 </a:t>
            </a:r>
            <a:r>
              <a:rPr lang="en-US" altLang="ko-KR" dirty="0"/>
              <a:t>"</a:t>
            </a:r>
            <a:r>
              <a:rPr lang="ko-KR" altLang="en-US" dirty="0"/>
              <a:t>이탈한다</a:t>
            </a:r>
            <a:r>
              <a:rPr lang="en-US" altLang="ko-KR" dirty="0"/>
              <a:t>/</a:t>
            </a:r>
            <a:r>
              <a:rPr lang="ko-KR" altLang="en-US" dirty="0"/>
              <a:t>안 한다</a:t>
            </a:r>
            <a:r>
              <a:rPr lang="en-US" altLang="ko-KR" dirty="0"/>
              <a:t>"</a:t>
            </a:r>
            <a:r>
              <a:rPr lang="ko-KR" altLang="en-US" dirty="0"/>
              <a:t>가 아니라 </a:t>
            </a:r>
            <a:r>
              <a:rPr lang="ko-KR" altLang="en-US" b="1" dirty="0" err="1"/>
              <a:t>확률값</a:t>
            </a:r>
            <a:r>
              <a:rPr lang="en-US" altLang="ko-KR" b="1" dirty="0"/>
              <a:t>(62%)</a:t>
            </a:r>
            <a:r>
              <a:rPr lang="ko-KR" altLang="en-US" dirty="0"/>
              <a:t> 그 자체임</a:t>
            </a:r>
            <a:r>
              <a:rPr lang="en-US" altLang="ko-KR" dirty="0"/>
              <a:t>. "50% </a:t>
            </a:r>
            <a:r>
              <a:rPr lang="ko-KR" altLang="en-US" dirty="0"/>
              <a:t>넘으면 이탈로 본다</a:t>
            </a:r>
            <a:r>
              <a:rPr lang="en-US" altLang="ko-KR" dirty="0"/>
              <a:t>"</a:t>
            </a:r>
            <a:r>
              <a:rPr lang="ko-KR" altLang="en-US" dirty="0"/>
              <a:t>는 건 모델이 아니라 **우리가 임의로 정하는 기준선</a:t>
            </a:r>
            <a:r>
              <a:rPr lang="en-US" altLang="ko-KR" dirty="0"/>
              <a:t>(threshold)**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이 기준선은 상황</a:t>
            </a:r>
            <a:r>
              <a:rPr lang="en-US" altLang="ko-KR" dirty="0"/>
              <a:t>(</a:t>
            </a:r>
            <a:r>
              <a:rPr lang="ko-KR" altLang="en-US" dirty="0"/>
              <a:t>예산</a:t>
            </a:r>
            <a:r>
              <a:rPr lang="en-US" altLang="ko-KR" dirty="0"/>
              <a:t>, </a:t>
            </a:r>
            <a:r>
              <a:rPr lang="ko-KR" altLang="en-US" dirty="0"/>
              <a:t>리스크 허용도</a:t>
            </a:r>
            <a:r>
              <a:rPr lang="en-US" altLang="ko-KR" dirty="0"/>
              <a:t>)</a:t>
            </a:r>
            <a:r>
              <a:rPr lang="ko-KR" altLang="en-US" dirty="0"/>
              <a:t>에 따라 달라져야 함</a:t>
            </a:r>
            <a:r>
              <a:rPr lang="en-US" altLang="ko-KR" dirty="0"/>
              <a:t>. </a:t>
            </a:r>
            <a:r>
              <a:rPr lang="ko-KR" altLang="en-US" dirty="0"/>
              <a:t>팀장의 말은 기준선을 마치 정해진 규칙처럼 오해한 것</a:t>
            </a:r>
            <a:r>
              <a:rPr lang="en-US" altLang="ko-KR" dirty="0"/>
              <a:t>.</a:t>
            </a:r>
          </a:p>
        </p:txBody>
      </p:sp>
      <p:sp>
        <p:nvSpPr>
          <p:cNvPr id="16" name="슬라이드 번호 개체 틀 5">
            <a:extLst>
              <a:ext uri="{FF2B5EF4-FFF2-40B4-BE49-F238E27FC236}">
                <a16:creationId xmlns:a16="http://schemas.microsoft.com/office/drawing/2014/main" id="{DEC45911-62F0-34A2-6BC2-3678E35F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rtl="0"/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292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8B53-E7AC-72DE-4409-3205B598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12F2D-9C27-DA74-3980-3418297626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076834-2E87-0655-9B98-9C0AB4F2A7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표시철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062113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99950_TF89213316_Win32_OJ108761954" id="{2C949246-E701-4358-AE1D-5E981A9339C9}" vid="{1C9D17EB-7AF8-47B4-A0BF-F0125A4D3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0D7697-8E53-4EA8-8CBB-9C19575257B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927DC71-2909-427C-BDB0-3E47E210151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F0A252-5923-47A2-A53A-F9BF729089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AccentBox 프레젠테이션</Template>
  <TotalTime>47</TotalTime>
  <Words>1053</Words>
  <Application>Microsoft Office PowerPoint</Application>
  <PresentationFormat>와이드스크린</PresentationFormat>
  <Paragraphs>129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AccentBoxVTI</vt:lpstr>
      <vt:lpstr>로지스틱 회귀</vt:lpstr>
      <vt:lpstr>로지스틱 회귀</vt:lpstr>
      <vt:lpstr>적절한 세일 %를 찾아라🤔</vt:lpstr>
      <vt:lpstr>시나리오</vt:lpstr>
      <vt:lpstr>할인율별 실제 구매비율</vt:lpstr>
      <vt:lpstr>할인율별 실제 구매비율</vt:lpstr>
      <vt:lpstr>변곡점(inflection point)</vt:lpstr>
      <vt:lpstr>오즈(Odds)와 오즈비(Odds Ratio)</vt:lpstr>
      <vt:lpstr>분류 기준선(Threshold)의 임의성</vt:lpstr>
      <vt:lpstr>분류 기준선(Threshold)의 임의성</vt:lpstr>
      <vt:lpstr>퀴즈</vt:lpstr>
      <vt:lpstr>퀴즈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표스츄리</dc:creator>
  <cp:lastModifiedBy>표스츄리</cp:lastModifiedBy>
  <cp:revision>31</cp:revision>
  <dcterms:created xsi:type="dcterms:W3CDTF">2026-08-11T05:55:52Z</dcterms:created>
  <dcterms:modified xsi:type="dcterms:W3CDTF">2026-08-11T06:43:04Z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