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114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110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109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slide+xml" PartName="/ppt/slides/slide115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</p:sldIdLst>
  <p:sldSz cy="5143500" cx="9144000"/>
  <p:notesSz cx="6858000" cy="9144000"/>
  <p:embeddedFontLst>
    <p:embeddedFont>
      <p:font typeface="Nanum Gothic"/>
      <p:regular r:id="rId122"/>
      <p:bold r:id="rId1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B660EE3-C6BF-4F7E-83DB-CCDA0A96D27C}">
  <a:tblStyle styleId="{DB660EE3-C6BF-4F7E-83DB-CCDA0A96D27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07" Type="http://schemas.openxmlformats.org/officeDocument/2006/relationships/slide" Target="slides/slide101.xml"/><Relationship Id="rId106" Type="http://schemas.openxmlformats.org/officeDocument/2006/relationships/slide" Target="slides/slide100.xml"/><Relationship Id="rId105" Type="http://schemas.openxmlformats.org/officeDocument/2006/relationships/slide" Target="slides/slide99.xml"/><Relationship Id="rId104" Type="http://schemas.openxmlformats.org/officeDocument/2006/relationships/slide" Target="slides/slide98.xml"/><Relationship Id="rId109" Type="http://schemas.openxmlformats.org/officeDocument/2006/relationships/slide" Target="slides/slide103.xml"/><Relationship Id="rId108" Type="http://schemas.openxmlformats.org/officeDocument/2006/relationships/slide" Target="slides/slide102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103" Type="http://schemas.openxmlformats.org/officeDocument/2006/relationships/slide" Target="slides/slide97.xml"/><Relationship Id="rId102" Type="http://schemas.openxmlformats.org/officeDocument/2006/relationships/slide" Target="slides/slide96.xml"/><Relationship Id="rId101" Type="http://schemas.openxmlformats.org/officeDocument/2006/relationships/slide" Target="slides/slide95.xml"/><Relationship Id="rId100" Type="http://schemas.openxmlformats.org/officeDocument/2006/relationships/slide" Target="slides/slide94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121" Type="http://schemas.openxmlformats.org/officeDocument/2006/relationships/slide" Target="slides/slide115.xml"/><Relationship Id="rId25" Type="http://schemas.openxmlformats.org/officeDocument/2006/relationships/slide" Target="slides/slide19.xml"/><Relationship Id="rId120" Type="http://schemas.openxmlformats.org/officeDocument/2006/relationships/slide" Target="slides/slide114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23" Type="http://schemas.openxmlformats.org/officeDocument/2006/relationships/font" Target="fonts/NanumGothic-bold.fntdata"/><Relationship Id="rId122" Type="http://schemas.openxmlformats.org/officeDocument/2006/relationships/font" Target="fonts/NanumGothic-regular.fntdata"/><Relationship Id="rId95" Type="http://schemas.openxmlformats.org/officeDocument/2006/relationships/slide" Target="slides/slide89.xml"/><Relationship Id="rId94" Type="http://schemas.openxmlformats.org/officeDocument/2006/relationships/slide" Target="slides/slide88.xml"/><Relationship Id="rId97" Type="http://schemas.openxmlformats.org/officeDocument/2006/relationships/slide" Target="slides/slide91.xml"/><Relationship Id="rId96" Type="http://schemas.openxmlformats.org/officeDocument/2006/relationships/slide" Target="slides/slide90.xml"/><Relationship Id="rId11" Type="http://schemas.openxmlformats.org/officeDocument/2006/relationships/slide" Target="slides/slide5.xml"/><Relationship Id="rId99" Type="http://schemas.openxmlformats.org/officeDocument/2006/relationships/slide" Target="slides/slide93.xml"/><Relationship Id="rId10" Type="http://schemas.openxmlformats.org/officeDocument/2006/relationships/slide" Target="slides/slide4.xml"/><Relationship Id="rId98" Type="http://schemas.openxmlformats.org/officeDocument/2006/relationships/slide" Target="slides/slide92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18" Type="http://schemas.openxmlformats.org/officeDocument/2006/relationships/slide" Target="slides/slide112.xml"/><Relationship Id="rId117" Type="http://schemas.openxmlformats.org/officeDocument/2006/relationships/slide" Target="slides/slide111.xml"/><Relationship Id="rId116" Type="http://schemas.openxmlformats.org/officeDocument/2006/relationships/slide" Target="slides/slide110.xml"/><Relationship Id="rId115" Type="http://schemas.openxmlformats.org/officeDocument/2006/relationships/slide" Target="slides/slide109.xml"/><Relationship Id="rId119" Type="http://schemas.openxmlformats.org/officeDocument/2006/relationships/slide" Target="slides/slide113.xml"/><Relationship Id="rId15" Type="http://schemas.openxmlformats.org/officeDocument/2006/relationships/slide" Target="slides/slide9.xml"/><Relationship Id="rId110" Type="http://schemas.openxmlformats.org/officeDocument/2006/relationships/slide" Target="slides/slide104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14" Type="http://schemas.openxmlformats.org/officeDocument/2006/relationships/slide" Target="slides/slide108.xml"/><Relationship Id="rId18" Type="http://schemas.openxmlformats.org/officeDocument/2006/relationships/slide" Target="slides/slide12.xml"/><Relationship Id="rId113" Type="http://schemas.openxmlformats.org/officeDocument/2006/relationships/slide" Target="slides/slide107.xml"/><Relationship Id="rId112" Type="http://schemas.openxmlformats.org/officeDocument/2006/relationships/slide" Target="slides/slide106.xml"/><Relationship Id="rId111" Type="http://schemas.openxmlformats.org/officeDocument/2006/relationships/slide" Target="slides/slide105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e686868823_0_47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g2e686868823_0_4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/>
              <a:t>8장 단어의 표현에 대해 알아보겠습니다.</a:t>
            </a:r>
            <a:endParaRPr/>
          </a:p>
        </p:txBody>
      </p:sp>
      <p:sp>
        <p:nvSpPr>
          <p:cNvPr id="66" name="Google Shape;66;g2e686868823_0_47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e686868823_0_48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g2e686868823_0_4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73" name="Google Shape;73;g2e686868823_0_48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e686868823_0_49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g2e686868823_0_4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83" name="Google Shape;83;g2e686868823_0_49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e686868823_0_49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g2e686868823_0_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92" name="Google Shape;92;g2e686868823_0_49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e686868823_0_50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g2e686868823_0_5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101" name="Google Shape;101;g2e686868823_0_50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e686868823_0_5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2e686868823_0_5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111" name="Google Shape;111;g2e686868823_0_51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e6d420a3aa_1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2e6d420a3a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123" name="Google Shape;123;g2e6d420a3aa_1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e6d420a3aa_1_1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g2e6d420a3aa_1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136" name="Google Shape;136;g2e6d420a3aa_1_12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e6d420a3aa_1_1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g2e6d420a3aa_1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145" name="Google Shape;145;g2e6d420a3aa_1_14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e6d420a3aa_1_1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g2e6d420a3aa_1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157" name="Google Shape;157;g2e6d420a3aa_1_15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e6d420a3aa_1_16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g2e6d420a3aa_1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167" name="Google Shape;167;g2e6d420a3aa_1_16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e6d420a3aa_1_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g2e6d420a3aa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181" name="Google Shape;181;g2e6d420a3aa_1_1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e6d420a3aa_1_6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g2e6d420a3aa_1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192" name="Google Shape;192;g2e6d420a3aa_1_6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e6d420a3aa_1_7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g2e6d420a3aa_1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202" name="Google Shape;202;g2e6d420a3aa_1_7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e6d420a3aa_1_9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g2e6d420a3aa_1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212" name="Google Shape;212;g2e6d420a3aa_1_9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e6d420a3aa_1_1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g2e6d420a3aa_1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224" name="Google Shape;224;g2e6d420a3aa_1_11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e686868823_0_5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g2e686868823_0_5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235" name="Google Shape;235;g2e686868823_0_55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e686868823_0_57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g2e686868823_0_5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247" name="Google Shape;247;g2e686868823_0_57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e686868823_0_6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g2e686868823_0_6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265" name="Google Shape;265;g2e686868823_0_64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e686868823_0_6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g2e686868823_0_6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277" name="Google Shape;277;g2e686868823_0_65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2e686868823_0_66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g2e686868823_0_6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287" name="Google Shape;287;g2e686868823_0_66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2e686868823_0_67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g2e686868823_0_6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299" name="Google Shape;299;g2e686868823_0_67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e686868823_0_68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g2e686868823_0_6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310" name="Google Shape;310;g2e686868823_0_68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2e686868823_0_69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g2e686868823_0_6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321" name="Google Shape;321;g2e686868823_0_69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e6d420a3aa_1_17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g2e6d420a3aa_1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331" name="Google Shape;331;g2e6d420a3aa_1_17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2e6d420a3aa_1_18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g2e6d420a3aa_1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343" name="Google Shape;343;g2e6d420a3aa_1_18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2e6d420a3aa_1_20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" name="Google Shape;354;g2e6d420a3aa_1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355" name="Google Shape;355;g2e6d420a3aa_1_20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2e6d420a3aa_1_2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5" name="Google Shape;365;g2e6d420a3aa_1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366" name="Google Shape;366;g2e6d420a3aa_1_21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2e686868823_0_70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5" name="Google Shape;375;g2e686868823_0_7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376" name="Google Shape;376;g2e686868823_0_70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2e686868823_0_7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4" name="Google Shape;384;g2e686868823_0_7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/>
              <a:t>8장 단어의 표현에 대해 알아보겠습니다.</a:t>
            </a:r>
            <a:endParaRPr/>
          </a:p>
        </p:txBody>
      </p:sp>
      <p:sp>
        <p:nvSpPr>
          <p:cNvPr id="385" name="Google Shape;385;g2e686868823_0_7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2e686868823_0_7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1" name="Google Shape;391;g2e686868823_0_7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392" name="Google Shape;392;g2e686868823_0_71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2e686868823_0_7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0" name="Google Shape;400;g2e686868823_0_7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401" name="Google Shape;401;g2e686868823_0_72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2e686868823_0_7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0" name="Google Shape;410;g2e686868823_0_7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411" name="Google Shape;411;g2e686868823_0_73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2e686868823_0_7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0" name="Google Shape;420;g2e686868823_0_7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421" name="Google Shape;421;g2e686868823_0_74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2e686868823_0_7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0" name="Google Shape;430;g2e686868823_0_7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431" name="Google Shape;431;g2e686868823_0_75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2e686868823_0_76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2" name="Google Shape;442;g2e686868823_0_7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443" name="Google Shape;443;g2e686868823_0_76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2e686868823_0_77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5" name="Google Shape;455;g2e686868823_0_7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456" name="Google Shape;456;g2e686868823_0_77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2e686868823_0_78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5" name="Google Shape;465;g2e686868823_0_7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466" name="Google Shape;466;g2e686868823_0_78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2e686868823_0_79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5" name="Google Shape;475;g2e686868823_0_7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476" name="Google Shape;476;g2e686868823_0_79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2e686868823_0_80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7" name="Google Shape;487;g2e686868823_0_8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488" name="Google Shape;488;g2e686868823_0_80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2e686868823_0_8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8" name="Google Shape;498;g2e686868823_0_8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499" name="Google Shape;499;g2e686868823_0_8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2e686868823_0_8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0" name="Google Shape;510;g2e686868823_0_8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511" name="Google Shape;511;g2e686868823_0_82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2e686868823_0_8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2" name="Google Shape;522;g2e686868823_0_8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523" name="Google Shape;523;g2e686868823_0_83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2e686868823_0_8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1" name="Google Shape;531;g2e686868823_0_8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532" name="Google Shape;532;g2e686868823_0_84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2e686868823_0_85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2" name="Google Shape;542;g2e686868823_0_8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543" name="Google Shape;543;g2e686868823_0_85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2e686868823_0_86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5" name="Google Shape;555;g2e686868823_0_8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556" name="Google Shape;556;g2e686868823_0_86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2e686868823_0_87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5" name="Google Shape;565;g2e686868823_0_8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566" name="Google Shape;566;g2e686868823_0_87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2e686868823_0_89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6" name="Google Shape;576;g2e686868823_0_8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577" name="Google Shape;577;g2e686868823_0_89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2e686868823_0_88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5" name="Google Shape;585;g2e686868823_0_8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586" name="Google Shape;586;g2e686868823_0_88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2e7cc7bc089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4" name="Google Shape;594;g2e7cc7bc08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/>
              <a:t>8장 단어의 표현에 대해 알아보겠습니다.</a:t>
            </a:r>
            <a:endParaRPr/>
          </a:p>
        </p:txBody>
      </p:sp>
      <p:sp>
        <p:nvSpPr>
          <p:cNvPr id="595" name="Google Shape;595;g2e7cc7bc089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2e7cc7bc089_0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1" name="Google Shape;601;g2e7cc7bc08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602" name="Google Shape;602;g2e7cc7bc089_0_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2e7cc7bc089_0_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0" name="Google Shape;610;g2e7cc7bc089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611" name="Google Shape;611;g2e7cc7bc089_0_2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2e7cc7bc089_0_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0" name="Google Shape;620;g2e7cc7bc089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621" name="Google Shape;621;g2e7cc7bc089_0_5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2e800d9d764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1" name="Google Shape;631;g2e800d9d76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632" name="Google Shape;632;g2e800d9d764_0_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2e800d9d764_0_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1" name="Google Shape;641;g2e800d9d76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642" name="Google Shape;642;g2e800d9d764_0_1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2e7cc7bc089_0_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1" name="Google Shape;651;g2e7cc7bc08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652" name="Google Shape;652;g2e7cc7bc089_0_1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2e800d9d764_0_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2" name="Google Shape;662;g2e800d9d764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663" name="Google Shape;663;g2e800d9d764_0_2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2e800d9d764_0_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3" name="Google Shape;673;g2e800d9d764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674" name="Google Shape;674;g2e800d9d764_0_3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2e800d9d764_0_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3" name="Google Shape;683;g2e800d9d764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684" name="Google Shape;684;g2e800d9d764_0_4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2e800d9d764_0_7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3" name="Google Shape;693;g2e800d9d764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694" name="Google Shape;694;g2e800d9d764_0_7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g2e800d9d764_0_2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6" name="Google Shape;826;g2e800d9d764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827" name="Google Shape;827;g2e800d9d764_0_21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g2e800d9d764_0_4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6" name="Google Shape;896;g2e800d9d764_0_4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897" name="Google Shape;897;g2e800d9d764_0_42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g2e800d9d764_0_49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5" name="Google Shape;965;g2e800d9d764_0_4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966" name="Google Shape;966;g2e800d9d764_0_49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2e800d9d764_0_57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4" name="Google Shape;1034;g2e800d9d764_0_5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1035" name="Google Shape;1035;g2e800d9d764_0_57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g2e800d9d764_0_57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4" name="Google Shape;1044;g2e800d9d764_0_5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1045" name="Google Shape;1045;g2e800d9d764_0_57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g2e800d9d764_0_59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7" name="Google Shape;1057;g2e800d9d764_0_5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1058" name="Google Shape;1058;g2e800d9d764_0_59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g2e851b82497_2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0" name="Google Shape;1070;g2e851b82497_2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1071" name="Google Shape;1071;g2e851b82497_2_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g2e800d9d764_0_60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0" name="Google Shape;1080;g2e800d9d764_0_6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1081" name="Google Shape;1081;g2e800d9d764_0_60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g2e800d9d764_0_6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6" name="Google Shape;1096;g2e800d9d764_0_6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1097" name="Google Shape;1097;g2e800d9d764_0_62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g2e800d9d764_0_6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6" name="Google Shape;1106;g2e800d9d764_0_6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1107" name="Google Shape;1107;g2e800d9d764_0_64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g2e800d9d764_0_65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5" name="Google Shape;1115;g2e800d9d764_0_6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1116" name="Google Shape;1116;g2e800d9d764_0_65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g2e800d9d764_0_66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8" name="Google Shape;1128;g2e800d9d764_0_6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1129" name="Google Shape;1129;g2e800d9d764_0_66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g2e800d9d764_0_68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8" name="Google Shape;1138;g2e800d9d764_0_6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1139" name="Google Shape;1139;g2e800d9d764_0_68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g2e800d9d764_0_69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8" name="Google Shape;1148;g2e800d9d764_0_6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1149" name="Google Shape;1149;g2e800d9d764_0_69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g2e95140532c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1" name="Google Shape;1161;g2e95140532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/>
              <a:t>8장 단어의 표현에 대해 알아보겠습니다.</a:t>
            </a:r>
            <a:endParaRPr/>
          </a:p>
        </p:txBody>
      </p:sp>
      <p:sp>
        <p:nvSpPr>
          <p:cNvPr id="1162" name="Google Shape;1162;g2e95140532c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g2e95140532c_0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8" name="Google Shape;1168;g2e95140532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1169" name="Google Shape;1169;g2e95140532c_0_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g2e95140532c_1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7" name="Google Shape;1177;g2e95140532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1178" name="Google Shape;1178;g2e95140532c_1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5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g2e95140532c_0_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7" name="Google Shape;1187;g2e95140532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1188" name="Google Shape;1188;g2e95140532c_0_1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5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g2e95140532c_1_7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7" name="Google Shape;1197;g2e95140532c_1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1198" name="Google Shape;1198;g2e95140532c_1_7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5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g2e95140532c_1_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7" name="Google Shape;1207;g2e95140532c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1208" name="Google Shape;1208;g2e95140532c_1_1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5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g2e95140532c_1_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7" name="Google Shape;1217;g2e95140532c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1218" name="Google Shape;1218;g2e95140532c_1_2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g2e95140532c_1_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7" name="Google Shape;1227;g2e95140532c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1228" name="Google Shape;1228;g2e95140532c_1_3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5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g2e95140532c_1_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7" name="Google Shape;1237;g2e95140532c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1238" name="Google Shape;1238;g2e95140532c_1_4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7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Google Shape;1248;g2e95140532c_1_5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9" name="Google Shape;1249;g2e95140532c_1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1250" name="Google Shape;1250;g2e95140532c_1_5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7" name="Shape 1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g2e95140532c_1_6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9" name="Google Shape;1259;g2e95140532c_1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1260" name="Google Shape;1260;g2e95140532c_1_6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0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g2e95140532c_1_10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2" name="Google Shape;1272;g2e95140532c_1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1273" name="Google Shape;1273;g2e95140532c_1_10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2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Google Shape;1283;g2e95140532c_1_9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4" name="Google Shape;1284;g2e95140532c_1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1285" name="Google Shape;1285;g2e95140532c_1_9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2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g2e95140532c_1_1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4" name="Google Shape;1294;g2e95140532c_1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1295" name="Google Shape;1295;g2e95140532c_1_12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3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g2e95e420fe5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5" name="Google Shape;1305;g2e95e420fe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1306" name="Google Shape;1306;g2e95e420fe5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5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Google Shape;1316;g2e95e420fe5_0_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7" name="Google Shape;1317;g2e95e420fe5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1318" name="Google Shape;1318;g2e95e420fe5_0_1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g2e95e420fe5_0_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8" name="Google Shape;1328;g2e95e420fe5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1329" name="Google Shape;1329;g2e95e420fe5_0_4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7" name="Shape 1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8" name="Google Shape;1338;g2e95e420fe5_0_5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9" name="Google Shape;1339;g2e95e420fe5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1340" name="Google Shape;1340;g2e95e420fe5_0_5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0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" name="Google Shape;1351;g2e95e420fe5_0_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2" name="Google Shape;1352;g2e95e420fe5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1353" name="Google Shape;1353;g2e95e420fe5_0_2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1" name="Shape 1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2" name="Google Shape;1362;g2e9964219cf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3" name="Google Shape;1363;g2e9964219c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/>
              <a:t>8장 단어의 표현에 대해 알아보겠습니다.</a:t>
            </a:r>
            <a:endParaRPr/>
          </a:p>
        </p:txBody>
      </p:sp>
      <p:sp>
        <p:nvSpPr>
          <p:cNvPr id="1364" name="Google Shape;1364;g2e9964219cf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8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g2e9964219cf_0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0" name="Google Shape;1370;g2e9964219c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1371" name="Google Shape;1371;g2e9964219cf_0_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7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Google Shape;1378;g2e9964219cf_0_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9" name="Google Shape;1379;g2e9964219cf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1380" name="Google Shape;1380;g2e9964219cf_0_3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4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Google Shape;1395;g2e9964219cf_0_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6" name="Google Shape;1396;g2e9964219cf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1397" name="Google Shape;1397;g2e9964219cf_0_4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4" name="Shape 1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5" name="Google Shape;1405;g2e9964219cf_0_6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6" name="Google Shape;1406;g2e9964219cf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1407" name="Google Shape;1407;g2e9964219cf_0_6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Google Shape;1419;g2e9964219cf_0_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0" name="Google Shape;1420;g2e9964219c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1421" name="Google Shape;1421;g2e9964219cf_0_1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4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g2e9964219cf_0_8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6" name="Google Shape;1436;g2e9964219cf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1437" name="Google Shape;1437;g2e9964219cf_0_8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3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Google Shape;1444;g2e9964219cf_0_10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5" name="Google Shape;1445;g2e9964219cf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1446" name="Google Shape;1446;g2e9964219cf_0_10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3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g2e9964219cf_1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5" name="Google Shape;1455;g2e9964219c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1456" name="Google Shape;1456;g2e9964219cf_1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9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Google Shape;1470;g2e9964219cf_1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1" name="Google Shape;1471;g2e9964219cf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1472" name="Google Shape;1472;g2e9964219cf_1_1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6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g2e9964219cf_1_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8" name="Google Shape;1488;g2e9964219cf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1489" name="Google Shape;1489;g2e9964219cf_1_3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6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g2e9964219cf_1_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8" name="Google Shape;1498;g2e9964219cf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1499" name="Google Shape;1499;g2e9964219cf_1_4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5" name="Shape 1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" name="Google Shape;1506;g2e9964219cf_1_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7" name="Google Shape;1507;g2e9964219cf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1508" name="Google Shape;1508;g2e9964219cf_1_5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5" name="Shape 1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6" name="Google Shape;1516;g2e9964219cf_1_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7" name="Google Shape;1517;g2e9964219cf_1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1518" name="Google Shape;1518;g2e9964219cf_1_5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6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g2e9964219cf_1_7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8" name="Google Shape;1528;g2e9964219cf_1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1529" name="Google Shape;1529;g2e9964219cf_1_7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0" name="Shape 1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1" name="Google Shape;1541;g2e9964219cf_1_1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2" name="Google Shape;1542;g2e9964219cf_1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1543" name="Google Shape;1543;g2e9964219cf_1_1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9" name="Shape 1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Google Shape;1550;g2e9964219cf_1_10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1" name="Google Shape;1551;g2e9964219cf_1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1552" name="Google Shape;1552;g2e9964219cf_1_10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1" name="Shape 1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Google Shape;1562;g2e9964219cf_1_1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3" name="Google Shape;1563;g2e9964219cf_1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1564" name="Google Shape;1564;g2e9964219cf_1_12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1" name="Shape 1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Google Shape;1572;g2e9964219cf_1_1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3" name="Google Shape;1573;g2e9964219cf_1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1574" name="Google Shape;1574;g2e9964219cf_1_13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1" name="Shape 1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2" name="Google Shape;1582;g2e9964219cf_1_1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3" name="Google Shape;1583;g2e9964219cf_1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1584" name="Google Shape;1584;g2e9964219cf_1_14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1" name="Shape 1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Google Shape;1592;g2e9964219cf_1_15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3" name="Google Shape;1593;g2e9964219cf_1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1594" name="Google Shape;1594;g2e9964219cf_1_15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1" name="Shape 1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2" name="Google Shape;1602;g2e9964219cf_1_8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3" name="Google Shape;1603;g2e9964219cf_1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단어의 표현이 필요한 이유에 대해서 먼저 살펴보겠습니다.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br>
              <a:rPr lang="ko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단어의 표현은 / 문자로 이루어진 단어를 /숫자로 변환하는 작업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말합니다.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예시처럼 “자연어 처리를 시작해보겠습니다”라는 문구가 있다면 이 예시글은는 /텍스트. /즉 문자열 형태입니다./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문서를 분류하거 /번역하는 등 작업을 수행하기 위해는  “확률을 계산하고, 더하고, 빼고 등”  수학적 연산이 /필요합니다.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그런데 문자열을 바로 사용하여 / 수학적 연산을 할 수는 없습니다.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따라서 / 우리는 분석을 위해 / 문자열을 숫자화를 할것입니다.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단어를 숫자화 하는 작업을 / 단어의 표현이라고 합니다.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우리는 이번 장을 통해/ 단어를 숫자로 어떻게 바꿀 수 있는지/ 알아보고, /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숫자로 변환하는 과정에서 /단어가 가지고 있는 본연의 의미를 /어떻게 살릴수 있을지 /알아보겠습니다.</a:t>
            </a:r>
            <a:endParaRPr/>
          </a:p>
        </p:txBody>
      </p:sp>
      <p:sp>
        <p:nvSpPr>
          <p:cNvPr id="1604" name="Google Shape;1604;g2e9964219cf_1_8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 1">
  <p:cSld name="1_제목 슬라이드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 rotWithShape="1">
          <a:blip r:embed="rId2">
            <a:alphaModFix/>
          </a:blip>
          <a:srcRect b="19991" l="0" r="0" t="64113"/>
          <a:stretch/>
        </p:blipFill>
        <p:spPr>
          <a:xfrm rot="10800000">
            <a:off x="0" y="1951596"/>
            <a:ext cx="9144000" cy="1240316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/>
          <p:nvPr/>
        </p:nvSpPr>
        <p:spPr>
          <a:xfrm>
            <a:off x="142876" y="152555"/>
            <a:ext cx="4886400" cy="689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3"/>
          <p:cNvSpPr txBox="1"/>
          <p:nvPr>
            <p:ph type="ctrTitle"/>
          </p:nvPr>
        </p:nvSpPr>
        <p:spPr>
          <a:xfrm>
            <a:off x="1143000" y="2200359"/>
            <a:ext cx="6858000" cy="590400"/>
          </a:xfrm>
          <a:prstGeom prst="rect">
            <a:avLst/>
          </a:prstGeom>
          <a:noFill/>
          <a:ln>
            <a:noFill/>
          </a:ln>
        </p:spPr>
        <p:txBody>
          <a:bodyPr anchorCtr="0" anchor="b" bIns="17125" lIns="34275" spcFirstLastPara="1" rIns="34275" wrap="square" tIns="17125">
            <a:no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b="0" sz="30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b="0" sz="30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b="0" sz="30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b="0" sz="30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b="0" sz="30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b="0" sz="30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b="0" sz="30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b="0" sz="3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CCCCC"/>
                </a:solidFill>
                <a:latin typeface="Nanum Gothic"/>
                <a:ea typeface="Nanum Gothic"/>
                <a:cs typeface="Nanum Gothic"/>
                <a:sym typeface="Nanum Gothic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CCCCC"/>
                </a:solidFill>
                <a:latin typeface="Nanum Gothic"/>
                <a:ea typeface="Nanum Gothic"/>
                <a:cs typeface="Nanum Gothic"/>
                <a:sym typeface="Nanum Gothic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CCCCC"/>
                </a:solidFill>
                <a:latin typeface="Nanum Gothic"/>
                <a:ea typeface="Nanum Gothic"/>
                <a:cs typeface="Nanum Gothic"/>
                <a:sym typeface="Nanum Gothic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CCCCC"/>
                </a:solidFill>
                <a:latin typeface="Nanum Gothic"/>
                <a:ea typeface="Nanum Gothic"/>
                <a:cs typeface="Nanum Gothic"/>
                <a:sym typeface="Nanum Gothic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CCCCC"/>
                </a:solidFill>
                <a:latin typeface="Nanum Gothic"/>
                <a:ea typeface="Nanum Gothic"/>
                <a:cs typeface="Nanum Gothic"/>
                <a:sym typeface="Nanum Gothic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CCCCC"/>
                </a:solidFill>
                <a:latin typeface="Nanum Gothic"/>
                <a:ea typeface="Nanum Gothic"/>
                <a:cs typeface="Nanum Gothic"/>
                <a:sym typeface="Nanum Gothic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CCCCC"/>
                </a:solidFill>
                <a:latin typeface="Nanum Gothic"/>
                <a:ea typeface="Nanum Gothic"/>
                <a:cs typeface="Nanum Gothic"/>
                <a:sym typeface="Nanum Gothic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CCCCC"/>
                </a:solidFill>
                <a:latin typeface="Nanum Gothic"/>
                <a:ea typeface="Nanum Gothic"/>
                <a:cs typeface="Nanum Gothic"/>
                <a:sym typeface="Nanum Gothic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CCCCC"/>
                </a:solidFill>
                <a:latin typeface="Nanum Gothic"/>
                <a:ea typeface="Nanum Gothic"/>
                <a:cs typeface="Nanum Gothic"/>
                <a:sym typeface="Nanum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 sz="90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 1">
  <p:cSld name="TITLE_ONLY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type="title"/>
          </p:nvPr>
        </p:nvSpPr>
        <p:spPr>
          <a:xfrm>
            <a:off x="997476" y="273850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101025" y="0"/>
            <a:ext cx="26007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Nanum Gothic"/>
              <a:buNone/>
              <a:defRPr sz="800">
                <a:solidFill>
                  <a:srgbClr val="999999"/>
                </a:solidFill>
                <a:latin typeface="Nanum Gothic"/>
                <a:ea typeface="Nanum Gothic"/>
                <a:cs typeface="Nanum Gothic"/>
                <a:sym typeface="Nanum Gothic"/>
              </a:defRPr>
            </a:lvl1pPr>
            <a:lvl2pPr lvl="1" rtl="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999999"/>
              </a:buClr>
              <a:buSzPts val="800"/>
              <a:buNone/>
              <a:defRPr sz="800">
                <a:solidFill>
                  <a:srgbClr val="999999"/>
                </a:solidFill>
              </a:defRPr>
            </a:lvl2pPr>
            <a:lvl3pPr lvl="2" rtl="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999999"/>
              </a:buClr>
              <a:buSzPts val="800"/>
              <a:buNone/>
              <a:defRPr sz="800">
                <a:solidFill>
                  <a:srgbClr val="999999"/>
                </a:solidFill>
              </a:defRPr>
            </a:lvl3pPr>
            <a:lvl4pPr lvl="3" rtl="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999999"/>
              </a:buClr>
              <a:buSzPts val="800"/>
              <a:buNone/>
              <a:defRPr sz="800">
                <a:solidFill>
                  <a:srgbClr val="999999"/>
                </a:solidFill>
              </a:defRPr>
            </a:lvl4pPr>
            <a:lvl5pPr lvl="4" rtl="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999999"/>
              </a:buClr>
              <a:buSzPts val="800"/>
              <a:buNone/>
              <a:defRPr sz="800">
                <a:solidFill>
                  <a:srgbClr val="999999"/>
                </a:solidFill>
              </a:defRPr>
            </a:lvl5pPr>
            <a:lvl6pPr lvl="5" rtl="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999999"/>
              </a:buClr>
              <a:buSzPts val="800"/>
              <a:buNone/>
              <a:defRPr sz="800">
                <a:solidFill>
                  <a:srgbClr val="999999"/>
                </a:solidFill>
              </a:defRPr>
            </a:lvl6pPr>
            <a:lvl7pPr lvl="6" rtl="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999999"/>
              </a:buClr>
              <a:buSzPts val="800"/>
              <a:buNone/>
              <a:defRPr sz="800">
                <a:solidFill>
                  <a:srgbClr val="999999"/>
                </a:solidFill>
              </a:defRPr>
            </a:lvl7pPr>
            <a:lvl8pPr lvl="7" rtl="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999999"/>
              </a:buClr>
              <a:buSzPts val="800"/>
              <a:buNone/>
              <a:defRPr sz="800">
                <a:solidFill>
                  <a:srgbClr val="999999"/>
                </a:solidFill>
              </a:defRPr>
            </a:lvl8pPr>
            <a:lvl9pPr lvl="8" rtl="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999999"/>
              </a:buClr>
              <a:buSzPts val="800"/>
              <a:buNone/>
              <a:defRPr sz="800">
                <a:solidFill>
                  <a:srgbClr val="999999"/>
                </a:solidFill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CCCCC"/>
                </a:solidFill>
                <a:latin typeface="Nanum Gothic"/>
                <a:ea typeface="Nanum Gothic"/>
                <a:cs typeface="Nanum Gothic"/>
                <a:sym typeface="Nanum Gothic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CCCCC"/>
                </a:solidFill>
                <a:latin typeface="Nanum Gothic"/>
                <a:ea typeface="Nanum Gothic"/>
                <a:cs typeface="Nanum Gothic"/>
                <a:sym typeface="Nanum Gothic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CCCCC"/>
                </a:solidFill>
                <a:latin typeface="Nanum Gothic"/>
                <a:ea typeface="Nanum Gothic"/>
                <a:cs typeface="Nanum Gothic"/>
                <a:sym typeface="Nanum Gothic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CCCCC"/>
                </a:solidFill>
                <a:latin typeface="Nanum Gothic"/>
                <a:ea typeface="Nanum Gothic"/>
                <a:cs typeface="Nanum Gothic"/>
                <a:sym typeface="Nanum Gothic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CCCCC"/>
                </a:solidFill>
                <a:latin typeface="Nanum Gothic"/>
                <a:ea typeface="Nanum Gothic"/>
                <a:cs typeface="Nanum Gothic"/>
                <a:sym typeface="Nanum Gothic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CCCCC"/>
                </a:solidFill>
                <a:latin typeface="Nanum Gothic"/>
                <a:ea typeface="Nanum Gothic"/>
                <a:cs typeface="Nanum Gothic"/>
                <a:sym typeface="Nanum Gothic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CCCCC"/>
                </a:solidFill>
                <a:latin typeface="Nanum Gothic"/>
                <a:ea typeface="Nanum Gothic"/>
                <a:cs typeface="Nanum Gothic"/>
                <a:sym typeface="Nanum Gothic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CCCCC"/>
                </a:solidFill>
                <a:latin typeface="Nanum Gothic"/>
                <a:ea typeface="Nanum Gothic"/>
                <a:cs typeface="Nanum Gothic"/>
                <a:sym typeface="Nanum Gothic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CCCCC"/>
                </a:solidFill>
                <a:latin typeface="Nanum Gothic"/>
                <a:ea typeface="Nanum Gothic"/>
                <a:cs typeface="Nanum Gothic"/>
                <a:sym typeface="Nanum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 2">
  <p:cSld name="TITLE_ONLY_2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/>
          <p:nvPr>
            <p:ph type="title"/>
          </p:nvPr>
        </p:nvSpPr>
        <p:spPr>
          <a:xfrm>
            <a:off x="997476" y="273850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5"/>
          <p:cNvSpPr txBox="1"/>
          <p:nvPr>
            <p:ph idx="1" type="subTitle"/>
          </p:nvPr>
        </p:nvSpPr>
        <p:spPr>
          <a:xfrm>
            <a:off x="101025" y="0"/>
            <a:ext cx="26007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Nanum Gothic"/>
              <a:buNone/>
              <a:defRPr sz="800">
                <a:solidFill>
                  <a:srgbClr val="999999"/>
                </a:solidFill>
                <a:latin typeface="Nanum Gothic"/>
                <a:ea typeface="Nanum Gothic"/>
                <a:cs typeface="Nanum Gothic"/>
                <a:sym typeface="Nanum Gothic"/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999999"/>
              </a:buClr>
              <a:buSzPts val="800"/>
              <a:buNone/>
              <a:defRPr sz="800">
                <a:solidFill>
                  <a:srgbClr val="999999"/>
                </a:solidFill>
              </a:defRPr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999999"/>
              </a:buClr>
              <a:buSzPts val="800"/>
              <a:buNone/>
              <a:defRPr sz="800">
                <a:solidFill>
                  <a:srgbClr val="999999"/>
                </a:solidFill>
              </a:defRPr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999999"/>
              </a:buClr>
              <a:buSzPts val="800"/>
              <a:buNone/>
              <a:defRPr sz="800">
                <a:solidFill>
                  <a:srgbClr val="999999"/>
                </a:solidFill>
              </a:defRPr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999999"/>
              </a:buClr>
              <a:buSzPts val="800"/>
              <a:buNone/>
              <a:defRPr sz="800">
                <a:solidFill>
                  <a:srgbClr val="999999"/>
                </a:solidFill>
              </a:defRPr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999999"/>
              </a:buClr>
              <a:buSzPts val="800"/>
              <a:buNone/>
              <a:defRPr sz="800">
                <a:solidFill>
                  <a:srgbClr val="999999"/>
                </a:solidFill>
              </a:defRPr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999999"/>
              </a:buClr>
              <a:buSzPts val="800"/>
              <a:buNone/>
              <a:defRPr sz="800">
                <a:solidFill>
                  <a:srgbClr val="999999"/>
                </a:solidFill>
              </a:defRPr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999999"/>
              </a:buClr>
              <a:buSzPts val="800"/>
              <a:buNone/>
              <a:defRPr sz="800">
                <a:solidFill>
                  <a:srgbClr val="999999"/>
                </a:solidFill>
              </a:defRPr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999999"/>
              </a:buClr>
              <a:buSzPts val="800"/>
              <a:buNone/>
              <a:defRPr sz="800">
                <a:solidFill>
                  <a:srgbClr val="999999"/>
                </a:solidFill>
              </a:defRPr>
            </a:lvl9pPr>
          </a:lstStyle>
          <a:p/>
        </p:txBody>
      </p:sp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CCCCC"/>
                </a:solidFill>
                <a:latin typeface="Nanum Gothic"/>
                <a:ea typeface="Nanum Gothic"/>
                <a:cs typeface="Nanum Gothic"/>
                <a:sym typeface="Nanum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CCCCC"/>
                </a:solidFill>
                <a:latin typeface="Nanum Gothic"/>
                <a:ea typeface="Nanum Gothic"/>
                <a:cs typeface="Nanum Gothic"/>
                <a:sym typeface="Nanum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CCCCC"/>
                </a:solidFill>
                <a:latin typeface="Nanum Gothic"/>
                <a:ea typeface="Nanum Gothic"/>
                <a:cs typeface="Nanum Gothic"/>
                <a:sym typeface="Nanum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CCCCC"/>
                </a:solidFill>
                <a:latin typeface="Nanum Gothic"/>
                <a:ea typeface="Nanum Gothic"/>
                <a:cs typeface="Nanum Gothic"/>
                <a:sym typeface="Nanum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CCCCC"/>
                </a:solidFill>
                <a:latin typeface="Nanum Gothic"/>
                <a:ea typeface="Nanum Gothic"/>
                <a:cs typeface="Nanum Gothic"/>
                <a:sym typeface="Nanum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CCCCC"/>
                </a:solidFill>
                <a:latin typeface="Nanum Gothic"/>
                <a:ea typeface="Nanum Gothic"/>
                <a:cs typeface="Nanum Gothic"/>
                <a:sym typeface="Nanum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CCCCC"/>
                </a:solidFill>
                <a:latin typeface="Nanum Gothic"/>
                <a:ea typeface="Nanum Gothic"/>
                <a:cs typeface="Nanum Gothic"/>
                <a:sym typeface="Nanum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CCCCC"/>
                </a:solidFill>
                <a:latin typeface="Nanum Gothic"/>
                <a:ea typeface="Nanum Gothic"/>
                <a:cs typeface="Nanum Gothic"/>
                <a:sym typeface="Nanum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CCCCCC"/>
                </a:solidFill>
                <a:latin typeface="Nanum Gothic"/>
                <a:ea typeface="Nanum Gothic"/>
                <a:cs typeface="Nanum Gothic"/>
                <a:sym typeface="Nanum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17.png"/><Relationship Id="rId5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23.png"/><Relationship Id="rId6" Type="http://schemas.openxmlformats.org/officeDocument/2006/relationships/image" Target="../media/image3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5.png"/><Relationship Id="rId4" Type="http://schemas.openxmlformats.org/officeDocument/2006/relationships/image" Target="../media/image2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huidea.tistory.com/274" TargetMode="External"/><Relationship Id="rId4" Type="http://schemas.openxmlformats.org/officeDocument/2006/relationships/hyperlink" Target="https://angeloyeo.github.io/2020/07/17/MLE.html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1.png"/><Relationship Id="rId4" Type="http://schemas.openxmlformats.org/officeDocument/2006/relationships/image" Target="../media/image2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5.png"/><Relationship Id="rId4" Type="http://schemas.openxmlformats.org/officeDocument/2006/relationships/image" Target="../media/image40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3.png"/><Relationship Id="rId4" Type="http://schemas.openxmlformats.org/officeDocument/2006/relationships/image" Target="../media/image46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3.png"/><Relationship Id="rId4" Type="http://schemas.openxmlformats.org/officeDocument/2006/relationships/image" Target="../media/image30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5.png"/><Relationship Id="rId4" Type="http://schemas.openxmlformats.org/officeDocument/2006/relationships/image" Target="../media/image41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5.png"/><Relationship Id="rId4" Type="http://schemas.openxmlformats.org/officeDocument/2006/relationships/image" Target="../media/image42.png"/><Relationship Id="rId5" Type="http://schemas.openxmlformats.org/officeDocument/2006/relationships/image" Target="../media/image40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9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7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3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49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36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2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38.png"/><Relationship Id="rId4" Type="http://schemas.openxmlformats.org/officeDocument/2006/relationships/image" Target="../media/image50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47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47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57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48.png"/><Relationship Id="rId4" Type="http://schemas.openxmlformats.org/officeDocument/2006/relationships/image" Target="../media/image51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48.png"/><Relationship Id="rId4" Type="http://schemas.openxmlformats.org/officeDocument/2006/relationships/image" Target="../media/image58.png"/><Relationship Id="rId9" Type="http://schemas.openxmlformats.org/officeDocument/2006/relationships/image" Target="../media/image56.png"/><Relationship Id="rId5" Type="http://schemas.openxmlformats.org/officeDocument/2006/relationships/image" Target="../media/image59.png"/><Relationship Id="rId6" Type="http://schemas.openxmlformats.org/officeDocument/2006/relationships/image" Target="../media/image55.png"/><Relationship Id="rId7" Type="http://schemas.openxmlformats.org/officeDocument/2006/relationships/image" Target="../media/image52.png"/><Relationship Id="rId8" Type="http://schemas.openxmlformats.org/officeDocument/2006/relationships/image" Target="../media/image54.png"/></Relationships>
</file>

<file path=ppt/slides/_rels/slide62.xml.rels><?xml version="1.0" encoding="UTF-8" standalone="yes"?><Relationships xmlns="http://schemas.openxmlformats.org/package/2006/relationships"><Relationship Id="rId11" Type="http://schemas.openxmlformats.org/officeDocument/2006/relationships/image" Target="../media/image58.png"/><Relationship Id="rId10" Type="http://schemas.openxmlformats.org/officeDocument/2006/relationships/image" Target="../media/image61.png"/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62.png"/><Relationship Id="rId4" Type="http://schemas.openxmlformats.org/officeDocument/2006/relationships/image" Target="../media/image48.png"/><Relationship Id="rId9" Type="http://schemas.openxmlformats.org/officeDocument/2006/relationships/image" Target="../media/image60.png"/><Relationship Id="rId5" Type="http://schemas.openxmlformats.org/officeDocument/2006/relationships/image" Target="../media/image59.png"/><Relationship Id="rId6" Type="http://schemas.openxmlformats.org/officeDocument/2006/relationships/image" Target="../media/image55.png"/><Relationship Id="rId7" Type="http://schemas.openxmlformats.org/officeDocument/2006/relationships/image" Target="../media/image67.png"/><Relationship Id="rId8" Type="http://schemas.openxmlformats.org/officeDocument/2006/relationships/image" Target="../media/image63.png"/></Relationships>
</file>

<file path=ppt/slides/_rels/slide63.xml.rels><?xml version="1.0" encoding="UTF-8" standalone="yes"?><Relationships xmlns="http://schemas.openxmlformats.org/package/2006/relationships"><Relationship Id="rId11" Type="http://schemas.openxmlformats.org/officeDocument/2006/relationships/image" Target="../media/image58.png"/><Relationship Id="rId10" Type="http://schemas.openxmlformats.org/officeDocument/2006/relationships/image" Target="../media/image76.png"/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62.png"/><Relationship Id="rId4" Type="http://schemas.openxmlformats.org/officeDocument/2006/relationships/image" Target="../media/image48.png"/><Relationship Id="rId9" Type="http://schemas.openxmlformats.org/officeDocument/2006/relationships/image" Target="../media/image75.png"/><Relationship Id="rId5" Type="http://schemas.openxmlformats.org/officeDocument/2006/relationships/image" Target="../media/image59.png"/><Relationship Id="rId6" Type="http://schemas.openxmlformats.org/officeDocument/2006/relationships/image" Target="../media/image55.png"/><Relationship Id="rId7" Type="http://schemas.openxmlformats.org/officeDocument/2006/relationships/image" Target="../media/image71.png"/><Relationship Id="rId8" Type="http://schemas.openxmlformats.org/officeDocument/2006/relationships/image" Target="../media/image64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47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68.png"/><Relationship Id="rId4" Type="http://schemas.openxmlformats.org/officeDocument/2006/relationships/image" Target="../media/image66.png"/><Relationship Id="rId5" Type="http://schemas.openxmlformats.org/officeDocument/2006/relationships/image" Target="../media/image73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68.png"/><Relationship Id="rId4" Type="http://schemas.openxmlformats.org/officeDocument/2006/relationships/image" Target="../media/image66.png"/><Relationship Id="rId5" Type="http://schemas.openxmlformats.org/officeDocument/2006/relationships/image" Target="../media/image73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69.png"/><Relationship Id="rId4" Type="http://schemas.openxmlformats.org/officeDocument/2006/relationships/image" Target="../media/image70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65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81.png"/><Relationship Id="rId4" Type="http://schemas.openxmlformats.org/officeDocument/2006/relationships/image" Target="../media/image72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79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77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85.png"/><Relationship Id="rId4" Type="http://schemas.openxmlformats.org/officeDocument/2006/relationships/image" Target="../media/image74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80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87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78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82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93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89.png"/><Relationship Id="rId4" Type="http://schemas.openxmlformats.org/officeDocument/2006/relationships/image" Target="../media/image84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98.pn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100.png"/><Relationship Id="rId4" Type="http://schemas.openxmlformats.org/officeDocument/2006/relationships/image" Target="../media/image90.png"/><Relationship Id="rId5" Type="http://schemas.openxmlformats.org/officeDocument/2006/relationships/image" Target="../media/image95.png"/><Relationship Id="rId6" Type="http://schemas.openxmlformats.org/officeDocument/2006/relationships/image" Target="../media/image83.pn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91.png"/><Relationship Id="rId4" Type="http://schemas.openxmlformats.org/officeDocument/2006/relationships/image" Target="../media/image94.pn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97.pn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88.pn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92.pn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86.pn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119.png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120.png"/><Relationship Id="rId4" Type="http://schemas.openxmlformats.org/officeDocument/2006/relationships/image" Target="../media/image96.pn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114.png"/><Relationship Id="rId4" Type="http://schemas.openxmlformats.org/officeDocument/2006/relationships/image" Target="../media/image101.pn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102.png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115.png"/><Relationship Id="rId4" Type="http://schemas.openxmlformats.org/officeDocument/2006/relationships/image" Target="../media/image99.png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9.xml"/><Relationship Id="rId3" Type="http://schemas.openxmlformats.org/officeDocument/2006/relationships/image" Target="../media/image80.png"/><Relationship Id="rId4" Type="http://schemas.openxmlformats.org/officeDocument/2006/relationships/image" Target="../media/image103.png"/><Relationship Id="rId5" Type="http://schemas.openxmlformats.org/officeDocument/2006/relationships/image" Target="../media/image108.png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112.png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118.png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6.xml"/><Relationship Id="rId3" Type="http://schemas.openxmlformats.org/officeDocument/2006/relationships/image" Target="../media/image116.png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7.xml"/><Relationship Id="rId3" Type="http://schemas.openxmlformats.org/officeDocument/2006/relationships/image" Target="../media/image111.png"/><Relationship Id="rId4" Type="http://schemas.openxmlformats.org/officeDocument/2006/relationships/image" Target="../media/image105.png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8.xml"/><Relationship Id="rId3" Type="http://schemas.openxmlformats.org/officeDocument/2006/relationships/image" Target="../media/image113.png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0.xml"/><Relationship Id="rId3" Type="http://schemas.openxmlformats.org/officeDocument/2006/relationships/image" Target="../media/image109.png"/><Relationship Id="rId4" Type="http://schemas.openxmlformats.org/officeDocument/2006/relationships/image" Target="../media/image106.png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1.xml"/><Relationship Id="rId3" Type="http://schemas.openxmlformats.org/officeDocument/2006/relationships/image" Target="../media/image117.png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2.xml"/><Relationship Id="rId3" Type="http://schemas.openxmlformats.org/officeDocument/2006/relationships/image" Target="../media/image110.png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3.xml"/><Relationship Id="rId3" Type="http://schemas.openxmlformats.org/officeDocument/2006/relationships/image" Target="../media/image107.png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4.xml"/><Relationship Id="rId3" Type="http://schemas.openxmlformats.org/officeDocument/2006/relationships/image" Target="../media/image104.png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/>
          <p:nvPr>
            <p:ph type="ctrTitle"/>
          </p:nvPr>
        </p:nvSpPr>
        <p:spPr>
          <a:xfrm>
            <a:off x="1143000" y="2276559"/>
            <a:ext cx="6858000" cy="590400"/>
          </a:xfrm>
          <a:prstGeom prst="rect">
            <a:avLst/>
          </a:prstGeom>
          <a:noFill/>
          <a:ln>
            <a:noFill/>
          </a:ln>
        </p:spPr>
        <p:txBody>
          <a:bodyPr anchorCtr="0" anchor="b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ko"/>
              <a:t>Classification - Logistic Regression</a:t>
            </a:r>
            <a:endParaRPr sz="1200"/>
          </a:p>
        </p:txBody>
      </p:sp>
      <p:sp>
        <p:nvSpPr>
          <p:cNvPr id="69" name="Google Shape;69;p16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 sz="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76" name="Google Shape;76;p17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pic>
        <p:nvPicPr>
          <p:cNvPr id="78" name="Google Shape;7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70213" y="1638014"/>
            <a:ext cx="5003578" cy="2814512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7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✓"/>
            </a:pPr>
            <a:r>
              <a:rPr b="0" i="0" lang="ko" sz="1400" u="none" cap="none" strike="noStrik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rPr>
              <a:t>지도 학습 </a:t>
            </a:r>
            <a:endParaRPr b="0" i="0" sz="1400" u="none" cap="none" strike="noStrike">
              <a:solidFill>
                <a:srgbClr val="000000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anum Gothic"/>
              <a:buChar char="○"/>
            </a:pPr>
            <a:r>
              <a:rPr b="0" i="0" lang="ko" sz="1400" u="none" cap="none" strike="noStrik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rPr>
              <a:t>분류(Classification) : 라벨링되어있는 데이터를 학습해 데이터의 라벨을 예측</a:t>
            </a:r>
            <a:endParaRPr b="0" i="0" sz="1400" u="none" cap="none" strike="noStrike">
              <a:solidFill>
                <a:srgbClr val="000000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86" name="Google Shape;86;p18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87" name="Google Shape;87;p18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88" name="Google Shape;88;p18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✓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분류(Classification) 모델의 종류</a:t>
            </a:r>
            <a:endParaRPr b="0" i="0" sz="1400" u="none" cap="none" strike="noStrike">
              <a:solidFill>
                <a:srgbClr val="000000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anum Gothic"/>
              <a:buChar char="○"/>
            </a:pPr>
            <a:r>
              <a:rPr b="1" lang="ko">
                <a:latin typeface="Nanum Gothic"/>
                <a:ea typeface="Nanum Gothic"/>
                <a:cs typeface="Nanum Gothic"/>
                <a:sym typeface="Nanum Gothic"/>
              </a:rPr>
              <a:t>로지스틱 회귀 (Logistic Regression)</a:t>
            </a:r>
            <a:endParaRPr b="1"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anum Gothic"/>
              <a:buChar char="○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결정 트리 (Decision Tree)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anum Gothic"/>
              <a:buChar char="○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랜덤 포레스트 (Random Forest)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anum Gothic"/>
              <a:buChar char="○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서포트 벡터 머신 (Support Vector Machine, SVM)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anum Gothic"/>
              <a:buChar char="○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K-최근접 이웃 (K-Nearest Neighbor, KNN)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95" name="Google Shape;95;p19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96" name="Google Shape;96;p19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97" name="Google Shape;97;p19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✓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회귀 (Regression)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anum Gothic"/>
              <a:buChar char="○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입력값 : 연속값(실수), 이산값(범주) 모두 가능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anum Gothic"/>
              <a:buChar char="○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출력값 : 연속값(실수)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anum Gothic"/>
              <a:buChar char="○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모델 형태 : 일반적인 함수의 형태 (y=wx+b)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anum Gothic"/>
              <a:buChar char="✓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분류 (classification)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anum Gothic"/>
              <a:buChar char="○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입력값 : 연속값(실수), 이산값(범주) 모두 가능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anum Gothic"/>
              <a:buChar char="○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출력값 : 이산값(범주)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anum Gothic"/>
              <a:buChar char="○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모델 형태 : 이진 분류는 시그모이드(sigmoid), 다중 분류는 소프트맥스(softmax) 함수 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104" name="Google Shape;104;p20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105" name="Google Shape;105;p20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106" name="Google Shape;106;p20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✓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로지스틱 회귀 (Logistic Regression)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</p:txBody>
      </p:sp>
      <p:pic>
        <p:nvPicPr>
          <p:cNvPr id="107" name="Google Shape;10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4088" y="1612364"/>
            <a:ext cx="5235819" cy="2814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114" name="Google Shape;114;p21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115" name="Google Shape;115;p21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116" name="Google Shape;116;p21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✓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로지스틱 회귀 (Logistic Regression)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anum Gothic"/>
              <a:buChar char="○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독립변수와 종속변수의 선형 관계성을 기반으로 이진 분류 문제에 자주 사용되는 모델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anum Gothic"/>
              <a:buChar char="○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확률 기반의 분류를 수행하며, 로지스틱 함수를 사용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anum Gothic"/>
              <a:buChar char="○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L2 규제를 통해 모델의 복잡도를 조절할 수 있음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</p:txBody>
      </p:sp>
      <p:pic>
        <p:nvPicPr>
          <p:cNvPr id="117" name="Google Shape;11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9675" y="2177750"/>
            <a:ext cx="4824651" cy="2607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 txBox="1"/>
          <p:nvPr/>
        </p:nvSpPr>
        <p:spPr>
          <a:xfrm>
            <a:off x="7173475" y="3279175"/>
            <a:ext cx="18762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선형 회귀 식으로는 무리</a:t>
            </a:r>
            <a:endParaRPr sz="12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119" name="Google Shape;119;p21"/>
          <p:cNvSpPr txBox="1"/>
          <p:nvPr/>
        </p:nvSpPr>
        <p:spPr>
          <a:xfrm>
            <a:off x="1145537" y="3278222"/>
            <a:ext cx="1134000" cy="5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y = wx + b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126" name="Google Shape;126;p22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127" name="Google Shape;127;p22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128" name="Google Shape;128;p22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✓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로지스틱 회귀 (Logistic Regression)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anum Gothic"/>
              <a:buChar char="○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로지스틱 회귀는 예측 값 y가 0과 1사이의 확률 값을 가진다.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anum Gothic"/>
              <a:buChar char="○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일반적인 회귀 모형은 값의 범위가 -∞ ~ </a:t>
            </a: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∞ 이므로 범위의 매칭이 되지 않는다.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grpSp>
        <p:nvGrpSpPr>
          <p:cNvPr id="129" name="Google Shape;129;p22"/>
          <p:cNvGrpSpPr/>
          <p:nvPr/>
        </p:nvGrpSpPr>
        <p:grpSpPr>
          <a:xfrm>
            <a:off x="2159675" y="2177750"/>
            <a:ext cx="6890000" cy="2607100"/>
            <a:chOff x="2159675" y="2177750"/>
            <a:chExt cx="6890000" cy="2607100"/>
          </a:xfrm>
        </p:grpSpPr>
        <p:pic>
          <p:nvPicPr>
            <p:cNvPr id="130" name="Google Shape;130;p2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159675" y="2177750"/>
              <a:ext cx="4824651" cy="2607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" name="Google Shape;131;p22"/>
            <p:cNvSpPr txBox="1"/>
            <p:nvPr/>
          </p:nvSpPr>
          <p:spPr>
            <a:xfrm>
              <a:off x="7173475" y="3279175"/>
              <a:ext cx="1876200" cy="46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선형 회귀 식으로는 무리</a:t>
              </a:r>
              <a:endParaRPr sz="12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</p:grpSp>
      <p:sp>
        <p:nvSpPr>
          <p:cNvPr id="132" name="Google Shape;132;p22"/>
          <p:cNvSpPr txBox="1"/>
          <p:nvPr/>
        </p:nvSpPr>
        <p:spPr>
          <a:xfrm>
            <a:off x="1145537" y="3278222"/>
            <a:ext cx="1134000" cy="5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y = wx + b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3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139" name="Google Shape;139;p23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140" name="Google Shape;140;p23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141" name="Google Shape;141;p23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✓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로지스틱 회귀 (Logistic Regression)의 기본적인 목표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anum Gothic"/>
              <a:buChar char="○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선형 회귀처럼 선형 회귀 식을 사용하고 싶지만 y값의 범위가 맞지 않음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2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anum Gothic"/>
              <a:buChar char="■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y값의 범위를 0~1이 아닌 선형 회귀처럼 </a:t>
            </a: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-∞ ~ ∞로 범위를 맞춰주면 표현 가능!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"/>
              <a:buChar char="○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회귀 식을 사용하면 다음과 같은 장점이 많기 때문에 이러한 목표를 가짐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2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"/>
              <a:buChar char="■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설명 변수가 통계적으로 얼마나 유의미한지 결론을 낼 수 있다.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2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"/>
              <a:buChar char="■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설명 변수가 증감에 따라 종속 변수의 변화를 알 수 있다.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4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148" name="Google Shape;148;p24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149" name="Google Shape;149;p24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150" name="Google Shape;150;p24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✓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로지스틱 회귀 (Logistic Regression)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"/>
              <a:buChar char="○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베르누이 확률 변수의 기대값 : 파이(μ)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"/>
              <a:buChar char="■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베르누이 시행 : 결과가 두 가지 중 하나로만 나오는 실험이나 시행 (동전 던지기)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"/>
              <a:buChar char="■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베르누이 확률 변수는 베르누이 시행의 결과를 실수 0 또는 1로 바꾼 것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</p:txBody>
      </p:sp>
      <p:grpSp>
        <p:nvGrpSpPr>
          <p:cNvPr id="151" name="Google Shape;151;p24"/>
          <p:cNvGrpSpPr/>
          <p:nvPr/>
        </p:nvGrpSpPr>
        <p:grpSpPr>
          <a:xfrm>
            <a:off x="2455547" y="2280448"/>
            <a:ext cx="4232925" cy="1207402"/>
            <a:chOff x="2455547" y="2280448"/>
            <a:chExt cx="4232925" cy="1207402"/>
          </a:xfrm>
        </p:grpSpPr>
        <p:pic>
          <p:nvPicPr>
            <p:cNvPr id="152" name="Google Shape;152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455547" y="2280448"/>
              <a:ext cx="4232925" cy="892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3" name="Google Shape;153;p24"/>
            <p:cNvSpPr txBox="1"/>
            <p:nvPr/>
          </p:nvSpPr>
          <p:spPr>
            <a:xfrm>
              <a:off x="3766155" y="3173150"/>
              <a:ext cx="1775400" cy="31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>
                  <a:solidFill>
                    <a:srgbClr val="999999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베르누이 확률 분포</a:t>
              </a:r>
              <a:endParaRPr sz="1200">
                <a:solidFill>
                  <a:srgbClr val="999999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160" name="Google Shape;160;p25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161" name="Google Shape;161;p25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162" name="Google Shape;162;p25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✓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로지스틱 회귀 (Logistic Regression)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"/>
              <a:buChar char="○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베르누이 확률 변수의 기대값 : 파이(μ)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"/>
              <a:buChar char="■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기대값 : 확률 변수의 평균 값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"/>
              <a:buChar char="■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주사위의 기대값 : </a:t>
            </a:r>
            <a:r>
              <a:rPr lang="ko">
                <a:solidFill>
                  <a:schemeClr val="dk1"/>
                </a:solidFill>
              </a:rPr>
              <a:t>1 * 1/6 + 2 * 1/6 + 3 * 1/6 + 4 * 1/6 + 5 * 1/6 + 6 * 1/6 = 3.5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</p:txBody>
      </p:sp>
      <p:pic>
        <p:nvPicPr>
          <p:cNvPr id="163" name="Google Shape;16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3888" y="2264788"/>
            <a:ext cx="4376225" cy="172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6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170" name="Google Shape;170;p26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171" name="Google Shape;171;p26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172" name="Google Shape;172;p26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✓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로지스틱 회귀 (Logistic Regression)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</p:txBody>
      </p:sp>
      <p:grpSp>
        <p:nvGrpSpPr>
          <p:cNvPr id="173" name="Google Shape;173;p26"/>
          <p:cNvGrpSpPr/>
          <p:nvPr/>
        </p:nvGrpSpPr>
        <p:grpSpPr>
          <a:xfrm>
            <a:off x="997501" y="1288974"/>
            <a:ext cx="3918000" cy="3364552"/>
            <a:chOff x="2613001" y="1169349"/>
            <a:chExt cx="3918000" cy="3364552"/>
          </a:xfrm>
        </p:grpSpPr>
        <p:pic>
          <p:nvPicPr>
            <p:cNvPr id="174" name="Google Shape;174;p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13001" y="1169349"/>
              <a:ext cx="3918000" cy="1543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5" name="Google Shape;175;p2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720838" y="2864974"/>
              <a:ext cx="3702333" cy="166892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76" name="Google Shape;176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06022" y="2571747"/>
            <a:ext cx="3278425" cy="69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6"/>
          <p:cNvSpPr/>
          <p:nvPr/>
        </p:nvSpPr>
        <p:spPr>
          <a:xfrm>
            <a:off x="5083225" y="2794375"/>
            <a:ext cx="322800" cy="251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7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184" name="Google Shape;184;p27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185" name="Google Shape;185;p27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186" name="Google Shape;186;p27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✓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로지스틱 회귀 (Logistic Regression)의 승산 (Odds)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"/>
              <a:buChar char="✓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클래스가 0 혹은 1을 구분하는 문제를 확률적으로 표현하면, p와 1-p로 표현 가능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"/>
              <a:buChar char="✓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승산 (Odds)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"/>
              <a:buChar char="○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성공 확률이 p일 때, 실패 대비 성공 확률 비율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</p:txBody>
      </p:sp>
      <p:pic>
        <p:nvPicPr>
          <p:cNvPr id="187" name="Google Shape;18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8175" y="2400388"/>
            <a:ext cx="1870300" cy="2265291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7"/>
          <p:cNvSpPr txBox="1"/>
          <p:nvPr/>
        </p:nvSpPr>
        <p:spPr>
          <a:xfrm>
            <a:off x="5014075" y="2639029"/>
            <a:ext cx="2713500" cy="17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p=1 일 때, 무조건 성공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p=0 일 때, 무조건 실패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Odds 값이 크면 성공 확률 ⇧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Odds 값이 작으면 성공 확률 ⇩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8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195" name="Google Shape;195;p28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196" name="Google Shape;196;p28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197" name="Google Shape;197;p28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✓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로지스틱 회귀 (Logistic Regression)의 승산 (Odds)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"/>
              <a:buChar char="○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여전히 0 &lt; odds &lt; ∞ 이므로 범위가 맞지 않음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"/>
              <a:buChar char="○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비대칭</a:t>
            </a: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의 모양을 가지고 있음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"/>
              <a:buChar char="✓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그러므로 이러한 문제를 해결하기 위해 log를 씌운다.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"/>
              <a:buChar char="○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-∞</a:t>
            </a: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 &lt; log(odds) &lt; ∞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"/>
              <a:buChar char="○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대칭적인 모양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</p:txBody>
      </p:sp>
      <p:pic>
        <p:nvPicPr>
          <p:cNvPr id="198" name="Google Shape;19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2600" y="1213464"/>
            <a:ext cx="3021493" cy="32717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9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205" name="Google Shape;205;p29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206" name="Google Shape;206;p29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207" name="Google Shape;207;p29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✓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로그 승산 (Log-Odds)과 확률(</a:t>
            </a: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probability</a:t>
            </a: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)의 그래프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"/>
              <a:buChar char="○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-∞ &lt; log(odds) &lt; ∞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"/>
              <a:buChar char="○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대칭적인 모양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</p:txBody>
      </p:sp>
      <p:pic>
        <p:nvPicPr>
          <p:cNvPr id="208" name="Google Shape;20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41950" y="1319527"/>
            <a:ext cx="4262756" cy="2814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0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215" name="Google Shape;215;p30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216" name="Google Shape;216;p30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217" name="Google Shape;217;p30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✓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로지스틱 회귀 (Logistic Regression)의 로짓 변환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"/>
              <a:buChar char="○"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"/>
              <a:buChar char="○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Exponential 함수를 좌우변에 적용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"/>
              <a:buChar char="○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확률값 p에 대해서 정리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</p:txBody>
      </p:sp>
      <p:pic>
        <p:nvPicPr>
          <p:cNvPr id="218" name="Google Shape;21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0696" y="1438415"/>
            <a:ext cx="6544176" cy="55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51725" y="2530367"/>
            <a:ext cx="3485765" cy="55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51725" y="3830875"/>
            <a:ext cx="5347049" cy="66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1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227" name="Google Shape;227;p31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228" name="Google Shape;228;p31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229" name="Google Shape;229;p31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✓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로지스틱 회귀 (Logistic Regression)의 로지스틱 함수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</p:txBody>
      </p:sp>
      <p:pic>
        <p:nvPicPr>
          <p:cNvPr id="230" name="Google Shape;23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4900" y="3488969"/>
            <a:ext cx="2614200" cy="91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83489" y="1416320"/>
            <a:ext cx="3377013" cy="2230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2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238" name="Google Shape;238;p32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239" name="Google Shape;239;p32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240" name="Google Shape;240;p32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✓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로지스틱 회귀 (Logistic Regression)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"/>
              <a:buChar char="○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0-1 사이의 값으로 확률을 변환하기 쉬움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"/>
              <a:buChar char="○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모든 구간이 연속적이기 때문에 미분 가능 즉 경사 하강법 최적화에 유리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"/>
              <a:buChar char="○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함수의 양 끝에는 변화율이 적고 중앙은 변화율이 크다.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</p:txBody>
      </p:sp>
      <p:grpSp>
        <p:nvGrpSpPr>
          <p:cNvPr id="241" name="Google Shape;241;p32"/>
          <p:cNvGrpSpPr/>
          <p:nvPr/>
        </p:nvGrpSpPr>
        <p:grpSpPr>
          <a:xfrm>
            <a:off x="955841" y="2236852"/>
            <a:ext cx="7232311" cy="2309276"/>
            <a:chOff x="227950" y="1467589"/>
            <a:chExt cx="8687460" cy="2913912"/>
          </a:xfrm>
        </p:grpSpPr>
        <p:pic>
          <p:nvPicPr>
            <p:cNvPr id="242" name="Google Shape;242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27950" y="1467589"/>
              <a:ext cx="4452588" cy="28145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3" name="Google Shape;243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858938" y="1566989"/>
              <a:ext cx="4056472" cy="281451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3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250" name="Google Shape;250;p33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251" name="Google Shape;251;p33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252" name="Google Shape;252;p33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✓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로지스틱 회귀 (Logistic Regression)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</p:txBody>
      </p:sp>
      <p:grpSp>
        <p:nvGrpSpPr>
          <p:cNvPr id="253" name="Google Shape;253;p33"/>
          <p:cNvGrpSpPr/>
          <p:nvPr/>
        </p:nvGrpSpPr>
        <p:grpSpPr>
          <a:xfrm>
            <a:off x="955841" y="2313052"/>
            <a:ext cx="7232311" cy="2309276"/>
            <a:chOff x="227950" y="1467589"/>
            <a:chExt cx="8687460" cy="2913912"/>
          </a:xfrm>
        </p:grpSpPr>
        <p:pic>
          <p:nvPicPr>
            <p:cNvPr id="254" name="Google Shape;254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27950" y="1467589"/>
              <a:ext cx="4452588" cy="28145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5" name="Google Shape;255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858938" y="1566989"/>
              <a:ext cx="4056472" cy="281451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6" name="Google Shape;256;p33"/>
          <p:cNvGrpSpPr/>
          <p:nvPr/>
        </p:nvGrpSpPr>
        <p:grpSpPr>
          <a:xfrm>
            <a:off x="994475" y="1101238"/>
            <a:ext cx="7324122" cy="1141650"/>
            <a:chOff x="1299275" y="1177438"/>
            <a:chExt cx="7324122" cy="1141650"/>
          </a:xfrm>
        </p:grpSpPr>
        <p:pic>
          <p:nvPicPr>
            <p:cNvPr id="257" name="Google Shape;257;p3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036875" y="1293635"/>
              <a:ext cx="2139500" cy="909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8" name="Google Shape;258;p3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530148" y="1177438"/>
              <a:ext cx="3093250" cy="11416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9" name="Google Shape;259;p33"/>
            <p:cNvSpPr txBox="1"/>
            <p:nvPr/>
          </p:nvSpPr>
          <p:spPr>
            <a:xfrm>
              <a:off x="1299275" y="1518463"/>
              <a:ext cx="1737600" cy="45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로지스틱 함수</a:t>
              </a:r>
              <a:endParaRPr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시그모이드 함수</a:t>
              </a:r>
              <a:endParaRPr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  <p:sp>
          <p:nvSpPr>
            <p:cNvPr id="260" name="Google Shape;260;p33"/>
            <p:cNvSpPr/>
            <p:nvPr/>
          </p:nvSpPr>
          <p:spPr>
            <a:xfrm>
              <a:off x="2670600" y="1730725"/>
              <a:ext cx="327300" cy="189000"/>
            </a:xfrm>
            <a:prstGeom prst="mathEqual">
              <a:avLst>
                <a:gd fmla="val 23520" name="adj1"/>
                <a:gd fmla="val 11760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  <p:sp>
          <p:nvSpPr>
            <p:cNvPr id="261" name="Google Shape;261;p33"/>
            <p:cNvSpPr/>
            <p:nvPr/>
          </p:nvSpPr>
          <p:spPr>
            <a:xfrm>
              <a:off x="5189613" y="1730725"/>
              <a:ext cx="327300" cy="189000"/>
            </a:xfrm>
            <a:prstGeom prst="mathEqual">
              <a:avLst>
                <a:gd fmla="val 23520" name="adj1"/>
                <a:gd fmla="val 11760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4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268" name="Google Shape;268;p34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269" name="Google Shape;269;p34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270" name="Google Shape;270;p34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✓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로지스틱 회귀 (Logistic Regression) 최적화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</p:txBody>
      </p:sp>
      <p:grpSp>
        <p:nvGrpSpPr>
          <p:cNvPr id="271" name="Google Shape;271;p34"/>
          <p:cNvGrpSpPr/>
          <p:nvPr/>
        </p:nvGrpSpPr>
        <p:grpSpPr>
          <a:xfrm>
            <a:off x="3025385" y="1567000"/>
            <a:ext cx="3093250" cy="1398670"/>
            <a:chOff x="1237135" y="1380993"/>
            <a:chExt cx="3093250" cy="1398670"/>
          </a:xfrm>
        </p:grpSpPr>
        <p:pic>
          <p:nvPicPr>
            <p:cNvPr id="272" name="Google Shape;272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237135" y="1638013"/>
              <a:ext cx="3093250" cy="11416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3" name="Google Shape;273;p34"/>
            <p:cNvSpPr txBox="1"/>
            <p:nvPr/>
          </p:nvSpPr>
          <p:spPr>
            <a:xfrm>
              <a:off x="1510479" y="1380993"/>
              <a:ext cx="2508900" cy="4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최적의 β</a:t>
              </a:r>
              <a:r>
                <a:rPr baseline="-25000"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0</a:t>
              </a:r>
              <a:r>
                <a:rPr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, β</a:t>
              </a:r>
              <a:r>
                <a:rPr baseline="-25000"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1</a:t>
              </a:r>
              <a:r>
                <a:rPr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, β</a:t>
              </a:r>
              <a:r>
                <a:rPr baseline="-25000"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2</a:t>
              </a:r>
              <a:r>
                <a:rPr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…를 찾는 것 !</a:t>
              </a:r>
              <a:endParaRPr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5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280" name="Google Shape;280;p35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281" name="Google Shape;281;p35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282" name="Google Shape;282;p35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✓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확률 vs 우도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"/>
              <a:buChar char="○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확률 (Probability)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anum Gothic"/>
              <a:buChar char="■"/>
            </a:pP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정의 : 모집단으로부터 특정 사건이 발생할 가능성</a:t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anum Gothic"/>
              <a:buChar char="■"/>
            </a:pP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전제 : 모집단의 특성에 기초하여 이론적으로 정의된 값</a:t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anum Gothic"/>
              <a:buChar char="■"/>
            </a:pP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예시 : 동전을 던졌을 때 앞면이 나올 확률은 50%</a:t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"/>
              <a:buChar char="○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우도 (</a:t>
            </a: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Likelihood</a:t>
            </a: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)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anum Gothic"/>
              <a:buChar char="■"/>
            </a:pP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정의 : 관찰된 데이터가 주어졌을 때, 특정 파라미터 값이 주어질 가능성</a:t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anum Gothic"/>
              <a:buChar char="■"/>
            </a:pP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전제 : 실제로 관찰된 데이터(경험)에 기초하여 계산</a:t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anum Gothic"/>
              <a:buChar char="■"/>
            </a:pP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예시 : 동전을 10번 던져서 7번 앞면이 나왔다면, p가 0.7일 가능성을 평가</a:t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pic>
        <p:nvPicPr>
          <p:cNvPr id="283" name="Google Shape;28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9350" y="3684750"/>
            <a:ext cx="2425300" cy="100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6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290" name="Google Shape;290;p36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291" name="Google Shape;291;p36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292" name="Google Shape;292;p36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✓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최대 우도 추정 (</a:t>
            </a:r>
            <a:r>
              <a:rPr lang="ko">
                <a:solidFill>
                  <a:srgbClr val="222222"/>
                </a:solidFill>
                <a:highlight>
                  <a:srgbClr val="FFFFFF"/>
                </a:highlight>
                <a:latin typeface="Nanum Gothic"/>
                <a:ea typeface="Nanum Gothic"/>
                <a:cs typeface="Nanum Gothic"/>
                <a:sym typeface="Nanum Gothic"/>
              </a:rPr>
              <a:t>Maximum Likelihood Estimation</a:t>
            </a:r>
            <a:r>
              <a:rPr lang="ko" sz="1200">
                <a:solidFill>
                  <a:srgbClr val="222222"/>
                </a:solidFill>
                <a:highlight>
                  <a:srgbClr val="FFFFFF"/>
                </a:highlight>
              </a:rPr>
              <a:t>)</a:t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grpSp>
        <p:nvGrpSpPr>
          <p:cNvPr id="293" name="Google Shape;293;p36"/>
          <p:cNvGrpSpPr/>
          <p:nvPr/>
        </p:nvGrpSpPr>
        <p:grpSpPr>
          <a:xfrm>
            <a:off x="1737032" y="1567002"/>
            <a:ext cx="5669935" cy="2755689"/>
            <a:chOff x="2108738" y="1871789"/>
            <a:chExt cx="4926523" cy="2814513"/>
          </a:xfrm>
        </p:grpSpPr>
        <p:pic>
          <p:nvPicPr>
            <p:cNvPr id="294" name="Google Shape;294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108738" y="1871789"/>
              <a:ext cx="4926523" cy="28145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5" name="Google Shape;295;p36"/>
            <p:cNvSpPr txBox="1"/>
            <p:nvPr/>
          </p:nvSpPr>
          <p:spPr>
            <a:xfrm>
              <a:off x="2743842" y="1967373"/>
              <a:ext cx="3731700" cy="3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데이터를 가장 잘 설명하는 확률분포는 무엇일까?</a:t>
              </a:r>
              <a:endParaRPr b="1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7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302" name="Google Shape;302;p37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303" name="Google Shape;303;p37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304" name="Google Shape;304;p37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✓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최대 우도 추정 (</a:t>
            </a:r>
            <a:r>
              <a:rPr lang="ko">
                <a:solidFill>
                  <a:srgbClr val="222222"/>
                </a:solidFill>
                <a:highlight>
                  <a:srgbClr val="FFFFFF"/>
                </a:highlight>
                <a:latin typeface="Nanum Gothic"/>
                <a:ea typeface="Nanum Gothic"/>
                <a:cs typeface="Nanum Gothic"/>
                <a:sym typeface="Nanum Gothic"/>
              </a:rPr>
              <a:t>Maximum Likelihood Estimation</a:t>
            </a:r>
            <a:r>
              <a:rPr lang="ko">
                <a:solidFill>
                  <a:srgbClr val="222222"/>
                </a:solidFill>
                <a:highlight>
                  <a:srgbClr val="FFFFFF"/>
                </a:highlight>
              </a:rPr>
              <a:t>)</a:t>
            </a:r>
            <a:endParaRPr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0"/>
              <a:buAutoNum type="arabicPeriod"/>
            </a:pPr>
            <a:r>
              <a:rPr lang="ko" sz="1300">
                <a:solidFill>
                  <a:srgbClr val="222222"/>
                </a:solidFill>
                <a:highlight>
                  <a:srgbClr val="FFFFFF"/>
                </a:highlight>
              </a:rPr>
              <a:t>우도 함수 계산</a:t>
            </a:r>
            <a:endParaRPr sz="13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-3111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0"/>
              <a:buAutoNum type="alphaLcPeriod"/>
            </a:pP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각각의 분포에 따른 우도 함수 계산</a:t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anum Gothic"/>
              <a:buAutoNum type="alphaLcPeriod"/>
            </a:pP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각 데이터 포인트에 대해 해당 분포에 나올 확률을 곱함</a:t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3" marL="1828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anum Gothic"/>
              <a:buChar char="●"/>
            </a:pP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이때 계산의 편의성을 위해 로그를 씌운 로그 우도 함수로 계산</a:t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anum Gothic"/>
              <a:buAutoNum type="alphaLcPeriod"/>
            </a:pP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비교</a:t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3" marL="1828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anum Gothic"/>
              <a:buChar char="●"/>
            </a:pP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두 로그 우도 함수를 비교하여 로그 우도 값이 더 큰 쪽이 더 잘 맞는 분포</a:t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pic>
        <p:nvPicPr>
          <p:cNvPr id="305" name="Google Shape;30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0581" y="1180477"/>
            <a:ext cx="2746136" cy="31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91512" y="2950000"/>
            <a:ext cx="3160976" cy="180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8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313" name="Google Shape;313;p38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314" name="Google Shape;314;p38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315" name="Google Shape;315;p38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✓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로지스틱 회귀 (Logistic Regression) 최적화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"/>
              <a:buChar char="○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목표 : 최적의 β</a:t>
            </a:r>
            <a:r>
              <a:rPr baseline="-25000"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0</a:t>
            </a: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, β</a:t>
            </a:r>
            <a:r>
              <a:rPr baseline="-25000"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1</a:t>
            </a: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, β</a:t>
            </a:r>
            <a:r>
              <a:rPr baseline="-25000"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2</a:t>
            </a: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…를 찾는 것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"/>
              <a:buAutoNum type="arabicPeriod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초기 파라미터 설정 (β</a:t>
            </a:r>
            <a:r>
              <a:rPr baseline="-25000"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0</a:t>
            </a: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, β</a:t>
            </a:r>
            <a:r>
              <a:rPr baseline="-25000"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1</a:t>
            </a: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)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"/>
              <a:buAutoNum type="arabicPeriod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우도 함수(Likelihood Function) 정의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3" marL="1828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"/>
              <a:buChar char="●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 모델이 데이터를 얼마나 잘 설명하는지 나타내는 함수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"/>
              <a:buAutoNum type="arabicPeriod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로그 우도 함수(Log-Likelihood Function) 계산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3" marL="1828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"/>
              <a:buChar char="●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계산의 편의성을 위해 우도 함수의 로그를 취한 것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"/>
              <a:buAutoNum type="arabicPeriod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경사 하강법으로 기울기 최적화 진행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3" marL="1828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"/>
              <a:buChar char="●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로그 우도 함수의 기울기 계산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"/>
              <a:buAutoNum type="arabicPeriod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기울기가 안정화되면 종료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316" name="Google Shape;316;p38"/>
          <p:cNvSpPr txBox="1"/>
          <p:nvPr/>
        </p:nvSpPr>
        <p:spPr>
          <a:xfrm>
            <a:off x="2851950" y="4457037"/>
            <a:ext cx="3440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u="sng">
                <a:solidFill>
                  <a:srgbClr val="999999"/>
                </a:solidFill>
              </a:rPr>
              <a:t>자세한 과정 참고 - </a:t>
            </a:r>
            <a:r>
              <a:rPr lang="ko" sz="900" u="sng">
                <a:solidFill>
                  <a:srgbClr val="999999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[Machine learning] 로지스틱 회귀분석 심화</a:t>
            </a:r>
            <a:endParaRPr sz="900">
              <a:solidFill>
                <a:srgbClr val="999999"/>
              </a:solidFill>
            </a:endParaRPr>
          </a:p>
        </p:txBody>
      </p:sp>
      <p:sp>
        <p:nvSpPr>
          <p:cNvPr id="317" name="Google Shape;317;p38"/>
          <p:cNvSpPr txBox="1"/>
          <p:nvPr/>
        </p:nvSpPr>
        <p:spPr>
          <a:xfrm>
            <a:off x="2851950" y="4231687"/>
            <a:ext cx="3440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u="sng">
                <a:solidFill>
                  <a:srgbClr val="999999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자세한 과정 참고 - </a:t>
            </a:r>
            <a:r>
              <a:rPr lang="ko" sz="900" u="sng">
                <a:solidFill>
                  <a:srgbClr val="999999"/>
                </a:solidFill>
              </a:rPr>
              <a:t>우도, 로그 우도, MLE</a:t>
            </a:r>
            <a:endParaRPr sz="900" u="sng">
              <a:solidFill>
                <a:srgbClr val="999999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9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324" name="Google Shape;324;p39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325" name="Google Shape;325;p39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326" name="Google Shape;326;p39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✓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로지스틱 회귀 (Logistic Regression)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anum Gothic"/>
              <a:buAutoNum type="arabicPeriod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임의의 파라미터 선정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2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anum Gothic"/>
              <a:buChar char="■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시작 전 파라미터 임의 설정 (</a:t>
            </a: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β</a:t>
            </a:r>
            <a:r>
              <a:rPr baseline="-25000"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0</a:t>
            </a: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, β</a:t>
            </a:r>
            <a:r>
              <a:rPr baseline="-25000"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1</a:t>
            </a: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)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"/>
              <a:buAutoNum type="arabicPeriod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우도 함수 정의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2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"/>
              <a:buChar char="■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주어진 데이터에 대해 우도 함수 정의 (로지스틱 함수)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"/>
              <a:buAutoNum type="arabicPeriod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로그 우도 함수 계산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"/>
              <a:buAutoNum type="arabicPeriod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로그 우도 함수에 경사 하강법 진행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"/>
              <a:buAutoNum type="arabicPeriod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기울기가 안정화되면 종료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"/>
              <a:buAutoNum type="arabicPeriod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최적화된 파라미터로 예측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</p:txBody>
      </p:sp>
      <p:pic>
        <p:nvPicPr>
          <p:cNvPr id="327" name="Google Shape;32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0400" y="2693975"/>
            <a:ext cx="3564799" cy="204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0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334" name="Google Shape;334;p40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335" name="Google Shape;335;p40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336" name="Google Shape;336;p40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✓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로지스틱 회귀 (Logistic Regression)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</p:txBody>
      </p:sp>
      <p:graphicFrame>
        <p:nvGraphicFramePr>
          <p:cNvPr id="337" name="Google Shape;337;p40"/>
          <p:cNvGraphicFramePr/>
          <p:nvPr/>
        </p:nvGraphicFramePr>
        <p:xfrm>
          <a:off x="521625" y="1405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{DB660EE3-C6BF-4F7E-83DB-CCDA0A96D27C}</a:tableStyleId>
              </a:tblPr>
              <a:tblGrid>
                <a:gridCol w="1087800"/>
                <a:gridCol w="1087800"/>
                <a:gridCol w="1087800"/>
              </a:tblGrid>
              <a:tr h="880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공부 시간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(x1)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시험 성적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(x2)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합격 여부 (Class)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6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50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6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60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6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70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6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80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38" name="Google Shape;338;p40"/>
          <p:cNvSpPr txBox="1"/>
          <p:nvPr/>
        </p:nvSpPr>
        <p:spPr>
          <a:xfrm>
            <a:off x="4091925" y="1384475"/>
            <a:ext cx="46824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"/>
              <a:buAutoNum type="arabicPeriod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선형 결합 계산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"/>
              <a:buAutoNum type="alphaLcPeriod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z=w*x + b (초기값 w=1,b=-2)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"/>
              <a:buAutoNum type="alphaLcPeriod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ex)공부 시간이 3시간일 때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z = 1*3+(-2) = 1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"/>
              <a:buAutoNum type="arabicPeriod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로지스틱 함수 적용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"/>
              <a:buAutoNum type="alphaLcPeriod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선형 결합 z를 로지스틱 함수에 적용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pic>
        <p:nvPicPr>
          <p:cNvPr id="339" name="Google Shape;33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7325" y="3356025"/>
            <a:ext cx="1671600" cy="136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1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346" name="Google Shape;346;p41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347" name="Google Shape;347;p41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348" name="Google Shape;348;p41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✓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로지스틱 회귀 (Logistic Regression)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</p:txBody>
      </p:sp>
      <p:graphicFrame>
        <p:nvGraphicFramePr>
          <p:cNvPr id="349" name="Google Shape;349;p41"/>
          <p:cNvGraphicFramePr/>
          <p:nvPr/>
        </p:nvGraphicFramePr>
        <p:xfrm>
          <a:off x="521625" y="1405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{DB660EE3-C6BF-4F7E-83DB-CCDA0A96D27C}</a:tableStyleId>
              </a:tblPr>
              <a:tblGrid>
                <a:gridCol w="1087800"/>
                <a:gridCol w="1087800"/>
                <a:gridCol w="1087800"/>
              </a:tblGrid>
              <a:tr h="880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공부 시간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(x1)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시험 성적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(x2)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합격 여부 (Class)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6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50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6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60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6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70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6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80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50" name="Google Shape;350;p41"/>
          <p:cNvSpPr txBox="1"/>
          <p:nvPr/>
        </p:nvSpPr>
        <p:spPr>
          <a:xfrm>
            <a:off x="4091925" y="1765475"/>
            <a:ext cx="46824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3.    로그 우도 함수 계산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"/>
              <a:buAutoNum type="alphaLcPeriod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각 데이터셋에 대한 로그 우도 함수를 계산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"/>
              <a:buAutoNum type="alphaLcPeriod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각각의 로그 우도 함수를 합산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pic>
        <p:nvPicPr>
          <p:cNvPr id="351" name="Google Shape;35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1921" y="1206168"/>
            <a:ext cx="4682400" cy="4817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2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358" name="Google Shape;358;p42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359" name="Google Shape;359;p42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360" name="Google Shape;360;p42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✓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로지스틱 회귀 (Logistic Regression)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</p:txBody>
      </p:sp>
      <p:pic>
        <p:nvPicPr>
          <p:cNvPr id="361" name="Google Shape;361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8575" y="1262075"/>
            <a:ext cx="2008225" cy="3729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33300" y="1810875"/>
            <a:ext cx="4423850" cy="152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3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369" name="Google Shape;369;p43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370" name="Google Shape;370;p43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371" name="Google Shape;371;p43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✓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로지스틱 회귀 (Logistic Regression)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pic>
        <p:nvPicPr>
          <p:cNvPr id="372" name="Google Shape;372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4750" y="1333214"/>
            <a:ext cx="3716150" cy="32717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4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379" name="Google Shape;379;p44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380" name="Google Shape;380;p44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381" name="Google Shape;381;p44"/>
          <p:cNvSpPr txBox="1"/>
          <p:nvPr/>
        </p:nvSpPr>
        <p:spPr>
          <a:xfrm>
            <a:off x="2176800" y="1955600"/>
            <a:ext cx="47904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latin typeface="Nanum Gothic"/>
                <a:ea typeface="Nanum Gothic"/>
                <a:cs typeface="Nanum Gothic"/>
                <a:sym typeface="Nanum Gothic"/>
              </a:rPr>
              <a:t>로지스틱 회귀 (Logistic Regression) 실습</a:t>
            </a:r>
            <a:endParaRPr b="1" sz="18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Nanum Gothic"/>
              <a:ea typeface="Nanum Gothic"/>
              <a:cs typeface="Nanum Gothic"/>
              <a:sym typeface="Nanum Gothic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5"/>
          <p:cNvSpPr txBox="1"/>
          <p:nvPr>
            <p:ph type="ctrTitle"/>
          </p:nvPr>
        </p:nvSpPr>
        <p:spPr>
          <a:xfrm>
            <a:off x="1143000" y="2276559"/>
            <a:ext cx="6858000" cy="590400"/>
          </a:xfrm>
          <a:prstGeom prst="rect">
            <a:avLst/>
          </a:prstGeom>
          <a:noFill/>
          <a:ln>
            <a:noFill/>
          </a:ln>
        </p:spPr>
        <p:txBody>
          <a:bodyPr anchorCtr="0" anchor="b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ko"/>
              <a:t>Classification - Decision Tree</a:t>
            </a:r>
            <a:endParaRPr sz="1200"/>
          </a:p>
        </p:txBody>
      </p:sp>
      <p:sp>
        <p:nvSpPr>
          <p:cNvPr id="388" name="Google Shape;388;p45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 sz="9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6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395" name="Google Shape;395;p46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396" name="Google Shape;396;p46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397" name="Google Shape;397;p46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✓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분류(Classification) 모델의 종류</a:t>
            </a:r>
            <a:endParaRPr b="0" i="0" sz="1400" u="none" cap="none" strike="noStrike">
              <a:solidFill>
                <a:srgbClr val="000000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anum Gothic"/>
              <a:buChar char="○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로지스틱 회귀 (Logistic Regression)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anum Gothic"/>
              <a:buChar char="○"/>
            </a:pPr>
            <a:r>
              <a:rPr b="1" lang="ko">
                <a:latin typeface="Nanum Gothic"/>
                <a:ea typeface="Nanum Gothic"/>
                <a:cs typeface="Nanum Gothic"/>
                <a:sym typeface="Nanum Gothic"/>
              </a:rPr>
              <a:t>결정 트리 (Decision Tree)</a:t>
            </a:r>
            <a:endParaRPr b="1"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anum Gothic"/>
              <a:buChar char="○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랜덤 포레스트 (Random Forest)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anum Gothic"/>
              <a:buChar char="○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서포트 벡터 머신 (Support Vector Machine, SVM)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anum Gothic"/>
              <a:buChar char="○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K-최근접 이웃 (K-Nearest Neighbor, KNN)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7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404" name="Google Shape;404;p47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405" name="Google Shape;405;p47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406" name="Google Shape;406;p47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✓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의사 결정 나무 (Decision Tree)</a:t>
            </a:r>
            <a:endParaRPr b="0" i="0" sz="1400" u="none" cap="none" strike="noStrike">
              <a:solidFill>
                <a:srgbClr val="000000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Nanum Gothic"/>
              <a:buChar char="○"/>
            </a:pPr>
            <a:r>
              <a:rPr lang="ko" sz="1300">
                <a:latin typeface="Nanum Gothic"/>
                <a:ea typeface="Nanum Gothic"/>
                <a:cs typeface="Nanum Gothic"/>
                <a:sym typeface="Nanum Gothic"/>
              </a:rPr>
              <a:t>데이터에 내재되어 있는 패턴을 변수의 조합으로 나타내는 예측/분류 모델을 나무 형태로 만듦</a:t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</p:txBody>
      </p:sp>
      <p:pic>
        <p:nvPicPr>
          <p:cNvPr id="407" name="Google Shape;407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2925" y="1764764"/>
            <a:ext cx="6078149" cy="2814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8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414" name="Google Shape;414;p48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415" name="Google Shape;415;p48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416" name="Google Shape;416;p48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✓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의사 결정 나무 (Decision Tree)</a:t>
            </a:r>
            <a:endParaRPr b="0" i="0" sz="1400" u="none" cap="none" strike="noStrike">
              <a:solidFill>
                <a:srgbClr val="000000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Nanum Gothic"/>
              <a:buChar char="○"/>
            </a:pPr>
            <a:r>
              <a:rPr lang="ko" sz="1300">
                <a:latin typeface="Nanum Gothic"/>
                <a:ea typeface="Nanum Gothic"/>
                <a:cs typeface="Nanum Gothic"/>
                <a:sym typeface="Nanum Gothic"/>
              </a:rPr>
              <a:t>예측 : 비슷한 수치를 갖고 있는 관측치끼리 모음</a:t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anum Gothic"/>
              <a:buChar char="○"/>
            </a:pPr>
            <a:r>
              <a:rPr lang="ko" sz="1300">
                <a:latin typeface="Nanum Gothic"/>
                <a:ea typeface="Nanum Gothic"/>
                <a:cs typeface="Nanum Gothic"/>
                <a:sym typeface="Nanum Gothic"/>
              </a:rPr>
              <a:t>분류 : 비슷한 범주를 갖고 있는 관측치끼리 모음</a:t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</p:txBody>
      </p:sp>
      <p:pic>
        <p:nvPicPr>
          <p:cNvPr id="417" name="Google Shape;417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0525" y="1866614"/>
            <a:ext cx="4302957" cy="2814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9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424" name="Google Shape;424;p49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425" name="Google Shape;425;p49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426" name="Google Shape;426;p49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✓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의사 결정 나무 (Decision Tree)</a:t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</p:txBody>
      </p:sp>
      <p:pic>
        <p:nvPicPr>
          <p:cNvPr id="427" name="Google Shape;427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4863" y="1284339"/>
            <a:ext cx="2114266" cy="32717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0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434" name="Google Shape;434;p50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435" name="Google Shape;435;p50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436" name="Google Shape;436;p50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✓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의사 결정 나무 (Decision Tree)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</p:txBody>
      </p:sp>
      <p:graphicFrame>
        <p:nvGraphicFramePr>
          <p:cNvPr id="437" name="Google Shape;437;p50"/>
          <p:cNvGraphicFramePr/>
          <p:nvPr/>
        </p:nvGraphicFramePr>
        <p:xfrm>
          <a:off x="521625" y="1405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{DB660EE3-C6BF-4F7E-83DB-CCDA0A96D27C}</a:tableStyleId>
              </a:tblPr>
              <a:tblGrid>
                <a:gridCol w="1445525"/>
                <a:gridCol w="1445525"/>
                <a:gridCol w="1445525"/>
              </a:tblGrid>
              <a:tr h="880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공부 시간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(x1)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시험 성적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(x2)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합격 여부 (Class)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6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50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6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60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6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70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6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80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438" name="Google Shape;438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6825" y="1779997"/>
            <a:ext cx="3298574" cy="2157575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50"/>
          <p:cNvSpPr/>
          <p:nvPr/>
        </p:nvSpPr>
        <p:spPr>
          <a:xfrm>
            <a:off x="5165138" y="2726638"/>
            <a:ext cx="321000" cy="264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51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446" name="Google Shape;446;p51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447" name="Google Shape;447;p51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448" name="Google Shape;448;p51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✓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의사 결정 나무 (Decision Tree)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anum Gothic"/>
              <a:buChar char="○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분할 변수(j)와 분할점(s) 설정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</p:txBody>
      </p:sp>
      <p:pic>
        <p:nvPicPr>
          <p:cNvPr id="449" name="Google Shape;449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9525" y="1638014"/>
            <a:ext cx="5490653" cy="281451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0" name="Google Shape;450;p51"/>
          <p:cNvCxnSpPr/>
          <p:nvPr/>
        </p:nvCxnSpPr>
        <p:spPr>
          <a:xfrm>
            <a:off x="2520947" y="2714550"/>
            <a:ext cx="11100" cy="1452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1" name="Google Shape;451;p51"/>
          <p:cNvCxnSpPr/>
          <p:nvPr/>
        </p:nvCxnSpPr>
        <p:spPr>
          <a:xfrm>
            <a:off x="4770925" y="2692391"/>
            <a:ext cx="11100" cy="1463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2" name="Google Shape;452;p51"/>
          <p:cNvCxnSpPr/>
          <p:nvPr/>
        </p:nvCxnSpPr>
        <p:spPr>
          <a:xfrm rot="5400000">
            <a:off x="6414074" y="2437459"/>
            <a:ext cx="11100" cy="1452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52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459" name="Google Shape;459;p52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460" name="Google Shape;460;p52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461" name="Google Shape;461;p52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✓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의사 결정 나무 (Decision Tree)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anum Gothic"/>
              <a:buChar char="✓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분할 변수 j = x1 일 때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anum Gothic"/>
              <a:buChar char="○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가능한 분할점 s = 1,2,3,4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anum Gothic"/>
              <a:buChar char="✓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분할 변수 j = x2 일 때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anum Gothic"/>
              <a:buChar char="○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가능한 분할점 s = 50,60, 70, 80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</p:txBody>
      </p:sp>
      <p:graphicFrame>
        <p:nvGraphicFramePr>
          <p:cNvPr id="462" name="Google Shape;462;p52"/>
          <p:cNvGraphicFramePr/>
          <p:nvPr/>
        </p:nvGraphicFramePr>
        <p:xfrm>
          <a:off x="4407825" y="1405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{DB660EE3-C6BF-4F7E-83DB-CCDA0A96D27C}</a:tableStyleId>
              </a:tblPr>
              <a:tblGrid>
                <a:gridCol w="1445525"/>
                <a:gridCol w="1445525"/>
                <a:gridCol w="1445525"/>
              </a:tblGrid>
              <a:tr h="880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공부 시간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(x1)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시험 성적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(x2)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합격 여부 (Class)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6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50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6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60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6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70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6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80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3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469" name="Google Shape;469;p53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470" name="Google Shape;470;p53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471" name="Google Shape;471;p53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✓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의사 결정 나무 (Decision Tree)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anum Gothic"/>
              <a:buChar char="○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각 노드에서 분할변수와 분할점의 설정은 불순도의 감소가 최대가 되도록 선택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</p:txBody>
      </p:sp>
      <p:pic>
        <p:nvPicPr>
          <p:cNvPr id="472" name="Google Shape;472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850" y="1719389"/>
            <a:ext cx="7990289" cy="2814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54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479" name="Google Shape;479;p54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480" name="Google Shape;480;p54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481" name="Google Shape;481;p54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✓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의사 결정 나무 (Decision Tree)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anum Gothic"/>
              <a:buChar char="○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각 노드에서 분할변수와 분할점의 설정은 불순도의 감소가 최대가 되도록 선택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anum Gothic"/>
              <a:buChar char="✓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지니 계수 (Gini impurity)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anum Gothic"/>
              <a:buChar char="○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p</a:t>
            </a:r>
            <a:r>
              <a:rPr baseline="-25000" lang="ko">
                <a:latin typeface="Nanum Gothic"/>
                <a:ea typeface="Nanum Gothic"/>
                <a:cs typeface="Nanum Gothic"/>
                <a:sym typeface="Nanum Gothic"/>
              </a:rPr>
              <a:t>k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는 클래스 k의 확률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anum Gothic"/>
              <a:buChar char="○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한 노드에 속한 데이터가 서로 다른 클래스일 확률을 나타낸다.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anum Gothic"/>
              <a:buChar char="○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값이 작을수록 해당 노드의 순도가 높다 즉 불순도가 낮다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</p:txBody>
      </p:sp>
      <p:pic>
        <p:nvPicPr>
          <p:cNvPr id="482" name="Google Shape;482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1475" y="2882064"/>
            <a:ext cx="2295525" cy="552450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54"/>
          <p:cNvSpPr txBox="1"/>
          <p:nvPr/>
        </p:nvSpPr>
        <p:spPr>
          <a:xfrm>
            <a:off x="628650" y="3430338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✓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엔트로피 (Entropy)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</p:txBody>
      </p:sp>
      <p:pic>
        <p:nvPicPr>
          <p:cNvPr id="484" name="Google Shape;484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32" y="3780557"/>
            <a:ext cx="3713150" cy="65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55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491" name="Google Shape;491;p55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492" name="Google Shape;492;p55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493" name="Google Shape;493;p55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✓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의사 결정 나무 (Decision Tree)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</p:txBody>
      </p:sp>
      <p:pic>
        <p:nvPicPr>
          <p:cNvPr id="494" name="Google Shape;494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6226" y="1220632"/>
            <a:ext cx="3030750" cy="158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50254" y="1220625"/>
            <a:ext cx="5049875" cy="259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56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502" name="Google Shape;502;p56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503" name="Google Shape;503;p56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504" name="Google Shape;504;p56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✓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의사 결정 나무 (Decision Tree)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</p:txBody>
      </p:sp>
      <p:pic>
        <p:nvPicPr>
          <p:cNvPr id="505" name="Google Shape;505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6226" y="1220632"/>
            <a:ext cx="3030750" cy="158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6" name="Google Shape;506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38475" y="1220614"/>
            <a:ext cx="4722225" cy="2668865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56"/>
          <p:cNvSpPr txBox="1"/>
          <p:nvPr/>
        </p:nvSpPr>
        <p:spPr>
          <a:xfrm>
            <a:off x="880275" y="3059641"/>
            <a:ext cx="32367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분할점 s=2에서 전체 지니 계수가 제일 낮으므로 이 분할점이 최적의 분할점!</a:t>
            </a:r>
            <a:endParaRPr b="1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57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514" name="Google Shape;514;p57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515" name="Google Shape;515;p57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516" name="Google Shape;516;p57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✓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의사 결정 나무 (Decision Tree)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517" name="Google Shape;517;p57"/>
          <p:cNvSpPr txBox="1"/>
          <p:nvPr/>
        </p:nvSpPr>
        <p:spPr>
          <a:xfrm>
            <a:off x="5357975" y="2058388"/>
            <a:ext cx="37179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300"/>
              <a:t>               x1 &lt;= 2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300"/>
              <a:t>              /            \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300"/>
              <a:t>        Class 0    Class 1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  <p:graphicFrame>
        <p:nvGraphicFramePr>
          <p:cNvPr id="518" name="Google Shape;518;p57"/>
          <p:cNvGraphicFramePr/>
          <p:nvPr/>
        </p:nvGraphicFramePr>
        <p:xfrm>
          <a:off x="521625" y="1405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{DB660EE3-C6BF-4F7E-83DB-CCDA0A96D27C}</a:tableStyleId>
              </a:tblPr>
              <a:tblGrid>
                <a:gridCol w="1445525"/>
                <a:gridCol w="1445525"/>
                <a:gridCol w="1445525"/>
              </a:tblGrid>
              <a:tr h="880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공부 시간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(x1)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시험 성적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(x2)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합격 여부 (Class)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6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50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6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60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6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70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6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80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19" name="Google Shape;519;p57"/>
          <p:cNvSpPr/>
          <p:nvPr/>
        </p:nvSpPr>
        <p:spPr>
          <a:xfrm>
            <a:off x="5258600" y="2388300"/>
            <a:ext cx="498900" cy="366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58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526" name="Google Shape;526;p58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527" name="Google Shape;527;p58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528" name="Google Shape;528;p58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✓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정보 이득 (Information Gain)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anum Gothic"/>
              <a:buChar char="○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분할 기준을 선택할 때 사용되는 중요한 지표 중 하나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anum Gothic"/>
              <a:buChar char="○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엔트로피(Entropy) 개념을 기반으로, 데이터를 특정 기준으로 분할했을 때, 분할 전후의 불확실성(엔트로피) 차이를 측정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anum Gothic"/>
              <a:buChar char="○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정보 이득이 크다는 것은 해당 분할이 데이터를 잘 분류한다는 의미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anum Gothic"/>
              <a:buChar char="○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즉, 특정 변수를 사용했을 때 엔트로피가 많이 감소되면 중요 변수로 판단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9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535" name="Google Shape;535;p59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536" name="Google Shape;536;p59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537" name="Google Shape;537;p59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✓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정보 이득 (Information Gain)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</p:txBody>
      </p:sp>
      <p:pic>
        <p:nvPicPr>
          <p:cNvPr id="538" name="Google Shape;538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3163" y="1198981"/>
            <a:ext cx="4437675" cy="58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9" name="Google Shape;539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53175" y="1852738"/>
            <a:ext cx="5029310" cy="25478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60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546" name="Google Shape;546;p60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547" name="Google Shape;547;p60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548" name="Google Shape;548;p60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✓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정보 이득 (Information Gain)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</p:txBody>
      </p:sp>
      <p:pic>
        <p:nvPicPr>
          <p:cNvPr id="549" name="Google Shape;549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181" y="4312474"/>
            <a:ext cx="3438287" cy="4513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50" name="Google Shape;550;p60"/>
          <p:cNvGraphicFramePr/>
          <p:nvPr/>
        </p:nvGraphicFramePr>
        <p:xfrm>
          <a:off x="521625" y="1405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{DB660EE3-C6BF-4F7E-83DB-CCDA0A96D27C}</a:tableStyleId>
              </a:tblPr>
              <a:tblGrid>
                <a:gridCol w="1087800"/>
                <a:gridCol w="1087800"/>
                <a:gridCol w="1087800"/>
              </a:tblGrid>
              <a:tr h="880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공부 시간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(x1)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시험 성적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(x2)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합격 여부 (Class)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6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50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6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60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6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70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6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80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551" name="Google Shape;551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72475" y="1328900"/>
            <a:ext cx="5104850" cy="1882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552" name="Google Shape;552;p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68332" y="3374295"/>
            <a:ext cx="3713150" cy="65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61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559" name="Google Shape;559;p61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560" name="Google Shape;560;p61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561" name="Google Shape;561;p61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✓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정보 이득 (Information Gain)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</p:txBody>
      </p:sp>
      <p:pic>
        <p:nvPicPr>
          <p:cNvPr id="562" name="Google Shape;562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5773" y="1209926"/>
            <a:ext cx="5612444" cy="34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62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569" name="Google Shape;569;p62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570" name="Google Shape;570;p62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571" name="Google Shape;571;p62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✓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정보 이득 (Information Gain)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</p:txBody>
      </p:sp>
      <p:pic>
        <p:nvPicPr>
          <p:cNvPr id="572" name="Google Shape;572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8350" y="1225923"/>
            <a:ext cx="5707294" cy="3460375"/>
          </a:xfrm>
          <a:prstGeom prst="rect">
            <a:avLst/>
          </a:prstGeom>
          <a:noFill/>
          <a:ln>
            <a:noFill/>
          </a:ln>
        </p:spPr>
      </p:pic>
      <p:sp>
        <p:nvSpPr>
          <p:cNvPr id="573" name="Google Shape;573;p62"/>
          <p:cNvSpPr txBox="1"/>
          <p:nvPr/>
        </p:nvSpPr>
        <p:spPr>
          <a:xfrm>
            <a:off x="4887175" y="3095550"/>
            <a:ext cx="2814000" cy="5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분할점이 s=1 보다 s=2일때의 </a:t>
            </a:r>
            <a:endParaRPr b="1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정보 이득이 더 크기 때문에 </a:t>
            </a:r>
            <a:endParaRPr b="1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s=2일때가 더욱 최적의 분할이 됨</a:t>
            </a:r>
            <a:endParaRPr b="1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63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580" name="Google Shape;580;p63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581" name="Google Shape;581;p63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582" name="Google Shape;582;p63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✓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의사 결정 나무 (Decision Tree)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anum Gothic"/>
              <a:buChar char="○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의사 결정 나무는 대부분 이진 분할로 이루어진다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2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anum Gothic"/>
              <a:buChar char="■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단순성, 과적합 방지, 일반화, 계산 복잡도 감소 등의 이유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anum Gothic"/>
              <a:buChar char="✓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의사 결정 나무의 단점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anum Gothic"/>
              <a:buChar char="○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계층적 구조로 인해 중간에 에러가 발생하면 다음 단계로 에러가 계속 전파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anum Gothic"/>
              <a:buChar char="○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학습 데이터의 미세한 변동에도 최종 결과에 크게 영향을 준다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anum Gothic"/>
              <a:buChar char="○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적은 개수의 노이즈에도 크게 영향을 받는다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anum Gothic"/>
              <a:buChar char="○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나무의 최종노드 개수를 늘리면 과적합 위험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anum Gothic"/>
              <a:buChar char="✓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이러한 문제를 해결하기 위해 </a:t>
            </a:r>
            <a:r>
              <a:rPr b="1" lang="ko">
                <a:latin typeface="Nanum Gothic"/>
                <a:ea typeface="Nanum Gothic"/>
                <a:cs typeface="Nanum Gothic"/>
                <a:sym typeface="Nanum Gothic"/>
              </a:rPr>
              <a:t>랜덤 포레스트 (Random forest)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 등장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64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589" name="Google Shape;589;p64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590" name="Google Shape;590;p64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591" name="Google Shape;591;p64"/>
          <p:cNvSpPr txBox="1"/>
          <p:nvPr/>
        </p:nvSpPr>
        <p:spPr>
          <a:xfrm>
            <a:off x="2176800" y="1955600"/>
            <a:ext cx="47904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latin typeface="Nanum Gothic"/>
                <a:ea typeface="Nanum Gothic"/>
                <a:cs typeface="Nanum Gothic"/>
                <a:sym typeface="Nanum Gothic"/>
              </a:rPr>
              <a:t>의사 결정 나무 (Decision tree) 실습</a:t>
            </a:r>
            <a:endParaRPr b="1" sz="18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Nanum Gothic"/>
              <a:ea typeface="Nanum Gothic"/>
              <a:cs typeface="Nanum Gothic"/>
              <a:sym typeface="Nanum Gothic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65"/>
          <p:cNvSpPr txBox="1"/>
          <p:nvPr>
            <p:ph type="ctrTitle"/>
          </p:nvPr>
        </p:nvSpPr>
        <p:spPr>
          <a:xfrm>
            <a:off x="1143000" y="2276559"/>
            <a:ext cx="6858000" cy="590400"/>
          </a:xfrm>
          <a:prstGeom prst="rect">
            <a:avLst/>
          </a:prstGeom>
          <a:noFill/>
          <a:ln>
            <a:noFill/>
          </a:ln>
        </p:spPr>
        <p:txBody>
          <a:bodyPr anchorCtr="0" anchor="b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ko"/>
              <a:t>Classification - Random Forest</a:t>
            </a:r>
            <a:endParaRPr sz="1200"/>
          </a:p>
        </p:txBody>
      </p:sp>
      <p:sp>
        <p:nvSpPr>
          <p:cNvPr id="598" name="Google Shape;598;p65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 sz="9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66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605" name="Google Shape;605;p66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606" name="Google Shape;606;p66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607" name="Google Shape;607;p66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✓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분류(Classification) 모델의 종류</a:t>
            </a:r>
            <a:endParaRPr b="0" i="0" sz="1400" u="none" cap="none" strike="noStrike">
              <a:solidFill>
                <a:srgbClr val="000000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anum Gothic"/>
              <a:buChar char="○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로지스틱 회귀 (Logistic Regression)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anum Gothic"/>
              <a:buChar char="○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결정 트리 (Decision Tree)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anum Gothic"/>
              <a:buChar char="○"/>
            </a:pPr>
            <a:r>
              <a:rPr b="1" lang="ko">
                <a:latin typeface="Nanum Gothic"/>
                <a:ea typeface="Nanum Gothic"/>
                <a:cs typeface="Nanum Gothic"/>
                <a:sym typeface="Nanum Gothic"/>
              </a:rPr>
              <a:t>랜덤 포레스트 (Random Forest)</a:t>
            </a:r>
            <a:endParaRPr b="1"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anum Gothic"/>
              <a:buChar char="○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서포트 벡터 머신 (Support Vector Machine, SVM)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anum Gothic"/>
              <a:buChar char="○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K-최근접 이웃 (K-Nearest Neighbor, KNN)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3" name="Google Shape;613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63451" y="2792479"/>
            <a:ext cx="2780547" cy="2351026"/>
          </a:xfrm>
          <a:prstGeom prst="rect">
            <a:avLst/>
          </a:prstGeom>
          <a:noFill/>
          <a:ln>
            <a:noFill/>
          </a:ln>
        </p:spPr>
      </p:pic>
      <p:sp>
        <p:nvSpPr>
          <p:cNvPr id="614" name="Google Shape;614;p67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615" name="Google Shape;615;p67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616" name="Google Shape;616;p67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617" name="Google Shape;617;p67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✓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결정 트리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(Random Forest)의 문제점</a:t>
            </a:r>
            <a:endParaRPr b="0" i="0" sz="1400" u="none" cap="none" strike="noStrike">
              <a:solidFill>
                <a:srgbClr val="000000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Nanum Gothic"/>
              <a:buChar char="○"/>
            </a:pPr>
            <a:r>
              <a:rPr lang="ko" sz="1300">
                <a:latin typeface="Nanum Gothic"/>
                <a:ea typeface="Nanum Gothic"/>
                <a:cs typeface="Nanum Gothic"/>
                <a:sym typeface="Nanum Gothic"/>
              </a:rPr>
              <a:t>계층적 구조로 인해 중간에 에러가 발생하면 다음 단계로 에러가 계속 전파</a:t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anum Gothic"/>
              <a:buChar char="○"/>
            </a:pPr>
            <a:r>
              <a:rPr lang="ko" sz="1300">
                <a:latin typeface="Nanum Gothic"/>
                <a:ea typeface="Nanum Gothic"/>
                <a:cs typeface="Nanum Gothic"/>
                <a:sym typeface="Nanum Gothic"/>
              </a:rPr>
              <a:t>학습 데이터의 미세한 변동에도 최종 결과에 크게 영향을 미침</a:t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anum Gothic"/>
              <a:buChar char="○"/>
            </a:pPr>
            <a:r>
              <a:rPr lang="ko" sz="1300">
                <a:latin typeface="Nanum Gothic"/>
                <a:ea typeface="Nanum Gothic"/>
                <a:cs typeface="Nanum Gothic"/>
                <a:sym typeface="Nanum Gothic"/>
              </a:rPr>
              <a:t>적은 개수의 노이즈에도 크게 영향을 미침</a:t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anum Gothic"/>
              <a:buChar char="○"/>
            </a:pPr>
            <a:r>
              <a:rPr lang="ko" sz="1300">
                <a:latin typeface="Nanum Gothic"/>
                <a:ea typeface="Nanum Gothic"/>
                <a:cs typeface="Nanum Gothic"/>
                <a:sym typeface="Nanum Gothic"/>
              </a:rPr>
              <a:t>나무의 최종 노드 개수를 늘리면 과적합 위험 (Low Bias, High Variance)</a:t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2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anum Gothic"/>
              <a:buChar char="■"/>
            </a:pPr>
            <a:r>
              <a:rPr lang="ko" sz="1300">
                <a:latin typeface="Nanum Gothic"/>
                <a:ea typeface="Nanum Gothic"/>
                <a:cs typeface="Nanum Gothic"/>
                <a:sym typeface="Nanum Gothic"/>
              </a:rPr>
              <a:t>점 = 서로 다른 훈련 데이터로 학습시킨 모델의 예측</a:t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3" marL="18288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anum Gothic"/>
              <a:buChar char="●"/>
            </a:pPr>
            <a:r>
              <a:rPr lang="ko" sz="1300">
                <a:latin typeface="Nanum Gothic"/>
                <a:ea typeface="Nanum Gothic"/>
                <a:cs typeface="Nanum Gothic"/>
                <a:sym typeface="Nanum Gothic"/>
              </a:rPr>
              <a:t>Bias(편향) = 점들의 평균 위치가 정중앙에서 얼마나 벗어났나 </a:t>
            </a:r>
            <a:br>
              <a:rPr lang="ko" sz="1300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 sz="1300">
                <a:latin typeface="Nanum Gothic"/>
                <a:ea typeface="Nanum Gothic"/>
                <a:cs typeface="Nanum Gothic"/>
                <a:sym typeface="Nanum Gothic"/>
              </a:rPr>
              <a:t>→ 모델이 구조적으로 틀렸는가</a:t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3" marL="18288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anum Gothic"/>
              <a:buChar char="●"/>
            </a:pPr>
            <a:r>
              <a:rPr lang="ko" sz="1300">
                <a:latin typeface="Nanum Gothic"/>
                <a:ea typeface="Nanum Gothic"/>
                <a:cs typeface="Nanum Gothic"/>
                <a:sym typeface="Nanum Gothic"/>
              </a:rPr>
              <a:t>Variance(분산) = 점들이 서로 얼마나 흩어져 있나 </a:t>
            </a:r>
            <a:br>
              <a:rPr lang="ko" sz="1300">
                <a:latin typeface="Nanum Gothic"/>
                <a:ea typeface="Nanum Gothic"/>
                <a:cs typeface="Nanum Gothic"/>
                <a:sym typeface="Nanum Gothic"/>
              </a:rPr>
            </a:br>
            <a:r>
              <a:rPr lang="ko" sz="1300">
                <a:latin typeface="Nanum Gothic"/>
                <a:ea typeface="Nanum Gothic"/>
                <a:cs typeface="Nanum Gothic"/>
                <a:sym typeface="Nanum Gothic"/>
              </a:rPr>
              <a:t>→ 데이터가 바뀔 때 모델이 얼마나 요동치는가</a:t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68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624" name="Google Shape;624;p68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625" name="Google Shape;625;p68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626" name="Google Shape;626;p68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✓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랜덤 포레스트(Random Forest)의 배경 - 앙상블(Ensemble)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Nanum Gothic"/>
              <a:buChar char="○"/>
            </a:pPr>
            <a:r>
              <a:rPr lang="ko" sz="1300">
                <a:latin typeface="Nanum Gothic"/>
                <a:ea typeface="Nanum Gothic"/>
                <a:cs typeface="Nanum Gothic"/>
                <a:sym typeface="Nanum Gothic"/>
              </a:rPr>
              <a:t>여러 Base 모델들의 예측을 다수결 법칙 또는 평균을 이용해 통합하여 예측 정확성을 향상</a:t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</p:txBody>
      </p:sp>
      <p:pic>
        <p:nvPicPr>
          <p:cNvPr id="627" name="Google Shape;627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2363" y="1500222"/>
            <a:ext cx="5339275" cy="1814975"/>
          </a:xfrm>
          <a:prstGeom prst="rect">
            <a:avLst/>
          </a:prstGeom>
          <a:noFill/>
          <a:ln>
            <a:noFill/>
          </a:ln>
        </p:spPr>
      </p:pic>
      <p:sp>
        <p:nvSpPr>
          <p:cNvPr id="628" name="Google Shape;628;p68"/>
          <p:cNvSpPr txBox="1"/>
          <p:nvPr/>
        </p:nvSpPr>
        <p:spPr>
          <a:xfrm>
            <a:off x="628650" y="33528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✓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다음 조건을 만족할 때 앙상블 모델은 Base 모델보다 우수한 성능을 보여준다.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anum Gothic"/>
              <a:buChar char="○"/>
            </a:pPr>
            <a:r>
              <a:rPr lang="ko" sz="1300">
                <a:latin typeface="Nanum Gothic"/>
                <a:ea typeface="Nanum Gothic"/>
                <a:cs typeface="Nanum Gothic"/>
                <a:sym typeface="Nanum Gothic"/>
              </a:rPr>
              <a:t>Base 모델들이 서로 독립적</a:t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anum Gothic"/>
              <a:buChar char="○"/>
            </a:pPr>
            <a:r>
              <a:rPr lang="ko" sz="1300">
                <a:latin typeface="Nanum Gothic"/>
                <a:ea typeface="Nanum Gothic"/>
                <a:cs typeface="Nanum Gothic"/>
                <a:sym typeface="Nanum Gothic"/>
              </a:rPr>
              <a:t>Base 모델들이 무작위 예측을 수행하는 모델보다 성능이 좋은 경우</a:t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69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635" name="Google Shape;635;p69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636" name="Google Shape;636;p69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637" name="Google Shape;637;p69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✓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랜덤 포레스트(Random Forest)의 배경 - 앙상블(Ensemble)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Nanum Gothic"/>
              <a:buChar char="○"/>
            </a:pPr>
            <a:r>
              <a:rPr lang="ko" sz="1300">
                <a:latin typeface="Nanum Gothic"/>
                <a:ea typeface="Nanum Gothic"/>
                <a:cs typeface="Nanum Gothic"/>
                <a:sym typeface="Nanum Gothic"/>
              </a:rPr>
              <a:t>Base Model의 오류율이 0.5보다 작으면, 모델을 모을수록 앙상블 오류율이 급격히 감소</a:t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Nanum Gothic"/>
              <a:buChar char="○"/>
            </a:pPr>
            <a:r>
              <a:rPr lang="ko" sz="1300">
                <a:latin typeface="Nanum Gothic"/>
                <a:ea typeface="Nanum Gothic"/>
                <a:cs typeface="Nanum Gothic"/>
                <a:sym typeface="Nanum Gothic"/>
              </a:rPr>
              <a:t>단, 0.5보다 크면 오히려 오류가 증폭됨 (→ 개별 모델은 최소한 랜덤보다는 나아야 함)</a:t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</p:txBody>
      </p:sp>
      <p:pic>
        <p:nvPicPr>
          <p:cNvPr id="638" name="Google Shape;638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1525" y="1852450"/>
            <a:ext cx="4160950" cy="3164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70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645" name="Google Shape;645;p70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646" name="Google Shape;646;p70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647" name="Google Shape;647;p70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✓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랜덤 포레스트(Random Forest)의 배경 - 앙상블(Ensemble)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Nanum Gothic"/>
              <a:buChar char="○"/>
            </a:pPr>
            <a:r>
              <a:rPr lang="ko" sz="1300">
                <a:latin typeface="Nanum Gothic"/>
                <a:ea typeface="Nanum Gothic"/>
                <a:cs typeface="Nanum Gothic"/>
                <a:sym typeface="Nanum Gothic"/>
              </a:rPr>
              <a:t>Decision Tree는 Ensemble 모델로써 활용도가 높음</a:t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anum Gothic"/>
              <a:buChar char="○"/>
            </a:pPr>
            <a:r>
              <a:rPr lang="ko" sz="1300">
                <a:latin typeface="Nanum Gothic"/>
                <a:ea typeface="Nanum Gothic"/>
                <a:cs typeface="Nanum Gothic"/>
                <a:sym typeface="Nanum Gothic"/>
              </a:rPr>
              <a:t>Low computational complexity : 데이터의 크기가 커도 빠르게 모델 구축 가능</a:t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anum Gothic"/>
              <a:buChar char="○"/>
            </a:pPr>
            <a:r>
              <a:rPr lang="ko" sz="1300">
                <a:latin typeface="Nanum Gothic"/>
                <a:ea typeface="Nanum Gothic"/>
                <a:cs typeface="Nanum Gothic"/>
                <a:sym typeface="Nanum Gothic"/>
              </a:rPr>
              <a:t>Nonparametric : 데이터 분포에 대한 전제가 필요 없음</a:t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</p:txBody>
      </p:sp>
      <p:pic>
        <p:nvPicPr>
          <p:cNvPr id="648" name="Google Shape;648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5350" y="2159660"/>
            <a:ext cx="5573300" cy="258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71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655" name="Google Shape;655;p71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656" name="Google Shape;656;p71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657" name="Google Shape;657;p71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✓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랜덤 포레스트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 (Random Forest)</a:t>
            </a:r>
            <a:endParaRPr b="0" i="0" sz="1400" u="none" cap="none" strike="noStrike">
              <a:solidFill>
                <a:srgbClr val="000000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Nanum Gothic"/>
              <a:buChar char="○"/>
            </a:pPr>
            <a:r>
              <a:rPr lang="ko" sz="1300">
                <a:latin typeface="Nanum Gothic"/>
                <a:ea typeface="Nanum Gothic"/>
                <a:cs typeface="Nanum Gothic"/>
                <a:sym typeface="Nanum Gothic"/>
              </a:rPr>
              <a:t>다수의 Decision Tree 모델에 의한 예측을 종합하는 앙상블 방법</a:t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anum Gothic"/>
              <a:buChar char="○"/>
            </a:pPr>
            <a:r>
              <a:rPr lang="ko" sz="1300">
                <a:latin typeface="Nanum Gothic"/>
                <a:ea typeface="Nanum Gothic"/>
                <a:cs typeface="Nanum Gothic"/>
                <a:sym typeface="Nanum Gothic"/>
              </a:rPr>
              <a:t>일반적으로 하나의 Decision Tree 모델 보다 높은 예측 정확성을 보여줌</a:t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anum Gothic"/>
              <a:buChar char="○"/>
            </a:pPr>
            <a:r>
              <a:rPr lang="ko" sz="1300">
                <a:latin typeface="Nanum Gothic"/>
                <a:ea typeface="Nanum Gothic"/>
                <a:cs typeface="Nanum Gothic"/>
                <a:sym typeface="Nanum Gothic"/>
              </a:rPr>
              <a:t>관측치 수에 비해 변수의 수가 많은 고차원 데이터에서 중요 변수 선택 기법으로 활용</a:t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</p:txBody>
      </p:sp>
      <p:pic>
        <p:nvPicPr>
          <p:cNvPr id="658" name="Google Shape;658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7875" y="2302314"/>
            <a:ext cx="5048250" cy="221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9" name="Google Shape;659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42298" y="2254467"/>
            <a:ext cx="4259401" cy="244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72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666" name="Google Shape;666;p72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667" name="Google Shape;667;p72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668" name="Google Shape;668;p72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✓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랜덤 포레스트 (Random Forest)</a:t>
            </a:r>
            <a:endParaRPr b="0" i="0" sz="1400" u="none" cap="none" strike="noStrike">
              <a:solidFill>
                <a:srgbClr val="000000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</p:txBody>
      </p:sp>
      <p:pic>
        <p:nvPicPr>
          <p:cNvPr id="669" name="Google Shape;669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650" y="1301975"/>
            <a:ext cx="4586651" cy="3384325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72"/>
          <p:cNvSpPr txBox="1"/>
          <p:nvPr/>
        </p:nvSpPr>
        <p:spPr>
          <a:xfrm>
            <a:off x="5209450" y="1837650"/>
            <a:ext cx="3835500" cy="6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1.</a:t>
            </a:r>
            <a:r>
              <a:rPr b="1"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Bootstrap</a:t>
            </a: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 기법으로 다수의  training data 생성</a:t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 </a:t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2. 생성된 </a:t>
            </a:r>
            <a:r>
              <a:rPr b="1"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training data로 decision tree 모델 구축</a:t>
            </a: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 (무작위 변수 사용)</a:t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3. 예측 종합</a:t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73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677" name="Google Shape;677;p73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678" name="Google Shape;678;p73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679" name="Google Shape;679;p73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✓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랜덤 포레스트 (Random Forest)의 핵심 아이디어 (</a:t>
            </a:r>
            <a:r>
              <a:rPr b="1" lang="ko">
                <a:latin typeface="Nanum Gothic"/>
                <a:ea typeface="Nanum Gothic"/>
                <a:cs typeface="Nanum Gothic"/>
                <a:sym typeface="Nanum Gothic"/>
              </a:rPr>
              <a:t>Diversity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, </a:t>
            </a:r>
            <a:r>
              <a:rPr b="1" lang="ko">
                <a:latin typeface="Nanum Gothic"/>
                <a:ea typeface="Nanum Gothic"/>
                <a:cs typeface="Nanum Gothic"/>
                <a:sym typeface="Nanum Gothic"/>
              </a:rPr>
              <a:t>Random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)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anum Gothic"/>
              <a:buAutoNum type="arabicPeriod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여러 개의 Training data를 생성하여 각 데이터마다 Decision Tree 구축 -&gt; </a:t>
            </a:r>
            <a:r>
              <a:rPr b="1" lang="ko">
                <a:latin typeface="Nanum Gothic"/>
                <a:ea typeface="Nanum Gothic"/>
                <a:cs typeface="Nanum Gothic"/>
                <a:sym typeface="Nanum Gothic"/>
              </a:rPr>
              <a:t>Bagging</a:t>
            </a:r>
            <a:endParaRPr b="1"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anum Gothic"/>
              <a:buAutoNum type="arabicPeriod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Decision Tree 구축 시 변수 무작위로 선택 -&gt; </a:t>
            </a:r>
            <a:r>
              <a:rPr b="1" lang="ko">
                <a:latin typeface="Nanum Gothic"/>
                <a:ea typeface="Nanum Gothic"/>
                <a:cs typeface="Nanum Gothic"/>
                <a:sym typeface="Nanum Gothic"/>
              </a:rPr>
              <a:t>Random subspace</a:t>
            </a:r>
            <a:endParaRPr b="1"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</p:txBody>
      </p:sp>
      <p:pic>
        <p:nvPicPr>
          <p:cNvPr id="680" name="Google Shape;680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8400" y="1980298"/>
            <a:ext cx="3748850" cy="276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74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687" name="Google Shape;687;p74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688" name="Google Shape;688;p74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689" name="Google Shape;689;p74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✓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Bagging (</a:t>
            </a:r>
            <a:r>
              <a:rPr b="1" lang="ko">
                <a:latin typeface="Nanum Gothic"/>
                <a:ea typeface="Nanum Gothic"/>
                <a:cs typeface="Nanum Gothic"/>
                <a:sym typeface="Nanum Gothic"/>
              </a:rPr>
              <a:t>B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ootstrap </a:t>
            </a:r>
            <a:r>
              <a:rPr b="1" lang="ko">
                <a:latin typeface="Nanum Gothic"/>
                <a:ea typeface="Nanum Gothic"/>
                <a:cs typeface="Nanum Gothic"/>
                <a:sym typeface="Nanum Gothic"/>
              </a:rPr>
              <a:t>Agg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regat</a:t>
            </a:r>
            <a:r>
              <a:rPr b="1" lang="ko">
                <a:latin typeface="Nanum Gothic"/>
                <a:ea typeface="Nanum Gothic"/>
                <a:cs typeface="Nanum Gothic"/>
                <a:sym typeface="Nanum Gothic"/>
              </a:rPr>
              <a:t>ing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)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anum Gothic"/>
              <a:buChar char="○"/>
            </a:pPr>
            <a:r>
              <a:rPr lang="ko" sz="1300">
                <a:latin typeface="Nanum Gothic"/>
                <a:ea typeface="Nanum Gothic"/>
                <a:cs typeface="Nanum Gothic"/>
                <a:sym typeface="Nanum Gothic"/>
              </a:rPr>
              <a:t>각각의 bootstrap 샘플로부터 생성된 모델을 합치는 것</a:t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</p:txBody>
      </p:sp>
      <p:pic>
        <p:nvPicPr>
          <p:cNvPr id="690" name="Google Shape;690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7450" y="1719389"/>
            <a:ext cx="5529101" cy="2814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75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697" name="Google Shape;697;p75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698" name="Google Shape;698;p75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699" name="Google Shape;699;p75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✓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Result Aggregating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anum Gothic"/>
              <a:buChar char="○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각 모델은 서로 다른 학습 데이터셋을 이용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anum Gothic"/>
              <a:buChar char="○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각 데이터셋은 </a:t>
            </a:r>
            <a:r>
              <a:rPr b="1" lang="ko">
                <a:latin typeface="Nanum Gothic"/>
                <a:ea typeface="Nanum Gothic"/>
                <a:cs typeface="Nanum Gothic"/>
                <a:sym typeface="Nanum Gothic"/>
              </a:rPr>
              <a:t>복원 추출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을 통해 </a:t>
            </a:r>
            <a:r>
              <a:rPr b="1" lang="ko">
                <a:latin typeface="Nanum Gothic"/>
                <a:ea typeface="Nanum Gothic"/>
                <a:cs typeface="Nanum Gothic"/>
                <a:sym typeface="Nanum Gothic"/>
              </a:rPr>
              <a:t>원래 데이터의 수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만큼의 크기를 갖도록 샘플링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anum Gothic"/>
              <a:buChar char="○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각 데이터셋을 bootstrap set 이라고 부름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700" name="Google Shape;700;p75"/>
          <p:cNvSpPr txBox="1"/>
          <p:nvPr/>
        </p:nvSpPr>
        <p:spPr>
          <a:xfrm>
            <a:off x="916254" y="2356867"/>
            <a:ext cx="12549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Original Dataset</a:t>
            </a:r>
            <a:endParaRPr sz="11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701" name="Google Shape;701;p75"/>
          <p:cNvSpPr txBox="1"/>
          <p:nvPr/>
        </p:nvSpPr>
        <p:spPr>
          <a:xfrm>
            <a:off x="3074610" y="2356869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Bootstrap 1</a:t>
            </a:r>
            <a:endParaRPr sz="11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702" name="Google Shape;702;p75"/>
          <p:cNvSpPr txBox="1"/>
          <p:nvPr/>
        </p:nvSpPr>
        <p:spPr>
          <a:xfrm>
            <a:off x="5057860" y="2356869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Bootstrap 2</a:t>
            </a:r>
            <a:endParaRPr sz="11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703" name="Google Shape;703;p75"/>
          <p:cNvSpPr txBox="1"/>
          <p:nvPr/>
        </p:nvSpPr>
        <p:spPr>
          <a:xfrm>
            <a:off x="6814160" y="2356869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Bootstrap N</a:t>
            </a:r>
            <a:endParaRPr sz="11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grpSp>
        <p:nvGrpSpPr>
          <p:cNvPr id="704" name="Google Shape;704;p75"/>
          <p:cNvGrpSpPr/>
          <p:nvPr/>
        </p:nvGrpSpPr>
        <p:grpSpPr>
          <a:xfrm>
            <a:off x="810326" y="2649414"/>
            <a:ext cx="1705722" cy="371068"/>
            <a:chOff x="1724726" y="2649414"/>
            <a:chExt cx="1705722" cy="371068"/>
          </a:xfrm>
        </p:grpSpPr>
        <p:grpSp>
          <p:nvGrpSpPr>
            <p:cNvPr id="705" name="Google Shape;705;p75"/>
            <p:cNvGrpSpPr/>
            <p:nvPr/>
          </p:nvGrpSpPr>
          <p:grpSpPr>
            <a:xfrm>
              <a:off x="1724726" y="2708388"/>
              <a:ext cx="1466755" cy="312094"/>
              <a:chOff x="952850" y="2847342"/>
              <a:chExt cx="2486025" cy="438150"/>
            </a:xfrm>
          </p:grpSpPr>
          <p:pic>
            <p:nvPicPr>
              <p:cNvPr id="706" name="Google Shape;706;p75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952850" y="2847342"/>
                <a:ext cx="1819275" cy="4381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07" name="Google Shape;707;p75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772125" y="2847342"/>
                <a:ext cx="666750" cy="4381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708" name="Google Shape;708;p75"/>
            <p:cNvSpPr txBox="1"/>
            <p:nvPr/>
          </p:nvSpPr>
          <p:spPr>
            <a:xfrm>
              <a:off x="2143834" y="2649414"/>
              <a:ext cx="578700" cy="9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x</a:t>
              </a:r>
              <a:r>
                <a:rPr baseline="30000"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1</a:t>
              </a:r>
              <a:endParaRPr baseline="300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  <p:sp>
          <p:nvSpPr>
            <p:cNvPr id="709" name="Google Shape;709;p75"/>
            <p:cNvSpPr txBox="1"/>
            <p:nvPr/>
          </p:nvSpPr>
          <p:spPr>
            <a:xfrm>
              <a:off x="2851748" y="2649414"/>
              <a:ext cx="578700" cy="9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y</a:t>
              </a:r>
              <a:r>
                <a:rPr baseline="30000"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1</a:t>
              </a:r>
              <a:endParaRPr baseline="300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</p:grpSp>
      <p:grpSp>
        <p:nvGrpSpPr>
          <p:cNvPr id="710" name="Google Shape;710;p75"/>
          <p:cNvGrpSpPr/>
          <p:nvPr/>
        </p:nvGrpSpPr>
        <p:grpSpPr>
          <a:xfrm>
            <a:off x="810326" y="2954214"/>
            <a:ext cx="1705722" cy="378343"/>
            <a:chOff x="1724726" y="2954214"/>
            <a:chExt cx="1705722" cy="378343"/>
          </a:xfrm>
        </p:grpSpPr>
        <p:grpSp>
          <p:nvGrpSpPr>
            <p:cNvPr id="711" name="Google Shape;711;p75"/>
            <p:cNvGrpSpPr/>
            <p:nvPr/>
          </p:nvGrpSpPr>
          <p:grpSpPr>
            <a:xfrm>
              <a:off x="1724726" y="3020463"/>
              <a:ext cx="1466755" cy="312094"/>
              <a:chOff x="952850" y="2847342"/>
              <a:chExt cx="2486025" cy="438150"/>
            </a:xfrm>
          </p:grpSpPr>
          <p:pic>
            <p:nvPicPr>
              <p:cNvPr id="712" name="Google Shape;712;p75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952850" y="2847342"/>
                <a:ext cx="1819275" cy="4381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13" name="Google Shape;713;p75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772125" y="2847342"/>
                <a:ext cx="666750" cy="4381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714" name="Google Shape;714;p75"/>
            <p:cNvSpPr txBox="1"/>
            <p:nvPr/>
          </p:nvSpPr>
          <p:spPr>
            <a:xfrm>
              <a:off x="2143834" y="2954214"/>
              <a:ext cx="578700" cy="9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x</a:t>
              </a:r>
              <a:r>
                <a:rPr baseline="30000"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2</a:t>
              </a:r>
              <a:endParaRPr baseline="300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  <p:sp>
          <p:nvSpPr>
            <p:cNvPr id="715" name="Google Shape;715;p75"/>
            <p:cNvSpPr txBox="1"/>
            <p:nvPr/>
          </p:nvSpPr>
          <p:spPr>
            <a:xfrm>
              <a:off x="2851748" y="2954214"/>
              <a:ext cx="578700" cy="9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y</a:t>
              </a:r>
              <a:r>
                <a:rPr baseline="30000"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2</a:t>
              </a:r>
              <a:endParaRPr baseline="300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</p:grpSp>
      <p:grpSp>
        <p:nvGrpSpPr>
          <p:cNvPr id="716" name="Google Shape;716;p75"/>
          <p:cNvGrpSpPr/>
          <p:nvPr/>
        </p:nvGrpSpPr>
        <p:grpSpPr>
          <a:xfrm>
            <a:off x="810326" y="3259014"/>
            <a:ext cx="1705722" cy="359418"/>
            <a:chOff x="1724726" y="3259014"/>
            <a:chExt cx="1705722" cy="359418"/>
          </a:xfrm>
        </p:grpSpPr>
        <p:grpSp>
          <p:nvGrpSpPr>
            <p:cNvPr id="717" name="Google Shape;717;p75"/>
            <p:cNvGrpSpPr/>
            <p:nvPr/>
          </p:nvGrpSpPr>
          <p:grpSpPr>
            <a:xfrm>
              <a:off x="1724726" y="3306338"/>
              <a:ext cx="1466755" cy="312094"/>
              <a:chOff x="952850" y="2847342"/>
              <a:chExt cx="2486025" cy="438150"/>
            </a:xfrm>
          </p:grpSpPr>
          <p:pic>
            <p:nvPicPr>
              <p:cNvPr id="718" name="Google Shape;718;p75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952850" y="2847342"/>
                <a:ext cx="1819275" cy="4381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19" name="Google Shape;719;p75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772125" y="2847342"/>
                <a:ext cx="666750" cy="4381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720" name="Google Shape;720;p75"/>
            <p:cNvSpPr txBox="1"/>
            <p:nvPr/>
          </p:nvSpPr>
          <p:spPr>
            <a:xfrm>
              <a:off x="2143834" y="3259014"/>
              <a:ext cx="578700" cy="9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x</a:t>
              </a:r>
              <a:r>
                <a:rPr baseline="30000"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3</a:t>
              </a:r>
              <a:endParaRPr baseline="300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  <p:sp>
          <p:nvSpPr>
            <p:cNvPr id="721" name="Google Shape;721;p75"/>
            <p:cNvSpPr txBox="1"/>
            <p:nvPr/>
          </p:nvSpPr>
          <p:spPr>
            <a:xfrm>
              <a:off x="2851748" y="3259014"/>
              <a:ext cx="578700" cy="9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y</a:t>
              </a:r>
              <a:r>
                <a:rPr baseline="30000"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3</a:t>
              </a:r>
              <a:endParaRPr baseline="300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</p:grpSp>
      <p:grpSp>
        <p:nvGrpSpPr>
          <p:cNvPr id="722" name="Google Shape;722;p75"/>
          <p:cNvGrpSpPr/>
          <p:nvPr/>
        </p:nvGrpSpPr>
        <p:grpSpPr>
          <a:xfrm>
            <a:off x="810326" y="3563814"/>
            <a:ext cx="1705722" cy="366693"/>
            <a:chOff x="1724726" y="3563814"/>
            <a:chExt cx="1705722" cy="366693"/>
          </a:xfrm>
        </p:grpSpPr>
        <p:grpSp>
          <p:nvGrpSpPr>
            <p:cNvPr id="723" name="Google Shape;723;p75"/>
            <p:cNvGrpSpPr/>
            <p:nvPr/>
          </p:nvGrpSpPr>
          <p:grpSpPr>
            <a:xfrm>
              <a:off x="1724726" y="3618413"/>
              <a:ext cx="1466755" cy="312094"/>
              <a:chOff x="952850" y="2847342"/>
              <a:chExt cx="2486025" cy="438150"/>
            </a:xfrm>
          </p:grpSpPr>
          <p:pic>
            <p:nvPicPr>
              <p:cNvPr id="724" name="Google Shape;724;p75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952850" y="2847342"/>
                <a:ext cx="1819275" cy="4381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25" name="Google Shape;725;p75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772125" y="2847342"/>
                <a:ext cx="666750" cy="4381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726" name="Google Shape;726;p75"/>
            <p:cNvSpPr txBox="1"/>
            <p:nvPr/>
          </p:nvSpPr>
          <p:spPr>
            <a:xfrm>
              <a:off x="2143834" y="3563814"/>
              <a:ext cx="578700" cy="9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x</a:t>
              </a:r>
              <a:r>
                <a:rPr baseline="30000"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4</a:t>
              </a:r>
              <a:endParaRPr baseline="300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  <p:sp>
          <p:nvSpPr>
            <p:cNvPr id="727" name="Google Shape;727;p75"/>
            <p:cNvSpPr txBox="1"/>
            <p:nvPr/>
          </p:nvSpPr>
          <p:spPr>
            <a:xfrm>
              <a:off x="2851748" y="3563814"/>
              <a:ext cx="578700" cy="9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y</a:t>
              </a:r>
              <a:r>
                <a:rPr baseline="30000"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4</a:t>
              </a:r>
              <a:endParaRPr baseline="300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</p:grpSp>
      <p:grpSp>
        <p:nvGrpSpPr>
          <p:cNvPr id="728" name="Google Shape;728;p75"/>
          <p:cNvGrpSpPr/>
          <p:nvPr/>
        </p:nvGrpSpPr>
        <p:grpSpPr>
          <a:xfrm>
            <a:off x="810326" y="3868614"/>
            <a:ext cx="1705722" cy="373968"/>
            <a:chOff x="1724726" y="3868614"/>
            <a:chExt cx="1705722" cy="373968"/>
          </a:xfrm>
        </p:grpSpPr>
        <p:grpSp>
          <p:nvGrpSpPr>
            <p:cNvPr id="729" name="Google Shape;729;p75"/>
            <p:cNvGrpSpPr/>
            <p:nvPr/>
          </p:nvGrpSpPr>
          <p:grpSpPr>
            <a:xfrm>
              <a:off x="1724726" y="3930488"/>
              <a:ext cx="1466755" cy="312094"/>
              <a:chOff x="952850" y="2847342"/>
              <a:chExt cx="2486025" cy="438150"/>
            </a:xfrm>
          </p:grpSpPr>
          <p:pic>
            <p:nvPicPr>
              <p:cNvPr id="730" name="Google Shape;730;p75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952850" y="2847342"/>
                <a:ext cx="1819275" cy="4381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31" name="Google Shape;731;p75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772125" y="2847342"/>
                <a:ext cx="666750" cy="4381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732" name="Google Shape;732;p75"/>
            <p:cNvSpPr txBox="1"/>
            <p:nvPr/>
          </p:nvSpPr>
          <p:spPr>
            <a:xfrm>
              <a:off x="2143834" y="3868614"/>
              <a:ext cx="578700" cy="9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x</a:t>
              </a:r>
              <a:r>
                <a:rPr baseline="30000"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5</a:t>
              </a:r>
              <a:endParaRPr baseline="300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  <p:sp>
          <p:nvSpPr>
            <p:cNvPr id="733" name="Google Shape;733;p75"/>
            <p:cNvSpPr txBox="1"/>
            <p:nvPr/>
          </p:nvSpPr>
          <p:spPr>
            <a:xfrm>
              <a:off x="2851748" y="3868614"/>
              <a:ext cx="578700" cy="9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y</a:t>
              </a:r>
              <a:r>
                <a:rPr baseline="30000"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5</a:t>
              </a:r>
              <a:endParaRPr baseline="300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</p:grpSp>
      <p:grpSp>
        <p:nvGrpSpPr>
          <p:cNvPr id="734" name="Google Shape;734;p75"/>
          <p:cNvGrpSpPr/>
          <p:nvPr/>
        </p:nvGrpSpPr>
        <p:grpSpPr>
          <a:xfrm>
            <a:off x="2814239" y="2653047"/>
            <a:ext cx="1705722" cy="371068"/>
            <a:chOff x="1724726" y="2649414"/>
            <a:chExt cx="1705722" cy="371068"/>
          </a:xfrm>
        </p:grpSpPr>
        <p:grpSp>
          <p:nvGrpSpPr>
            <p:cNvPr id="735" name="Google Shape;735;p75"/>
            <p:cNvGrpSpPr/>
            <p:nvPr/>
          </p:nvGrpSpPr>
          <p:grpSpPr>
            <a:xfrm>
              <a:off x="1724726" y="2708388"/>
              <a:ext cx="1466755" cy="312094"/>
              <a:chOff x="952850" y="2847342"/>
              <a:chExt cx="2486025" cy="438150"/>
            </a:xfrm>
          </p:grpSpPr>
          <p:pic>
            <p:nvPicPr>
              <p:cNvPr id="736" name="Google Shape;736;p75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952850" y="2847342"/>
                <a:ext cx="1819275" cy="4381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37" name="Google Shape;737;p75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772125" y="2847342"/>
                <a:ext cx="666750" cy="4381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738" name="Google Shape;738;p75"/>
            <p:cNvSpPr txBox="1"/>
            <p:nvPr/>
          </p:nvSpPr>
          <p:spPr>
            <a:xfrm>
              <a:off x="2143834" y="2649414"/>
              <a:ext cx="578700" cy="9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x</a:t>
              </a:r>
              <a:r>
                <a:rPr baseline="30000"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3</a:t>
              </a:r>
              <a:endParaRPr baseline="300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  <p:sp>
          <p:nvSpPr>
            <p:cNvPr id="739" name="Google Shape;739;p75"/>
            <p:cNvSpPr txBox="1"/>
            <p:nvPr/>
          </p:nvSpPr>
          <p:spPr>
            <a:xfrm>
              <a:off x="2851748" y="2649414"/>
              <a:ext cx="578700" cy="9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y</a:t>
              </a:r>
              <a:r>
                <a:rPr baseline="30000"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3</a:t>
              </a:r>
              <a:endParaRPr baseline="300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</p:grpSp>
      <p:grpSp>
        <p:nvGrpSpPr>
          <p:cNvPr id="740" name="Google Shape;740;p75"/>
          <p:cNvGrpSpPr/>
          <p:nvPr/>
        </p:nvGrpSpPr>
        <p:grpSpPr>
          <a:xfrm>
            <a:off x="2814239" y="2961952"/>
            <a:ext cx="1705722" cy="371068"/>
            <a:chOff x="1724726" y="2649414"/>
            <a:chExt cx="1705722" cy="371068"/>
          </a:xfrm>
        </p:grpSpPr>
        <p:grpSp>
          <p:nvGrpSpPr>
            <p:cNvPr id="741" name="Google Shape;741;p75"/>
            <p:cNvGrpSpPr/>
            <p:nvPr/>
          </p:nvGrpSpPr>
          <p:grpSpPr>
            <a:xfrm>
              <a:off x="1724726" y="2708388"/>
              <a:ext cx="1466755" cy="312094"/>
              <a:chOff x="952850" y="2847342"/>
              <a:chExt cx="2486025" cy="438150"/>
            </a:xfrm>
          </p:grpSpPr>
          <p:pic>
            <p:nvPicPr>
              <p:cNvPr id="742" name="Google Shape;742;p75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952850" y="2847342"/>
                <a:ext cx="1819275" cy="4381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43" name="Google Shape;743;p75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772125" y="2847342"/>
                <a:ext cx="666750" cy="4381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744" name="Google Shape;744;p75"/>
            <p:cNvSpPr txBox="1"/>
            <p:nvPr/>
          </p:nvSpPr>
          <p:spPr>
            <a:xfrm>
              <a:off x="2143834" y="2649414"/>
              <a:ext cx="578700" cy="9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x</a:t>
              </a:r>
              <a:r>
                <a:rPr baseline="30000"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5</a:t>
              </a:r>
              <a:endParaRPr baseline="300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  <p:sp>
          <p:nvSpPr>
            <p:cNvPr id="745" name="Google Shape;745;p75"/>
            <p:cNvSpPr txBox="1"/>
            <p:nvPr/>
          </p:nvSpPr>
          <p:spPr>
            <a:xfrm>
              <a:off x="2851748" y="2649414"/>
              <a:ext cx="578700" cy="9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y</a:t>
              </a:r>
              <a:r>
                <a:rPr baseline="30000"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5</a:t>
              </a:r>
              <a:endParaRPr baseline="300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</p:grpSp>
      <p:grpSp>
        <p:nvGrpSpPr>
          <p:cNvPr id="746" name="Google Shape;746;p75"/>
          <p:cNvGrpSpPr/>
          <p:nvPr/>
        </p:nvGrpSpPr>
        <p:grpSpPr>
          <a:xfrm>
            <a:off x="2814239" y="3274818"/>
            <a:ext cx="1705722" cy="371068"/>
            <a:chOff x="1724726" y="2649414"/>
            <a:chExt cx="1705722" cy="371068"/>
          </a:xfrm>
        </p:grpSpPr>
        <p:grpSp>
          <p:nvGrpSpPr>
            <p:cNvPr id="747" name="Google Shape;747;p75"/>
            <p:cNvGrpSpPr/>
            <p:nvPr/>
          </p:nvGrpSpPr>
          <p:grpSpPr>
            <a:xfrm>
              <a:off x="1724726" y="2708388"/>
              <a:ext cx="1466755" cy="312094"/>
              <a:chOff x="952850" y="2847342"/>
              <a:chExt cx="2486025" cy="438150"/>
            </a:xfrm>
          </p:grpSpPr>
          <p:pic>
            <p:nvPicPr>
              <p:cNvPr id="748" name="Google Shape;748;p75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952850" y="2847342"/>
                <a:ext cx="1819275" cy="4381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49" name="Google Shape;749;p75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772125" y="2847342"/>
                <a:ext cx="666750" cy="4381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750" name="Google Shape;750;p75"/>
            <p:cNvSpPr txBox="1"/>
            <p:nvPr/>
          </p:nvSpPr>
          <p:spPr>
            <a:xfrm>
              <a:off x="2143834" y="2649414"/>
              <a:ext cx="578700" cy="9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x</a:t>
              </a:r>
              <a:r>
                <a:rPr baseline="30000"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2</a:t>
              </a:r>
              <a:endParaRPr baseline="300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  <p:sp>
          <p:nvSpPr>
            <p:cNvPr id="751" name="Google Shape;751;p75"/>
            <p:cNvSpPr txBox="1"/>
            <p:nvPr/>
          </p:nvSpPr>
          <p:spPr>
            <a:xfrm>
              <a:off x="2851748" y="2649414"/>
              <a:ext cx="578700" cy="9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y</a:t>
              </a:r>
              <a:r>
                <a:rPr baseline="30000"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2</a:t>
              </a:r>
              <a:endParaRPr baseline="300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</p:grpSp>
      <p:grpSp>
        <p:nvGrpSpPr>
          <p:cNvPr id="752" name="Google Shape;752;p75"/>
          <p:cNvGrpSpPr/>
          <p:nvPr/>
        </p:nvGrpSpPr>
        <p:grpSpPr>
          <a:xfrm>
            <a:off x="2814239" y="3585971"/>
            <a:ext cx="1705722" cy="371068"/>
            <a:chOff x="1724726" y="2649414"/>
            <a:chExt cx="1705722" cy="371068"/>
          </a:xfrm>
        </p:grpSpPr>
        <p:grpSp>
          <p:nvGrpSpPr>
            <p:cNvPr id="753" name="Google Shape;753;p75"/>
            <p:cNvGrpSpPr/>
            <p:nvPr/>
          </p:nvGrpSpPr>
          <p:grpSpPr>
            <a:xfrm>
              <a:off x="1724726" y="2708388"/>
              <a:ext cx="1466755" cy="312094"/>
              <a:chOff x="952850" y="2847342"/>
              <a:chExt cx="2486025" cy="438150"/>
            </a:xfrm>
          </p:grpSpPr>
          <p:pic>
            <p:nvPicPr>
              <p:cNvPr id="754" name="Google Shape;754;p75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952850" y="2847342"/>
                <a:ext cx="1819275" cy="4381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55" name="Google Shape;755;p75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772125" y="2847342"/>
                <a:ext cx="666750" cy="4381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756" name="Google Shape;756;p75"/>
            <p:cNvSpPr txBox="1"/>
            <p:nvPr/>
          </p:nvSpPr>
          <p:spPr>
            <a:xfrm>
              <a:off x="2143834" y="2649414"/>
              <a:ext cx="578700" cy="9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x</a:t>
              </a:r>
              <a:r>
                <a:rPr baseline="30000"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3</a:t>
              </a:r>
              <a:endParaRPr baseline="300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  <p:sp>
          <p:nvSpPr>
            <p:cNvPr id="757" name="Google Shape;757;p75"/>
            <p:cNvSpPr txBox="1"/>
            <p:nvPr/>
          </p:nvSpPr>
          <p:spPr>
            <a:xfrm>
              <a:off x="2851748" y="2649414"/>
              <a:ext cx="578700" cy="9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y</a:t>
              </a:r>
              <a:r>
                <a:rPr baseline="30000"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3</a:t>
              </a:r>
              <a:endParaRPr baseline="300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</p:grpSp>
      <p:grpSp>
        <p:nvGrpSpPr>
          <p:cNvPr id="758" name="Google Shape;758;p75"/>
          <p:cNvGrpSpPr/>
          <p:nvPr/>
        </p:nvGrpSpPr>
        <p:grpSpPr>
          <a:xfrm>
            <a:off x="2814239" y="3898046"/>
            <a:ext cx="1705722" cy="371068"/>
            <a:chOff x="1724726" y="2649414"/>
            <a:chExt cx="1705722" cy="371068"/>
          </a:xfrm>
        </p:grpSpPr>
        <p:grpSp>
          <p:nvGrpSpPr>
            <p:cNvPr id="759" name="Google Shape;759;p75"/>
            <p:cNvGrpSpPr/>
            <p:nvPr/>
          </p:nvGrpSpPr>
          <p:grpSpPr>
            <a:xfrm>
              <a:off x="1724726" y="2708388"/>
              <a:ext cx="1466755" cy="312094"/>
              <a:chOff x="952850" y="2847342"/>
              <a:chExt cx="2486025" cy="438150"/>
            </a:xfrm>
          </p:grpSpPr>
          <p:pic>
            <p:nvPicPr>
              <p:cNvPr id="760" name="Google Shape;760;p75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952850" y="2847342"/>
                <a:ext cx="1819275" cy="4381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61" name="Google Shape;761;p75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772125" y="2847342"/>
                <a:ext cx="666750" cy="4381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762" name="Google Shape;762;p75"/>
            <p:cNvSpPr txBox="1"/>
            <p:nvPr/>
          </p:nvSpPr>
          <p:spPr>
            <a:xfrm>
              <a:off x="2143834" y="2649414"/>
              <a:ext cx="578700" cy="9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x</a:t>
              </a:r>
              <a:r>
                <a:rPr baseline="30000"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1</a:t>
              </a:r>
              <a:endParaRPr baseline="300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  <p:sp>
          <p:nvSpPr>
            <p:cNvPr id="763" name="Google Shape;763;p75"/>
            <p:cNvSpPr txBox="1"/>
            <p:nvPr/>
          </p:nvSpPr>
          <p:spPr>
            <a:xfrm>
              <a:off x="2851748" y="2649414"/>
              <a:ext cx="578700" cy="9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y</a:t>
              </a:r>
              <a:r>
                <a:rPr baseline="30000"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1</a:t>
              </a:r>
              <a:endParaRPr baseline="300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</p:grpSp>
      <p:grpSp>
        <p:nvGrpSpPr>
          <p:cNvPr id="764" name="Google Shape;764;p75"/>
          <p:cNvGrpSpPr/>
          <p:nvPr/>
        </p:nvGrpSpPr>
        <p:grpSpPr>
          <a:xfrm>
            <a:off x="4719239" y="2653047"/>
            <a:ext cx="1705722" cy="371068"/>
            <a:chOff x="1724726" y="2649414"/>
            <a:chExt cx="1705722" cy="371068"/>
          </a:xfrm>
        </p:grpSpPr>
        <p:grpSp>
          <p:nvGrpSpPr>
            <p:cNvPr id="765" name="Google Shape;765;p75"/>
            <p:cNvGrpSpPr/>
            <p:nvPr/>
          </p:nvGrpSpPr>
          <p:grpSpPr>
            <a:xfrm>
              <a:off x="1724726" y="2708388"/>
              <a:ext cx="1466755" cy="312094"/>
              <a:chOff x="952850" y="2847342"/>
              <a:chExt cx="2486025" cy="438150"/>
            </a:xfrm>
          </p:grpSpPr>
          <p:pic>
            <p:nvPicPr>
              <p:cNvPr id="766" name="Google Shape;766;p75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952850" y="2847342"/>
                <a:ext cx="1819275" cy="4381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67" name="Google Shape;767;p75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772125" y="2847342"/>
                <a:ext cx="666750" cy="4381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768" name="Google Shape;768;p75"/>
            <p:cNvSpPr txBox="1"/>
            <p:nvPr/>
          </p:nvSpPr>
          <p:spPr>
            <a:xfrm>
              <a:off x="2143834" y="2649414"/>
              <a:ext cx="578700" cy="9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x</a:t>
              </a:r>
              <a:r>
                <a:rPr baseline="30000"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1</a:t>
              </a:r>
              <a:endParaRPr baseline="300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  <p:sp>
          <p:nvSpPr>
            <p:cNvPr id="769" name="Google Shape;769;p75"/>
            <p:cNvSpPr txBox="1"/>
            <p:nvPr/>
          </p:nvSpPr>
          <p:spPr>
            <a:xfrm>
              <a:off x="2851748" y="2649414"/>
              <a:ext cx="578700" cy="9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y</a:t>
              </a:r>
              <a:r>
                <a:rPr baseline="30000"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1</a:t>
              </a:r>
              <a:endParaRPr baseline="300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</p:grpSp>
      <p:grpSp>
        <p:nvGrpSpPr>
          <p:cNvPr id="770" name="Google Shape;770;p75"/>
          <p:cNvGrpSpPr/>
          <p:nvPr/>
        </p:nvGrpSpPr>
        <p:grpSpPr>
          <a:xfrm>
            <a:off x="4719239" y="2961952"/>
            <a:ext cx="1705722" cy="371068"/>
            <a:chOff x="1724726" y="2649414"/>
            <a:chExt cx="1705722" cy="371068"/>
          </a:xfrm>
        </p:grpSpPr>
        <p:grpSp>
          <p:nvGrpSpPr>
            <p:cNvPr id="771" name="Google Shape;771;p75"/>
            <p:cNvGrpSpPr/>
            <p:nvPr/>
          </p:nvGrpSpPr>
          <p:grpSpPr>
            <a:xfrm>
              <a:off x="1724726" y="2708388"/>
              <a:ext cx="1466755" cy="312094"/>
              <a:chOff x="952850" y="2847342"/>
              <a:chExt cx="2486025" cy="438150"/>
            </a:xfrm>
          </p:grpSpPr>
          <p:pic>
            <p:nvPicPr>
              <p:cNvPr id="772" name="Google Shape;772;p75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952850" y="2847342"/>
                <a:ext cx="1819275" cy="4381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73" name="Google Shape;773;p75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772125" y="2847342"/>
                <a:ext cx="666750" cy="4381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774" name="Google Shape;774;p75"/>
            <p:cNvSpPr txBox="1"/>
            <p:nvPr/>
          </p:nvSpPr>
          <p:spPr>
            <a:xfrm>
              <a:off x="2143834" y="2649414"/>
              <a:ext cx="578700" cy="9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x</a:t>
              </a:r>
              <a:r>
                <a:rPr baseline="30000"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3</a:t>
              </a:r>
              <a:endParaRPr baseline="300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  <p:sp>
          <p:nvSpPr>
            <p:cNvPr id="775" name="Google Shape;775;p75"/>
            <p:cNvSpPr txBox="1"/>
            <p:nvPr/>
          </p:nvSpPr>
          <p:spPr>
            <a:xfrm>
              <a:off x="2851748" y="2649414"/>
              <a:ext cx="578700" cy="9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y</a:t>
              </a:r>
              <a:r>
                <a:rPr baseline="30000"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3</a:t>
              </a:r>
              <a:endParaRPr baseline="300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</p:grpSp>
      <p:grpSp>
        <p:nvGrpSpPr>
          <p:cNvPr id="776" name="Google Shape;776;p75"/>
          <p:cNvGrpSpPr/>
          <p:nvPr/>
        </p:nvGrpSpPr>
        <p:grpSpPr>
          <a:xfrm>
            <a:off x="4719239" y="3274818"/>
            <a:ext cx="1705722" cy="371068"/>
            <a:chOff x="1724726" y="2649414"/>
            <a:chExt cx="1705722" cy="371068"/>
          </a:xfrm>
        </p:grpSpPr>
        <p:grpSp>
          <p:nvGrpSpPr>
            <p:cNvPr id="777" name="Google Shape;777;p75"/>
            <p:cNvGrpSpPr/>
            <p:nvPr/>
          </p:nvGrpSpPr>
          <p:grpSpPr>
            <a:xfrm>
              <a:off x="1724726" y="2708388"/>
              <a:ext cx="1466755" cy="312094"/>
              <a:chOff x="952850" y="2847342"/>
              <a:chExt cx="2486025" cy="438150"/>
            </a:xfrm>
          </p:grpSpPr>
          <p:pic>
            <p:nvPicPr>
              <p:cNvPr id="778" name="Google Shape;778;p75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952850" y="2847342"/>
                <a:ext cx="1819275" cy="4381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79" name="Google Shape;779;p75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772125" y="2847342"/>
                <a:ext cx="666750" cy="4381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780" name="Google Shape;780;p75"/>
            <p:cNvSpPr txBox="1"/>
            <p:nvPr/>
          </p:nvSpPr>
          <p:spPr>
            <a:xfrm>
              <a:off x="2143834" y="2649414"/>
              <a:ext cx="578700" cy="9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x</a:t>
              </a:r>
              <a:r>
                <a:rPr baseline="30000"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2</a:t>
              </a:r>
              <a:endParaRPr baseline="300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  <p:sp>
          <p:nvSpPr>
            <p:cNvPr id="781" name="Google Shape;781;p75"/>
            <p:cNvSpPr txBox="1"/>
            <p:nvPr/>
          </p:nvSpPr>
          <p:spPr>
            <a:xfrm>
              <a:off x="2851748" y="2649414"/>
              <a:ext cx="578700" cy="9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y</a:t>
              </a:r>
              <a:r>
                <a:rPr baseline="30000"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2</a:t>
              </a:r>
              <a:endParaRPr baseline="300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</p:grpSp>
      <p:grpSp>
        <p:nvGrpSpPr>
          <p:cNvPr id="782" name="Google Shape;782;p75"/>
          <p:cNvGrpSpPr/>
          <p:nvPr/>
        </p:nvGrpSpPr>
        <p:grpSpPr>
          <a:xfrm>
            <a:off x="4719239" y="3585971"/>
            <a:ext cx="1705722" cy="371068"/>
            <a:chOff x="1724726" y="2649414"/>
            <a:chExt cx="1705722" cy="371068"/>
          </a:xfrm>
        </p:grpSpPr>
        <p:grpSp>
          <p:nvGrpSpPr>
            <p:cNvPr id="783" name="Google Shape;783;p75"/>
            <p:cNvGrpSpPr/>
            <p:nvPr/>
          </p:nvGrpSpPr>
          <p:grpSpPr>
            <a:xfrm>
              <a:off x="1724726" y="2708388"/>
              <a:ext cx="1466755" cy="312094"/>
              <a:chOff x="952850" y="2847342"/>
              <a:chExt cx="2486025" cy="438150"/>
            </a:xfrm>
          </p:grpSpPr>
          <p:pic>
            <p:nvPicPr>
              <p:cNvPr id="784" name="Google Shape;784;p75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952850" y="2847342"/>
                <a:ext cx="1819275" cy="4381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85" name="Google Shape;785;p75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772125" y="2847342"/>
                <a:ext cx="666750" cy="4381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786" name="Google Shape;786;p75"/>
            <p:cNvSpPr txBox="1"/>
            <p:nvPr/>
          </p:nvSpPr>
          <p:spPr>
            <a:xfrm>
              <a:off x="2143834" y="2649414"/>
              <a:ext cx="578700" cy="9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x</a:t>
              </a:r>
              <a:r>
                <a:rPr baseline="30000"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2</a:t>
              </a:r>
              <a:endParaRPr baseline="300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  <p:sp>
          <p:nvSpPr>
            <p:cNvPr id="787" name="Google Shape;787;p75"/>
            <p:cNvSpPr txBox="1"/>
            <p:nvPr/>
          </p:nvSpPr>
          <p:spPr>
            <a:xfrm>
              <a:off x="2851748" y="2649414"/>
              <a:ext cx="578700" cy="9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y</a:t>
              </a:r>
              <a:r>
                <a:rPr baseline="30000"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2</a:t>
              </a:r>
              <a:endParaRPr baseline="300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</p:grpSp>
      <p:grpSp>
        <p:nvGrpSpPr>
          <p:cNvPr id="788" name="Google Shape;788;p75"/>
          <p:cNvGrpSpPr/>
          <p:nvPr/>
        </p:nvGrpSpPr>
        <p:grpSpPr>
          <a:xfrm>
            <a:off x="4719239" y="3898046"/>
            <a:ext cx="1705722" cy="371068"/>
            <a:chOff x="1724726" y="2649414"/>
            <a:chExt cx="1705722" cy="371068"/>
          </a:xfrm>
        </p:grpSpPr>
        <p:grpSp>
          <p:nvGrpSpPr>
            <p:cNvPr id="789" name="Google Shape;789;p75"/>
            <p:cNvGrpSpPr/>
            <p:nvPr/>
          </p:nvGrpSpPr>
          <p:grpSpPr>
            <a:xfrm>
              <a:off x="1724726" y="2708388"/>
              <a:ext cx="1466755" cy="312094"/>
              <a:chOff x="952850" y="2847342"/>
              <a:chExt cx="2486025" cy="438150"/>
            </a:xfrm>
          </p:grpSpPr>
          <p:pic>
            <p:nvPicPr>
              <p:cNvPr id="790" name="Google Shape;790;p75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952850" y="2847342"/>
                <a:ext cx="1819275" cy="4381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91" name="Google Shape;791;p75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772125" y="2847342"/>
                <a:ext cx="666750" cy="4381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792" name="Google Shape;792;p75"/>
            <p:cNvSpPr txBox="1"/>
            <p:nvPr/>
          </p:nvSpPr>
          <p:spPr>
            <a:xfrm>
              <a:off x="2143834" y="2649414"/>
              <a:ext cx="578700" cy="9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x</a:t>
              </a:r>
              <a:r>
                <a:rPr baseline="30000"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1</a:t>
              </a:r>
              <a:endParaRPr baseline="300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  <p:sp>
          <p:nvSpPr>
            <p:cNvPr id="793" name="Google Shape;793;p75"/>
            <p:cNvSpPr txBox="1"/>
            <p:nvPr/>
          </p:nvSpPr>
          <p:spPr>
            <a:xfrm>
              <a:off x="2851748" y="2649414"/>
              <a:ext cx="578700" cy="9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y</a:t>
              </a:r>
              <a:r>
                <a:rPr baseline="30000"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1</a:t>
              </a:r>
              <a:endParaRPr baseline="300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</p:grpSp>
      <p:grpSp>
        <p:nvGrpSpPr>
          <p:cNvPr id="794" name="Google Shape;794;p75"/>
          <p:cNvGrpSpPr/>
          <p:nvPr/>
        </p:nvGrpSpPr>
        <p:grpSpPr>
          <a:xfrm>
            <a:off x="6548039" y="2653047"/>
            <a:ext cx="1705722" cy="371068"/>
            <a:chOff x="1724726" y="2649414"/>
            <a:chExt cx="1705722" cy="371068"/>
          </a:xfrm>
        </p:grpSpPr>
        <p:grpSp>
          <p:nvGrpSpPr>
            <p:cNvPr id="795" name="Google Shape;795;p75"/>
            <p:cNvGrpSpPr/>
            <p:nvPr/>
          </p:nvGrpSpPr>
          <p:grpSpPr>
            <a:xfrm>
              <a:off x="1724726" y="2708388"/>
              <a:ext cx="1466755" cy="312094"/>
              <a:chOff x="952850" y="2847342"/>
              <a:chExt cx="2486025" cy="438150"/>
            </a:xfrm>
          </p:grpSpPr>
          <p:pic>
            <p:nvPicPr>
              <p:cNvPr id="796" name="Google Shape;796;p75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952850" y="2847342"/>
                <a:ext cx="1819275" cy="4381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97" name="Google Shape;797;p75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772125" y="2847342"/>
                <a:ext cx="666750" cy="4381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798" name="Google Shape;798;p75"/>
            <p:cNvSpPr txBox="1"/>
            <p:nvPr/>
          </p:nvSpPr>
          <p:spPr>
            <a:xfrm>
              <a:off x="2143834" y="2649414"/>
              <a:ext cx="578700" cy="9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x</a:t>
              </a:r>
              <a:r>
                <a:rPr baseline="30000"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4</a:t>
              </a:r>
              <a:endParaRPr baseline="300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  <p:sp>
          <p:nvSpPr>
            <p:cNvPr id="799" name="Google Shape;799;p75"/>
            <p:cNvSpPr txBox="1"/>
            <p:nvPr/>
          </p:nvSpPr>
          <p:spPr>
            <a:xfrm>
              <a:off x="2851748" y="2649414"/>
              <a:ext cx="578700" cy="9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y</a:t>
              </a:r>
              <a:r>
                <a:rPr baseline="30000"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4</a:t>
              </a:r>
              <a:endParaRPr baseline="300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</p:grpSp>
      <p:grpSp>
        <p:nvGrpSpPr>
          <p:cNvPr id="800" name="Google Shape;800;p75"/>
          <p:cNvGrpSpPr/>
          <p:nvPr/>
        </p:nvGrpSpPr>
        <p:grpSpPr>
          <a:xfrm>
            <a:off x="6548039" y="2961952"/>
            <a:ext cx="1705722" cy="371068"/>
            <a:chOff x="1724726" y="2649414"/>
            <a:chExt cx="1705722" cy="371068"/>
          </a:xfrm>
        </p:grpSpPr>
        <p:grpSp>
          <p:nvGrpSpPr>
            <p:cNvPr id="801" name="Google Shape;801;p75"/>
            <p:cNvGrpSpPr/>
            <p:nvPr/>
          </p:nvGrpSpPr>
          <p:grpSpPr>
            <a:xfrm>
              <a:off x="1724726" y="2708388"/>
              <a:ext cx="1466755" cy="312094"/>
              <a:chOff x="952850" y="2847342"/>
              <a:chExt cx="2486025" cy="438150"/>
            </a:xfrm>
          </p:grpSpPr>
          <p:pic>
            <p:nvPicPr>
              <p:cNvPr id="802" name="Google Shape;802;p75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952850" y="2847342"/>
                <a:ext cx="1819275" cy="4381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03" name="Google Shape;803;p75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772125" y="2847342"/>
                <a:ext cx="666750" cy="4381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804" name="Google Shape;804;p75"/>
            <p:cNvSpPr txBox="1"/>
            <p:nvPr/>
          </p:nvSpPr>
          <p:spPr>
            <a:xfrm>
              <a:off x="2143834" y="2649414"/>
              <a:ext cx="578700" cy="9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x</a:t>
              </a:r>
              <a:r>
                <a:rPr baseline="30000"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1</a:t>
              </a:r>
              <a:endParaRPr baseline="300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  <p:sp>
          <p:nvSpPr>
            <p:cNvPr id="805" name="Google Shape;805;p75"/>
            <p:cNvSpPr txBox="1"/>
            <p:nvPr/>
          </p:nvSpPr>
          <p:spPr>
            <a:xfrm>
              <a:off x="2851748" y="2649414"/>
              <a:ext cx="578700" cy="9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y</a:t>
              </a:r>
              <a:r>
                <a:rPr baseline="30000"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1</a:t>
              </a:r>
              <a:endParaRPr baseline="300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</p:grpSp>
      <p:grpSp>
        <p:nvGrpSpPr>
          <p:cNvPr id="806" name="Google Shape;806;p75"/>
          <p:cNvGrpSpPr/>
          <p:nvPr/>
        </p:nvGrpSpPr>
        <p:grpSpPr>
          <a:xfrm>
            <a:off x="6548039" y="3274818"/>
            <a:ext cx="1705722" cy="371068"/>
            <a:chOff x="1724726" y="2649414"/>
            <a:chExt cx="1705722" cy="371068"/>
          </a:xfrm>
        </p:grpSpPr>
        <p:grpSp>
          <p:nvGrpSpPr>
            <p:cNvPr id="807" name="Google Shape;807;p75"/>
            <p:cNvGrpSpPr/>
            <p:nvPr/>
          </p:nvGrpSpPr>
          <p:grpSpPr>
            <a:xfrm>
              <a:off x="1724726" y="2708388"/>
              <a:ext cx="1466755" cy="312094"/>
              <a:chOff x="952850" y="2847342"/>
              <a:chExt cx="2486025" cy="438150"/>
            </a:xfrm>
          </p:grpSpPr>
          <p:pic>
            <p:nvPicPr>
              <p:cNvPr id="808" name="Google Shape;808;p75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952850" y="2847342"/>
                <a:ext cx="1819275" cy="4381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09" name="Google Shape;809;p75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772125" y="2847342"/>
                <a:ext cx="666750" cy="4381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810" name="Google Shape;810;p75"/>
            <p:cNvSpPr txBox="1"/>
            <p:nvPr/>
          </p:nvSpPr>
          <p:spPr>
            <a:xfrm>
              <a:off x="2143834" y="2649414"/>
              <a:ext cx="578700" cy="9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x</a:t>
              </a:r>
              <a:r>
                <a:rPr baseline="30000"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3</a:t>
              </a:r>
              <a:endParaRPr baseline="300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  <p:sp>
          <p:nvSpPr>
            <p:cNvPr id="811" name="Google Shape;811;p75"/>
            <p:cNvSpPr txBox="1"/>
            <p:nvPr/>
          </p:nvSpPr>
          <p:spPr>
            <a:xfrm>
              <a:off x="2851748" y="2649414"/>
              <a:ext cx="578700" cy="9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y</a:t>
              </a:r>
              <a:r>
                <a:rPr baseline="30000"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3</a:t>
              </a:r>
              <a:endParaRPr baseline="300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</p:grpSp>
      <p:grpSp>
        <p:nvGrpSpPr>
          <p:cNvPr id="812" name="Google Shape;812;p75"/>
          <p:cNvGrpSpPr/>
          <p:nvPr/>
        </p:nvGrpSpPr>
        <p:grpSpPr>
          <a:xfrm>
            <a:off x="6548039" y="3585971"/>
            <a:ext cx="1705722" cy="371068"/>
            <a:chOff x="1724726" y="2649414"/>
            <a:chExt cx="1705722" cy="371068"/>
          </a:xfrm>
        </p:grpSpPr>
        <p:grpSp>
          <p:nvGrpSpPr>
            <p:cNvPr id="813" name="Google Shape;813;p75"/>
            <p:cNvGrpSpPr/>
            <p:nvPr/>
          </p:nvGrpSpPr>
          <p:grpSpPr>
            <a:xfrm>
              <a:off x="1724726" y="2708388"/>
              <a:ext cx="1466755" cy="312094"/>
              <a:chOff x="952850" y="2847342"/>
              <a:chExt cx="2486025" cy="438150"/>
            </a:xfrm>
          </p:grpSpPr>
          <p:pic>
            <p:nvPicPr>
              <p:cNvPr id="814" name="Google Shape;814;p75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952850" y="2847342"/>
                <a:ext cx="1819275" cy="4381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15" name="Google Shape;815;p75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772125" y="2847342"/>
                <a:ext cx="666750" cy="4381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816" name="Google Shape;816;p75"/>
            <p:cNvSpPr txBox="1"/>
            <p:nvPr/>
          </p:nvSpPr>
          <p:spPr>
            <a:xfrm>
              <a:off x="2143834" y="2649414"/>
              <a:ext cx="578700" cy="9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x</a:t>
              </a:r>
              <a:r>
                <a:rPr baseline="30000"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5</a:t>
              </a:r>
              <a:endParaRPr baseline="300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  <p:sp>
          <p:nvSpPr>
            <p:cNvPr id="817" name="Google Shape;817;p75"/>
            <p:cNvSpPr txBox="1"/>
            <p:nvPr/>
          </p:nvSpPr>
          <p:spPr>
            <a:xfrm>
              <a:off x="2851748" y="2649414"/>
              <a:ext cx="578700" cy="9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y</a:t>
              </a:r>
              <a:r>
                <a:rPr baseline="30000"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5</a:t>
              </a:r>
              <a:endParaRPr baseline="300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</p:grpSp>
      <p:grpSp>
        <p:nvGrpSpPr>
          <p:cNvPr id="818" name="Google Shape;818;p75"/>
          <p:cNvGrpSpPr/>
          <p:nvPr/>
        </p:nvGrpSpPr>
        <p:grpSpPr>
          <a:xfrm>
            <a:off x="6548039" y="3898046"/>
            <a:ext cx="1705722" cy="371068"/>
            <a:chOff x="1724726" y="2649414"/>
            <a:chExt cx="1705722" cy="371068"/>
          </a:xfrm>
        </p:grpSpPr>
        <p:grpSp>
          <p:nvGrpSpPr>
            <p:cNvPr id="819" name="Google Shape;819;p75"/>
            <p:cNvGrpSpPr/>
            <p:nvPr/>
          </p:nvGrpSpPr>
          <p:grpSpPr>
            <a:xfrm>
              <a:off x="1724726" y="2708388"/>
              <a:ext cx="1466755" cy="312094"/>
              <a:chOff x="952850" y="2847342"/>
              <a:chExt cx="2486025" cy="438150"/>
            </a:xfrm>
          </p:grpSpPr>
          <p:pic>
            <p:nvPicPr>
              <p:cNvPr id="820" name="Google Shape;820;p75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952850" y="2847342"/>
                <a:ext cx="1819275" cy="4381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21" name="Google Shape;821;p75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772125" y="2847342"/>
                <a:ext cx="666750" cy="4381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822" name="Google Shape;822;p75"/>
            <p:cNvSpPr txBox="1"/>
            <p:nvPr/>
          </p:nvSpPr>
          <p:spPr>
            <a:xfrm>
              <a:off x="2143834" y="2649414"/>
              <a:ext cx="578700" cy="9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x</a:t>
              </a:r>
              <a:r>
                <a:rPr baseline="30000"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1</a:t>
              </a:r>
              <a:endParaRPr baseline="300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  <p:sp>
          <p:nvSpPr>
            <p:cNvPr id="823" name="Google Shape;823;p75"/>
            <p:cNvSpPr txBox="1"/>
            <p:nvPr/>
          </p:nvSpPr>
          <p:spPr>
            <a:xfrm>
              <a:off x="2851748" y="2649414"/>
              <a:ext cx="578700" cy="9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y</a:t>
              </a:r>
              <a:r>
                <a:rPr baseline="30000"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1</a:t>
              </a:r>
              <a:endParaRPr baseline="300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</p:grp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76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830" name="Google Shape;830;p76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831" name="Google Shape;831;p76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832" name="Google Shape;832;p76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✓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Result Aggregating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anum Gothic"/>
              <a:buChar char="○"/>
            </a:pPr>
            <a:r>
              <a:rPr lang="ko" sz="1300">
                <a:latin typeface="Nanum Gothic"/>
                <a:ea typeface="Nanum Gothic"/>
                <a:cs typeface="Nanum Gothic"/>
                <a:sym typeface="Nanum Gothic"/>
              </a:rPr>
              <a:t>Majority voting</a:t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833" name="Google Shape;833;p76"/>
          <p:cNvSpPr txBox="1"/>
          <p:nvPr/>
        </p:nvSpPr>
        <p:spPr>
          <a:xfrm>
            <a:off x="1030794" y="2356867"/>
            <a:ext cx="12549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Training Acc</a:t>
            </a:r>
            <a:endParaRPr sz="11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834" name="Google Shape;834;p76"/>
          <p:cNvSpPr txBox="1"/>
          <p:nvPr/>
        </p:nvSpPr>
        <p:spPr>
          <a:xfrm>
            <a:off x="2541210" y="2204469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Ensemble population</a:t>
            </a:r>
            <a:endParaRPr sz="11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835" name="Google Shape;835;p76"/>
          <p:cNvSpPr txBox="1"/>
          <p:nvPr/>
        </p:nvSpPr>
        <p:spPr>
          <a:xfrm>
            <a:off x="3914860" y="2204469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P(y=1) for a test instance</a:t>
            </a:r>
            <a:endParaRPr sz="11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836" name="Google Shape;836;p76"/>
          <p:cNvSpPr txBox="1"/>
          <p:nvPr/>
        </p:nvSpPr>
        <p:spPr>
          <a:xfrm>
            <a:off x="5594960" y="2204469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Predicted class label</a:t>
            </a:r>
            <a:endParaRPr sz="11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pic>
        <p:nvPicPr>
          <p:cNvPr id="837" name="Google Shape;837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2726" y="2708388"/>
            <a:ext cx="1073372" cy="312094"/>
          </a:xfrm>
          <a:prstGeom prst="rect">
            <a:avLst/>
          </a:prstGeom>
          <a:noFill/>
          <a:ln>
            <a:noFill/>
          </a:ln>
        </p:spPr>
      </p:pic>
      <p:sp>
        <p:nvSpPr>
          <p:cNvPr id="838" name="Google Shape;838;p76"/>
          <p:cNvSpPr txBox="1"/>
          <p:nvPr/>
        </p:nvSpPr>
        <p:spPr>
          <a:xfrm>
            <a:off x="1229434" y="2649414"/>
            <a:ext cx="578700" cy="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0.80</a:t>
            </a:r>
            <a:endParaRPr baseline="30000" sz="12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pic>
        <p:nvPicPr>
          <p:cNvPr id="839" name="Google Shape;839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2726" y="3020463"/>
            <a:ext cx="1073372" cy="312094"/>
          </a:xfrm>
          <a:prstGeom prst="rect">
            <a:avLst/>
          </a:prstGeom>
          <a:noFill/>
          <a:ln>
            <a:noFill/>
          </a:ln>
        </p:spPr>
      </p:pic>
      <p:pic>
        <p:nvPicPr>
          <p:cNvPr id="840" name="Google Shape;840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2726" y="3306338"/>
            <a:ext cx="1073372" cy="312094"/>
          </a:xfrm>
          <a:prstGeom prst="rect">
            <a:avLst/>
          </a:prstGeom>
          <a:noFill/>
          <a:ln>
            <a:noFill/>
          </a:ln>
        </p:spPr>
      </p:pic>
      <p:pic>
        <p:nvPicPr>
          <p:cNvPr id="841" name="Google Shape;841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2726" y="3618413"/>
            <a:ext cx="1073372" cy="312094"/>
          </a:xfrm>
          <a:prstGeom prst="rect">
            <a:avLst/>
          </a:prstGeom>
          <a:noFill/>
          <a:ln>
            <a:noFill/>
          </a:ln>
        </p:spPr>
      </p:pic>
      <p:pic>
        <p:nvPicPr>
          <p:cNvPr id="842" name="Google Shape;842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2726" y="3930488"/>
            <a:ext cx="1073372" cy="312094"/>
          </a:xfrm>
          <a:prstGeom prst="rect">
            <a:avLst/>
          </a:prstGeom>
          <a:noFill/>
          <a:ln>
            <a:noFill/>
          </a:ln>
        </p:spPr>
      </p:pic>
      <p:sp>
        <p:nvSpPr>
          <p:cNvPr id="843" name="Google Shape;843;p76"/>
          <p:cNvSpPr txBox="1"/>
          <p:nvPr/>
        </p:nvSpPr>
        <p:spPr>
          <a:xfrm>
            <a:off x="1229434" y="2954214"/>
            <a:ext cx="578700" cy="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0.75</a:t>
            </a:r>
            <a:endParaRPr baseline="30000" sz="12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844" name="Google Shape;844;p76"/>
          <p:cNvSpPr txBox="1"/>
          <p:nvPr/>
        </p:nvSpPr>
        <p:spPr>
          <a:xfrm>
            <a:off x="1229434" y="3259014"/>
            <a:ext cx="578700" cy="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0.88</a:t>
            </a:r>
            <a:endParaRPr baseline="30000" sz="12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845" name="Google Shape;845;p76"/>
          <p:cNvSpPr txBox="1"/>
          <p:nvPr/>
        </p:nvSpPr>
        <p:spPr>
          <a:xfrm>
            <a:off x="1229434" y="3563814"/>
            <a:ext cx="578700" cy="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0.95</a:t>
            </a:r>
            <a:endParaRPr baseline="30000" sz="12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846" name="Google Shape;846;p76"/>
          <p:cNvSpPr txBox="1"/>
          <p:nvPr/>
        </p:nvSpPr>
        <p:spPr>
          <a:xfrm>
            <a:off x="1229434" y="3868614"/>
            <a:ext cx="578700" cy="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0.85</a:t>
            </a:r>
            <a:endParaRPr baseline="30000" sz="12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grpSp>
        <p:nvGrpSpPr>
          <p:cNvPr id="847" name="Google Shape;847;p76"/>
          <p:cNvGrpSpPr/>
          <p:nvPr/>
        </p:nvGrpSpPr>
        <p:grpSpPr>
          <a:xfrm>
            <a:off x="2421701" y="2662124"/>
            <a:ext cx="1149847" cy="1590001"/>
            <a:chOff x="3134063" y="2662124"/>
            <a:chExt cx="1149847" cy="1590001"/>
          </a:xfrm>
        </p:grpSpPr>
        <p:grpSp>
          <p:nvGrpSpPr>
            <p:cNvPr id="848" name="Google Shape;848;p76"/>
            <p:cNvGrpSpPr/>
            <p:nvPr/>
          </p:nvGrpSpPr>
          <p:grpSpPr>
            <a:xfrm>
              <a:off x="3134063" y="2662124"/>
              <a:ext cx="1149847" cy="359984"/>
              <a:chOff x="3210263" y="3130141"/>
              <a:chExt cx="1149847" cy="359984"/>
            </a:xfrm>
          </p:grpSpPr>
          <p:pic>
            <p:nvPicPr>
              <p:cNvPr id="849" name="Google Shape;849;p76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210263" y="3178050"/>
                <a:ext cx="1073375" cy="31207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50" name="Google Shape;850;p76"/>
              <p:cNvSpPr txBox="1"/>
              <p:nvPr/>
            </p:nvSpPr>
            <p:spPr>
              <a:xfrm>
                <a:off x="3344609" y="3130141"/>
                <a:ext cx="1015500" cy="15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1300">
                    <a:solidFill>
                      <a:schemeClr val="dk1"/>
                    </a:solidFill>
                    <a:latin typeface="Nanum Gothic"/>
                    <a:ea typeface="Nanum Gothic"/>
                    <a:cs typeface="Nanum Gothic"/>
                    <a:sym typeface="Nanum Gothic"/>
                  </a:rPr>
                  <a:t>Model 1</a:t>
                </a:r>
                <a:endParaRPr sz="1300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endParaRPr>
              </a:p>
            </p:txBody>
          </p:sp>
        </p:grpSp>
        <p:grpSp>
          <p:nvGrpSpPr>
            <p:cNvPr id="851" name="Google Shape;851;p76"/>
            <p:cNvGrpSpPr/>
            <p:nvPr/>
          </p:nvGrpSpPr>
          <p:grpSpPr>
            <a:xfrm>
              <a:off x="3134063" y="2972332"/>
              <a:ext cx="1149847" cy="359984"/>
              <a:chOff x="3210263" y="3130141"/>
              <a:chExt cx="1149847" cy="359984"/>
            </a:xfrm>
          </p:grpSpPr>
          <p:pic>
            <p:nvPicPr>
              <p:cNvPr id="852" name="Google Shape;852;p76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210263" y="3178050"/>
                <a:ext cx="1073375" cy="31207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53" name="Google Shape;853;p76"/>
              <p:cNvSpPr txBox="1"/>
              <p:nvPr/>
            </p:nvSpPr>
            <p:spPr>
              <a:xfrm>
                <a:off x="3344609" y="3130141"/>
                <a:ext cx="1015500" cy="15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1300">
                    <a:solidFill>
                      <a:schemeClr val="dk1"/>
                    </a:solidFill>
                    <a:latin typeface="Nanum Gothic"/>
                    <a:ea typeface="Nanum Gothic"/>
                    <a:cs typeface="Nanum Gothic"/>
                    <a:sym typeface="Nanum Gothic"/>
                  </a:rPr>
                  <a:t>Model 2</a:t>
                </a:r>
                <a:endParaRPr sz="1300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endParaRPr>
              </a:p>
            </p:txBody>
          </p:sp>
        </p:grpSp>
        <p:grpSp>
          <p:nvGrpSpPr>
            <p:cNvPr id="854" name="Google Shape;854;p76"/>
            <p:cNvGrpSpPr/>
            <p:nvPr/>
          </p:nvGrpSpPr>
          <p:grpSpPr>
            <a:xfrm>
              <a:off x="3134063" y="3282541"/>
              <a:ext cx="1149847" cy="359984"/>
              <a:chOff x="3210263" y="3130141"/>
              <a:chExt cx="1149847" cy="359984"/>
            </a:xfrm>
          </p:grpSpPr>
          <p:pic>
            <p:nvPicPr>
              <p:cNvPr id="855" name="Google Shape;855;p76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210263" y="3178050"/>
                <a:ext cx="1073375" cy="31207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56" name="Google Shape;856;p76"/>
              <p:cNvSpPr txBox="1"/>
              <p:nvPr/>
            </p:nvSpPr>
            <p:spPr>
              <a:xfrm>
                <a:off x="3344609" y="3130141"/>
                <a:ext cx="1015500" cy="15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1300">
                    <a:solidFill>
                      <a:schemeClr val="dk1"/>
                    </a:solidFill>
                    <a:latin typeface="Nanum Gothic"/>
                    <a:ea typeface="Nanum Gothic"/>
                    <a:cs typeface="Nanum Gothic"/>
                    <a:sym typeface="Nanum Gothic"/>
                  </a:rPr>
                  <a:t>Model 3</a:t>
                </a:r>
                <a:endParaRPr sz="1300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endParaRPr>
              </a:p>
            </p:txBody>
          </p:sp>
        </p:grpSp>
        <p:grpSp>
          <p:nvGrpSpPr>
            <p:cNvPr id="857" name="Google Shape;857;p76"/>
            <p:cNvGrpSpPr/>
            <p:nvPr/>
          </p:nvGrpSpPr>
          <p:grpSpPr>
            <a:xfrm>
              <a:off x="3134063" y="3587341"/>
              <a:ext cx="1149847" cy="359984"/>
              <a:chOff x="3210263" y="3130141"/>
              <a:chExt cx="1149847" cy="359984"/>
            </a:xfrm>
          </p:grpSpPr>
          <p:pic>
            <p:nvPicPr>
              <p:cNvPr id="858" name="Google Shape;858;p76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210263" y="3178050"/>
                <a:ext cx="1073375" cy="31207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59" name="Google Shape;859;p76"/>
              <p:cNvSpPr txBox="1"/>
              <p:nvPr/>
            </p:nvSpPr>
            <p:spPr>
              <a:xfrm>
                <a:off x="3344609" y="3130141"/>
                <a:ext cx="1015500" cy="15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1300">
                    <a:solidFill>
                      <a:schemeClr val="dk1"/>
                    </a:solidFill>
                    <a:latin typeface="Nanum Gothic"/>
                    <a:ea typeface="Nanum Gothic"/>
                    <a:cs typeface="Nanum Gothic"/>
                    <a:sym typeface="Nanum Gothic"/>
                  </a:rPr>
                  <a:t>Model 4</a:t>
                </a:r>
                <a:endParaRPr sz="1300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endParaRPr>
              </a:p>
            </p:txBody>
          </p:sp>
        </p:grpSp>
        <p:grpSp>
          <p:nvGrpSpPr>
            <p:cNvPr id="860" name="Google Shape;860;p76"/>
            <p:cNvGrpSpPr/>
            <p:nvPr/>
          </p:nvGrpSpPr>
          <p:grpSpPr>
            <a:xfrm>
              <a:off x="3134063" y="3892141"/>
              <a:ext cx="1149847" cy="359984"/>
              <a:chOff x="3210263" y="3130141"/>
              <a:chExt cx="1149847" cy="359984"/>
            </a:xfrm>
          </p:grpSpPr>
          <p:pic>
            <p:nvPicPr>
              <p:cNvPr id="861" name="Google Shape;861;p76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210263" y="3178050"/>
                <a:ext cx="1073375" cy="31207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62" name="Google Shape;862;p76"/>
              <p:cNvSpPr txBox="1"/>
              <p:nvPr/>
            </p:nvSpPr>
            <p:spPr>
              <a:xfrm>
                <a:off x="3344609" y="3130141"/>
                <a:ext cx="1015500" cy="15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1300">
                    <a:solidFill>
                      <a:schemeClr val="dk1"/>
                    </a:solidFill>
                    <a:latin typeface="Nanum Gothic"/>
                    <a:ea typeface="Nanum Gothic"/>
                    <a:cs typeface="Nanum Gothic"/>
                    <a:sym typeface="Nanum Gothic"/>
                  </a:rPr>
                  <a:t>Model 5</a:t>
                </a:r>
                <a:endParaRPr sz="1300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endParaRPr>
              </a:p>
            </p:txBody>
          </p:sp>
        </p:grpSp>
      </p:grpSp>
      <p:sp>
        <p:nvSpPr>
          <p:cNvPr id="863" name="Google Shape;863;p76"/>
          <p:cNvSpPr txBox="1"/>
          <p:nvPr/>
        </p:nvSpPr>
        <p:spPr>
          <a:xfrm>
            <a:off x="4165266" y="2659281"/>
            <a:ext cx="605700" cy="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0.90</a:t>
            </a:r>
            <a:endParaRPr sz="12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grpSp>
        <p:nvGrpSpPr>
          <p:cNvPr id="864" name="Google Shape;864;p76"/>
          <p:cNvGrpSpPr/>
          <p:nvPr/>
        </p:nvGrpSpPr>
        <p:grpSpPr>
          <a:xfrm>
            <a:off x="5441925" y="2658791"/>
            <a:ext cx="1073375" cy="1580884"/>
            <a:chOff x="6737325" y="2658791"/>
            <a:chExt cx="1073375" cy="1580884"/>
          </a:xfrm>
        </p:grpSpPr>
        <p:pic>
          <p:nvPicPr>
            <p:cNvPr id="865" name="Google Shape;865;p7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737325" y="2708400"/>
              <a:ext cx="1073375" cy="3120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6" name="Google Shape;866;p7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737325" y="3013200"/>
              <a:ext cx="1073375" cy="3120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7" name="Google Shape;867;p7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737325" y="3318000"/>
              <a:ext cx="1073375" cy="3120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8" name="Google Shape;868;p7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737325" y="3622800"/>
              <a:ext cx="1073375" cy="3120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9" name="Google Shape;869;p7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737325" y="3927600"/>
              <a:ext cx="1073375" cy="3120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0" name="Google Shape;870;p76"/>
            <p:cNvSpPr txBox="1"/>
            <p:nvPr/>
          </p:nvSpPr>
          <p:spPr>
            <a:xfrm>
              <a:off x="7126015" y="2658791"/>
              <a:ext cx="346200" cy="12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1</a:t>
              </a:r>
              <a:endParaRPr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  <p:sp>
          <p:nvSpPr>
            <p:cNvPr id="871" name="Google Shape;871;p76"/>
            <p:cNvSpPr txBox="1"/>
            <p:nvPr/>
          </p:nvSpPr>
          <p:spPr>
            <a:xfrm>
              <a:off x="7126015" y="2963591"/>
              <a:ext cx="346200" cy="12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1</a:t>
              </a:r>
              <a:endParaRPr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  <p:sp>
          <p:nvSpPr>
            <p:cNvPr id="872" name="Google Shape;872;p76"/>
            <p:cNvSpPr txBox="1"/>
            <p:nvPr/>
          </p:nvSpPr>
          <p:spPr>
            <a:xfrm>
              <a:off x="7126015" y="3268391"/>
              <a:ext cx="346200" cy="12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1</a:t>
              </a:r>
              <a:endParaRPr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  <p:sp>
          <p:nvSpPr>
            <p:cNvPr id="873" name="Google Shape;873;p76"/>
            <p:cNvSpPr txBox="1"/>
            <p:nvPr/>
          </p:nvSpPr>
          <p:spPr>
            <a:xfrm>
              <a:off x="7126015" y="3573191"/>
              <a:ext cx="346200" cy="12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0</a:t>
              </a:r>
              <a:endParaRPr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  <p:sp>
          <p:nvSpPr>
            <p:cNvPr id="874" name="Google Shape;874;p76"/>
            <p:cNvSpPr txBox="1"/>
            <p:nvPr/>
          </p:nvSpPr>
          <p:spPr>
            <a:xfrm>
              <a:off x="7126015" y="3877991"/>
              <a:ext cx="346200" cy="12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0</a:t>
              </a:r>
              <a:endParaRPr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</p:grpSp>
      <p:grpSp>
        <p:nvGrpSpPr>
          <p:cNvPr id="875" name="Google Shape;875;p76"/>
          <p:cNvGrpSpPr/>
          <p:nvPr/>
        </p:nvGrpSpPr>
        <p:grpSpPr>
          <a:xfrm>
            <a:off x="3914250" y="2659281"/>
            <a:ext cx="1073375" cy="1580394"/>
            <a:chOff x="4981050" y="2659281"/>
            <a:chExt cx="1073375" cy="1580394"/>
          </a:xfrm>
        </p:grpSpPr>
        <p:grpSp>
          <p:nvGrpSpPr>
            <p:cNvPr id="876" name="Google Shape;876;p76"/>
            <p:cNvGrpSpPr/>
            <p:nvPr/>
          </p:nvGrpSpPr>
          <p:grpSpPr>
            <a:xfrm>
              <a:off x="4981050" y="2708400"/>
              <a:ext cx="1073375" cy="1531275"/>
              <a:chOff x="4981050" y="2708400"/>
              <a:chExt cx="1073375" cy="1531275"/>
            </a:xfrm>
          </p:grpSpPr>
          <p:pic>
            <p:nvPicPr>
              <p:cNvPr id="877" name="Google Shape;877;p76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4981050" y="2708400"/>
                <a:ext cx="1073375" cy="3120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78" name="Google Shape;878;p76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4981050" y="3013200"/>
                <a:ext cx="1073375" cy="3120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79" name="Google Shape;879;p76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4981050" y="3318000"/>
                <a:ext cx="1073375" cy="3120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80" name="Google Shape;880;p76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4981050" y="3622800"/>
                <a:ext cx="1073375" cy="3120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81" name="Google Shape;881;p76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4981050" y="3927600"/>
                <a:ext cx="1073375" cy="31207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82" name="Google Shape;882;p76"/>
              <p:cNvSpPr txBox="1"/>
              <p:nvPr/>
            </p:nvSpPr>
            <p:spPr>
              <a:xfrm>
                <a:off x="5232066" y="2964081"/>
                <a:ext cx="605700" cy="9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1200">
                    <a:solidFill>
                      <a:schemeClr val="dk1"/>
                    </a:solidFill>
                    <a:latin typeface="Nanum Gothic"/>
                    <a:ea typeface="Nanum Gothic"/>
                    <a:cs typeface="Nanum Gothic"/>
                    <a:sym typeface="Nanum Gothic"/>
                  </a:rPr>
                  <a:t>0.92</a:t>
                </a:r>
                <a:endParaRPr sz="1200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endParaRPr>
              </a:p>
            </p:txBody>
          </p:sp>
          <p:sp>
            <p:nvSpPr>
              <p:cNvPr id="883" name="Google Shape;883;p76"/>
              <p:cNvSpPr txBox="1"/>
              <p:nvPr/>
            </p:nvSpPr>
            <p:spPr>
              <a:xfrm>
                <a:off x="5232066" y="3268881"/>
                <a:ext cx="605700" cy="9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1200">
                    <a:solidFill>
                      <a:schemeClr val="dk1"/>
                    </a:solidFill>
                    <a:latin typeface="Nanum Gothic"/>
                    <a:ea typeface="Nanum Gothic"/>
                    <a:cs typeface="Nanum Gothic"/>
                    <a:sym typeface="Nanum Gothic"/>
                  </a:rPr>
                  <a:t>0.87</a:t>
                </a:r>
                <a:endParaRPr sz="1200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endParaRPr>
              </a:p>
            </p:txBody>
          </p:sp>
          <p:sp>
            <p:nvSpPr>
              <p:cNvPr id="884" name="Google Shape;884;p76"/>
              <p:cNvSpPr txBox="1"/>
              <p:nvPr/>
            </p:nvSpPr>
            <p:spPr>
              <a:xfrm>
                <a:off x="5232066" y="3573681"/>
                <a:ext cx="605700" cy="9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1200">
                    <a:solidFill>
                      <a:schemeClr val="dk1"/>
                    </a:solidFill>
                    <a:latin typeface="Nanum Gothic"/>
                    <a:ea typeface="Nanum Gothic"/>
                    <a:cs typeface="Nanum Gothic"/>
                    <a:sym typeface="Nanum Gothic"/>
                  </a:rPr>
                  <a:t>0.14</a:t>
                </a:r>
                <a:endParaRPr sz="1200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endParaRPr>
              </a:p>
            </p:txBody>
          </p:sp>
          <p:sp>
            <p:nvSpPr>
              <p:cNvPr id="885" name="Google Shape;885;p76"/>
              <p:cNvSpPr txBox="1"/>
              <p:nvPr/>
            </p:nvSpPr>
            <p:spPr>
              <a:xfrm>
                <a:off x="5232066" y="3878481"/>
                <a:ext cx="605700" cy="9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1200">
                    <a:solidFill>
                      <a:schemeClr val="dk1"/>
                    </a:solidFill>
                    <a:latin typeface="Nanum Gothic"/>
                    <a:ea typeface="Nanum Gothic"/>
                    <a:cs typeface="Nanum Gothic"/>
                    <a:sym typeface="Nanum Gothic"/>
                  </a:rPr>
                  <a:t>0.39</a:t>
                </a:r>
                <a:endParaRPr sz="1200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endParaRPr>
              </a:p>
            </p:txBody>
          </p:sp>
        </p:grpSp>
        <p:sp>
          <p:nvSpPr>
            <p:cNvPr id="886" name="Google Shape;886;p76"/>
            <p:cNvSpPr txBox="1"/>
            <p:nvPr/>
          </p:nvSpPr>
          <p:spPr>
            <a:xfrm>
              <a:off x="5232066" y="2659281"/>
              <a:ext cx="605700" cy="9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0.90</a:t>
              </a:r>
              <a:endParaRPr sz="12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</p:grpSp>
      <p:pic>
        <p:nvPicPr>
          <p:cNvPr id="887" name="Google Shape;887;p7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654933" y="1366276"/>
            <a:ext cx="4508850" cy="618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88" name="Google Shape;888;p76"/>
          <p:cNvGrpSpPr/>
          <p:nvPr/>
        </p:nvGrpSpPr>
        <p:grpSpPr>
          <a:xfrm>
            <a:off x="6969599" y="2457862"/>
            <a:ext cx="1685433" cy="1830350"/>
            <a:chOff x="6969599" y="2457862"/>
            <a:chExt cx="1685433" cy="1830350"/>
          </a:xfrm>
        </p:grpSpPr>
        <p:pic>
          <p:nvPicPr>
            <p:cNvPr id="889" name="Google Shape;889;p76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6969599" y="2457862"/>
              <a:ext cx="1373889" cy="1830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90" name="Google Shape;890;p76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8229025" y="2551981"/>
              <a:ext cx="426007" cy="3120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91" name="Google Shape;891;p76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8229025" y="3332556"/>
              <a:ext cx="426007" cy="3120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2" name="Google Shape;892;p76"/>
            <p:cNvSpPr txBox="1"/>
            <p:nvPr/>
          </p:nvSpPr>
          <p:spPr>
            <a:xfrm>
              <a:off x="8163488" y="2497007"/>
              <a:ext cx="276000" cy="18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2</a:t>
              </a:r>
              <a:endParaRPr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  <p:sp>
          <p:nvSpPr>
            <p:cNvPr id="893" name="Google Shape;893;p76"/>
            <p:cNvSpPr txBox="1"/>
            <p:nvPr/>
          </p:nvSpPr>
          <p:spPr>
            <a:xfrm>
              <a:off x="8174305" y="3335207"/>
              <a:ext cx="276000" cy="18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3</a:t>
              </a:r>
              <a:endParaRPr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</p:grp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9" name="Google Shape;899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891900" y="2287875"/>
            <a:ext cx="1215025" cy="21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900" name="Google Shape;900;p77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901" name="Google Shape;901;p77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902" name="Google Shape;902;p77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903" name="Google Shape;903;p77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✓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Result Aggregating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anum Gothic"/>
              <a:buChar char="○"/>
            </a:pPr>
            <a:r>
              <a:rPr lang="ko" sz="1300">
                <a:latin typeface="Nanum Gothic"/>
                <a:ea typeface="Nanum Gothic"/>
                <a:cs typeface="Nanum Gothic"/>
                <a:sym typeface="Nanum Gothic"/>
              </a:rPr>
              <a:t>Weighted voting ( weight = training accuracy of individual models)</a:t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904" name="Google Shape;904;p77"/>
          <p:cNvSpPr txBox="1"/>
          <p:nvPr/>
        </p:nvSpPr>
        <p:spPr>
          <a:xfrm>
            <a:off x="1030794" y="2356867"/>
            <a:ext cx="12549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Training Acc</a:t>
            </a:r>
            <a:endParaRPr sz="11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905" name="Google Shape;905;p77"/>
          <p:cNvSpPr txBox="1"/>
          <p:nvPr/>
        </p:nvSpPr>
        <p:spPr>
          <a:xfrm>
            <a:off x="2541210" y="2204469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Ensemble population</a:t>
            </a:r>
            <a:endParaRPr sz="11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906" name="Google Shape;906;p77"/>
          <p:cNvSpPr txBox="1"/>
          <p:nvPr/>
        </p:nvSpPr>
        <p:spPr>
          <a:xfrm>
            <a:off x="3914860" y="2204469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P(y=1) for a test instance</a:t>
            </a:r>
            <a:endParaRPr sz="11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907" name="Google Shape;907;p77"/>
          <p:cNvSpPr txBox="1"/>
          <p:nvPr/>
        </p:nvSpPr>
        <p:spPr>
          <a:xfrm>
            <a:off x="5594960" y="2204469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Predicted class label</a:t>
            </a:r>
            <a:endParaRPr sz="11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pic>
        <p:nvPicPr>
          <p:cNvPr id="908" name="Google Shape;908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2726" y="2708388"/>
            <a:ext cx="1073372" cy="312094"/>
          </a:xfrm>
          <a:prstGeom prst="rect">
            <a:avLst/>
          </a:prstGeom>
          <a:noFill/>
          <a:ln>
            <a:noFill/>
          </a:ln>
        </p:spPr>
      </p:pic>
      <p:sp>
        <p:nvSpPr>
          <p:cNvPr id="909" name="Google Shape;909;p77"/>
          <p:cNvSpPr txBox="1"/>
          <p:nvPr/>
        </p:nvSpPr>
        <p:spPr>
          <a:xfrm>
            <a:off x="1229434" y="2649414"/>
            <a:ext cx="578700" cy="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0.80</a:t>
            </a:r>
            <a:endParaRPr baseline="30000" sz="12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pic>
        <p:nvPicPr>
          <p:cNvPr id="910" name="Google Shape;910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2726" y="3020463"/>
            <a:ext cx="1073372" cy="31209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1" name="Google Shape;911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2726" y="3306338"/>
            <a:ext cx="1073372" cy="31209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2" name="Google Shape;912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2726" y="3618413"/>
            <a:ext cx="1073372" cy="31209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3" name="Google Shape;913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2726" y="3930488"/>
            <a:ext cx="1073372" cy="312094"/>
          </a:xfrm>
          <a:prstGeom prst="rect">
            <a:avLst/>
          </a:prstGeom>
          <a:noFill/>
          <a:ln>
            <a:noFill/>
          </a:ln>
        </p:spPr>
      </p:pic>
      <p:sp>
        <p:nvSpPr>
          <p:cNvPr id="914" name="Google Shape;914;p77"/>
          <p:cNvSpPr txBox="1"/>
          <p:nvPr/>
        </p:nvSpPr>
        <p:spPr>
          <a:xfrm>
            <a:off x="1229434" y="2954214"/>
            <a:ext cx="578700" cy="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0.75</a:t>
            </a:r>
            <a:endParaRPr baseline="30000" sz="12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915" name="Google Shape;915;p77"/>
          <p:cNvSpPr txBox="1"/>
          <p:nvPr/>
        </p:nvSpPr>
        <p:spPr>
          <a:xfrm>
            <a:off x="1229434" y="3259014"/>
            <a:ext cx="578700" cy="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0.88</a:t>
            </a:r>
            <a:endParaRPr baseline="30000" sz="12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916" name="Google Shape;916;p77"/>
          <p:cNvSpPr txBox="1"/>
          <p:nvPr/>
        </p:nvSpPr>
        <p:spPr>
          <a:xfrm>
            <a:off x="1229434" y="3563814"/>
            <a:ext cx="578700" cy="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0.95</a:t>
            </a:r>
            <a:endParaRPr baseline="30000" sz="12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917" name="Google Shape;917;p77"/>
          <p:cNvSpPr txBox="1"/>
          <p:nvPr/>
        </p:nvSpPr>
        <p:spPr>
          <a:xfrm>
            <a:off x="1229434" y="3868614"/>
            <a:ext cx="578700" cy="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0.85</a:t>
            </a:r>
            <a:endParaRPr baseline="30000" sz="12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918" name="Google Shape;918;p77"/>
          <p:cNvSpPr txBox="1"/>
          <p:nvPr/>
        </p:nvSpPr>
        <p:spPr>
          <a:xfrm>
            <a:off x="4165266" y="2659281"/>
            <a:ext cx="605700" cy="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0.90</a:t>
            </a:r>
            <a:endParaRPr sz="12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grpSp>
        <p:nvGrpSpPr>
          <p:cNvPr id="919" name="Google Shape;919;p77"/>
          <p:cNvGrpSpPr/>
          <p:nvPr/>
        </p:nvGrpSpPr>
        <p:grpSpPr>
          <a:xfrm>
            <a:off x="5441925" y="2658791"/>
            <a:ext cx="1073375" cy="1580884"/>
            <a:chOff x="6737325" y="2658791"/>
            <a:chExt cx="1073375" cy="1580884"/>
          </a:xfrm>
        </p:grpSpPr>
        <p:pic>
          <p:nvPicPr>
            <p:cNvPr id="920" name="Google Shape;920;p7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737325" y="2708400"/>
              <a:ext cx="1073375" cy="3120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21" name="Google Shape;921;p7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737325" y="3013200"/>
              <a:ext cx="1073375" cy="3120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22" name="Google Shape;922;p7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737325" y="3318000"/>
              <a:ext cx="1073375" cy="3120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23" name="Google Shape;923;p7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737325" y="3622800"/>
              <a:ext cx="1073375" cy="3120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24" name="Google Shape;924;p7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737325" y="3927600"/>
              <a:ext cx="1073375" cy="3120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5" name="Google Shape;925;p77"/>
            <p:cNvSpPr txBox="1"/>
            <p:nvPr/>
          </p:nvSpPr>
          <p:spPr>
            <a:xfrm>
              <a:off x="7126015" y="2658791"/>
              <a:ext cx="346200" cy="12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1</a:t>
              </a:r>
              <a:endParaRPr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  <p:sp>
          <p:nvSpPr>
            <p:cNvPr id="926" name="Google Shape;926;p77"/>
            <p:cNvSpPr txBox="1"/>
            <p:nvPr/>
          </p:nvSpPr>
          <p:spPr>
            <a:xfrm>
              <a:off x="7126015" y="2963591"/>
              <a:ext cx="346200" cy="12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1</a:t>
              </a:r>
              <a:endParaRPr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  <p:sp>
          <p:nvSpPr>
            <p:cNvPr id="927" name="Google Shape;927;p77"/>
            <p:cNvSpPr txBox="1"/>
            <p:nvPr/>
          </p:nvSpPr>
          <p:spPr>
            <a:xfrm>
              <a:off x="7126015" y="3268391"/>
              <a:ext cx="346200" cy="12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1</a:t>
              </a:r>
              <a:endParaRPr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  <p:sp>
          <p:nvSpPr>
            <p:cNvPr id="928" name="Google Shape;928;p77"/>
            <p:cNvSpPr txBox="1"/>
            <p:nvPr/>
          </p:nvSpPr>
          <p:spPr>
            <a:xfrm>
              <a:off x="7126015" y="3573191"/>
              <a:ext cx="346200" cy="12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0</a:t>
              </a:r>
              <a:endParaRPr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  <p:sp>
          <p:nvSpPr>
            <p:cNvPr id="929" name="Google Shape;929;p77"/>
            <p:cNvSpPr txBox="1"/>
            <p:nvPr/>
          </p:nvSpPr>
          <p:spPr>
            <a:xfrm>
              <a:off x="7126015" y="3877991"/>
              <a:ext cx="346200" cy="12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0</a:t>
              </a:r>
              <a:endParaRPr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</p:grpSp>
      <p:grpSp>
        <p:nvGrpSpPr>
          <p:cNvPr id="930" name="Google Shape;930;p77"/>
          <p:cNvGrpSpPr/>
          <p:nvPr/>
        </p:nvGrpSpPr>
        <p:grpSpPr>
          <a:xfrm>
            <a:off x="3914250" y="2659281"/>
            <a:ext cx="1073375" cy="1580394"/>
            <a:chOff x="4981050" y="2659281"/>
            <a:chExt cx="1073375" cy="1580394"/>
          </a:xfrm>
        </p:grpSpPr>
        <p:grpSp>
          <p:nvGrpSpPr>
            <p:cNvPr id="931" name="Google Shape;931;p77"/>
            <p:cNvGrpSpPr/>
            <p:nvPr/>
          </p:nvGrpSpPr>
          <p:grpSpPr>
            <a:xfrm>
              <a:off x="4981050" y="2708400"/>
              <a:ext cx="1073375" cy="1531275"/>
              <a:chOff x="4981050" y="2708400"/>
              <a:chExt cx="1073375" cy="1531275"/>
            </a:xfrm>
          </p:grpSpPr>
          <p:pic>
            <p:nvPicPr>
              <p:cNvPr id="932" name="Google Shape;932;p77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4981050" y="2708400"/>
                <a:ext cx="1073375" cy="3120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33" name="Google Shape;933;p77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4981050" y="3013200"/>
                <a:ext cx="1073375" cy="3120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34" name="Google Shape;934;p77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4981050" y="3318000"/>
                <a:ext cx="1073375" cy="3120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35" name="Google Shape;935;p77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4981050" y="3622800"/>
                <a:ext cx="1073375" cy="3120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36" name="Google Shape;936;p77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4981050" y="3927600"/>
                <a:ext cx="1073375" cy="31207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37" name="Google Shape;937;p77"/>
              <p:cNvSpPr txBox="1"/>
              <p:nvPr/>
            </p:nvSpPr>
            <p:spPr>
              <a:xfrm>
                <a:off x="5232066" y="2964081"/>
                <a:ext cx="605700" cy="9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1200">
                    <a:solidFill>
                      <a:schemeClr val="dk1"/>
                    </a:solidFill>
                    <a:latin typeface="Nanum Gothic"/>
                    <a:ea typeface="Nanum Gothic"/>
                    <a:cs typeface="Nanum Gothic"/>
                    <a:sym typeface="Nanum Gothic"/>
                  </a:rPr>
                  <a:t>0.92</a:t>
                </a:r>
                <a:endParaRPr sz="1200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endParaRPr>
              </a:p>
            </p:txBody>
          </p:sp>
          <p:sp>
            <p:nvSpPr>
              <p:cNvPr id="938" name="Google Shape;938;p77"/>
              <p:cNvSpPr txBox="1"/>
              <p:nvPr/>
            </p:nvSpPr>
            <p:spPr>
              <a:xfrm>
                <a:off x="5232066" y="3268881"/>
                <a:ext cx="605700" cy="9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1200">
                    <a:solidFill>
                      <a:schemeClr val="dk1"/>
                    </a:solidFill>
                    <a:latin typeface="Nanum Gothic"/>
                    <a:ea typeface="Nanum Gothic"/>
                    <a:cs typeface="Nanum Gothic"/>
                    <a:sym typeface="Nanum Gothic"/>
                  </a:rPr>
                  <a:t>0.87</a:t>
                </a:r>
                <a:endParaRPr sz="1200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endParaRPr>
              </a:p>
            </p:txBody>
          </p:sp>
          <p:sp>
            <p:nvSpPr>
              <p:cNvPr id="939" name="Google Shape;939;p77"/>
              <p:cNvSpPr txBox="1"/>
              <p:nvPr/>
            </p:nvSpPr>
            <p:spPr>
              <a:xfrm>
                <a:off x="5232066" y="3573681"/>
                <a:ext cx="605700" cy="9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1200">
                    <a:solidFill>
                      <a:schemeClr val="dk1"/>
                    </a:solidFill>
                    <a:latin typeface="Nanum Gothic"/>
                    <a:ea typeface="Nanum Gothic"/>
                    <a:cs typeface="Nanum Gothic"/>
                    <a:sym typeface="Nanum Gothic"/>
                  </a:rPr>
                  <a:t>0.14</a:t>
                </a:r>
                <a:endParaRPr sz="1200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endParaRPr>
              </a:p>
            </p:txBody>
          </p:sp>
          <p:sp>
            <p:nvSpPr>
              <p:cNvPr id="940" name="Google Shape;940;p77"/>
              <p:cNvSpPr txBox="1"/>
              <p:nvPr/>
            </p:nvSpPr>
            <p:spPr>
              <a:xfrm>
                <a:off x="5232066" y="3878481"/>
                <a:ext cx="605700" cy="9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1200">
                    <a:solidFill>
                      <a:schemeClr val="dk1"/>
                    </a:solidFill>
                    <a:latin typeface="Nanum Gothic"/>
                    <a:ea typeface="Nanum Gothic"/>
                    <a:cs typeface="Nanum Gothic"/>
                    <a:sym typeface="Nanum Gothic"/>
                  </a:rPr>
                  <a:t>0.39</a:t>
                </a:r>
                <a:endParaRPr sz="1200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endParaRPr>
              </a:p>
            </p:txBody>
          </p:sp>
        </p:grpSp>
        <p:sp>
          <p:nvSpPr>
            <p:cNvPr id="941" name="Google Shape;941;p77"/>
            <p:cNvSpPr txBox="1"/>
            <p:nvPr/>
          </p:nvSpPr>
          <p:spPr>
            <a:xfrm>
              <a:off x="5232066" y="2659281"/>
              <a:ext cx="605700" cy="9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0.90</a:t>
              </a:r>
              <a:endParaRPr sz="12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</p:grpSp>
      <p:pic>
        <p:nvPicPr>
          <p:cNvPr id="942" name="Google Shape;942;p7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627888" y="1552234"/>
            <a:ext cx="5969887" cy="6080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43" name="Google Shape;943;p77"/>
          <p:cNvGrpSpPr/>
          <p:nvPr/>
        </p:nvGrpSpPr>
        <p:grpSpPr>
          <a:xfrm>
            <a:off x="6733682" y="2516468"/>
            <a:ext cx="2262741" cy="1782089"/>
            <a:chOff x="2033575" y="1971675"/>
            <a:chExt cx="5076825" cy="3176063"/>
          </a:xfrm>
        </p:grpSpPr>
        <p:pic>
          <p:nvPicPr>
            <p:cNvPr id="944" name="Google Shape;944;p77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2043113" y="1971675"/>
              <a:ext cx="5057775" cy="1200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45" name="Google Shape;945;p77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2033575" y="3115638"/>
              <a:ext cx="5076825" cy="1190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46" name="Google Shape;946;p77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3571888" y="4376213"/>
              <a:ext cx="2000250" cy="7715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47" name="Google Shape;947;p77"/>
          <p:cNvGrpSpPr/>
          <p:nvPr/>
        </p:nvGrpSpPr>
        <p:grpSpPr>
          <a:xfrm>
            <a:off x="2421701" y="2662124"/>
            <a:ext cx="1149847" cy="1590001"/>
            <a:chOff x="3134063" y="2662124"/>
            <a:chExt cx="1149847" cy="1590001"/>
          </a:xfrm>
        </p:grpSpPr>
        <p:grpSp>
          <p:nvGrpSpPr>
            <p:cNvPr id="948" name="Google Shape;948;p77"/>
            <p:cNvGrpSpPr/>
            <p:nvPr/>
          </p:nvGrpSpPr>
          <p:grpSpPr>
            <a:xfrm>
              <a:off x="3134063" y="2662124"/>
              <a:ext cx="1149847" cy="359984"/>
              <a:chOff x="3210263" y="3130141"/>
              <a:chExt cx="1149847" cy="359984"/>
            </a:xfrm>
          </p:grpSpPr>
          <p:pic>
            <p:nvPicPr>
              <p:cNvPr id="949" name="Google Shape;949;p77"/>
              <p:cNvPicPr preferRelativeResize="0"/>
              <p:nvPr/>
            </p:nvPicPr>
            <p:blipFill>
              <a:blip r:embed="rId11">
                <a:alphaModFix/>
              </a:blip>
              <a:stretch>
                <a:fillRect/>
              </a:stretch>
            </p:blipFill>
            <p:spPr>
              <a:xfrm>
                <a:off x="3210263" y="3178050"/>
                <a:ext cx="1073375" cy="31207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50" name="Google Shape;950;p77"/>
              <p:cNvSpPr txBox="1"/>
              <p:nvPr/>
            </p:nvSpPr>
            <p:spPr>
              <a:xfrm>
                <a:off x="3344609" y="3130141"/>
                <a:ext cx="1015500" cy="15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1300">
                    <a:solidFill>
                      <a:schemeClr val="dk1"/>
                    </a:solidFill>
                    <a:latin typeface="Nanum Gothic"/>
                    <a:ea typeface="Nanum Gothic"/>
                    <a:cs typeface="Nanum Gothic"/>
                    <a:sym typeface="Nanum Gothic"/>
                  </a:rPr>
                  <a:t>Model 1</a:t>
                </a:r>
                <a:endParaRPr sz="1300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endParaRPr>
              </a:p>
            </p:txBody>
          </p:sp>
        </p:grpSp>
        <p:grpSp>
          <p:nvGrpSpPr>
            <p:cNvPr id="951" name="Google Shape;951;p77"/>
            <p:cNvGrpSpPr/>
            <p:nvPr/>
          </p:nvGrpSpPr>
          <p:grpSpPr>
            <a:xfrm>
              <a:off x="3134063" y="2972332"/>
              <a:ext cx="1149847" cy="359984"/>
              <a:chOff x="3210263" y="3130141"/>
              <a:chExt cx="1149847" cy="359984"/>
            </a:xfrm>
          </p:grpSpPr>
          <p:pic>
            <p:nvPicPr>
              <p:cNvPr id="952" name="Google Shape;952;p77"/>
              <p:cNvPicPr preferRelativeResize="0"/>
              <p:nvPr/>
            </p:nvPicPr>
            <p:blipFill>
              <a:blip r:embed="rId11">
                <a:alphaModFix/>
              </a:blip>
              <a:stretch>
                <a:fillRect/>
              </a:stretch>
            </p:blipFill>
            <p:spPr>
              <a:xfrm>
                <a:off x="3210263" y="3178050"/>
                <a:ext cx="1073375" cy="31207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53" name="Google Shape;953;p77"/>
              <p:cNvSpPr txBox="1"/>
              <p:nvPr/>
            </p:nvSpPr>
            <p:spPr>
              <a:xfrm>
                <a:off x="3344609" y="3130141"/>
                <a:ext cx="1015500" cy="15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1300">
                    <a:solidFill>
                      <a:schemeClr val="dk1"/>
                    </a:solidFill>
                    <a:latin typeface="Nanum Gothic"/>
                    <a:ea typeface="Nanum Gothic"/>
                    <a:cs typeface="Nanum Gothic"/>
                    <a:sym typeface="Nanum Gothic"/>
                  </a:rPr>
                  <a:t>Model 2</a:t>
                </a:r>
                <a:endParaRPr sz="1300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endParaRPr>
              </a:p>
            </p:txBody>
          </p:sp>
        </p:grpSp>
        <p:grpSp>
          <p:nvGrpSpPr>
            <p:cNvPr id="954" name="Google Shape;954;p77"/>
            <p:cNvGrpSpPr/>
            <p:nvPr/>
          </p:nvGrpSpPr>
          <p:grpSpPr>
            <a:xfrm>
              <a:off x="3134063" y="3282541"/>
              <a:ext cx="1149847" cy="359984"/>
              <a:chOff x="3210263" y="3130141"/>
              <a:chExt cx="1149847" cy="359984"/>
            </a:xfrm>
          </p:grpSpPr>
          <p:pic>
            <p:nvPicPr>
              <p:cNvPr id="955" name="Google Shape;955;p77"/>
              <p:cNvPicPr preferRelativeResize="0"/>
              <p:nvPr/>
            </p:nvPicPr>
            <p:blipFill>
              <a:blip r:embed="rId11">
                <a:alphaModFix/>
              </a:blip>
              <a:stretch>
                <a:fillRect/>
              </a:stretch>
            </p:blipFill>
            <p:spPr>
              <a:xfrm>
                <a:off x="3210263" y="3178050"/>
                <a:ext cx="1073375" cy="31207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56" name="Google Shape;956;p77"/>
              <p:cNvSpPr txBox="1"/>
              <p:nvPr/>
            </p:nvSpPr>
            <p:spPr>
              <a:xfrm>
                <a:off x="3344609" y="3130141"/>
                <a:ext cx="1015500" cy="15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1300">
                    <a:solidFill>
                      <a:schemeClr val="dk1"/>
                    </a:solidFill>
                    <a:latin typeface="Nanum Gothic"/>
                    <a:ea typeface="Nanum Gothic"/>
                    <a:cs typeface="Nanum Gothic"/>
                    <a:sym typeface="Nanum Gothic"/>
                  </a:rPr>
                  <a:t>Model 3</a:t>
                </a:r>
                <a:endParaRPr sz="1300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endParaRPr>
              </a:p>
            </p:txBody>
          </p:sp>
        </p:grpSp>
        <p:grpSp>
          <p:nvGrpSpPr>
            <p:cNvPr id="957" name="Google Shape;957;p77"/>
            <p:cNvGrpSpPr/>
            <p:nvPr/>
          </p:nvGrpSpPr>
          <p:grpSpPr>
            <a:xfrm>
              <a:off x="3134063" y="3587341"/>
              <a:ext cx="1149847" cy="359984"/>
              <a:chOff x="3210263" y="3130141"/>
              <a:chExt cx="1149847" cy="359984"/>
            </a:xfrm>
          </p:grpSpPr>
          <p:pic>
            <p:nvPicPr>
              <p:cNvPr id="958" name="Google Shape;958;p77"/>
              <p:cNvPicPr preferRelativeResize="0"/>
              <p:nvPr/>
            </p:nvPicPr>
            <p:blipFill>
              <a:blip r:embed="rId11">
                <a:alphaModFix/>
              </a:blip>
              <a:stretch>
                <a:fillRect/>
              </a:stretch>
            </p:blipFill>
            <p:spPr>
              <a:xfrm>
                <a:off x="3210263" y="3178050"/>
                <a:ext cx="1073375" cy="31207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59" name="Google Shape;959;p77"/>
              <p:cNvSpPr txBox="1"/>
              <p:nvPr/>
            </p:nvSpPr>
            <p:spPr>
              <a:xfrm>
                <a:off x="3344609" y="3130141"/>
                <a:ext cx="1015500" cy="15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1300">
                    <a:solidFill>
                      <a:schemeClr val="dk1"/>
                    </a:solidFill>
                    <a:latin typeface="Nanum Gothic"/>
                    <a:ea typeface="Nanum Gothic"/>
                    <a:cs typeface="Nanum Gothic"/>
                    <a:sym typeface="Nanum Gothic"/>
                  </a:rPr>
                  <a:t>Model 4</a:t>
                </a:r>
                <a:endParaRPr sz="1300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endParaRPr>
              </a:p>
            </p:txBody>
          </p:sp>
        </p:grpSp>
        <p:grpSp>
          <p:nvGrpSpPr>
            <p:cNvPr id="960" name="Google Shape;960;p77"/>
            <p:cNvGrpSpPr/>
            <p:nvPr/>
          </p:nvGrpSpPr>
          <p:grpSpPr>
            <a:xfrm>
              <a:off x="3134063" y="3892141"/>
              <a:ext cx="1149847" cy="359984"/>
              <a:chOff x="3210263" y="3130141"/>
              <a:chExt cx="1149847" cy="359984"/>
            </a:xfrm>
          </p:grpSpPr>
          <p:pic>
            <p:nvPicPr>
              <p:cNvPr id="961" name="Google Shape;961;p77"/>
              <p:cNvPicPr preferRelativeResize="0"/>
              <p:nvPr/>
            </p:nvPicPr>
            <p:blipFill>
              <a:blip r:embed="rId11">
                <a:alphaModFix/>
              </a:blip>
              <a:stretch>
                <a:fillRect/>
              </a:stretch>
            </p:blipFill>
            <p:spPr>
              <a:xfrm>
                <a:off x="3210263" y="3178050"/>
                <a:ext cx="1073375" cy="31207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62" name="Google Shape;962;p77"/>
              <p:cNvSpPr txBox="1"/>
              <p:nvPr/>
            </p:nvSpPr>
            <p:spPr>
              <a:xfrm>
                <a:off x="3344609" y="3130141"/>
                <a:ext cx="1015500" cy="15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1300">
                    <a:solidFill>
                      <a:schemeClr val="dk1"/>
                    </a:solidFill>
                    <a:latin typeface="Nanum Gothic"/>
                    <a:ea typeface="Nanum Gothic"/>
                    <a:cs typeface="Nanum Gothic"/>
                    <a:sym typeface="Nanum Gothic"/>
                  </a:rPr>
                  <a:t>Model 5</a:t>
                </a:r>
                <a:endParaRPr sz="1300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endParaRPr>
              </a:p>
            </p:txBody>
          </p:sp>
        </p:grpSp>
      </p:grp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8" name="Google Shape;968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841585" y="2287875"/>
            <a:ext cx="1215025" cy="21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969" name="Google Shape;969;p78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970" name="Google Shape;970;p78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971" name="Google Shape;971;p78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972" name="Google Shape;972;p78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✓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Result Aggregating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anum Gothic"/>
              <a:buChar char="○"/>
            </a:pPr>
            <a:r>
              <a:rPr lang="ko" sz="1300">
                <a:latin typeface="Nanum Gothic"/>
                <a:ea typeface="Nanum Gothic"/>
                <a:cs typeface="Nanum Gothic"/>
                <a:sym typeface="Nanum Gothic"/>
              </a:rPr>
              <a:t>Weighted voting ( weight =predicted probability for each class)</a:t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973" name="Google Shape;973;p78"/>
          <p:cNvSpPr txBox="1"/>
          <p:nvPr/>
        </p:nvSpPr>
        <p:spPr>
          <a:xfrm>
            <a:off x="1030794" y="2356867"/>
            <a:ext cx="12549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Training Acc</a:t>
            </a:r>
            <a:endParaRPr sz="11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974" name="Google Shape;974;p78"/>
          <p:cNvSpPr txBox="1"/>
          <p:nvPr/>
        </p:nvSpPr>
        <p:spPr>
          <a:xfrm>
            <a:off x="2541210" y="2204469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Ensemble population</a:t>
            </a:r>
            <a:endParaRPr sz="11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975" name="Google Shape;975;p78"/>
          <p:cNvSpPr txBox="1"/>
          <p:nvPr/>
        </p:nvSpPr>
        <p:spPr>
          <a:xfrm>
            <a:off x="3914860" y="2204469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P(y=1) for a test instance</a:t>
            </a:r>
            <a:endParaRPr sz="11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976" name="Google Shape;976;p78"/>
          <p:cNvSpPr txBox="1"/>
          <p:nvPr/>
        </p:nvSpPr>
        <p:spPr>
          <a:xfrm>
            <a:off x="5594960" y="2204469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Predicted class label</a:t>
            </a:r>
            <a:endParaRPr sz="11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pic>
        <p:nvPicPr>
          <p:cNvPr id="977" name="Google Shape;977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2726" y="2708388"/>
            <a:ext cx="1073372" cy="312094"/>
          </a:xfrm>
          <a:prstGeom prst="rect">
            <a:avLst/>
          </a:prstGeom>
          <a:noFill/>
          <a:ln>
            <a:noFill/>
          </a:ln>
        </p:spPr>
      </p:pic>
      <p:sp>
        <p:nvSpPr>
          <p:cNvPr id="978" name="Google Shape;978;p78"/>
          <p:cNvSpPr txBox="1"/>
          <p:nvPr/>
        </p:nvSpPr>
        <p:spPr>
          <a:xfrm>
            <a:off x="1229434" y="2649414"/>
            <a:ext cx="578700" cy="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0.80</a:t>
            </a:r>
            <a:endParaRPr baseline="30000" sz="12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pic>
        <p:nvPicPr>
          <p:cNvPr id="979" name="Google Shape;979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2726" y="3020463"/>
            <a:ext cx="1073372" cy="312094"/>
          </a:xfrm>
          <a:prstGeom prst="rect">
            <a:avLst/>
          </a:prstGeom>
          <a:noFill/>
          <a:ln>
            <a:noFill/>
          </a:ln>
        </p:spPr>
      </p:pic>
      <p:pic>
        <p:nvPicPr>
          <p:cNvPr id="980" name="Google Shape;980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2726" y="3306338"/>
            <a:ext cx="1073372" cy="312094"/>
          </a:xfrm>
          <a:prstGeom prst="rect">
            <a:avLst/>
          </a:prstGeom>
          <a:noFill/>
          <a:ln>
            <a:noFill/>
          </a:ln>
        </p:spPr>
      </p:pic>
      <p:pic>
        <p:nvPicPr>
          <p:cNvPr id="981" name="Google Shape;981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2726" y="3618413"/>
            <a:ext cx="1073372" cy="312094"/>
          </a:xfrm>
          <a:prstGeom prst="rect">
            <a:avLst/>
          </a:prstGeom>
          <a:noFill/>
          <a:ln>
            <a:noFill/>
          </a:ln>
        </p:spPr>
      </p:pic>
      <p:pic>
        <p:nvPicPr>
          <p:cNvPr id="982" name="Google Shape;982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2726" y="3930488"/>
            <a:ext cx="1073372" cy="312094"/>
          </a:xfrm>
          <a:prstGeom prst="rect">
            <a:avLst/>
          </a:prstGeom>
          <a:noFill/>
          <a:ln>
            <a:noFill/>
          </a:ln>
        </p:spPr>
      </p:pic>
      <p:sp>
        <p:nvSpPr>
          <p:cNvPr id="983" name="Google Shape;983;p78"/>
          <p:cNvSpPr txBox="1"/>
          <p:nvPr/>
        </p:nvSpPr>
        <p:spPr>
          <a:xfrm>
            <a:off x="1229434" y="2954214"/>
            <a:ext cx="578700" cy="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0.75</a:t>
            </a:r>
            <a:endParaRPr baseline="30000" sz="12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984" name="Google Shape;984;p78"/>
          <p:cNvSpPr txBox="1"/>
          <p:nvPr/>
        </p:nvSpPr>
        <p:spPr>
          <a:xfrm>
            <a:off x="1229434" y="3259014"/>
            <a:ext cx="578700" cy="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0.88</a:t>
            </a:r>
            <a:endParaRPr baseline="30000" sz="12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985" name="Google Shape;985;p78"/>
          <p:cNvSpPr txBox="1"/>
          <p:nvPr/>
        </p:nvSpPr>
        <p:spPr>
          <a:xfrm>
            <a:off x="1229434" y="3563814"/>
            <a:ext cx="578700" cy="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0.95</a:t>
            </a:r>
            <a:endParaRPr baseline="30000" sz="12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986" name="Google Shape;986;p78"/>
          <p:cNvSpPr txBox="1"/>
          <p:nvPr/>
        </p:nvSpPr>
        <p:spPr>
          <a:xfrm>
            <a:off x="1229434" y="3868614"/>
            <a:ext cx="578700" cy="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0.85</a:t>
            </a:r>
            <a:endParaRPr baseline="30000" sz="12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987" name="Google Shape;987;p78"/>
          <p:cNvSpPr txBox="1"/>
          <p:nvPr/>
        </p:nvSpPr>
        <p:spPr>
          <a:xfrm>
            <a:off x="4165266" y="2659281"/>
            <a:ext cx="605700" cy="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0.90</a:t>
            </a:r>
            <a:endParaRPr sz="12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grpSp>
        <p:nvGrpSpPr>
          <p:cNvPr id="988" name="Google Shape;988;p78"/>
          <p:cNvGrpSpPr/>
          <p:nvPr/>
        </p:nvGrpSpPr>
        <p:grpSpPr>
          <a:xfrm>
            <a:off x="5441925" y="2658791"/>
            <a:ext cx="1073375" cy="1580884"/>
            <a:chOff x="6737325" y="2658791"/>
            <a:chExt cx="1073375" cy="1580884"/>
          </a:xfrm>
        </p:grpSpPr>
        <p:pic>
          <p:nvPicPr>
            <p:cNvPr id="989" name="Google Shape;989;p7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737325" y="2708400"/>
              <a:ext cx="1073375" cy="3120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90" name="Google Shape;990;p7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737325" y="3013200"/>
              <a:ext cx="1073375" cy="3120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91" name="Google Shape;991;p7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737325" y="3318000"/>
              <a:ext cx="1073375" cy="3120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92" name="Google Shape;992;p7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737325" y="3622800"/>
              <a:ext cx="1073375" cy="3120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93" name="Google Shape;993;p7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737325" y="3927600"/>
              <a:ext cx="1073375" cy="3120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4" name="Google Shape;994;p78"/>
            <p:cNvSpPr txBox="1"/>
            <p:nvPr/>
          </p:nvSpPr>
          <p:spPr>
            <a:xfrm>
              <a:off x="7126015" y="2658791"/>
              <a:ext cx="346200" cy="12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1</a:t>
              </a:r>
              <a:endParaRPr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  <p:sp>
          <p:nvSpPr>
            <p:cNvPr id="995" name="Google Shape;995;p78"/>
            <p:cNvSpPr txBox="1"/>
            <p:nvPr/>
          </p:nvSpPr>
          <p:spPr>
            <a:xfrm>
              <a:off x="7126015" y="2963591"/>
              <a:ext cx="346200" cy="12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1</a:t>
              </a:r>
              <a:endParaRPr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  <p:sp>
          <p:nvSpPr>
            <p:cNvPr id="996" name="Google Shape;996;p78"/>
            <p:cNvSpPr txBox="1"/>
            <p:nvPr/>
          </p:nvSpPr>
          <p:spPr>
            <a:xfrm>
              <a:off x="7126015" y="3268391"/>
              <a:ext cx="346200" cy="12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1</a:t>
              </a:r>
              <a:endParaRPr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  <p:sp>
          <p:nvSpPr>
            <p:cNvPr id="997" name="Google Shape;997;p78"/>
            <p:cNvSpPr txBox="1"/>
            <p:nvPr/>
          </p:nvSpPr>
          <p:spPr>
            <a:xfrm>
              <a:off x="7126015" y="3573191"/>
              <a:ext cx="346200" cy="12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0</a:t>
              </a:r>
              <a:endParaRPr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  <p:sp>
          <p:nvSpPr>
            <p:cNvPr id="998" name="Google Shape;998;p78"/>
            <p:cNvSpPr txBox="1"/>
            <p:nvPr/>
          </p:nvSpPr>
          <p:spPr>
            <a:xfrm>
              <a:off x="7126015" y="3877991"/>
              <a:ext cx="346200" cy="12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0</a:t>
              </a:r>
              <a:endParaRPr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</p:grpSp>
      <p:grpSp>
        <p:nvGrpSpPr>
          <p:cNvPr id="999" name="Google Shape;999;p78"/>
          <p:cNvGrpSpPr/>
          <p:nvPr/>
        </p:nvGrpSpPr>
        <p:grpSpPr>
          <a:xfrm>
            <a:off x="3914250" y="2659281"/>
            <a:ext cx="1073375" cy="1580394"/>
            <a:chOff x="4981050" y="2659281"/>
            <a:chExt cx="1073375" cy="1580394"/>
          </a:xfrm>
        </p:grpSpPr>
        <p:grpSp>
          <p:nvGrpSpPr>
            <p:cNvPr id="1000" name="Google Shape;1000;p78"/>
            <p:cNvGrpSpPr/>
            <p:nvPr/>
          </p:nvGrpSpPr>
          <p:grpSpPr>
            <a:xfrm>
              <a:off x="4981050" y="2708400"/>
              <a:ext cx="1073375" cy="1531275"/>
              <a:chOff x="4981050" y="2708400"/>
              <a:chExt cx="1073375" cy="1531275"/>
            </a:xfrm>
          </p:grpSpPr>
          <p:pic>
            <p:nvPicPr>
              <p:cNvPr id="1001" name="Google Shape;1001;p78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4981050" y="2708400"/>
                <a:ext cx="1073375" cy="3120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02" name="Google Shape;1002;p78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4981050" y="3013200"/>
                <a:ext cx="1073375" cy="3120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03" name="Google Shape;1003;p78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4981050" y="3318000"/>
                <a:ext cx="1073375" cy="3120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04" name="Google Shape;1004;p78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4981050" y="3622800"/>
                <a:ext cx="1073375" cy="3120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05" name="Google Shape;1005;p78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4981050" y="3927600"/>
                <a:ext cx="1073375" cy="31207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06" name="Google Shape;1006;p78"/>
              <p:cNvSpPr txBox="1"/>
              <p:nvPr/>
            </p:nvSpPr>
            <p:spPr>
              <a:xfrm>
                <a:off x="5232066" y="2964081"/>
                <a:ext cx="605700" cy="9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1200">
                    <a:solidFill>
                      <a:schemeClr val="dk1"/>
                    </a:solidFill>
                    <a:latin typeface="Nanum Gothic"/>
                    <a:ea typeface="Nanum Gothic"/>
                    <a:cs typeface="Nanum Gothic"/>
                    <a:sym typeface="Nanum Gothic"/>
                  </a:rPr>
                  <a:t>0.92</a:t>
                </a:r>
                <a:endParaRPr sz="1200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endParaRPr>
              </a:p>
            </p:txBody>
          </p:sp>
          <p:sp>
            <p:nvSpPr>
              <p:cNvPr id="1007" name="Google Shape;1007;p78"/>
              <p:cNvSpPr txBox="1"/>
              <p:nvPr/>
            </p:nvSpPr>
            <p:spPr>
              <a:xfrm>
                <a:off x="5232066" y="3268881"/>
                <a:ext cx="605700" cy="9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1200">
                    <a:solidFill>
                      <a:schemeClr val="dk1"/>
                    </a:solidFill>
                    <a:latin typeface="Nanum Gothic"/>
                    <a:ea typeface="Nanum Gothic"/>
                    <a:cs typeface="Nanum Gothic"/>
                    <a:sym typeface="Nanum Gothic"/>
                  </a:rPr>
                  <a:t>0.87</a:t>
                </a:r>
                <a:endParaRPr sz="1200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endParaRPr>
              </a:p>
            </p:txBody>
          </p:sp>
          <p:sp>
            <p:nvSpPr>
              <p:cNvPr id="1008" name="Google Shape;1008;p78"/>
              <p:cNvSpPr txBox="1"/>
              <p:nvPr/>
            </p:nvSpPr>
            <p:spPr>
              <a:xfrm>
                <a:off x="5232066" y="3573681"/>
                <a:ext cx="605700" cy="9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1200">
                    <a:solidFill>
                      <a:schemeClr val="dk1"/>
                    </a:solidFill>
                    <a:latin typeface="Nanum Gothic"/>
                    <a:ea typeface="Nanum Gothic"/>
                    <a:cs typeface="Nanum Gothic"/>
                    <a:sym typeface="Nanum Gothic"/>
                  </a:rPr>
                  <a:t>0.14</a:t>
                </a:r>
                <a:endParaRPr sz="1200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endParaRPr>
              </a:p>
            </p:txBody>
          </p:sp>
          <p:sp>
            <p:nvSpPr>
              <p:cNvPr id="1009" name="Google Shape;1009;p78"/>
              <p:cNvSpPr txBox="1"/>
              <p:nvPr/>
            </p:nvSpPr>
            <p:spPr>
              <a:xfrm>
                <a:off x="5232066" y="3878481"/>
                <a:ext cx="605700" cy="9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1200">
                    <a:solidFill>
                      <a:schemeClr val="dk1"/>
                    </a:solidFill>
                    <a:latin typeface="Nanum Gothic"/>
                    <a:ea typeface="Nanum Gothic"/>
                    <a:cs typeface="Nanum Gothic"/>
                    <a:sym typeface="Nanum Gothic"/>
                  </a:rPr>
                  <a:t>0.39</a:t>
                </a:r>
                <a:endParaRPr sz="1200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endParaRPr>
              </a:p>
            </p:txBody>
          </p:sp>
        </p:grpSp>
        <p:sp>
          <p:nvSpPr>
            <p:cNvPr id="1010" name="Google Shape;1010;p78"/>
            <p:cNvSpPr txBox="1"/>
            <p:nvPr/>
          </p:nvSpPr>
          <p:spPr>
            <a:xfrm>
              <a:off x="5232066" y="2659281"/>
              <a:ext cx="605700" cy="9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0.90</a:t>
              </a:r>
              <a:endParaRPr sz="12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</p:grpSp>
      <p:pic>
        <p:nvPicPr>
          <p:cNvPr id="1011" name="Google Shape;1011;p7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635925" y="1514536"/>
            <a:ext cx="4991626" cy="66073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12" name="Google Shape;1012;p78"/>
          <p:cNvGrpSpPr/>
          <p:nvPr/>
        </p:nvGrpSpPr>
        <p:grpSpPr>
          <a:xfrm>
            <a:off x="6627561" y="2340211"/>
            <a:ext cx="2417243" cy="1970678"/>
            <a:chOff x="2463100" y="1225775"/>
            <a:chExt cx="4010025" cy="2629675"/>
          </a:xfrm>
        </p:grpSpPr>
        <p:pic>
          <p:nvPicPr>
            <p:cNvPr id="1013" name="Google Shape;1013;p78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2463100" y="1225775"/>
              <a:ext cx="4010025" cy="1238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4" name="Google Shape;1014;p78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2733863" y="2280663"/>
              <a:ext cx="3705225" cy="1171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5" name="Google Shape;1015;p78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3695888" y="3369675"/>
              <a:ext cx="1781175" cy="485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16" name="Google Shape;1016;p78"/>
          <p:cNvGrpSpPr/>
          <p:nvPr/>
        </p:nvGrpSpPr>
        <p:grpSpPr>
          <a:xfrm>
            <a:off x="2421701" y="2662124"/>
            <a:ext cx="1149847" cy="1590001"/>
            <a:chOff x="3134063" y="2662124"/>
            <a:chExt cx="1149847" cy="1590001"/>
          </a:xfrm>
        </p:grpSpPr>
        <p:grpSp>
          <p:nvGrpSpPr>
            <p:cNvPr id="1017" name="Google Shape;1017;p78"/>
            <p:cNvGrpSpPr/>
            <p:nvPr/>
          </p:nvGrpSpPr>
          <p:grpSpPr>
            <a:xfrm>
              <a:off x="3134063" y="2662124"/>
              <a:ext cx="1149847" cy="359984"/>
              <a:chOff x="3210263" y="3130141"/>
              <a:chExt cx="1149847" cy="359984"/>
            </a:xfrm>
          </p:grpSpPr>
          <p:pic>
            <p:nvPicPr>
              <p:cNvPr id="1018" name="Google Shape;1018;p78"/>
              <p:cNvPicPr preferRelativeResize="0"/>
              <p:nvPr/>
            </p:nvPicPr>
            <p:blipFill>
              <a:blip r:embed="rId11">
                <a:alphaModFix/>
              </a:blip>
              <a:stretch>
                <a:fillRect/>
              </a:stretch>
            </p:blipFill>
            <p:spPr>
              <a:xfrm>
                <a:off x="3210263" y="3178050"/>
                <a:ext cx="1073375" cy="31207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19" name="Google Shape;1019;p78"/>
              <p:cNvSpPr txBox="1"/>
              <p:nvPr/>
            </p:nvSpPr>
            <p:spPr>
              <a:xfrm>
                <a:off x="3344609" y="3130141"/>
                <a:ext cx="1015500" cy="15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1300">
                    <a:solidFill>
                      <a:schemeClr val="dk1"/>
                    </a:solidFill>
                    <a:latin typeface="Nanum Gothic"/>
                    <a:ea typeface="Nanum Gothic"/>
                    <a:cs typeface="Nanum Gothic"/>
                    <a:sym typeface="Nanum Gothic"/>
                  </a:rPr>
                  <a:t>Model 1</a:t>
                </a:r>
                <a:endParaRPr sz="1300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endParaRPr>
              </a:p>
            </p:txBody>
          </p:sp>
        </p:grpSp>
        <p:grpSp>
          <p:nvGrpSpPr>
            <p:cNvPr id="1020" name="Google Shape;1020;p78"/>
            <p:cNvGrpSpPr/>
            <p:nvPr/>
          </p:nvGrpSpPr>
          <p:grpSpPr>
            <a:xfrm>
              <a:off x="3134063" y="2972332"/>
              <a:ext cx="1149847" cy="359984"/>
              <a:chOff x="3210263" y="3130141"/>
              <a:chExt cx="1149847" cy="359984"/>
            </a:xfrm>
          </p:grpSpPr>
          <p:pic>
            <p:nvPicPr>
              <p:cNvPr id="1021" name="Google Shape;1021;p78"/>
              <p:cNvPicPr preferRelativeResize="0"/>
              <p:nvPr/>
            </p:nvPicPr>
            <p:blipFill>
              <a:blip r:embed="rId11">
                <a:alphaModFix/>
              </a:blip>
              <a:stretch>
                <a:fillRect/>
              </a:stretch>
            </p:blipFill>
            <p:spPr>
              <a:xfrm>
                <a:off x="3210263" y="3178050"/>
                <a:ext cx="1073375" cy="31207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22" name="Google Shape;1022;p78"/>
              <p:cNvSpPr txBox="1"/>
              <p:nvPr/>
            </p:nvSpPr>
            <p:spPr>
              <a:xfrm>
                <a:off x="3344609" y="3130141"/>
                <a:ext cx="1015500" cy="15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1300">
                    <a:solidFill>
                      <a:schemeClr val="dk1"/>
                    </a:solidFill>
                    <a:latin typeface="Nanum Gothic"/>
                    <a:ea typeface="Nanum Gothic"/>
                    <a:cs typeface="Nanum Gothic"/>
                    <a:sym typeface="Nanum Gothic"/>
                  </a:rPr>
                  <a:t>Model 2</a:t>
                </a:r>
                <a:endParaRPr sz="1300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endParaRPr>
              </a:p>
            </p:txBody>
          </p:sp>
        </p:grpSp>
        <p:grpSp>
          <p:nvGrpSpPr>
            <p:cNvPr id="1023" name="Google Shape;1023;p78"/>
            <p:cNvGrpSpPr/>
            <p:nvPr/>
          </p:nvGrpSpPr>
          <p:grpSpPr>
            <a:xfrm>
              <a:off x="3134063" y="3282541"/>
              <a:ext cx="1149847" cy="359984"/>
              <a:chOff x="3210263" y="3130141"/>
              <a:chExt cx="1149847" cy="359984"/>
            </a:xfrm>
          </p:grpSpPr>
          <p:pic>
            <p:nvPicPr>
              <p:cNvPr id="1024" name="Google Shape;1024;p78"/>
              <p:cNvPicPr preferRelativeResize="0"/>
              <p:nvPr/>
            </p:nvPicPr>
            <p:blipFill>
              <a:blip r:embed="rId11">
                <a:alphaModFix/>
              </a:blip>
              <a:stretch>
                <a:fillRect/>
              </a:stretch>
            </p:blipFill>
            <p:spPr>
              <a:xfrm>
                <a:off x="3210263" y="3178050"/>
                <a:ext cx="1073375" cy="31207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25" name="Google Shape;1025;p78"/>
              <p:cNvSpPr txBox="1"/>
              <p:nvPr/>
            </p:nvSpPr>
            <p:spPr>
              <a:xfrm>
                <a:off x="3344609" y="3130141"/>
                <a:ext cx="1015500" cy="15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1300">
                    <a:solidFill>
                      <a:schemeClr val="dk1"/>
                    </a:solidFill>
                    <a:latin typeface="Nanum Gothic"/>
                    <a:ea typeface="Nanum Gothic"/>
                    <a:cs typeface="Nanum Gothic"/>
                    <a:sym typeface="Nanum Gothic"/>
                  </a:rPr>
                  <a:t>Model 3</a:t>
                </a:r>
                <a:endParaRPr sz="1300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endParaRPr>
              </a:p>
            </p:txBody>
          </p:sp>
        </p:grpSp>
        <p:grpSp>
          <p:nvGrpSpPr>
            <p:cNvPr id="1026" name="Google Shape;1026;p78"/>
            <p:cNvGrpSpPr/>
            <p:nvPr/>
          </p:nvGrpSpPr>
          <p:grpSpPr>
            <a:xfrm>
              <a:off x="3134063" y="3587341"/>
              <a:ext cx="1149847" cy="359984"/>
              <a:chOff x="3210263" y="3130141"/>
              <a:chExt cx="1149847" cy="359984"/>
            </a:xfrm>
          </p:grpSpPr>
          <p:pic>
            <p:nvPicPr>
              <p:cNvPr id="1027" name="Google Shape;1027;p78"/>
              <p:cNvPicPr preferRelativeResize="0"/>
              <p:nvPr/>
            </p:nvPicPr>
            <p:blipFill>
              <a:blip r:embed="rId11">
                <a:alphaModFix/>
              </a:blip>
              <a:stretch>
                <a:fillRect/>
              </a:stretch>
            </p:blipFill>
            <p:spPr>
              <a:xfrm>
                <a:off x="3210263" y="3178050"/>
                <a:ext cx="1073375" cy="31207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28" name="Google Shape;1028;p78"/>
              <p:cNvSpPr txBox="1"/>
              <p:nvPr/>
            </p:nvSpPr>
            <p:spPr>
              <a:xfrm>
                <a:off x="3344609" y="3130141"/>
                <a:ext cx="1015500" cy="15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1300">
                    <a:solidFill>
                      <a:schemeClr val="dk1"/>
                    </a:solidFill>
                    <a:latin typeface="Nanum Gothic"/>
                    <a:ea typeface="Nanum Gothic"/>
                    <a:cs typeface="Nanum Gothic"/>
                    <a:sym typeface="Nanum Gothic"/>
                  </a:rPr>
                  <a:t>Model 4</a:t>
                </a:r>
                <a:endParaRPr sz="1300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endParaRPr>
              </a:p>
            </p:txBody>
          </p:sp>
        </p:grpSp>
        <p:grpSp>
          <p:nvGrpSpPr>
            <p:cNvPr id="1029" name="Google Shape;1029;p78"/>
            <p:cNvGrpSpPr/>
            <p:nvPr/>
          </p:nvGrpSpPr>
          <p:grpSpPr>
            <a:xfrm>
              <a:off x="3134063" y="3892141"/>
              <a:ext cx="1149847" cy="359984"/>
              <a:chOff x="3210263" y="3130141"/>
              <a:chExt cx="1149847" cy="359984"/>
            </a:xfrm>
          </p:grpSpPr>
          <p:pic>
            <p:nvPicPr>
              <p:cNvPr id="1030" name="Google Shape;1030;p78"/>
              <p:cNvPicPr preferRelativeResize="0"/>
              <p:nvPr/>
            </p:nvPicPr>
            <p:blipFill>
              <a:blip r:embed="rId11">
                <a:alphaModFix/>
              </a:blip>
              <a:stretch>
                <a:fillRect/>
              </a:stretch>
            </p:blipFill>
            <p:spPr>
              <a:xfrm>
                <a:off x="3210263" y="3178050"/>
                <a:ext cx="1073375" cy="31207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31" name="Google Shape;1031;p78"/>
              <p:cNvSpPr txBox="1"/>
              <p:nvPr/>
            </p:nvSpPr>
            <p:spPr>
              <a:xfrm>
                <a:off x="3344609" y="3130141"/>
                <a:ext cx="1015500" cy="15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1300">
                    <a:solidFill>
                      <a:schemeClr val="dk1"/>
                    </a:solidFill>
                    <a:latin typeface="Nanum Gothic"/>
                    <a:ea typeface="Nanum Gothic"/>
                    <a:cs typeface="Nanum Gothic"/>
                    <a:sym typeface="Nanum Gothic"/>
                  </a:rPr>
                  <a:t>Model 5</a:t>
                </a:r>
                <a:endParaRPr sz="1300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endParaRPr>
              </a:p>
            </p:txBody>
          </p:sp>
        </p:grpSp>
      </p:grp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79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1038" name="Google Shape;1038;p79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1039" name="Google Shape;1039;p79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1040" name="Google Shape;1040;p79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✓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랜덤 포레스트 (Random Forest)의 핵심 아이디어 (</a:t>
            </a:r>
            <a:r>
              <a:rPr b="1" lang="ko">
                <a:latin typeface="Nanum Gothic"/>
                <a:ea typeface="Nanum Gothic"/>
                <a:cs typeface="Nanum Gothic"/>
                <a:sym typeface="Nanum Gothic"/>
              </a:rPr>
              <a:t>Diversity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, </a:t>
            </a:r>
            <a:r>
              <a:rPr b="1" lang="ko">
                <a:latin typeface="Nanum Gothic"/>
                <a:ea typeface="Nanum Gothic"/>
                <a:cs typeface="Nanum Gothic"/>
                <a:sym typeface="Nanum Gothic"/>
              </a:rPr>
              <a:t>Random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)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anum Gothic"/>
              <a:buAutoNum type="arabicPeriod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여러 개의 Training data를 생성하여 각 데이터마다 Decision Tree 구축 -&gt; </a:t>
            </a:r>
            <a:r>
              <a:rPr b="1" lang="ko">
                <a:latin typeface="Nanum Gothic"/>
                <a:ea typeface="Nanum Gothic"/>
                <a:cs typeface="Nanum Gothic"/>
                <a:sym typeface="Nanum Gothic"/>
              </a:rPr>
              <a:t>Bagging</a:t>
            </a:r>
            <a:endParaRPr b="1"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anum Gothic"/>
              <a:buAutoNum type="arabicPeriod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Decision Tree 구축 시 변수 무작위로 선택 -&gt; </a:t>
            </a:r>
            <a:r>
              <a:rPr b="1" lang="ko">
                <a:latin typeface="Nanum Gothic"/>
                <a:ea typeface="Nanum Gothic"/>
                <a:cs typeface="Nanum Gothic"/>
                <a:sym typeface="Nanum Gothic"/>
              </a:rPr>
              <a:t>Random subspace</a:t>
            </a:r>
            <a:endParaRPr b="1"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</p:txBody>
      </p:sp>
      <p:pic>
        <p:nvPicPr>
          <p:cNvPr id="1041" name="Google Shape;1041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8400" y="1980298"/>
            <a:ext cx="3748850" cy="276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80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1048" name="Google Shape;1048;p80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1049" name="Google Shape;1049;p80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1050" name="Google Shape;1050;p80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✓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Random subspace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anum Gothic"/>
              <a:buAutoNum type="arabicPeriod"/>
            </a:pPr>
            <a:r>
              <a:rPr lang="ko" sz="1300">
                <a:latin typeface="Nanum Gothic"/>
                <a:ea typeface="Nanum Gothic"/>
                <a:cs typeface="Nanum Gothic"/>
                <a:sym typeface="Nanum Gothic"/>
              </a:rPr>
              <a:t>기존 변수들 중에서 모델에 쓰일 </a:t>
            </a:r>
            <a:r>
              <a:rPr b="1" lang="ko" sz="1300">
                <a:latin typeface="Nanum Gothic"/>
                <a:ea typeface="Nanum Gothic"/>
                <a:cs typeface="Nanum Gothic"/>
                <a:sym typeface="Nanum Gothic"/>
              </a:rPr>
              <a:t>입력 변수를 무작위로 선택</a:t>
            </a:r>
            <a:endParaRPr b="1"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1051" name="Google Shape;1051;p80"/>
          <p:cNvSpPr txBox="1"/>
          <p:nvPr/>
        </p:nvSpPr>
        <p:spPr>
          <a:xfrm>
            <a:off x="1276875" y="1532750"/>
            <a:ext cx="2552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838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Bootstrap i (X in R</a:t>
            </a:r>
            <a:r>
              <a:rPr baseline="30000" lang="ko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25</a:t>
            </a:r>
            <a:r>
              <a:rPr lang="ko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)</a:t>
            </a:r>
            <a:endParaRPr sz="1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052" name="Google Shape;1052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7650" y="1851975"/>
            <a:ext cx="2304825" cy="197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3" name="Google Shape;1053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31162" y="3849546"/>
            <a:ext cx="1657800" cy="113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4" name="Google Shape;1054;p8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87175" y="1691625"/>
            <a:ext cx="3524989" cy="2867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81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1061" name="Google Shape;1061;p81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1062" name="Google Shape;1062;p81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1063" name="Google Shape;1063;p81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✓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Random subspace 사용 이유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anum Gothic"/>
              <a:buAutoNum type="arabicPeriod"/>
            </a:pPr>
            <a:r>
              <a:rPr lang="ko" sz="1300">
                <a:latin typeface="Nanum Gothic"/>
                <a:ea typeface="Nanum Gothic"/>
                <a:cs typeface="Nanum Gothic"/>
                <a:sym typeface="Nanum Gothic"/>
              </a:rPr>
              <a:t>다양성 증가 : 각 트리가 다른 변수의 부분 집합을 사용하여 학습하므로 다양성 증가</a:t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anum Gothic"/>
              <a:buAutoNum type="arabicPeriod"/>
            </a:pPr>
            <a:r>
              <a:rPr lang="ko" sz="1300">
                <a:latin typeface="Nanum Gothic"/>
                <a:ea typeface="Nanum Gothic"/>
                <a:cs typeface="Nanum Gothic"/>
                <a:sym typeface="Nanum Gothic"/>
              </a:rPr>
              <a:t>과적합 방지 : 변수를 랜덤하게 선택함으로써 과적합 방지 가능</a:t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anum Gothic"/>
              <a:buAutoNum type="arabicPeriod"/>
            </a:pPr>
            <a:r>
              <a:rPr lang="ko" sz="1300">
                <a:latin typeface="Nanum Gothic"/>
                <a:ea typeface="Nanum Gothic"/>
                <a:cs typeface="Nanum Gothic"/>
                <a:sym typeface="Nanum Gothic"/>
              </a:rPr>
              <a:t>계산 효율성 증가 : 일부 변수만을 사용하기 때문에 계산 효율성 증가</a:t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1064" name="Google Shape;1064;p81"/>
          <p:cNvSpPr txBox="1"/>
          <p:nvPr/>
        </p:nvSpPr>
        <p:spPr>
          <a:xfrm>
            <a:off x="2337761" y="2222174"/>
            <a:ext cx="1763400" cy="2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40000"/>
          </a:bodyPr>
          <a:lstStyle/>
          <a:p>
            <a:pPr indent="0" lvl="0" marL="838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Bootstrap i (X in R</a:t>
            </a:r>
            <a:r>
              <a:rPr baseline="30000" lang="ko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25</a:t>
            </a:r>
            <a:r>
              <a:rPr lang="ko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)</a:t>
            </a:r>
            <a:endParaRPr sz="1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065" name="Google Shape;1065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5320" y="2450144"/>
            <a:ext cx="1592066" cy="1407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6" name="Google Shape;1066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58787" y="3876682"/>
            <a:ext cx="1145131" cy="8096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7" name="Google Shape;1067;p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31588" y="2335632"/>
            <a:ext cx="2434898" cy="20478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82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1074" name="Google Shape;1074;p82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1075" name="Google Shape;1075;p82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1076" name="Google Shape;1076;p82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✓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Ensemble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"/>
              <a:buChar char="○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전체 변수를 사용한 모델들이 전체 평균은 높지만 특정 변수만 사용한 모델들은 특정 영역에서 높은 점수를 나타낸다.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"/>
              <a:buChar char="○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즉 각 영역에서의 가장 높은 점수를 그룹별로 보면 B영역이 더 큰 이점이 있다.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</p:txBody>
      </p:sp>
      <p:graphicFrame>
        <p:nvGraphicFramePr>
          <p:cNvPr id="1077" name="Google Shape;1077;p82"/>
          <p:cNvGraphicFramePr/>
          <p:nvPr/>
        </p:nvGraphicFramePr>
        <p:xfrm>
          <a:off x="952500" y="2343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{DB660EE3-C6BF-4F7E-83DB-CCDA0A96D27C}</a:tableStyleId>
              </a:tblPr>
              <a:tblGrid>
                <a:gridCol w="904875"/>
                <a:gridCol w="904875"/>
                <a:gridCol w="904875"/>
                <a:gridCol w="904875"/>
                <a:gridCol w="904875"/>
                <a:gridCol w="904875"/>
                <a:gridCol w="904875"/>
                <a:gridCol w="9048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A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국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영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수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B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국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영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수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A1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75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75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85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B1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65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65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95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A2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80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77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83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B2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65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95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65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A3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83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80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74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B3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95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65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65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p83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1084" name="Google Shape;1084;p83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1085" name="Google Shape;1085;p83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1086" name="Google Shape;1086;p83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✓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Generalization Error -&gt; 모델의 성능에 대한 최악의 경우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anum Gothic"/>
              <a:buChar char="○"/>
            </a:pPr>
            <a:r>
              <a:rPr lang="ko" sz="1300">
                <a:latin typeface="Nanum Gothic"/>
                <a:ea typeface="Nanum Gothic"/>
                <a:cs typeface="Nanum Gothic"/>
                <a:sym typeface="Nanum Gothic"/>
              </a:rPr>
              <a:t>각각의 개별 tree는 과적합 될 수 있음</a:t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anum Gothic"/>
              <a:buChar char="○"/>
            </a:pPr>
            <a:r>
              <a:rPr lang="ko" sz="1300">
                <a:latin typeface="Nanum Gothic"/>
                <a:ea typeface="Nanum Gothic"/>
                <a:cs typeface="Nanum Gothic"/>
                <a:sym typeface="Nanum Gothic"/>
              </a:rPr>
              <a:t>Random forest는 tree수가 충분히 많을 때 Strong Law of Large Numbers에 의해 과적합 되지 않고 그 error는 limiting value에 수렴</a:t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</p:txBody>
      </p:sp>
      <p:grpSp>
        <p:nvGrpSpPr>
          <p:cNvPr id="1087" name="Google Shape;1087;p83"/>
          <p:cNvGrpSpPr/>
          <p:nvPr/>
        </p:nvGrpSpPr>
        <p:grpSpPr>
          <a:xfrm>
            <a:off x="1579775" y="2064700"/>
            <a:ext cx="2916750" cy="545400"/>
            <a:chOff x="1579775" y="2064700"/>
            <a:chExt cx="2916750" cy="545400"/>
          </a:xfrm>
        </p:grpSpPr>
        <p:pic>
          <p:nvPicPr>
            <p:cNvPr id="1088" name="Google Shape;1088;p8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79775" y="2140599"/>
              <a:ext cx="2181710" cy="393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89" name="Google Shape;1089;p8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707425" y="2064700"/>
              <a:ext cx="789100" cy="545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90" name="Google Shape;1090;p83"/>
          <p:cNvSpPr txBox="1"/>
          <p:nvPr/>
        </p:nvSpPr>
        <p:spPr>
          <a:xfrm>
            <a:off x="1613800" y="2539309"/>
            <a:ext cx="3364200" cy="8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anum Gothic"/>
              <a:buChar char="●"/>
            </a:pP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p는 개별 트리들 간의 평균 상관관계</a:t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anum Gothic"/>
              <a:buChar char="●"/>
            </a:pP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s는 개별 트리의 예측 정확도의 평균</a:t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1091" name="Google Shape;1091;p83"/>
          <p:cNvSpPr txBox="1"/>
          <p:nvPr/>
        </p:nvSpPr>
        <p:spPr>
          <a:xfrm>
            <a:off x="628650" y="32004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✓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개별 tree의 정확도가 높을수록 s 증가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anum Gothic"/>
              <a:buChar char="✓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Bagging과 Random subspace 기법으로 모델들의 독립성, 일반화, 무작위성을 증가시켜 모델들의 상관관계 p를 감소시킴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1092" name="Google Shape;1092;p83"/>
          <p:cNvSpPr txBox="1"/>
          <p:nvPr/>
        </p:nvSpPr>
        <p:spPr>
          <a:xfrm>
            <a:off x="5652400" y="2005900"/>
            <a:ext cx="2538000" cy="8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우변의 값이 작을 수록 좋은 것!</a:t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(upper bound)</a:t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1093" name="Google Shape;1093;p83"/>
          <p:cNvSpPr/>
          <p:nvPr/>
        </p:nvSpPr>
        <p:spPr>
          <a:xfrm>
            <a:off x="5037375" y="2302800"/>
            <a:ext cx="367800" cy="159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p84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1100" name="Google Shape;1100;p84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1101" name="Google Shape;1101;p84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1102" name="Google Shape;1102;p84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✓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Generalization Error (Example)</a:t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</p:txBody>
      </p:sp>
      <p:pic>
        <p:nvPicPr>
          <p:cNvPr id="1103" name="Google Shape;1103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9175" y="1302951"/>
            <a:ext cx="6085650" cy="318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p85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1110" name="Google Shape;1110;p85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1111" name="Google Shape;1111;p85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1112" name="Google Shape;1112;p85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✓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변수 중요도 (Variable Importance)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anum Gothic"/>
              <a:buChar char="○"/>
            </a:pPr>
            <a:r>
              <a:rPr lang="ko" sz="1300">
                <a:latin typeface="Nanum Gothic"/>
                <a:ea typeface="Nanum Gothic"/>
                <a:cs typeface="Nanum Gothic"/>
                <a:sym typeface="Nanum Gothic"/>
              </a:rPr>
              <a:t>랜덤 포레스트는 선형/로지스틱 회귀 모델과는 달리 개별 변수가 통계적으로 얼마나 유의미한지에 대한 정보를 제공하지 않음 (일반적인 확률 분포를 가정하지 않음)</a:t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anum Gothic"/>
              <a:buChar char="○"/>
            </a:pPr>
            <a:r>
              <a:rPr lang="ko" sz="1300">
                <a:latin typeface="Nanum Gothic"/>
                <a:ea typeface="Nanum Gothic"/>
                <a:cs typeface="Nanum Gothic"/>
                <a:sym typeface="Nanum Gothic"/>
              </a:rPr>
              <a:t>대신 간접적인 방식으로 변수의 중요도를 결정</a:t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2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anum Gothic"/>
              <a:buAutoNum type="arabicPeriod"/>
            </a:pPr>
            <a:r>
              <a:rPr lang="ko" sz="1300">
                <a:latin typeface="Nanum Gothic"/>
                <a:ea typeface="Nanum Gothic"/>
                <a:cs typeface="Nanum Gothic"/>
                <a:sym typeface="Nanum Gothic"/>
              </a:rPr>
              <a:t>원래 데이터 집합에 대해서 Out of bag (OOB) Error를 구함</a:t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2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anum Gothic"/>
              <a:buAutoNum type="arabicPeriod"/>
            </a:pPr>
            <a:r>
              <a:rPr lang="ko" sz="1300">
                <a:latin typeface="Nanum Gothic"/>
                <a:ea typeface="Nanum Gothic"/>
                <a:cs typeface="Nanum Gothic"/>
                <a:sym typeface="Nanum Gothic"/>
              </a:rPr>
              <a:t>특정 변수의 값을 임의로 섞은 데이터 집합에 대해서 OOB Error를 구함</a:t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2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anum Gothic"/>
              <a:buAutoNum type="arabicPeriod"/>
            </a:pPr>
            <a:r>
              <a:rPr lang="ko" sz="1300">
                <a:latin typeface="Nanum Gothic"/>
                <a:ea typeface="Nanum Gothic"/>
                <a:cs typeface="Nanum Gothic"/>
                <a:sym typeface="Nanum Gothic"/>
              </a:rPr>
              <a:t>개별 변수의 중요도는 2단계와 1단계 OOB Error 차이의 평균과 분산을 고려하여 결정</a:t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p86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1119" name="Google Shape;1119;p86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1120" name="Google Shape;1120;p86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1121" name="Google Shape;1121;p86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✓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O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ut of bag 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(OOB) Error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anum Gothic"/>
              <a:buChar char="○"/>
            </a:pPr>
            <a:r>
              <a:rPr lang="ko" sz="1300">
                <a:latin typeface="Nanum Gothic"/>
                <a:ea typeface="Nanum Gothic"/>
                <a:cs typeface="Nanum Gothic"/>
                <a:sym typeface="Nanum Gothic"/>
              </a:rPr>
              <a:t>Bagging을 사용할 경우 bootstrap set에 포함되지 않는 데이터들을 검증 집합으로 사용</a:t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</p:txBody>
      </p:sp>
      <p:pic>
        <p:nvPicPr>
          <p:cNvPr id="1122" name="Google Shape;1122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4825" y="2063675"/>
            <a:ext cx="5474349" cy="26566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23" name="Google Shape;1123;p86"/>
          <p:cNvGrpSpPr/>
          <p:nvPr/>
        </p:nvGrpSpPr>
        <p:grpSpPr>
          <a:xfrm>
            <a:off x="1581141" y="1445698"/>
            <a:ext cx="3434373" cy="754289"/>
            <a:chOff x="1428800" y="2055399"/>
            <a:chExt cx="3689700" cy="814830"/>
          </a:xfrm>
        </p:grpSpPr>
        <p:pic>
          <p:nvPicPr>
            <p:cNvPr id="1124" name="Google Shape;1124;p8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428800" y="2055399"/>
              <a:ext cx="3689700" cy="754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5" name="Google Shape;1125;p86"/>
            <p:cNvSpPr txBox="1"/>
            <p:nvPr/>
          </p:nvSpPr>
          <p:spPr>
            <a:xfrm>
              <a:off x="2219528" y="2686329"/>
              <a:ext cx="2231100" cy="18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666666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데이터가 선택되지 않을 확률</a:t>
              </a:r>
              <a:endParaRPr sz="1000">
                <a:solidFill>
                  <a:srgbClr val="666666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</p:grp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p87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1132" name="Google Shape;1132;p87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1133" name="Google Shape;1133;p87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1134" name="Google Shape;1134;p87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✓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변수 중요도 (Variable Importance)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</p:txBody>
      </p:sp>
      <p:pic>
        <p:nvPicPr>
          <p:cNvPr id="1135" name="Google Shape;1135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2050" y="1173175"/>
            <a:ext cx="5499901" cy="3577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p88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1142" name="Google Shape;1142;p88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1143" name="Google Shape;1143;p88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1144" name="Google Shape;1144;p88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✓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변수 중요도 (Variable Importance)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</p:txBody>
      </p:sp>
      <p:pic>
        <p:nvPicPr>
          <p:cNvPr id="1145" name="Google Shape;1145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5913" y="1164760"/>
            <a:ext cx="5472175" cy="355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p89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1152" name="Google Shape;1152;p89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1153" name="Google Shape;1153;p89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1154" name="Google Shape;1154;p89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✓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변수 중요도 (Variable Importance)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anum Gothic"/>
              <a:buChar char="○"/>
            </a:pP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랜덤 포레스트에서 변수의 중요도가 높다면</a:t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anum Gothic"/>
              <a:buChar char="●"/>
            </a:pP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Random permutation 전-후의 OOB Error 차이가 크게 나타나야 한다.</a:t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1155" name="Google Shape;1155;p89"/>
          <p:cNvSpPr txBox="1"/>
          <p:nvPr/>
        </p:nvSpPr>
        <p:spPr>
          <a:xfrm>
            <a:off x="628650" y="1981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✓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tree에서 random permutation 전/후 OOB Error의 차이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d</a:t>
            </a:r>
            <a:r>
              <a:rPr baseline="-25000"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i</a:t>
            </a: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 = e</a:t>
            </a:r>
            <a:r>
              <a:rPr baseline="-25000"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i</a:t>
            </a: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 - r</a:t>
            </a:r>
            <a:r>
              <a:rPr baseline="-25000"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i</a:t>
            </a: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 , i = 1,2,..n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"/>
              <a:buChar char="●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d</a:t>
            </a:r>
            <a:r>
              <a:rPr baseline="-25000"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i</a:t>
            </a: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 는 OOB Error(섞은 후)  - OOB Error(섞기 전) 으로 표현 가능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"/>
              <a:buChar char="✓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i번째 변수의 중요도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"/>
              <a:buChar char="○"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</p:txBody>
      </p:sp>
      <p:grpSp>
        <p:nvGrpSpPr>
          <p:cNvPr id="1156" name="Google Shape;1156;p89"/>
          <p:cNvGrpSpPr/>
          <p:nvPr/>
        </p:nvGrpSpPr>
        <p:grpSpPr>
          <a:xfrm>
            <a:off x="1645610" y="3316705"/>
            <a:ext cx="1123850" cy="783991"/>
            <a:chOff x="1569410" y="3621505"/>
            <a:chExt cx="1123850" cy="783991"/>
          </a:xfrm>
        </p:grpSpPr>
        <p:pic>
          <p:nvPicPr>
            <p:cNvPr id="1157" name="Google Shape;1157;p8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69410" y="3733897"/>
              <a:ext cx="868325" cy="67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58" name="Google Shape;1158;p89"/>
            <p:cNvPicPr preferRelativeResize="0"/>
            <p:nvPr/>
          </p:nvPicPr>
          <p:blipFill rotWithShape="1">
            <a:blip r:embed="rId4">
              <a:alphaModFix/>
            </a:blip>
            <a:srcRect b="-7580" l="0" r="0" t="7580"/>
            <a:stretch/>
          </p:blipFill>
          <p:spPr>
            <a:xfrm>
              <a:off x="1778860" y="3621505"/>
              <a:ext cx="914400" cy="1428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p90"/>
          <p:cNvSpPr txBox="1"/>
          <p:nvPr>
            <p:ph type="ctrTitle"/>
          </p:nvPr>
        </p:nvSpPr>
        <p:spPr>
          <a:xfrm>
            <a:off x="1143000" y="2276550"/>
            <a:ext cx="7296300" cy="590400"/>
          </a:xfrm>
          <a:prstGeom prst="rect">
            <a:avLst/>
          </a:prstGeom>
          <a:noFill/>
          <a:ln>
            <a:noFill/>
          </a:ln>
        </p:spPr>
        <p:txBody>
          <a:bodyPr anchorCtr="0" anchor="b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ko"/>
              <a:t>Classification - Support Vector Machine</a:t>
            </a:r>
            <a:endParaRPr sz="1200"/>
          </a:p>
        </p:txBody>
      </p:sp>
      <p:sp>
        <p:nvSpPr>
          <p:cNvPr id="1165" name="Google Shape;1165;p90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 sz="90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p91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1172" name="Google Shape;1172;p91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1173" name="Google Shape;1173;p91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1174" name="Google Shape;1174;p91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✓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분류(Classification) 모델의 종류</a:t>
            </a:r>
            <a:endParaRPr b="0" i="0" sz="1400" u="none" cap="none" strike="noStrike">
              <a:solidFill>
                <a:srgbClr val="000000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anum Gothic"/>
              <a:buChar char="○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로지스틱 회귀 (Logistic Regression)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anum Gothic"/>
              <a:buChar char="○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결정 트리 (Decision Tree)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anum Gothic"/>
              <a:buChar char="○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랜덤 포레스트 (Random Forest)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anum Gothic"/>
              <a:buChar char="○"/>
            </a:pPr>
            <a:r>
              <a:rPr b="1" lang="ko">
                <a:latin typeface="Nanum Gothic"/>
                <a:ea typeface="Nanum Gothic"/>
                <a:cs typeface="Nanum Gothic"/>
                <a:sym typeface="Nanum Gothic"/>
              </a:rPr>
              <a:t>서포트 벡터 머신 (Support Vector Machine, SVM)</a:t>
            </a:r>
            <a:endParaRPr b="1"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anum Gothic"/>
              <a:buChar char="○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K-최근접 이웃 (K-Nearest Neighbor, KNN)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p92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1181" name="Google Shape;1181;p92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1182" name="Google Shape;1182;p92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1183" name="Google Shape;1183;p92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✓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SVM(Support Vector Machine) - Linear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anum Gothic"/>
              <a:buChar char="○"/>
            </a:pP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데이터를 분류하는 최적의 직선을 찾는 것!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pic>
        <p:nvPicPr>
          <p:cNvPr id="1184" name="Google Shape;1184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1113" y="1769114"/>
            <a:ext cx="5801769" cy="28145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9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p93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1191" name="Google Shape;1191;p93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1192" name="Google Shape;1192;p93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1193" name="Google Shape;1193;p93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✓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SVM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(Support Vector Machine)</a:t>
            </a:r>
            <a:endParaRPr b="0" i="0" sz="1400" u="none" cap="none" strike="noStrike">
              <a:solidFill>
                <a:srgbClr val="000000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Nanum Gothic"/>
              <a:buChar char="○"/>
            </a:pPr>
            <a:r>
              <a:rPr lang="ko" sz="1300">
                <a:latin typeface="Nanum Gothic"/>
                <a:ea typeface="Nanum Gothic"/>
                <a:cs typeface="Nanum Gothic"/>
                <a:sym typeface="Nanum Gothic"/>
              </a:rPr>
              <a:t>고차원 데이터 분류에 좋은 성능을 보임</a:t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anum Gothic"/>
              <a:buChar char="○"/>
            </a:pPr>
            <a:r>
              <a:rPr lang="ko" sz="1300">
                <a:latin typeface="Nanum Gothic"/>
                <a:ea typeface="Nanum Gothic"/>
                <a:cs typeface="Nanum Gothic"/>
                <a:sym typeface="Nanum Gothic"/>
              </a:rPr>
              <a:t>이차 방정식 문제로 Formulation 진행</a:t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anum Gothic"/>
              <a:buChar char="○"/>
            </a:pPr>
            <a:r>
              <a:rPr lang="ko" sz="1300">
                <a:latin typeface="Nanum Gothic"/>
                <a:ea typeface="Nanum Gothic"/>
                <a:cs typeface="Nanum Gothic"/>
                <a:sym typeface="Nanum Gothic"/>
              </a:rPr>
              <a:t>Generalization ability(일반화 성능)과 training acc는 trade-off 관계</a:t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2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anum Gothic"/>
              <a:buChar char="■"/>
            </a:pPr>
            <a:r>
              <a:rPr lang="ko" sz="1300">
                <a:latin typeface="Nanum Gothic"/>
                <a:ea typeface="Nanum Gothic"/>
                <a:cs typeface="Nanum Gothic"/>
                <a:sym typeface="Nanum Gothic"/>
              </a:rPr>
              <a:t>즉 훈련 오차를 적게 학습할 때, 더 좋은 성능을 보임</a:t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anum Gothic"/>
              <a:buChar char="○"/>
            </a:pPr>
            <a:r>
              <a:rPr lang="ko" sz="1300">
                <a:latin typeface="Nanum Gothic"/>
                <a:ea typeface="Nanum Gothic"/>
                <a:cs typeface="Nanum Gothic"/>
                <a:sym typeface="Nanum Gothic"/>
              </a:rPr>
              <a:t>수학적 통계에 기반을 두고 있음</a:t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</p:txBody>
      </p:sp>
      <p:pic>
        <p:nvPicPr>
          <p:cNvPr id="1194" name="Google Shape;1194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8600" y="3273674"/>
            <a:ext cx="6526797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9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p94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1201" name="Google Shape;1201;p94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1202" name="Google Shape;1202;p94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1203" name="Google Shape;1203;p94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✓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SVM(Support Vector Machine) - Binary Classification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anum Gothic"/>
              <a:buChar char="○"/>
            </a:pPr>
            <a:r>
              <a:rPr lang="ko" sz="1300">
                <a:latin typeface="Nanum Gothic"/>
                <a:ea typeface="Nanum Gothic"/>
                <a:cs typeface="Nanum Gothic"/>
                <a:sym typeface="Nanum Gothic"/>
              </a:rPr>
              <a:t>SVM의 상황에 따른 case</a:t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</p:txBody>
      </p:sp>
      <p:graphicFrame>
        <p:nvGraphicFramePr>
          <p:cNvPr id="1204" name="Google Shape;1204;p94"/>
          <p:cNvGraphicFramePr/>
          <p:nvPr/>
        </p:nvGraphicFramePr>
        <p:xfrm>
          <a:off x="952500" y="1771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{DB660EE3-C6BF-4F7E-83DB-CCDA0A96D27C}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Hard margin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Soft margin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Allow Margin exceptions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X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O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Linearly separable ?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Basic form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(case 1) 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Add penalty terms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(case 2)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Linearly non-separable ?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Kernel Trick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Add penalty terms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Kernel Trick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(case 3)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95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1211" name="Google Shape;1211;p95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1212" name="Google Shape;1212;p95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1213" name="Google Shape;1213;p95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✓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SVM(Support Vector Machine) Case 1 - Binary Classification</a:t>
            </a:r>
            <a:endParaRPr b="0" i="0" sz="1400" u="none" cap="none" strike="noStrike">
              <a:solidFill>
                <a:srgbClr val="000000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</p:txBody>
      </p:sp>
      <p:pic>
        <p:nvPicPr>
          <p:cNvPr id="1214" name="Google Shape;1214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4763" y="1741214"/>
            <a:ext cx="6234471" cy="2814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9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p96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1221" name="Google Shape;1221;p96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1222" name="Google Shape;1222;p96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1223" name="Google Shape;1223;p96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✓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SVM(Support Vector Machine) </a:t>
            </a: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Case 1 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- Binary Classification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anum Gothic"/>
              <a:buChar char="○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어떤 분류 경계면이 더 잘 분류하는 경계면일까?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</p:txBody>
      </p:sp>
      <p:pic>
        <p:nvPicPr>
          <p:cNvPr id="1224" name="Google Shape;1224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5763" y="1790414"/>
            <a:ext cx="3932473" cy="28145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9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p97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1231" name="Google Shape;1231;p97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1232" name="Google Shape;1232;p97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1233" name="Google Shape;1233;p97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✓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SVM(Support Vector Machine) </a:t>
            </a: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Case 1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 - Binary Classification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anum Gothic"/>
              <a:buChar char="○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Margin이 큰 분류 경계면이 SVM에서 좋은 분류 경계면!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</p:txBody>
      </p:sp>
      <p:pic>
        <p:nvPicPr>
          <p:cNvPr id="1234" name="Google Shape;1234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2088" y="1871789"/>
            <a:ext cx="5999826" cy="2814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9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p98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1241" name="Google Shape;1241;p98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1242" name="Google Shape;1242;p98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1243" name="Google Shape;1243;p98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✓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SVM(Support Vector Machine) </a:t>
            </a: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Case 1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 - Binary Classification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anum Gothic"/>
              <a:buChar char="○"/>
            </a:pPr>
            <a:r>
              <a:rPr lang="ko" sz="1300">
                <a:latin typeface="Nanum Gothic"/>
                <a:ea typeface="Nanum Gothic"/>
                <a:cs typeface="Nanum Gothic"/>
                <a:sym typeface="Nanum Gothic"/>
              </a:rPr>
              <a:t>분류 경계면을 기준으로 Margin이 최대가 되는 W,b를 구하는 것이 목표</a:t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</p:txBody>
      </p:sp>
      <p:grpSp>
        <p:nvGrpSpPr>
          <p:cNvPr id="1244" name="Google Shape;1244;p98"/>
          <p:cNvGrpSpPr/>
          <p:nvPr/>
        </p:nvGrpSpPr>
        <p:grpSpPr>
          <a:xfrm>
            <a:off x="2007725" y="1728670"/>
            <a:ext cx="5210199" cy="2925281"/>
            <a:chOff x="2007725" y="1881070"/>
            <a:chExt cx="5210199" cy="2925281"/>
          </a:xfrm>
        </p:grpSpPr>
        <p:pic>
          <p:nvPicPr>
            <p:cNvPr id="1245" name="Google Shape;1245;p9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007725" y="1991839"/>
              <a:ext cx="5210199" cy="28145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46" name="Google Shape;1246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460400" y="1881070"/>
              <a:ext cx="489100" cy="5869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p99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1253" name="Google Shape;1253;p99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1254" name="Google Shape;1254;p99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1255" name="Google Shape;1255;p99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✓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SVM(Support Vector Machine) </a:t>
            </a: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Case 1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 - Binary Classification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anum Gothic"/>
              <a:buChar char="○"/>
            </a:pPr>
            <a:r>
              <a:rPr lang="ko" sz="1300">
                <a:latin typeface="Nanum Gothic"/>
                <a:ea typeface="Nanum Gothic"/>
                <a:cs typeface="Nanum Gothic"/>
                <a:sym typeface="Nanum Gothic"/>
              </a:rPr>
              <a:t>분류 경계면을 기준으로 Margin이 최대가 되는 W,b를 구하는 것이 목표</a:t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</p:txBody>
      </p:sp>
      <p:pic>
        <p:nvPicPr>
          <p:cNvPr id="1256" name="Google Shape;1256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9439"/>
            <a:ext cx="8839201" cy="21406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p100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1263" name="Google Shape;1263;p100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1264" name="Google Shape;1264;p100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1265" name="Google Shape;1265;p100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✓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SVM(Support Vector Machine) </a:t>
            </a: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Case 1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 - Binary Classification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anum Gothic"/>
              <a:buChar char="○"/>
            </a:pPr>
            <a:r>
              <a:rPr lang="ko" sz="1300">
                <a:latin typeface="Nanum Gothic"/>
                <a:ea typeface="Nanum Gothic"/>
                <a:cs typeface="Nanum Gothic"/>
                <a:sym typeface="Nanum Gothic"/>
              </a:rPr>
              <a:t>Margin 유도</a:t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</p:txBody>
      </p:sp>
      <p:pic>
        <p:nvPicPr>
          <p:cNvPr id="1266" name="Google Shape;1266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5850" y="1485625"/>
            <a:ext cx="3471625" cy="1650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7" name="Google Shape;1267;p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88449" y="1485623"/>
            <a:ext cx="2993800" cy="275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8" name="Google Shape;1268;p1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26025" y="3136493"/>
            <a:ext cx="2715300" cy="56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9" name="Google Shape;1269;p10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62051" y="3774501"/>
            <a:ext cx="3265225" cy="79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4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5" name="Google Shape;1275;p101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1276" name="Google Shape;1276;p101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1277" name="Google Shape;1277;p101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1278" name="Google Shape;1278;p101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✓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SVM(Support Vector Machine) </a:t>
            </a: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Case 1 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- Binary Classification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anum Gothic"/>
              <a:buChar char="○"/>
            </a:pPr>
            <a:r>
              <a:rPr lang="ko" sz="1300">
                <a:latin typeface="Nanum Gothic"/>
                <a:ea typeface="Nanum Gothic"/>
                <a:cs typeface="Nanum Gothic"/>
                <a:sym typeface="Nanum Gothic"/>
              </a:rPr>
              <a:t>Margin 유도</a:t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</p:txBody>
      </p:sp>
      <p:pic>
        <p:nvPicPr>
          <p:cNvPr id="1279" name="Google Shape;1279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3825" y="1704973"/>
            <a:ext cx="4555425" cy="4717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0" name="Google Shape;1280;p101"/>
          <p:cNvSpPr txBox="1"/>
          <p:nvPr/>
        </p:nvSpPr>
        <p:spPr>
          <a:xfrm>
            <a:off x="628650" y="22860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✓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w의 L</a:t>
            </a:r>
            <a:r>
              <a:rPr baseline="-25000" lang="ko">
                <a:latin typeface="Nanum Gothic"/>
                <a:ea typeface="Nanum Gothic"/>
                <a:cs typeface="Nanum Gothic"/>
                <a:sym typeface="Nanum Gothic"/>
              </a:rPr>
              <a:t>2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 norm이 제곱근을 포함하고 있어서 계산상의 불편함이 존재 따라서 아래와 같이 변환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</p:txBody>
      </p:sp>
      <p:pic>
        <p:nvPicPr>
          <p:cNvPr id="1281" name="Google Shape;1281;p10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13825" y="2971550"/>
            <a:ext cx="3158175" cy="5461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Google Shape;1287;p102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1288" name="Google Shape;1288;p102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1289" name="Google Shape;1289;p102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1290" name="Google Shape;1290;p102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✓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SVM(Support Vector Machine) </a:t>
            </a: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Case 1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 - Binary Classification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anum Gothic"/>
              <a:buChar char="○"/>
            </a:pPr>
            <a:r>
              <a:rPr lang="ko" sz="1300">
                <a:latin typeface="Nanum Gothic"/>
                <a:ea typeface="Nanum Gothic"/>
                <a:cs typeface="Nanum Gothic"/>
                <a:sym typeface="Nanum Gothic"/>
              </a:rPr>
              <a:t>SVM의 최적화 방법</a:t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</p:txBody>
      </p:sp>
      <p:pic>
        <p:nvPicPr>
          <p:cNvPr id="1291" name="Google Shape;1291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5163" y="1461964"/>
            <a:ext cx="4033671" cy="31979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6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Google Shape;1297;p103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1298" name="Google Shape;1298;p103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1299" name="Google Shape;1299;p103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1300" name="Google Shape;1300;p103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✓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SVM(Support Vector Machine) </a:t>
            </a: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Case 1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 - Binary Classification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anum Gothic"/>
              <a:buChar char="○"/>
            </a:pPr>
            <a:r>
              <a:rPr lang="ko" sz="1300">
                <a:latin typeface="Nanum Gothic"/>
                <a:ea typeface="Nanum Gothic"/>
                <a:cs typeface="Nanum Gothic"/>
                <a:sym typeface="Nanum Gothic"/>
              </a:rPr>
              <a:t>SVM의 최적화 방법</a:t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</p:txBody>
      </p:sp>
      <p:pic>
        <p:nvPicPr>
          <p:cNvPr id="1301" name="Google Shape;1301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3100" y="1561825"/>
            <a:ext cx="4138324" cy="80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2" name="Google Shape;1302;p103"/>
          <p:cNvSpPr txBox="1"/>
          <p:nvPr/>
        </p:nvSpPr>
        <p:spPr>
          <a:xfrm>
            <a:off x="628650" y="25146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anum Gothic"/>
              <a:buChar char="○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w,b를 최적화 하는 것이 목표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anum Gothic"/>
              <a:buChar char="○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목적 함수는 margin의 역수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anum Gothic"/>
              <a:buChar char="○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Constraint는 training data를 완벽하게 분할하는 조건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anum Gothic"/>
              <a:buChar char="○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Objective function is quadratic and constraint is linear → quadratic programming → convex optimization → globally optimal solution exists (전역최적해 존재)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7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" name="Google Shape;1308;p104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1309" name="Google Shape;1309;p104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1310" name="Google Shape;1310;p104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1311" name="Google Shape;1311;p104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✓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SVM(Support Vector Machine) </a:t>
            </a: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Case 1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 - Binary Classification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anum Gothic"/>
              <a:buChar char="○"/>
            </a:pPr>
            <a:r>
              <a:rPr lang="ko" sz="1300">
                <a:latin typeface="Nanum Gothic"/>
                <a:ea typeface="Nanum Gothic"/>
                <a:cs typeface="Nanum Gothic"/>
                <a:sym typeface="Nanum Gothic"/>
              </a:rPr>
              <a:t>SVM의 최적화 방법</a:t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</p:txBody>
      </p:sp>
      <p:pic>
        <p:nvPicPr>
          <p:cNvPr id="1312" name="Google Shape;1312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4840" y="1566989"/>
            <a:ext cx="3927044" cy="2814512"/>
          </a:xfrm>
          <a:prstGeom prst="rect">
            <a:avLst/>
          </a:prstGeom>
          <a:noFill/>
          <a:ln>
            <a:noFill/>
          </a:ln>
        </p:spPr>
      </p:pic>
      <p:sp>
        <p:nvSpPr>
          <p:cNvPr id="1313" name="Google Shape;1313;p104"/>
          <p:cNvSpPr txBox="1"/>
          <p:nvPr/>
        </p:nvSpPr>
        <p:spPr>
          <a:xfrm>
            <a:off x="5555975" y="1567000"/>
            <a:ext cx="28992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라그랑지안 문제 </a:t>
            </a:r>
            <a:endParaRPr sz="11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-&gt; 목적 함수를 정의하고 제약 조건을 포함하여 최적화 문제를 설정</a:t>
            </a:r>
            <a:endParaRPr sz="11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1314" name="Google Shape;1314;p104"/>
          <p:cNvSpPr txBox="1"/>
          <p:nvPr/>
        </p:nvSpPr>
        <p:spPr>
          <a:xfrm>
            <a:off x="5555975" y="2862400"/>
            <a:ext cx="28992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KKT</a:t>
            </a:r>
            <a:r>
              <a:rPr lang="ko" sz="11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 조건</a:t>
            </a:r>
            <a:endParaRPr sz="11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-&gt; 이 최적화 문제의 해를 구하기 위해 필요한 조건 제공</a:t>
            </a:r>
            <a:endParaRPr sz="11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9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0" name="Google Shape;1320;p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4809" y="1557614"/>
            <a:ext cx="3484023" cy="3271710"/>
          </a:xfrm>
          <a:prstGeom prst="rect">
            <a:avLst/>
          </a:prstGeom>
          <a:noFill/>
          <a:ln>
            <a:noFill/>
          </a:ln>
        </p:spPr>
      </p:pic>
      <p:sp>
        <p:nvSpPr>
          <p:cNvPr id="1321" name="Google Shape;1321;p105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✓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SVM(Support Vector Machine) </a:t>
            </a: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Case 1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 - Binary Classification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anum Gothic"/>
              <a:buChar char="○"/>
            </a:pPr>
            <a:r>
              <a:rPr lang="ko" sz="1300">
                <a:latin typeface="Nanum Gothic"/>
                <a:ea typeface="Nanum Gothic"/>
                <a:cs typeface="Nanum Gothic"/>
                <a:sym typeface="Nanum Gothic"/>
              </a:rPr>
              <a:t>SVM의 최적화 방법</a:t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1322" name="Google Shape;1322;p105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1323" name="Google Shape;1323;p105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1324" name="Google Shape;1324;p105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1325" name="Google Shape;1325;p105"/>
          <p:cNvSpPr txBox="1"/>
          <p:nvPr/>
        </p:nvSpPr>
        <p:spPr>
          <a:xfrm>
            <a:off x="5404175" y="1686225"/>
            <a:ext cx="3553500" cy="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1.Primal 문제 : 목적 함수 L</a:t>
            </a:r>
            <a:r>
              <a:rPr baseline="-25000" lang="ko" sz="11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p</a:t>
            </a:r>
            <a:r>
              <a:rPr lang="ko" sz="11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를 최소화 하는 문제</a:t>
            </a:r>
            <a:endParaRPr sz="11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2.Dual 문제 : 목적 함수 L</a:t>
            </a:r>
            <a:r>
              <a:rPr baseline="-25000" lang="ko" sz="11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d</a:t>
            </a:r>
            <a:r>
              <a:rPr lang="ko" sz="11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를 최대화 하는 문제</a:t>
            </a:r>
            <a:endParaRPr sz="11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	          Primal 문제를 해결하기 위한 효율적 접근</a:t>
            </a:r>
            <a:endParaRPr sz="11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3.Solution : 새로운 데이터 X</a:t>
            </a:r>
            <a:r>
              <a:rPr baseline="-25000" lang="ko" sz="11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new</a:t>
            </a:r>
            <a:r>
              <a:rPr lang="ko" sz="11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에 대하여 예측 함수</a:t>
            </a:r>
            <a:endParaRPr sz="11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0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Google Shape;1331;p106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✓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SVM(Support Vector Machine) </a:t>
            </a: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Case 1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 - Binary Classification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anum Gothic"/>
              <a:buChar char="○"/>
            </a:pPr>
            <a:r>
              <a:rPr lang="ko" sz="1300">
                <a:latin typeface="Nanum Gothic"/>
                <a:ea typeface="Nanum Gothic"/>
                <a:cs typeface="Nanum Gothic"/>
                <a:sym typeface="Nanum Gothic"/>
              </a:rPr>
              <a:t>SVM의 최적화 방법 (Dual 문제로 접근하는 이유)</a:t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anum Gothic"/>
              <a:buChar char="○"/>
            </a:pPr>
            <a:r>
              <a:rPr lang="ko" sz="1300">
                <a:latin typeface="Nanum Gothic"/>
                <a:ea typeface="Nanum Gothic"/>
                <a:cs typeface="Nanum Gothic"/>
                <a:sym typeface="Nanum Gothic"/>
              </a:rPr>
              <a:t>본래의 L</a:t>
            </a:r>
            <a:r>
              <a:rPr baseline="-25000" lang="ko" sz="1300">
                <a:latin typeface="Nanum Gothic"/>
                <a:ea typeface="Nanum Gothic"/>
                <a:cs typeface="Nanum Gothic"/>
                <a:sym typeface="Nanum Gothic"/>
              </a:rPr>
              <a:t>p</a:t>
            </a:r>
            <a:r>
              <a:rPr lang="ko" sz="1300">
                <a:latin typeface="Nanum Gothic"/>
                <a:ea typeface="Nanum Gothic"/>
                <a:cs typeface="Nanum Gothic"/>
                <a:sym typeface="Nanum Gothic"/>
              </a:rPr>
              <a:t> 문제를 풀기가 어렵기 때문에 L</a:t>
            </a:r>
            <a:r>
              <a:rPr baseline="-25000" lang="ko" sz="1300">
                <a:latin typeface="Nanum Gothic"/>
                <a:ea typeface="Nanum Gothic"/>
                <a:cs typeface="Nanum Gothic"/>
                <a:sym typeface="Nanum Gothic"/>
              </a:rPr>
              <a:t>d</a:t>
            </a:r>
            <a:r>
              <a:rPr lang="ko" sz="1300">
                <a:latin typeface="Nanum Gothic"/>
                <a:ea typeface="Nanum Gothic"/>
                <a:cs typeface="Nanum Gothic"/>
                <a:sym typeface="Nanum Gothic"/>
              </a:rPr>
              <a:t>로 문제를 변환하여 푸는 것</a:t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1332" name="Google Shape;1332;p106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1333" name="Google Shape;1333;p106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1334" name="Google Shape;1334;p106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pic>
        <p:nvPicPr>
          <p:cNvPr id="1335" name="Google Shape;1335;p1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4525" y="1795125"/>
            <a:ext cx="3873573" cy="2972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6" name="Google Shape;1336;p106"/>
          <p:cNvSpPr txBox="1"/>
          <p:nvPr/>
        </p:nvSpPr>
        <p:spPr>
          <a:xfrm>
            <a:off x="5962225" y="3056950"/>
            <a:ext cx="21204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L</a:t>
            </a:r>
            <a:r>
              <a:rPr baseline="-25000"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p</a:t>
            </a: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의 최소값 = L</a:t>
            </a:r>
            <a:r>
              <a:rPr baseline="-25000"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d</a:t>
            </a: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의 최대값</a:t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p107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1343" name="Google Shape;1343;p107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1344" name="Google Shape;1344;p107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1345" name="Google Shape;1345;p107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✓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SVM(Support Vector Machine) </a:t>
            </a: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Case 1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 - Binary Classification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anum Gothic"/>
              <a:buChar char="○"/>
            </a:pPr>
            <a:r>
              <a:rPr lang="ko" sz="1300">
                <a:latin typeface="Nanum Gothic"/>
                <a:ea typeface="Nanum Gothic"/>
                <a:cs typeface="Nanum Gothic"/>
                <a:sym typeface="Nanum Gothic"/>
              </a:rPr>
              <a:t>SVM의 최적화 방법</a:t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anum Gothic"/>
              <a:buChar char="○"/>
            </a:pPr>
            <a:r>
              <a:rPr lang="ko" sz="1300">
                <a:latin typeface="Nanum Gothic"/>
                <a:ea typeface="Nanum Gothic"/>
                <a:cs typeface="Nanum Gothic"/>
                <a:sym typeface="Nanum Gothic"/>
              </a:rPr>
              <a:t>Lagrangian Dual 수식 유도</a:t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</p:txBody>
      </p:sp>
      <p:grpSp>
        <p:nvGrpSpPr>
          <p:cNvPr id="1346" name="Google Shape;1346;p107"/>
          <p:cNvGrpSpPr/>
          <p:nvPr/>
        </p:nvGrpSpPr>
        <p:grpSpPr>
          <a:xfrm>
            <a:off x="3891388" y="1566989"/>
            <a:ext cx="4033673" cy="3149776"/>
            <a:chOff x="2595988" y="1566989"/>
            <a:chExt cx="4033673" cy="3149776"/>
          </a:xfrm>
        </p:grpSpPr>
        <p:pic>
          <p:nvPicPr>
            <p:cNvPr id="1347" name="Google Shape;1347;p10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595988" y="1566989"/>
              <a:ext cx="4033673" cy="31497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48" name="Google Shape;1348;p10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417562" y="2911329"/>
              <a:ext cx="548700" cy="307142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349" name="Google Shape;1349;p107"/>
            <p:cNvCxnSpPr>
              <a:endCxn id="1348" idx="1"/>
            </p:cNvCxnSpPr>
            <p:nvPr/>
          </p:nvCxnSpPr>
          <p:spPr>
            <a:xfrm flipH="1" rot="10800000">
              <a:off x="4101662" y="3064900"/>
              <a:ext cx="315900" cy="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4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5" name="Google Shape;1355;p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2725" y="2679348"/>
            <a:ext cx="3603150" cy="750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6" name="Google Shape;1356;p108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✓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SVM(Support Vector Machine) </a:t>
            </a: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Case 1 </a:t>
            </a: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- Binary Classification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1" marL="914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ko" sz="1300">
                <a:solidFill>
                  <a:schemeClr val="dk1"/>
                </a:solidFill>
              </a:rPr>
              <a:t>𝛼</a:t>
            </a:r>
            <a:r>
              <a:rPr baseline="-25000" lang="ko" sz="1300">
                <a:solidFill>
                  <a:schemeClr val="dk1"/>
                </a:solidFill>
              </a:rPr>
              <a:t>𝑖</a:t>
            </a:r>
            <a:r>
              <a:rPr lang="ko" sz="1300">
                <a:solidFill>
                  <a:schemeClr val="dk1"/>
                </a:solidFill>
              </a:rPr>
              <a:t>(</a:t>
            </a:r>
            <a:r>
              <a:rPr baseline="-25000" lang="ko" sz="1300">
                <a:solidFill>
                  <a:schemeClr val="dk1"/>
                </a:solidFill>
              </a:rPr>
              <a:t> </a:t>
            </a:r>
            <a:r>
              <a:rPr lang="ko" sz="1300">
                <a:solidFill>
                  <a:schemeClr val="dk1"/>
                </a:solidFill>
              </a:rPr>
              <a:t>𝑦</a:t>
            </a:r>
            <a:r>
              <a:rPr baseline="-25000" lang="ko" sz="1300">
                <a:solidFill>
                  <a:schemeClr val="dk1"/>
                </a:solidFill>
              </a:rPr>
              <a:t>𝑖 </a:t>
            </a:r>
            <a:r>
              <a:rPr lang="ko" sz="1300">
                <a:solidFill>
                  <a:schemeClr val="dk1"/>
                </a:solidFill>
              </a:rPr>
              <a:t>(𝐰</a:t>
            </a:r>
            <a:r>
              <a:rPr baseline="30000" lang="ko" sz="1300">
                <a:solidFill>
                  <a:schemeClr val="dk1"/>
                </a:solidFill>
              </a:rPr>
              <a:t>T</a:t>
            </a:r>
            <a:r>
              <a:rPr lang="ko" sz="1300">
                <a:solidFill>
                  <a:schemeClr val="dk1"/>
                </a:solidFill>
              </a:rPr>
              <a:t>𝐱</a:t>
            </a:r>
            <a:r>
              <a:rPr baseline="-25000" lang="ko" sz="1300">
                <a:solidFill>
                  <a:schemeClr val="dk1"/>
                </a:solidFill>
              </a:rPr>
              <a:t>𝑖 </a:t>
            </a:r>
            <a:r>
              <a:rPr lang="ko" sz="1300">
                <a:solidFill>
                  <a:schemeClr val="dk1"/>
                </a:solidFill>
              </a:rPr>
              <a:t>+ 𝑏) − 1)  = 0 </a:t>
            </a:r>
            <a:endParaRPr sz="1300">
              <a:solidFill>
                <a:schemeClr val="dk1"/>
              </a:solidFill>
            </a:endParaRPr>
          </a:p>
          <a:p>
            <a:pPr indent="-311150" lvl="2" marL="13716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■"/>
            </a:pPr>
            <a:r>
              <a:rPr lang="ko" sz="1300">
                <a:solidFill>
                  <a:schemeClr val="dk1"/>
                </a:solidFill>
              </a:rPr>
              <a:t>𝛼</a:t>
            </a:r>
            <a:r>
              <a:rPr baseline="-25000" lang="ko" sz="1300">
                <a:solidFill>
                  <a:schemeClr val="dk1"/>
                </a:solidFill>
              </a:rPr>
              <a:t>𝑖</a:t>
            </a:r>
            <a:r>
              <a:rPr lang="ko" sz="1300">
                <a:solidFill>
                  <a:schemeClr val="dk1"/>
                </a:solidFill>
              </a:rPr>
              <a:t>는 lagrangian multiplier, (</a:t>
            </a:r>
            <a:r>
              <a:rPr baseline="-25000" lang="ko" sz="1300">
                <a:solidFill>
                  <a:schemeClr val="dk1"/>
                </a:solidFill>
              </a:rPr>
              <a:t> </a:t>
            </a:r>
            <a:r>
              <a:rPr lang="ko" sz="1300">
                <a:solidFill>
                  <a:schemeClr val="dk1"/>
                </a:solidFill>
              </a:rPr>
              <a:t>𝑦</a:t>
            </a:r>
            <a:r>
              <a:rPr baseline="-25000" lang="ko" sz="1300">
                <a:solidFill>
                  <a:schemeClr val="dk1"/>
                </a:solidFill>
              </a:rPr>
              <a:t>𝑖 </a:t>
            </a:r>
            <a:r>
              <a:rPr lang="ko" sz="1300">
                <a:solidFill>
                  <a:schemeClr val="dk1"/>
                </a:solidFill>
              </a:rPr>
              <a:t>(𝐰</a:t>
            </a:r>
            <a:r>
              <a:rPr baseline="30000" lang="ko" sz="1300">
                <a:solidFill>
                  <a:schemeClr val="dk1"/>
                </a:solidFill>
              </a:rPr>
              <a:t>T</a:t>
            </a:r>
            <a:r>
              <a:rPr lang="ko" sz="1300">
                <a:solidFill>
                  <a:schemeClr val="dk1"/>
                </a:solidFill>
              </a:rPr>
              <a:t>𝐱</a:t>
            </a:r>
            <a:r>
              <a:rPr baseline="-25000" lang="ko" sz="1300">
                <a:solidFill>
                  <a:schemeClr val="dk1"/>
                </a:solidFill>
              </a:rPr>
              <a:t>𝑖 </a:t>
            </a:r>
            <a:r>
              <a:rPr lang="ko" sz="1300">
                <a:solidFill>
                  <a:schemeClr val="dk1"/>
                </a:solidFill>
              </a:rPr>
              <a:t>+ 𝑏) − 1)는 제약식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ko" sz="1300">
                <a:solidFill>
                  <a:schemeClr val="dk1"/>
                </a:solidFill>
              </a:rPr>
              <a:t>𝛼</a:t>
            </a:r>
            <a:r>
              <a:rPr baseline="-25000" lang="ko" sz="1300">
                <a:solidFill>
                  <a:schemeClr val="dk1"/>
                </a:solidFill>
              </a:rPr>
              <a:t>𝑖</a:t>
            </a:r>
            <a:r>
              <a:rPr lang="ko" sz="1300">
                <a:solidFill>
                  <a:schemeClr val="dk1"/>
                </a:solidFill>
              </a:rPr>
              <a:t>≠0 일 때, 제약식은 0 이 때 data는 margin위에 존재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ko" sz="1300">
                <a:solidFill>
                  <a:schemeClr val="dk1"/>
                </a:solidFill>
              </a:rPr>
              <a:t>SVM에서의 W 계산</a:t>
            </a:r>
            <a:endParaRPr sz="13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ko" sz="1300">
                <a:solidFill>
                  <a:schemeClr val="dk1"/>
                </a:solidFill>
              </a:rPr>
              <a:t>𝑦</a:t>
            </a:r>
            <a:r>
              <a:rPr baseline="-25000" lang="ko" sz="1300">
                <a:solidFill>
                  <a:schemeClr val="dk1"/>
                </a:solidFill>
              </a:rPr>
              <a:t>𝑖</a:t>
            </a:r>
            <a:r>
              <a:rPr lang="ko" sz="1300">
                <a:solidFill>
                  <a:schemeClr val="dk1"/>
                </a:solidFill>
              </a:rPr>
              <a:t>(𝐰</a:t>
            </a:r>
            <a:r>
              <a:rPr baseline="30000" lang="ko" sz="1300">
                <a:solidFill>
                  <a:schemeClr val="dk1"/>
                </a:solidFill>
              </a:rPr>
              <a:t>T</a:t>
            </a:r>
            <a:r>
              <a:rPr lang="ko" sz="1300">
                <a:solidFill>
                  <a:schemeClr val="dk1"/>
                </a:solidFill>
              </a:rPr>
              <a:t>𝐱</a:t>
            </a:r>
            <a:r>
              <a:rPr baseline="-25000" lang="ko" sz="1300">
                <a:solidFill>
                  <a:schemeClr val="dk1"/>
                </a:solidFill>
              </a:rPr>
              <a:t>𝑖  </a:t>
            </a:r>
            <a:r>
              <a:rPr lang="ko" sz="1300">
                <a:solidFill>
                  <a:schemeClr val="dk1"/>
                </a:solidFill>
              </a:rPr>
              <a:t>+ 𝑏) − 1 = 0 에서의 𝐱</a:t>
            </a:r>
            <a:r>
              <a:rPr baseline="-25000" lang="ko" sz="1300">
                <a:solidFill>
                  <a:schemeClr val="dk1"/>
                </a:solidFill>
              </a:rPr>
              <a:t>𝑖</a:t>
            </a:r>
            <a:r>
              <a:rPr lang="ko" sz="1300">
                <a:solidFill>
                  <a:schemeClr val="dk1"/>
                </a:solidFill>
              </a:rPr>
              <a:t>는 support vector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1357" name="Google Shape;1357;p108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1358" name="Google Shape;1358;p108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1359" name="Google Shape;1359;p108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pic>
        <p:nvPicPr>
          <p:cNvPr id="1360" name="Google Shape;1360;p10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15875" y="2637700"/>
            <a:ext cx="3894101" cy="182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5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" name="Google Shape;1366;p109"/>
          <p:cNvSpPr txBox="1"/>
          <p:nvPr>
            <p:ph type="ctrTitle"/>
          </p:nvPr>
        </p:nvSpPr>
        <p:spPr>
          <a:xfrm>
            <a:off x="1143000" y="2276550"/>
            <a:ext cx="7296300" cy="590400"/>
          </a:xfrm>
          <a:prstGeom prst="rect">
            <a:avLst/>
          </a:prstGeom>
          <a:noFill/>
          <a:ln>
            <a:noFill/>
          </a:ln>
        </p:spPr>
        <p:txBody>
          <a:bodyPr anchorCtr="0" anchor="b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ko"/>
              <a:t>Classification - K-Nearest Neighbors</a:t>
            </a:r>
            <a:endParaRPr sz="1200"/>
          </a:p>
        </p:txBody>
      </p:sp>
      <p:sp>
        <p:nvSpPr>
          <p:cNvPr id="1367" name="Google Shape;1367;p109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ko"/>
              <a:t>‹#›</a:t>
            </a:fld>
            <a:endParaRPr sz="90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2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Google Shape;1373;p110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1374" name="Google Shape;1374;p110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1375" name="Google Shape;1375;p110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1376" name="Google Shape;1376;p110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✓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분류(Classification) 모델의 종류</a:t>
            </a:r>
            <a:endParaRPr b="0" i="0" sz="1400" u="none" cap="none" strike="noStrike">
              <a:solidFill>
                <a:srgbClr val="000000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anum Gothic"/>
              <a:buChar char="○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로지스틱 회귀 (Logistic Regression)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anum Gothic"/>
              <a:buChar char="○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결정 트리 (Decision Tree)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anum Gothic"/>
              <a:buChar char="○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랜덤 포레스트 (Random Forest)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anum Gothic"/>
              <a:buChar char="○"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서포트 벡터 머신 (Support Vector Machine, SVM)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anum Gothic"/>
              <a:buChar char="○"/>
            </a:pPr>
            <a:r>
              <a:rPr b="1" lang="ko">
                <a:latin typeface="Nanum Gothic"/>
                <a:ea typeface="Nanum Gothic"/>
                <a:cs typeface="Nanum Gothic"/>
                <a:sym typeface="Nanum Gothic"/>
              </a:rPr>
              <a:t>K-최근접 이웃 (K-Nearest Neighbor, KNN)</a:t>
            </a:r>
            <a:endParaRPr b="1"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p111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1383" name="Google Shape;1383;p111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1384" name="Google Shape;1384;p111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1385" name="Google Shape;1385;p111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✓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Model-Based Learning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"/>
              <a:buChar char="○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선형/비선형 모델 (linear regression, logistic regression)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"/>
              <a:buChar char="○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Decision Tree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"/>
              <a:buChar char="○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SVM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	   -&gt; 데이터로부터 모델을 생성하여 분류 / 예측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"/>
              <a:buChar char="✓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Instance-Based Learning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"/>
              <a:buChar char="○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K-nearest neighbor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"/>
              <a:buChar char="○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Locally weighted regression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	   -&gt; 별도의 모델 생성 없이 인접 데이터를 분류 / 예측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grpSp>
        <p:nvGrpSpPr>
          <p:cNvPr id="1386" name="Google Shape;1386;p111"/>
          <p:cNvGrpSpPr/>
          <p:nvPr/>
        </p:nvGrpSpPr>
        <p:grpSpPr>
          <a:xfrm>
            <a:off x="5772050" y="1924900"/>
            <a:ext cx="2378400" cy="466800"/>
            <a:chOff x="5772050" y="1924900"/>
            <a:chExt cx="2378400" cy="466800"/>
          </a:xfrm>
        </p:grpSpPr>
        <p:sp>
          <p:nvSpPr>
            <p:cNvPr id="1387" name="Google Shape;1387;p111"/>
            <p:cNvSpPr/>
            <p:nvPr/>
          </p:nvSpPr>
          <p:spPr>
            <a:xfrm>
              <a:off x="6464400" y="1924900"/>
              <a:ext cx="896700" cy="46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>
                  <a:latin typeface="Nanum Gothic"/>
                  <a:ea typeface="Nanum Gothic"/>
                  <a:cs typeface="Nanum Gothic"/>
                  <a:sym typeface="Nanum Gothic"/>
                </a:rPr>
                <a:t>F(x)</a:t>
              </a:r>
              <a:endParaRPr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  <p:sp>
          <p:nvSpPr>
            <p:cNvPr id="1388" name="Google Shape;1388;p111"/>
            <p:cNvSpPr txBox="1"/>
            <p:nvPr/>
          </p:nvSpPr>
          <p:spPr>
            <a:xfrm>
              <a:off x="5772050" y="1956100"/>
              <a:ext cx="778200" cy="25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X</a:t>
              </a:r>
              <a:r>
                <a:rPr baseline="-25000"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new</a:t>
              </a:r>
              <a:r>
                <a:rPr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 -&gt;</a:t>
              </a:r>
              <a:endParaRPr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  <p:sp>
          <p:nvSpPr>
            <p:cNvPr id="1389" name="Google Shape;1389;p111"/>
            <p:cNvSpPr txBox="1"/>
            <p:nvPr/>
          </p:nvSpPr>
          <p:spPr>
            <a:xfrm>
              <a:off x="7372250" y="1956100"/>
              <a:ext cx="778200" cy="25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-&gt; Y</a:t>
              </a:r>
              <a:r>
                <a:rPr baseline="-25000"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new</a:t>
              </a:r>
              <a:r>
                <a:rPr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 </a:t>
              </a:r>
              <a:endParaRPr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</p:grpSp>
      <p:grpSp>
        <p:nvGrpSpPr>
          <p:cNvPr id="1390" name="Google Shape;1390;p111"/>
          <p:cNvGrpSpPr/>
          <p:nvPr/>
        </p:nvGrpSpPr>
        <p:grpSpPr>
          <a:xfrm>
            <a:off x="5772050" y="2991700"/>
            <a:ext cx="2378400" cy="466800"/>
            <a:chOff x="5772050" y="1924900"/>
            <a:chExt cx="2378400" cy="466800"/>
          </a:xfrm>
        </p:grpSpPr>
        <p:sp>
          <p:nvSpPr>
            <p:cNvPr id="1391" name="Google Shape;1391;p111"/>
            <p:cNvSpPr/>
            <p:nvPr/>
          </p:nvSpPr>
          <p:spPr>
            <a:xfrm>
              <a:off x="6464400" y="1924900"/>
              <a:ext cx="896700" cy="46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>
                  <a:latin typeface="Nanum Gothic"/>
                  <a:ea typeface="Nanum Gothic"/>
                  <a:cs typeface="Nanum Gothic"/>
                  <a:sym typeface="Nanum Gothic"/>
                </a:rPr>
                <a:t>Find</a:t>
              </a:r>
              <a:endParaRPr sz="1200"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>
                  <a:latin typeface="Nanum Gothic"/>
                  <a:ea typeface="Nanum Gothic"/>
                  <a:cs typeface="Nanum Gothic"/>
                  <a:sym typeface="Nanum Gothic"/>
                </a:rPr>
                <a:t>nearest X</a:t>
              </a:r>
              <a:r>
                <a:rPr baseline="-25000" lang="ko" sz="1200">
                  <a:latin typeface="Nanum Gothic"/>
                  <a:ea typeface="Nanum Gothic"/>
                  <a:cs typeface="Nanum Gothic"/>
                  <a:sym typeface="Nanum Gothic"/>
                </a:rPr>
                <a:t>s</a:t>
              </a:r>
              <a:endParaRPr baseline="-25000" sz="1200"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  <p:sp>
          <p:nvSpPr>
            <p:cNvPr id="1392" name="Google Shape;1392;p111"/>
            <p:cNvSpPr txBox="1"/>
            <p:nvPr/>
          </p:nvSpPr>
          <p:spPr>
            <a:xfrm>
              <a:off x="5772050" y="1956100"/>
              <a:ext cx="778200" cy="25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X</a:t>
              </a:r>
              <a:r>
                <a:rPr baseline="-25000"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new</a:t>
              </a:r>
              <a:r>
                <a:rPr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 -&gt;</a:t>
              </a:r>
              <a:endParaRPr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  <p:sp>
          <p:nvSpPr>
            <p:cNvPr id="1393" name="Google Shape;1393;p111"/>
            <p:cNvSpPr txBox="1"/>
            <p:nvPr/>
          </p:nvSpPr>
          <p:spPr>
            <a:xfrm>
              <a:off x="7372250" y="1956100"/>
              <a:ext cx="778200" cy="25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-&gt; Y</a:t>
              </a:r>
              <a:r>
                <a:rPr baseline="-25000"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new</a:t>
              </a:r>
              <a:r>
                <a:rPr lang="ko">
                  <a:solidFill>
                    <a:schemeClr val="dk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 </a:t>
              </a:r>
              <a:endParaRPr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8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Google Shape;1399;p112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1400" name="Google Shape;1400;p112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1401" name="Google Shape;1401;p112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1402" name="Google Shape;1402;p112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✓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1</a:t>
            </a: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-Nearest Neighbors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"/>
              <a:buChar char="○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가장 인접한 데이터 1개를 통해서 예측/분류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"/>
              <a:buChar char="○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비모수적이고 게으른 알고리즘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pic>
        <p:nvPicPr>
          <p:cNvPr id="1403" name="Google Shape;1403;p1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0825" y="2002689"/>
            <a:ext cx="3562350" cy="240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8" name="Shape 1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9" name="Google Shape;1409;p113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1410" name="Google Shape;1410;p113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1411" name="Google Shape;1411;p113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1412" name="Google Shape;1412;p113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✓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2/3</a:t>
            </a: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-Nearest Neighbors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"/>
              <a:buChar char="○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가장 인접한 데이터를 통해서 예측/분류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"/>
              <a:buChar char="○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비모수적이고 게으른 알고리즘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grpSp>
        <p:nvGrpSpPr>
          <p:cNvPr id="1413" name="Google Shape;1413;p113"/>
          <p:cNvGrpSpPr/>
          <p:nvPr/>
        </p:nvGrpSpPr>
        <p:grpSpPr>
          <a:xfrm>
            <a:off x="776125" y="1878219"/>
            <a:ext cx="7739221" cy="2407506"/>
            <a:chOff x="776125" y="1878219"/>
            <a:chExt cx="7739221" cy="2407506"/>
          </a:xfrm>
        </p:grpSpPr>
        <p:pic>
          <p:nvPicPr>
            <p:cNvPr id="1414" name="Google Shape;1414;p1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76125" y="1878219"/>
              <a:ext cx="3562350" cy="2400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15" name="Google Shape;1415;p11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952996" y="1878219"/>
              <a:ext cx="3562350" cy="2400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6" name="Google Shape;1416;p113"/>
            <p:cNvSpPr txBox="1"/>
            <p:nvPr/>
          </p:nvSpPr>
          <p:spPr>
            <a:xfrm>
              <a:off x="1698250" y="4126125"/>
              <a:ext cx="2022900" cy="15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>
                  <a:solidFill>
                    <a:srgbClr val="999999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2-Nearest Neighbors</a:t>
              </a:r>
              <a:endParaRPr>
                <a:solidFill>
                  <a:srgbClr val="999999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  <p:sp>
          <p:nvSpPr>
            <p:cNvPr id="1417" name="Google Shape;1417;p113"/>
            <p:cNvSpPr txBox="1"/>
            <p:nvPr/>
          </p:nvSpPr>
          <p:spPr>
            <a:xfrm>
              <a:off x="5965450" y="4126125"/>
              <a:ext cx="2022900" cy="15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>
                  <a:solidFill>
                    <a:srgbClr val="999999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3</a:t>
              </a:r>
              <a:r>
                <a:rPr lang="ko">
                  <a:solidFill>
                    <a:srgbClr val="999999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-Nearest Neighbors</a:t>
              </a:r>
              <a:endParaRPr>
                <a:solidFill>
                  <a:srgbClr val="999999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</p:grp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2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" name="Google Shape;1423;p114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1424" name="Google Shape;1424;p114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1425" name="Google Shape;1425;p114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grpSp>
        <p:nvGrpSpPr>
          <p:cNvPr id="1426" name="Google Shape;1426;p114"/>
          <p:cNvGrpSpPr/>
          <p:nvPr/>
        </p:nvGrpSpPr>
        <p:grpSpPr>
          <a:xfrm>
            <a:off x="1521900" y="1894775"/>
            <a:ext cx="5950982" cy="2881500"/>
            <a:chOff x="1521900" y="1894775"/>
            <a:chExt cx="5950982" cy="2881500"/>
          </a:xfrm>
        </p:grpSpPr>
        <p:pic>
          <p:nvPicPr>
            <p:cNvPr id="1427" name="Google Shape;1427;p11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671113" y="1958564"/>
              <a:ext cx="5801769" cy="28145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28" name="Google Shape;1428;p11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079725" y="1894775"/>
              <a:ext cx="2645661" cy="2550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29" name="Google Shape;1429;p11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493325" y="2114350"/>
              <a:ext cx="78675" cy="26083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0" name="Google Shape;1430;p11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054375" y="2114350"/>
              <a:ext cx="78675" cy="26083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1" name="Google Shape;1431;p11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155925" y="4409375"/>
              <a:ext cx="2645650" cy="366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32" name="Google Shape;1432;p114"/>
            <p:cNvSpPr/>
            <p:nvPr/>
          </p:nvSpPr>
          <p:spPr>
            <a:xfrm>
              <a:off x="1521900" y="2210675"/>
              <a:ext cx="1533900" cy="2238000"/>
            </a:xfrm>
            <a:prstGeom prst="rect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</p:grpSp>
      <p:sp>
        <p:nvSpPr>
          <p:cNvPr id="1433" name="Google Shape;1433;p114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✓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KNN</a:t>
            </a: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(K-Nearest Neighbors)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anum Gothic"/>
              <a:buChar char="○"/>
            </a:pP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주변 k 개의 데이터 중 가장 많은 클래스로 데이터를 분류</a:t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anum Gothic"/>
              <a:buChar char="○"/>
            </a:pP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비선형적 모양을 가짐</a:t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anum Gothic"/>
              <a:buChar char="○"/>
            </a:pP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Training data 자체가 모형 즉 파라미터가 존재하지 않음</a:t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8" name="Shape 1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" name="Google Shape;1439;p115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1440" name="Google Shape;1440;p115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1441" name="Google Shape;1441;p115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1442" name="Google Shape;1442;p115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✓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KNN(K-Nearest Neighbors)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anum Gothic"/>
              <a:buChar char="○"/>
            </a:pP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Instance-based Learning</a:t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anum Gothic"/>
              <a:buChar char="■"/>
            </a:pP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각각의 관측치(instance)만을 이용하여 새로운 데이터에 대한 예측</a:t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anum Gothic"/>
              <a:buChar char="○"/>
            </a:pP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Memory-based Learning</a:t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anum Gothic"/>
              <a:buChar char="■"/>
            </a:pP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모든 학습 데이터를 메모리에 저장한 후, 이를 바탕으로 예측</a:t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anum Gothic"/>
              <a:buChar char="○"/>
            </a:pP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Lazy Learning</a:t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anum Gothic"/>
              <a:buChar char="■"/>
            </a:pP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모델을 별도로 학습하지 않고 test data가 들어와야 작동하는 Lazy 알고리즘</a:t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7" name="Shape 1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" name="Google Shape;1448;p116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1449" name="Google Shape;1449;p116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1450" name="Google Shape;1450;p116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1451" name="Google Shape;1451;p116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✓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KNN(K-Nearest Neighbors)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anum Gothic"/>
              <a:buChar char="○"/>
            </a:pP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주</a:t>
            </a: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변 k 개의 데이터 중 가장 많은 클래스로 데이터를 분류</a:t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anum Gothic"/>
              <a:buChar char="■"/>
            </a:pP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K는 인접한 데이터의 수 (하이퍼 파라미터)</a:t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anum Gothic"/>
              <a:buChar char="■"/>
            </a:pP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Majority Voting 방식을 이용하여 클래스를 분류</a:t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pic>
        <p:nvPicPr>
          <p:cNvPr id="1452" name="Google Shape;1452;p1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6937" y="2189575"/>
            <a:ext cx="6770124" cy="255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7" name="Shape 1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Google Shape;1458;p117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1459" name="Google Shape;1459;p117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1460" name="Google Shape;1460;p117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1461" name="Google Shape;1461;p117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✓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KNN(K-Nearest Neighbors)</a:t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graphicFrame>
        <p:nvGraphicFramePr>
          <p:cNvPr id="1462" name="Google Shape;1462;p117"/>
          <p:cNvGraphicFramePr/>
          <p:nvPr/>
        </p:nvGraphicFramePr>
        <p:xfrm>
          <a:off x="266700" y="1238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{DB660EE3-C6BF-4F7E-83DB-CCDA0A96D27C}</a:tableStyleId>
              </a:tblPr>
              <a:tblGrid>
                <a:gridCol w="1102475"/>
                <a:gridCol w="1102475"/>
                <a:gridCol w="1102475"/>
                <a:gridCol w="1102475"/>
                <a:gridCol w="1102475"/>
              </a:tblGrid>
              <a:tr h="357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사람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유전자A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유전자B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유전자C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유전자D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7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A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2.54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4.33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3.99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2.57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7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B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3.12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3.87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3.84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3.04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7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C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2.76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4.17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5.63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3.28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7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D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3.87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3.56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4.25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3.65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7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E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3.55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3.91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2.68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4.22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7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F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4.12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2.86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3.30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3.71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63" name="Google Shape;1463;p117"/>
          <p:cNvGraphicFramePr/>
          <p:nvPr/>
        </p:nvGraphicFramePr>
        <p:xfrm>
          <a:off x="266700" y="4133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{DB660EE3-C6BF-4F7E-83DB-CCDA0A96D27C}</a:tableStyleId>
              </a:tblPr>
              <a:tblGrid>
                <a:gridCol w="1102475"/>
                <a:gridCol w="1102475"/>
                <a:gridCol w="1102475"/>
                <a:gridCol w="1102475"/>
                <a:gridCol w="1102475"/>
              </a:tblGrid>
              <a:tr h="357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G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3.24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3.68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3.82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3.711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64" name="Google Shape;1464;p117"/>
          <p:cNvGraphicFramePr/>
          <p:nvPr/>
        </p:nvGraphicFramePr>
        <p:xfrm>
          <a:off x="5905500" y="1238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{DB660EE3-C6BF-4F7E-83DB-CCDA0A96D27C}</a:tableStyleId>
              </a:tblPr>
              <a:tblGrid>
                <a:gridCol w="1102475"/>
              </a:tblGrid>
              <a:tr h="357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질병 유무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7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정상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7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정상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7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정상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7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질병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7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질병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7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질병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65" name="Google Shape;1465;p117"/>
          <p:cNvGraphicFramePr/>
          <p:nvPr/>
        </p:nvGraphicFramePr>
        <p:xfrm>
          <a:off x="5905500" y="4133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{DB660EE3-C6BF-4F7E-83DB-CCDA0A96D27C}</a:tableStyleId>
              </a:tblPr>
              <a:tblGrid>
                <a:gridCol w="1102475"/>
              </a:tblGrid>
              <a:tr h="357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?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66" name="Google Shape;1466;p117"/>
          <p:cNvGraphicFramePr/>
          <p:nvPr/>
        </p:nvGraphicFramePr>
        <p:xfrm>
          <a:off x="7277100" y="1238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{DB660EE3-C6BF-4F7E-83DB-CCDA0A96D27C}</a:tableStyleId>
              </a:tblPr>
              <a:tblGrid>
                <a:gridCol w="1102475"/>
              </a:tblGrid>
              <a:tr h="357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G와의 거리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7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1.54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7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0.76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7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2.00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7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0.78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7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1.28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7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1.31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67" name="Google Shape;1467;p117"/>
          <p:cNvSpPr/>
          <p:nvPr/>
        </p:nvSpPr>
        <p:spPr>
          <a:xfrm>
            <a:off x="5821600" y="1902550"/>
            <a:ext cx="2661000" cy="5895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</p:txBody>
      </p:sp>
      <p:graphicFrame>
        <p:nvGraphicFramePr>
          <p:cNvPr id="1468" name="Google Shape;1468;p117"/>
          <p:cNvGraphicFramePr/>
          <p:nvPr/>
        </p:nvGraphicFramePr>
        <p:xfrm>
          <a:off x="7277100" y="4133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{DB660EE3-C6BF-4F7E-83DB-CCDA0A96D27C}</a:tableStyleId>
              </a:tblPr>
              <a:tblGrid>
                <a:gridCol w="1102475"/>
              </a:tblGrid>
              <a:tr h="357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정상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3" name="Shape 1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" name="Google Shape;1474;p118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1475" name="Google Shape;1475;p118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1476" name="Google Shape;1476;p118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1477" name="Google Shape;1477;p118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✓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KNN(K-Nearest Neighbors)</a:t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graphicFrame>
        <p:nvGraphicFramePr>
          <p:cNvPr id="1478" name="Google Shape;1478;p118"/>
          <p:cNvGraphicFramePr/>
          <p:nvPr/>
        </p:nvGraphicFramePr>
        <p:xfrm>
          <a:off x="266700" y="1238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{DB660EE3-C6BF-4F7E-83DB-CCDA0A96D27C}</a:tableStyleId>
              </a:tblPr>
              <a:tblGrid>
                <a:gridCol w="1102475"/>
                <a:gridCol w="1102475"/>
                <a:gridCol w="1102475"/>
                <a:gridCol w="1102475"/>
                <a:gridCol w="1102475"/>
              </a:tblGrid>
              <a:tr h="357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사람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유전자A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유전자B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유전자C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유전자D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7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A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2.54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4.33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3.99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2.57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7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B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3.12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3.87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3.84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3.04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7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C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2.76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4.17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5.63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3.28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7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D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3.87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3.56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4.25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3.65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7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E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3.55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3.91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2.68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4.22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7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F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4.12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2.86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3.30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3.71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79" name="Google Shape;1479;p118"/>
          <p:cNvGraphicFramePr/>
          <p:nvPr/>
        </p:nvGraphicFramePr>
        <p:xfrm>
          <a:off x="266700" y="4133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{DB660EE3-C6BF-4F7E-83DB-CCDA0A96D27C}</a:tableStyleId>
              </a:tblPr>
              <a:tblGrid>
                <a:gridCol w="1102475"/>
                <a:gridCol w="1102475"/>
                <a:gridCol w="1102475"/>
                <a:gridCol w="1102475"/>
                <a:gridCol w="1102475"/>
              </a:tblGrid>
              <a:tr h="357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G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3.24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3.68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3.82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3.711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80" name="Google Shape;1480;p118"/>
          <p:cNvGraphicFramePr/>
          <p:nvPr/>
        </p:nvGraphicFramePr>
        <p:xfrm>
          <a:off x="5905500" y="1238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{DB660EE3-C6BF-4F7E-83DB-CCDA0A96D27C}</a:tableStyleId>
              </a:tblPr>
              <a:tblGrid>
                <a:gridCol w="1102475"/>
              </a:tblGrid>
              <a:tr h="357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질병 유무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7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정상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7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정상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7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정상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7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질병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7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질병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7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질병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81" name="Google Shape;1481;p118"/>
          <p:cNvGraphicFramePr/>
          <p:nvPr/>
        </p:nvGraphicFramePr>
        <p:xfrm>
          <a:off x="5905500" y="4133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{DB660EE3-C6BF-4F7E-83DB-CCDA0A96D27C}</a:tableStyleId>
              </a:tblPr>
              <a:tblGrid>
                <a:gridCol w="1102475"/>
              </a:tblGrid>
              <a:tr h="357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?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82" name="Google Shape;1482;p118"/>
          <p:cNvGraphicFramePr/>
          <p:nvPr/>
        </p:nvGraphicFramePr>
        <p:xfrm>
          <a:off x="7277100" y="1238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{DB660EE3-C6BF-4F7E-83DB-CCDA0A96D27C}</a:tableStyleId>
              </a:tblPr>
              <a:tblGrid>
                <a:gridCol w="1102475"/>
              </a:tblGrid>
              <a:tr h="357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G와의 거리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7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1.54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7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0.76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7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2.00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7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0.78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7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1.28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7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1.31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83" name="Google Shape;1483;p118"/>
          <p:cNvSpPr/>
          <p:nvPr/>
        </p:nvSpPr>
        <p:spPr>
          <a:xfrm>
            <a:off x="5821600" y="1902550"/>
            <a:ext cx="2661000" cy="5895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</p:txBody>
      </p:sp>
      <p:graphicFrame>
        <p:nvGraphicFramePr>
          <p:cNvPr id="1484" name="Google Shape;1484;p118"/>
          <p:cNvGraphicFramePr/>
          <p:nvPr/>
        </p:nvGraphicFramePr>
        <p:xfrm>
          <a:off x="7277100" y="4133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{DB660EE3-C6BF-4F7E-83DB-CCDA0A96D27C}</a:tableStyleId>
              </a:tblPr>
              <a:tblGrid>
                <a:gridCol w="1102475"/>
              </a:tblGrid>
              <a:tr h="357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질병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85" name="Google Shape;1485;p118"/>
          <p:cNvSpPr/>
          <p:nvPr/>
        </p:nvSpPr>
        <p:spPr>
          <a:xfrm>
            <a:off x="5821600" y="2740750"/>
            <a:ext cx="2661000" cy="935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0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Google Shape;1491;p119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1492" name="Google Shape;1492;p119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1493" name="Google Shape;1493;p119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1494" name="Google Shape;1494;p119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✓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KNN(K-Nearest Neighbors) - 예측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anum Gothic"/>
              <a:buChar char="○"/>
            </a:pP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k개의 인접 데이터들의 평균으로 값을 예측</a:t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anum Gothic"/>
              <a:buChar char="■"/>
            </a:pP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k=3 -&gt; new data = (10+20+15)/3 = 15</a:t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pic>
        <p:nvPicPr>
          <p:cNvPr id="1495" name="Google Shape;1495;p1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9050" y="1871789"/>
            <a:ext cx="5225905" cy="28145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0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p120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1502" name="Google Shape;1502;p120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1503" name="Google Shape;1503;p120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1504" name="Google Shape;1504;p120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✓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KNN(K-Nearest Neighbors) 하이퍼 파라미터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anum Gothic"/>
              <a:buAutoNum type="arabicPeriod"/>
            </a:pP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K의 개수</a:t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anum Gothic"/>
              <a:buChar char="■"/>
            </a:pP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인접한 학습 데이터를 몇 개까지 탐색할 것인가?</a:t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anum Gothic"/>
              <a:buAutoNum type="arabicPeriod"/>
            </a:pP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Distance</a:t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anum Gothic"/>
              <a:buChar char="■"/>
            </a:pP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데이터 간 거리는 어떻게 측정할 것인가?</a:t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9" name="Shape 1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0" name="Google Shape;1510;p121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1511" name="Google Shape;1511;p121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1512" name="Google Shape;1512;p121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1513" name="Google Shape;1513;p121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✓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KNN(K-Nearest Neighbors) - K에 따른 변화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anum Gothic"/>
              <a:buChar char="○"/>
            </a:pP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K가 작을 경우 overfitting / k가 클 경우 underfitting</a:t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pic>
        <p:nvPicPr>
          <p:cNvPr id="1514" name="Google Shape;1514;p1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9975" y="1567001"/>
            <a:ext cx="5204050" cy="323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9" name="Shape 1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0" name="Google Shape;1520;p1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8650" y="1943449"/>
            <a:ext cx="4532826" cy="100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1" name="Google Shape;1521;p1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8653" y="3399475"/>
            <a:ext cx="4177256" cy="100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522" name="Google Shape;1522;p122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1523" name="Google Shape;1523;p122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1524" name="Google Shape;1524;p122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1525" name="Google Shape;1525;p122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✓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KNN(K-Nearest Neighbors) - K에 따른 변화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anum Gothic"/>
              <a:buChar char="○"/>
            </a:pP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적절한 k를 선택하는 것이 KNN에서 가장 중요</a:t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anum Gothic"/>
              <a:buChar char="✓"/>
            </a:pP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분류</a:t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anum Gothic"/>
              <a:buChar char="✓"/>
            </a:pP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예측</a:t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0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1" name="Google Shape;1531;p123"/>
          <p:cNvGrpSpPr/>
          <p:nvPr/>
        </p:nvGrpSpPr>
        <p:grpSpPr>
          <a:xfrm>
            <a:off x="4255221" y="1060035"/>
            <a:ext cx="4610066" cy="3422497"/>
            <a:chOff x="4338476" y="1517200"/>
            <a:chExt cx="4221672" cy="3119301"/>
          </a:xfrm>
        </p:grpSpPr>
        <p:pic>
          <p:nvPicPr>
            <p:cNvPr id="1532" name="Google Shape;1532;p12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8476" y="1517200"/>
              <a:ext cx="4221672" cy="31193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33" name="Google Shape;1533;p123"/>
            <p:cNvSpPr/>
            <p:nvPr/>
          </p:nvSpPr>
          <p:spPr>
            <a:xfrm>
              <a:off x="7179125" y="2767925"/>
              <a:ext cx="216300" cy="492300"/>
            </a:xfrm>
            <a:prstGeom prst="ellipse">
              <a:avLst/>
            </a:prstGeom>
            <a:noFill/>
            <a:ln cap="flat" cmpd="sng" w="19050">
              <a:solidFill>
                <a:srgbClr val="93C4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  <p:cxnSp>
          <p:nvCxnSpPr>
            <p:cNvPr id="1534" name="Google Shape;1534;p123"/>
            <p:cNvCxnSpPr>
              <a:stCxn id="1533" idx="6"/>
            </p:cNvCxnSpPr>
            <p:nvPr/>
          </p:nvCxnSpPr>
          <p:spPr>
            <a:xfrm>
              <a:off x="7395425" y="3014075"/>
              <a:ext cx="3732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535" name="Google Shape;1535;p123"/>
            <p:cNvSpPr txBox="1"/>
            <p:nvPr/>
          </p:nvSpPr>
          <p:spPr>
            <a:xfrm>
              <a:off x="7790300" y="2805775"/>
              <a:ext cx="548700" cy="33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>
                  <a:solidFill>
                    <a:srgbClr val="93C47D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k=5</a:t>
              </a:r>
              <a:endParaRPr>
                <a:solidFill>
                  <a:srgbClr val="93C47D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</p:grpSp>
      <p:sp>
        <p:nvSpPr>
          <p:cNvPr id="1536" name="Google Shape;1536;p123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1537" name="Google Shape;1537;p123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1538" name="Google Shape;1538;p123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1539" name="Google Shape;1539;p123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✓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KNN(K-Nearest Neighbors) - K에 따른 변화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anum Gothic"/>
              <a:buChar char="○"/>
            </a:pP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k가 증가하면 train data error 증가</a:t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anum Gothic"/>
              <a:buChar char="■"/>
            </a:pP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underfitting</a:t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anum Gothic"/>
              <a:buChar char="○"/>
            </a:pP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k가 감소하면 train data error 감소</a:t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anum Gothic"/>
              <a:buChar char="■"/>
            </a:pP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overfitting</a:t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anum Gothic"/>
              <a:buChar char="○"/>
            </a:pP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따라서 train/test error가 가장 적은</a:t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최적의 k=5를 선택</a:t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4" name="Shape 1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5" name="Google Shape;1545;p124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1546" name="Google Shape;1546;p124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1547" name="Google Shape;1547;p124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1548" name="Google Shape;1548;p124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✓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KNN(K-Nearest Neighbors) - 거리 측정도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anum Gothic"/>
              <a:buChar char="○"/>
            </a:pP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Euclidean Distance</a:t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anum Gothic"/>
              <a:buChar char="○"/>
            </a:pP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Manhattan Distance</a:t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anum Gothic"/>
              <a:buChar char="○"/>
            </a:pP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Mahalanobis Distance</a:t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3" name="Shape 1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4" name="Google Shape;1554;p125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1555" name="Google Shape;1555;p125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1556" name="Google Shape;1556;p125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1557" name="Google Shape;1557;p125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✓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KNN(K-Nearest Neighbors) - </a:t>
            </a: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Euclidean Distance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anum Gothic"/>
              <a:buChar char="✓"/>
            </a:pP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장점</a:t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anum Gothic"/>
              <a:buChar char="○"/>
            </a:pP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직관적</a:t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anum Gothic"/>
              <a:buChar char="○"/>
            </a:pP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고차원 공간에서 쉬운 계산 가능</a:t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anum Gothic"/>
              <a:buChar char="○"/>
            </a:pP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실제 거리 측정</a:t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anum Gothic"/>
              <a:buChar char="✓"/>
            </a:pP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단점</a:t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anum Gothic"/>
              <a:buChar char="○"/>
            </a:pP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스케일, 노이즈에 민감</a:t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anum Gothic"/>
              <a:buChar char="○"/>
            </a:pP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차원의 저주 문제 발생</a:t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grpSp>
        <p:nvGrpSpPr>
          <p:cNvPr id="1558" name="Google Shape;1558;p125"/>
          <p:cNvGrpSpPr/>
          <p:nvPr/>
        </p:nvGrpSpPr>
        <p:grpSpPr>
          <a:xfrm>
            <a:off x="4572000" y="1376974"/>
            <a:ext cx="3868299" cy="3114865"/>
            <a:chOff x="4572000" y="1376974"/>
            <a:chExt cx="3868299" cy="3114865"/>
          </a:xfrm>
        </p:grpSpPr>
        <p:pic>
          <p:nvPicPr>
            <p:cNvPr id="1559" name="Google Shape;1559;p1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572000" y="1376974"/>
              <a:ext cx="3868299" cy="26195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60" name="Google Shape;1560;p12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834513" y="3996539"/>
              <a:ext cx="3343275" cy="4953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5" name="Shape 1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" name="Google Shape;1566;p126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1567" name="Google Shape;1567;p126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1568" name="Google Shape;1568;p126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1569" name="Google Shape;1569;p126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✓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KNN(K-Nearest Neighbors) - </a:t>
            </a: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Manhattan </a:t>
            </a: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Distance</a:t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pic>
        <p:nvPicPr>
          <p:cNvPr id="1570" name="Google Shape;1570;p1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9800" y="1270850"/>
            <a:ext cx="5884400" cy="327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5" name="Shape 1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" name="Google Shape;1576;p127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1577" name="Google Shape;1577;p127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1578" name="Google Shape;1578;p127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1579" name="Google Shape;1579;p127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✓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KNN(K-Nearest Neighbors) - Manhattan Distance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anum Gothic"/>
              <a:buChar char="✓"/>
            </a:pP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장점</a:t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anum Gothic"/>
              <a:buChar char="○"/>
            </a:pP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스케일, 노이즈에 대한 민감도 감소</a:t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anum Gothic"/>
              <a:buChar char="○"/>
            </a:pP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도시형 환경에서 거리 측정에 적합</a:t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anum Gothic"/>
              <a:buChar char="○"/>
            </a:pP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고차원 데이터에서의 안정성</a:t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anum Gothic"/>
              <a:buChar char="✓"/>
            </a:pP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단점</a:t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anum Gothic"/>
              <a:buChar char="○"/>
            </a:pP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기하학적 거리 왜곡</a:t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anum Gothic"/>
              <a:buChar char="○"/>
            </a:pP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중복 경로 발생</a:t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anum Gothic"/>
              <a:buChar char="○"/>
            </a:pP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유사성 측정 제한</a:t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pic>
        <p:nvPicPr>
          <p:cNvPr id="1580" name="Google Shape;1580;p1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7676" y="1194025"/>
            <a:ext cx="2918824" cy="337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5" name="Shape 1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6" name="Google Shape;1586;p1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2550" y="2557600"/>
            <a:ext cx="4986227" cy="103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7" name="Google Shape;1587;p128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1588" name="Google Shape;1588;p128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1589" name="Google Shape;1589;p128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1590" name="Google Shape;1590;p128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✓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KNN(K-Nearest Neighbors) - </a:t>
            </a: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Mahalanobis </a:t>
            </a: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Distance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anum Gothic"/>
              <a:buChar char="○"/>
            </a:pP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변수 내 분산, 변수 간 공분산을 모두 반영하여 x,y 간 거리를 계산</a:t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anum Gothic"/>
              <a:buChar char="○"/>
            </a:pP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공분산의 역행렬을 곱해서 분산값이 증가하면 작은 값이 곱해지는 형태로 계산되어진다.</a:t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anum Gothic"/>
              <a:buChar char="○"/>
            </a:pP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공분산 행렬이 단위 행렬이면 유클리디안 거리와 동일</a:t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anum Gothic"/>
              <a:buChar char="○"/>
            </a:pP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즉 변수의 상관관계를 고려하여 거리 측정 </a:t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5" name="Shape 1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6" name="Google Shape;1596;p129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1597" name="Google Shape;1597;p129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1598" name="Google Shape;1598;p129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1599" name="Google Shape;1599;p129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✓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KNN(K-Nearest Neighbors) - Mahalanobis Distance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anum Gothic"/>
              <a:buChar char="✓"/>
            </a:pP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장점</a:t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anum Gothic"/>
              <a:buChar char="○"/>
            </a:pP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상관관계 반영</a:t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anum Gothic"/>
              <a:buChar char="○"/>
            </a:pP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이상치 탐지</a:t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anum Gothic"/>
              <a:buChar char="○"/>
            </a:pP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스케일에 민감하지 않음</a:t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anum Gothic"/>
              <a:buChar char="○"/>
            </a:pP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고차원 데이터에서의 안정성</a:t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anum Gothic"/>
              <a:buChar char="✓"/>
            </a:pP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단점</a:t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anum Gothic"/>
              <a:buChar char="○"/>
            </a:pP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계산 복잡성 증가</a:t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anum Gothic"/>
              <a:buChar char="○"/>
            </a:pP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정규성 가정</a:t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anum Gothic"/>
              <a:buChar char="○"/>
            </a:pP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공분산 행렬이 안정적이어야 함</a:t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pic>
        <p:nvPicPr>
          <p:cNvPr id="1600" name="Google Shape;1600;p1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9700" y="1323850"/>
            <a:ext cx="4613625" cy="3135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5" name="Shape 1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6" name="Google Shape;1606;p130"/>
          <p:cNvSpPr txBox="1"/>
          <p:nvPr>
            <p:ph type="title"/>
          </p:nvPr>
        </p:nvSpPr>
        <p:spPr>
          <a:xfrm>
            <a:off x="997501" y="400373"/>
            <a:ext cx="7149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" sz="1900"/>
              <a:t>Supervised Learning - Classification</a:t>
            </a:r>
            <a:endParaRPr sz="1900"/>
          </a:p>
        </p:txBody>
      </p:sp>
      <p:sp>
        <p:nvSpPr>
          <p:cNvPr id="1607" name="Google Shape;1607;p130"/>
          <p:cNvSpPr txBox="1"/>
          <p:nvPr>
            <p:ph idx="1" type="subTitle"/>
          </p:nvPr>
        </p:nvSpPr>
        <p:spPr>
          <a:xfrm>
            <a:off x="-35036" y="116100"/>
            <a:ext cx="1032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800"/>
              <a:buNone/>
            </a:pPr>
            <a:r>
              <a:rPr lang="ko"/>
              <a:t>Machine Learning</a:t>
            </a:r>
            <a:endParaRPr/>
          </a:p>
        </p:txBody>
      </p:sp>
      <p:sp>
        <p:nvSpPr>
          <p:cNvPr id="1608" name="Google Shape;1608;p130"/>
          <p:cNvSpPr txBox="1"/>
          <p:nvPr>
            <p:ph idx="12" type="sldNum"/>
          </p:nvPr>
        </p:nvSpPr>
        <p:spPr>
          <a:xfrm>
            <a:off x="4338471" y="46863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1609" name="Google Shape;1609;p130"/>
          <p:cNvSpPr txBox="1"/>
          <p:nvPr/>
        </p:nvSpPr>
        <p:spPr>
          <a:xfrm>
            <a:off x="628650" y="838289"/>
            <a:ext cx="7886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✓"/>
            </a:pPr>
            <a:r>
              <a:rPr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KNN(K-Nearest Neighbors)의 한계</a:t>
            </a:r>
            <a:endParaRPr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anum Gothic"/>
              <a:buChar char="○"/>
            </a:pP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장점</a:t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anum Gothic"/>
              <a:buAutoNum type="arabicPeriod"/>
            </a:pP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데이터 내 노이즈에 영향을 크게 받지 않으며, Mahalanobis distance와 같이 데이터 분산을 고려할 경우 안정적임</a:t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anum Gothic"/>
              <a:buAutoNum type="arabicPeriod"/>
            </a:pP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학습 데이터의 수가 많을 경우 효과적</a:t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anum Gothic"/>
              <a:buChar char="○"/>
            </a:pP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한계</a:t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anum Gothic"/>
              <a:buAutoNum type="arabicPeriod"/>
            </a:pP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파라미터 k의 값을 설정</a:t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anum Gothic"/>
              <a:buAutoNum type="arabicPeriod"/>
            </a:pP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어떤 거리 척도가 분석에 적합한지 불분명하여 임의로 선정해야 함</a:t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111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anum Gothic"/>
              <a:buAutoNum type="arabicPeriod"/>
            </a:pPr>
            <a:r>
              <a:rPr lang="ko" sz="13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새로운 데이터와 기존 데이터 간 거리를 전부 측정해야 하므로 계산량이 증가</a:t>
            </a:r>
            <a:endParaRPr sz="13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